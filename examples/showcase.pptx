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12192000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tags" Target="../tags/tag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tags" Target="../tags/tag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tags" Target="../tags/tag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tags" Target="../tags/tag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tags" Target="../tags/tag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tags" Target="../tags/tag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tags" Target="../tags/tag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tags" Target="../tags/tag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tags" Target="../tags/tag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tags" Target="../tags/tag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tags" Target="../tags/tag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tags" Target="../tags/tag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tags" Target="../tags/tag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tags" Target="../tags/tag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tags" Target="../tags/tag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tags" Target="../tags/tag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tags" Target="../tags/tag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tags" Target="../tags/tag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tags" Target="../tags/tag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tags" Target="../tags/tag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tags" Target="../tags/tag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tags" Target="../tags/tag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tags" Target="../tags/tag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tags" Target="../tags/tag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tags" Target="../tags/tag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tags" Target="../tags/tag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tags" Target="../tags/tag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tags" Target="../tags/tag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tags" Target="../tags/tag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tags" Target="../tags/tag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tags" Target="../tags/tag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tags" Target="../tags/tag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tags" Target="../tags/tag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tags" Target="../tags/tag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tags" Target="../tags/tag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tags" Target="../tags/tag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tags" Target="../tags/tag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tags" Target="../tags/tag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tags" Target="../tags/tag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tags" Target="../tags/tag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tags" Target="../tags/tag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tags" Target="../tags/tag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tags" Target="../tags/tag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tags" Target="../tags/tag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tags" Target="../tags/tag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tags" Target="../tags/tag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tags" Target="../tags/tag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tags" Target="../tags/tag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tags" Target="../tags/tag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tags" Target="../tags/tag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tags" Target="../tags/tag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tags" Target="../tags/tag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tags" Target="../tags/tag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tags" Target="../tags/tag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tags" Target="../tags/tag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tags" Target="../tags/tag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tags" Target="../tags/tag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tags" Target="../tags/tag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tags" Target="../tags/tag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tags" Target="../tags/tag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tags" Target="../tags/tag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3" Type="http://schemas.openxmlformats.org/officeDocument/2006/relationships/tags" Target="../tags/tag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tags" Target="../tags/tag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tags" Target="../tags/tag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tags" Target="../tags/tag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tags" Target="../tags/tag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tags" Target="../tags/tag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tags" Target="../tags/tag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tags" Target="../tags/tag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3" Type="http://schemas.openxmlformats.org/officeDocument/2006/relationships/tags" Target="../tags/tag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tags" Target="../tags/tag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tags" Target="../tags/tag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tags" Target="../tags/tag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tags" Target="../tags/tag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tags" Target="../tags/tag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tags" Target="../tags/tag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tags" Target="../tags/tag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tags" Target="../tags/tag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tags" Target="../tags/tag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tags" Target="../tags/tag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tags" Target="../tags/tag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tags" Target="../tags/tag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tags" Target="../tags/tag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tags" Target="../tags/tag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4" Type="http://schemas.openxmlformats.org/officeDocument/2006/relationships/tags" Target="../tags/tag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tags" Target="../tags/tag1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— Revenue by segment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4059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3552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2027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— Sales by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45339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065145"/>
              <a:ext cx="453390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399002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45339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177003" y="2905125"/>
              <a:ext cx="453390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5126203" y="391001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453390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75273" y="2785110"/>
              <a:ext cx="453390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524473" y="385000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45339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973543" y="2305050"/>
              <a:ext cx="453390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922743" y="360997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— Channel mix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8579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9833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1088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2005" y="3345180"/>
              <a:ext cx="87503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1205" y="413004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2005" y="2385060"/>
              <a:ext cx="875030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1205" y="276987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9200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4120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604550" y="3537204"/>
              <a:ext cx="875030" cy="156819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53750" y="422605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604550" y="2385060"/>
              <a:ext cx="875030" cy="115214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53750" y="286588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60455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5375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17095" y="3697224"/>
              <a:ext cx="875030" cy="140817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66295" y="430606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17095" y="2385060"/>
              <a:ext cx="875030" cy="131216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66295" y="294589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91709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6629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229640" y="3889248"/>
              <a:ext cx="875030" cy="121615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78840" y="440207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229640" y="2385060"/>
              <a:ext cx="875030" cy="15041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78840" y="304190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2964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7884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2501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74228" y="205930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74228" y="305142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74228" y="441159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— EBITDA bridge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3270504"/>
              <a:ext cx="668867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40927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3270504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971800"/>
              <a:ext cx="668867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30259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779776"/>
              <a:ext cx="668867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78053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779776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779776"/>
              <a:ext cx="668867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81254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3035808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3035808"/>
              <a:ext cx="668867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85165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3121152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3121152"/>
              <a:ext cx="668867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4018026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575050"/>
              <a:ext cx="1632527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244975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554817"/>
              <a:ext cx="1632527" cy="10202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969683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073248" y="2044700"/>
              <a:ext cx="1632527" cy="510117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2204508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22448" y="186055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31175" y="3575050"/>
              <a:ext cx="213783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705775" y="4244975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31175" y="2740314"/>
              <a:ext cx="2137833" cy="83473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705775" y="3062432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31175" y="2044700"/>
              <a:ext cx="2137833" cy="69561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705775" y="2297257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680375" y="186055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894408" y="4318363"/>
              <a:ext cx="1360439" cy="7870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6869008" y="4616631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94408" y="3356429"/>
              <a:ext cx="1360439" cy="96193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869008" y="3742146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894408" y="2044700"/>
              <a:ext cx="1360439" cy="131172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869008" y="2605314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43608" y="186055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— Revenue by region and segment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22448" y="514350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(32%)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680375" y="514350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(42%)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843608" y="514350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(27%)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305648" y="261483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305648" y="375167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305648" y="462615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Line — Gross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— Active users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672279"/>
              <a:ext cx="56159" cy="433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027551" y="4659478"/>
              <a:ext cx="56159" cy="4459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077360" y="4646676"/>
              <a:ext cx="56159" cy="4587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127170" y="4633874"/>
              <a:ext cx="56159" cy="47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176979" y="4621073"/>
              <a:ext cx="56159" cy="4843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226789" y="4608271"/>
              <a:ext cx="56159" cy="497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276598" y="4595470"/>
              <a:ext cx="56159" cy="5099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326407" y="4582668"/>
              <a:ext cx="56159" cy="5227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376217" y="4569866"/>
              <a:ext cx="56159" cy="5355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426026" y="4557065"/>
              <a:ext cx="56159" cy="5483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475836" y="4544263"/>
              <a:ext cx="56159" cy="561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525645" y="4531462"/>
              <a:ext cx="56159" cy="5739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575454" y="4518660"/>
              <a:ext cx="56159" cy="5867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625264" y="4505858"/>
              <a:ext cx="56159" cy="599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675073" y="4493057"/>
              <a:ext cx="56159" cy="6123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724883" y="4480255"/>
              <a:ext cx="56159" cy="62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774692" y="4467454"/>
              <a:ext cx="56159" cy="6379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824501" y="4454652"/>
              <a:ext cx="56159" cy="650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874311" y="4441850"/>
              <a:ext cx="56159" cy="663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924120" y="4429049"/>
              <a:ext cx="56159" cy="6763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973930" y="4415714"/>
              <a:ext cx="56159" cy="6896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5023739" y="4401845"/>
              <a:ext cx="56159" cy="7035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73548" y="4387977"/>
              <a:ext cx="56159" cy="7174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123358" y="4374109"/>
              <a:ext cx="56159" cy="7312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73167" y="4360240"/>
              <a:ext cx="56159" cy="745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222977" y="4346372"/>
              <a:ext cx="56159" cy="7590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272786" y="4332503"/>
              <a:ext cx="56159" cy="7728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5322595" y="4318635"/>
              <a:ext cx="56159" cy="7867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372405" y="4304767"/>
              <a:ext cx="56159" cy="800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422214" y="4290898"/>
              <a:ext cx="56159" cy="8145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472024" y="4277030"/>
              <a:ext cx="56159" cy="8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521833" y="4263161"/>
              <a:ext cx="56159" cy="842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571642" y="4249293"/>
              <a:ext cx="56159" cy="856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621452" y="4235425"/>
              <a:ext cx="56159" cy="8699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671261" y="4221556"/>
              <a:ext cx="56159" cy="8838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721071" y="4207688"/>
              <a:ext cx="56159" cy="8977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70880" y="4193819"/>
              <a:ext cx="56159" cy="9115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820689" y="4179951"/>
              <a:ext cx="56159" cy="9254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70499" y="4166083"/>
              <a:ext cx="56159" cy="9393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920308" y="4152214"/>
              <a:ext cx="56159" cy="953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970118" y="4137279"/>
              <a:ext cx="56159" cy="968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019927" y="4121277"/>
              <a:ext cx="56159" cy="9841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069736" y="4105275"/>
              <a:ext cx="56159" cy="10001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119546" y="4089273"/>
              <a:ext cx="56159" cy="10161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169355" y="4073271"/>
              <a:ext cx="56159" cy="1032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6219165" y="4057269"/>
              <a:ext cx="56159" cy="10481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6268974" y="4041267"/>
              <a:ext cx="56159" cy="1064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318783" y="4025265"/>
              <a:ext cx="56159" cy="10801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368593" y="4009263"/>
              <a:ext cx="56159" cy="109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418402" y="3993261"/>
              <a:ext cx="56159" cy="11121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68212" y="3977259"/>
              <a:ext cx="56159" cy="1128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518021" y="3961257"/>
              <a:ext cx="56159" cy="11441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567830" y="3945255"/>
              <a:ext cx="56159" cy="1160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17640" y="3929253"/>
              <a:ext cx="56159" cy="11761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667449" y="3913251"/>
              <a:ext cx="56159" cy="11921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717259" y="3897249"/>
              <a:ext cx="56159" cy="12081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767068" y="3881247"/>
              <a:ext cx="56159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816877" y="3865245"/>
              <a:ext cx="56159" cy="12401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866687" y="3849243"/>
              <a:ext cx="56159" cy="1256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916496" y="3833241"/>
              <a:ext cx="56159" cy="127215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966306" y="3817772"/>
              <a:ext cx="56159" cy="12876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7016115" y="3802837"/>
              <a:ext cx="56159" cy="13025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7065924" y="3787902"/>
              <a:ext cx="56159" cy="13174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7115734" y="3772967"/>
              <a:ext cx="56159" cy="13324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7165543" y="3758032"/>
              <a:ext cx="56159" cy="13473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7215353" y="3743096"/>
              <a:ext cx="56159" cy="13623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7265162" y="3728161"/>
              <a:ext cx="56159" cy="1377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314971" y="3713226"/>
              <a:ext cx="56159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364781" y="3698291"/>
              <a:ext cx="56159" cy="14071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414590" y="3683356"/>
              <a:ext cx="56159" cy="14220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464400" y="3668420"/>
              <a:ext cx="56159" cy="14369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514209" y="3653485"/>
              <a:ext cx="56159" cy="14519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564018" y="3638550"/>
              <a:ext cx="56159" cy="14668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613828" y="3623615"/>
              <a:ext cx="56159" cy="14817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663637" y="3608680"/>
              <a:ext cx="56159" cy="149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713447" y="3593744"/>
              <a:ext cx="56159" cy="15116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763256" y="3578809"/>
              <a:ext cx="56159" cy="15265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813065" y="3563874"/>
              <a:ext cx="56159" cy="154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862875" y="3548939"/>
              <a:ext cx="56159" cy="15564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912684" y="3534004"/>
              <a:ext cx="56159" cy="15713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977742" y="3924452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027551" y="3909517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077360" y="3894582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127170" y="3879647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176979" y="3864712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226789" y="3849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276598" y="3834841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326407" y="3819906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376217" y="380497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426026" y="3790036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475836" y="3775100"/>
              <a:ext cx="56159" cy="7691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525645" y="3760165"/>
              <a:ext cx="56159" cy="7712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575454" y="3745230"/>
              <a:ext cx="56159" cy="7734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625264" y="3730295"/>
              <a:ext cx="56159" cy="7755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675073" y="3715360"/>
              <a:ext cx="56159" cy="7776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724883" y="3700424"/>
              <a:ext cx="56159" cy="7798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4774692" y="3685489"/>
              <a:ext cx="56159" cy="7819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4824501" y="3670554"/>
              <a:ext cx="56159" cy="7840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4874311" y="3655619"/>
              <a:ext cx="56159" cy="7862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4924120" y="3640684"/>
              <a:ext cx="56159" cy="7883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4973930" y="3626815"/>
              <a:ext cx="56159" cy="7888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023739" y="3614014"/>
              <a:ext cx="56159" cy="7878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073548" y="3601212"/>
              <a:ext cx="56159" cy="7867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123358" y="3588410"/>
              <a:ext cx="56159" cy="7856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173167" y="3575609"/>
              <a:ext cx="56159" cy="7846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5222977" y="3562807"/>
              <a:ext cx="56159" cy="783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5272786" y="3550006"/>
              <a:ext cx="56159" cy="7824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5322595" y="3537204"/>
              <a:ext cx="56159" cy="7814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5372405" y="3524402"/>
              <a:ext cx="56159" cy="7803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5422214" y="3511601"/>
              <a:ext cx="56159" cy="7792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5472024" y="3498799"/>
              <a:ext cx="56159" cy="778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5521833" y="3485998"/>
              <a:ext cx="56159" cy="7771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5571642" y="3473196"/>
              <a:ext cx="56159" cy="776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5621452" y="3460394"/>
              <a:ext cx="56159" cy="7750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5671261" y="3447593"/>
              <a:ext cx="56159" cy="7739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5721071" y="3434791"/>
              <a:ext cx="56159" cy="7728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5770880" y="3421990"/>
              <a:ext cx="56159" cy="7718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5820689" y="3409188"/>
              <a:ext cx="56159" cy="7707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5870499" y="3396386"/>
              <a:ext cx="56159" cy="7696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5920308" y="3383585"/>
              <a:ext cx="56159" cy="768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970118" y="3370250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6019927" y="335638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6069736" y="3342513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6119546" y="3328645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6169355" y="3314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6219165" y="3300908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6268974" y="3287039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6318783" y="3273171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6368593" y="3259303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6418402" y="3245434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6468212" y="3231566"/>
              <a:ext cx="56159" cy="7456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6518021" y="3217697"/>
              <a:ext cx="56159" cy="7435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6567830" y="3203829"/>
              <a:ext cx="56159" cy="7414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6617640" y="3189961"/>
              <a:ext cx="56159" cy="7392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6667449" y="3176092"/>
              <a:ext cx="56159" cy="7371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6717259" y="3162224"/>
              <a:ext cx="56159" cy="7350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6767068" y="3148355"/>
              <a:ext cx="56159" cy="7328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6816877" y="3134487"/>
              <a:ext cx="56159" cy="7307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6866687" y="3120619"/>
              <a:ext cx="56159" cy="7286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6916496" y="3106750"/>
              <a:ext cx="56159" cy="72649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6966306" y="3094482"/>
              <a:ext cx="56159" cy="723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7016115" y="3083814"/>
              <a:ext cx="56159" cy="7190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7065924" y="3073146"/>
              <a:ext cx="56159" cy="71475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7115734" y="3062478"/>
              <a:ext cx="56159" cy="7104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7165543" y="3051810"/>
              <a:ext cx="56159" cy="70622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7215353" y="3041142"/>
              <a:ext cx="56159" cy="70195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7265162" y="3030474"/>
              <a:ext cx="56159" cy="6976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7314971" y="3019806"/>
              <a:ext cx="56159" cy="6934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7364781" y="3009138"/>
              <a:ext cx="56159" cy="6891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7414590" y="2998470"/>
              <a:ext cx="56159" cy="68488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7464400" y="2987802"/>
              <a:ext cx="56159" cy="6806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7514209" y="2977134"/>
              <a:ext cx="56159" cy="6763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7564018" y="2966466"/>
              <a:ext cx="56159" cy="6720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7613828" y="2955798"/>
              <a:ext cx="56159" cy="6678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7663637" y="2945130"/>
              <a:ext cx="56159" cy="6635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7713447" y="2934462"/>
              <a:ext cx="56159" cy="65928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7763256" y="2923794"/>
              <a:ext cx="56159" cy="6550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7813065" y="2913126"/>
              <a:ext cx="56159" cy="6507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7862875" y="2902458"/>
              <a:ext cx="56159" cy="64648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7912684" y="2891790"/>
              <a:ext cx="56159" cy="64221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76" name="Text 174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177" name="Text 175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— Headcount by age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4709" y="2140373"/>
              <a:ext cx="124348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4604709" y="226187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343498" y="2140373"/>
              <a:ext cx="112506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343498" y="226187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42178" y="2790613"/>
              <a:ext cx="180601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042178" y="291211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3498" y="2790613"/>
              <a:ext cx="1924447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343498" y="291211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249426" y="3440853"/>
              <a:ext cx="159877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249426" y="356235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343498" y="3440853"/>
              <a:ext cx="1776413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343498" y="356235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0778" y="4091093"/>
              <a:ext cx="947420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0778" y="421259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43498" y="4091093"/>
              <a:ext cx="1213882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343498" y="421259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92915" y="4741333"/>
              <a:ext cx="355282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492915" y="486283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343498" y="4741333"/>
              <a:ext cx="473710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6343498" y="486283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Price vs.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— Market map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417950" y="2120688"/>
              <a:ext cx="573498" cy="573498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17950" y="1949238"/>
              <a:ext cx="57349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910825" y="2288662"/>
              <a:ext cx="405524" cy="405524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910825" y="2033225"/>
              <a:ext cx="40552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988914" y="3528822"/>
              <a:ext cx="544068" cy="544068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85141" y="2472809"/>
              <a:ext cx="479823" cy="479823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578004" y="4011361"/>
              <a:ext cx="425318" cy="425318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036604" y="2833624"/>
              <a:ext cx="362712" cy="362712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647565" y="3147597"/>
              <a:ext cx="339286" cy="339286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160561" y="1964825"/>
              <a:ext cx="286749" cy="286749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454565" y="4898839"/>
              <a:ext cx="222115" cy="22211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223360" y="4435602"/>
              <a:ext cx="181356" cy="18135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6558382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72323" y="2978031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028721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5424716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7012251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119785" y="22769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702080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430116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Programme plan (weeks)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65490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35010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45915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5435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6340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95860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2364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Scoping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15757" y="2242820"/>
              <a:ext cx="72169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015757" y="2242820"/>
              <a:ext cx="72169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8867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54908" y="2656840"/>
              <a:ext cx="541274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737456" y="2893060"/>
              <a:ext cx="108254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737456" y="2893060"/>
              <a:ext cx="108254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3–6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739994" y="290195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35369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654908" y="3307080"/>
              <a:ext cx="541274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59154" y="3543300"/>
              <a:ext cx="216509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459154" y="3543300"/>
              <a:ext cx="216509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41871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Test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654908" y="3957320"/>
              <a:ext cx="541274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263401" y="4193540"/>
              <a:ext cx="108254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7263401" y="4193540"/>
              <a:ext cx="108254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10–13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265939" y="420243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3047848" y="48374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Rollout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654908" y="4607560"/>
              <a:ext cx="541274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45949" y="4843780"/>
              <a:ext cx="72169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345949" y="4843780"/>
              <a:ext cx="72169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13–15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987638" y="485267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— Revenue and margin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07613" y="412610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357093" y="394703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3738093" y="4064762"/>
              <a:ext cx="1329690" cy="9182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37303" y="4034282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4686783" y="385521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5067783" y="3942334"/>
              <a:ext cx="1329690" cy="12242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366993" y="391185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6016473" y="373278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6397473" y="3728085"/>
              <a:ext cx="1329690" cy="21424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7696683" y="3697605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346163" y="3518535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442808" y="3524885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30600"/>
            <a:chOff x="3047848" y="1524000"/>
            <a:chExt cx="6096000" cy="3530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Pie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30589" y="2917318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739821" y="4391153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21218" y="318491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1324"/>
            <a:chOff x="3047848" y="1524000"/>
            <a:chExt cx="6096000" cy="372132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Doughnut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290588" y="2621881"/>
              <a:ext cx="55687" cy="4216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361463" y="25151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227370" y="5061517"/>
              <a:ext cx="6130" cy="6958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235172" y="5054824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606307" y="3077473"/>
              <a:ext cx="66336" cy="2187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988775" y="297625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278603" y="2751455"/>
              <a:ext cx="1634490" cy="1634490"/>
            </a:xfrm>
            <a:prstGeom prst="ellipse">
              <a:avLst/>
            </a:prstGeom>
            <a:solidFill>
              <a:srgbClr val="FFFFFF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352898" y="3454400"/>
              <a:ext cx="1485900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286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— Delivery days by region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81323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1323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007658" y="33985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00765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795401" y="382524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795401" y="4251960"/>
              <a:ext cx="77184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795401" y="406146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84673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584673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411008" y="25450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11008" y="44653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198751" y="3185160"/>
              <a:ext cx="771843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198751" y="361188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198751" y="342138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98802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8802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814358" y="36118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814358" y="489204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6602101" y="403860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602101" y="446532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602101" y="427482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391373" y="297180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91373" y="42519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217708" y="297180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21770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005451" y="361188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005451" y="403860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005451" y="384810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— Capability assessment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10380" y="2816860"/>
              <a:ext cx="1724568" cy="1422400"/>
            </a:xfrm>
            <a:custGeom>
              <a:avLst/>
              <a:gdLst/>
              <a:ahLst/>
              <a:cxnLst/>
              <a:rect l="l" t="t" r="r" b="b"/>
              <a:pathLst>
                <a:path w="1724568" h="1422400">
                  <a:moveTo>
                    <a:pt x="985468" y="0"/>
                  </a:moveTo>
                  <a:lnTo>
                    <a:pt x="1478201" y="568960"/>
                  </a:lnTo>
                  <a:lnTo>
                    <a:pt x="1724568" y="1280160"/>
                  </a:lnTo>
                  <a:lnTo>
                    <a:pt x="985468" y="1422400"/>
                  </a:lnTo>
                  <a:lnTo>
                    <a:pt x="0" y="1422400"/>
                  </a:lnTo>
                  <a:lnTo>
                    <a:pt x="246367" y="426720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558101" y="33553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804468" y="40665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079900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326267" y="321310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864013" y="2532380"/>
              <a:ext cx="2217302" cy="1991360"/>
            </a:xfrm>
            <a:custGeom>
              <a:avLst/>
              <a:gdLst/>
              <a:ahLst/>
              <a:cxnLst/>
              <a:rect l="l" t="t" r="r" b="b"/>
              <a:pathLst>
                <a:path w="2217302" h="1991360">
                  <a:moveTo>
                    <a:pt x="1231835" y="0"/>
                  </a:moveTo>
                  <a:lnTo>
                    <a:pt x="2217302" y="568960"/>
                  </a:lnTo>
                  <a:lnTo>
                    <a:pt x="2217302" y="1706880"/>
                  </a:lnTo>
                  <a:lnTo>
                    <a:pt x="1231835" y="1991360"/>
                  </a:lnTo>
                  <a:lnTo>
                    <a:pt x="0" y="1849120"/>
                  </a:lnTo>
                  <a:lnTo>
                    <a:pt x="246367" y="568960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65368" y="250190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065368" y="44932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3174848" y="1803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67014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79714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— Sales by region and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solidFill>
              <a:srgbClr val="83A1E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73367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solidFill>
              <a:srgbClr val="BECBEC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solidFill>
              <a:srgbClr val="C7D3EF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47345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solidFill>
              <a:srgbClr val="E2E7F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solidFill>
              <a:srgbClr val="D9E1F4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solidFill>
              <a:srgbClr val="C1CEED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047848" y="421322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solidFill>
              <a:srgbClr val="E4EAF7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Text 65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85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48100"/>
            <a:chOff x="3047848" y="1524000"/>
            <a:chExt cx="6096000" cy="38481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— Revenue by market (€m)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107504" y="1828800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4107504" y="1828800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IS</a:t>
              </a:r>
              <a:endParaRPr lang="en-US" sz="988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10879" y="1828800"/>
              <a:ext cx="369094" cy="369094"/>
            </a:xfrm>
            <a:prstGeom prst="rect">
              <a:avLst/>
            </a:prstGeom>
            <a:solidFill>
              <a:srgbClr val="E4E9F7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710879" y="1854597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</a:t>
              </a:r>
              <a:endParaRPr lang="en-US" sz="988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710879" y="201334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111723" y="1828800"/>
              <a:ext cx="369094" cy="369094"/>
            </a:xfrm>
            <a:prstGeom prst="rect">
              <a:avLst/>
            </a:prstGeom>
            <a:solidFill>
              <a:srgbClr val="D3DCF2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111723" y="1854597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</a:t>
              </a:r>
              <a:endParaRPr lang="en-US" sz="988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111723" y="201334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512566" y="1828800"/>
              <a:ext cx="369094" cy="369094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6512566" y="1854597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</a:t>
              </a:r>
              <a:endParaRPr lang="en-US" sz="988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12566" y="201334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13410" y="2229644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13410" y="2229644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EE</a:t>
              </a:r>
              <a:endParaRPr lang="en-US" sz="988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07504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107504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IE</a:t>
              </a:r>
              <a:endParaRPr lang="en-US" sz="988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8348" y="2630488"/>
              <a:ext cx="369094" cy="369094"/>
            </a:xfrm>
            <a:prstGeom prst="rect">
              <a:avLst/>
            </a:prstGeom>
            <a:solidFill>
              <a:srgbClr val="88A4E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4508348" y="2656284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GB</a:t>
              </a:r>
              <a:endParaRPr lang="en-US" sz="988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508348" y="281503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112</a:t>
              </a:r>
              <a:endParaRPr lang="en-US" sz="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10035" y="2630488"/>
              <a:ext cx="369094" cy="369094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10035" y="2656284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NL</a:t>
              </a:r>
              <a:endParaRPr lang="en-US" sz="988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10035" y="281503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66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10879" y="2630488"/>
              <a:ext cx="369094" cy="369094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5710879" y="2656284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DK</a:t>
              </a:r>
              <a:endParaRPr lang="en-US" sz="988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10879" y="281503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913410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913410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LV</a:t>
              </a:r>
              <a:endParaRPr lang="en-US" sz="988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310035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5310035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</a:t>
              </a:r>
              <a:endParaRPr lang="en-US" sz="988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5710879" y="3031331"/>
              <a:ext cx="369094" cy="369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5710879" y="3057128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88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710879" y="321587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111723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111723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CZ</a:t>
              </a:r>
              <a:endParaRPr lang="en-US" sz="988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512566" y="3031331"/>
              <a:ext cx="369094" cy="369094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512566" y="3057128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</a:t>
              </a:r>
              <a:endParaRPr lang="en-US" sz="988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512566" y="321587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913410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913410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LT</a:t>
              </a:r>
              <a:endParaRPr lang="en-US" sz="988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314254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314254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BY</a:t>
              </a:r>
              <a:endParaRPr lang="en-US" sz="988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7715098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7715098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RU</a:t>
              </a:r>
              <a:endParaRPr lang="en-US" sz="988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09191" y="3432175"/>
              <a:ext cx="369094" cy="369094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09191" y="3457972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</a:t>
              </a:r>
              <a:endParaRPr lang="en-US" sz="988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909191" y="3616722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8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310035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5310035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LU</a:t>
              </a:r>
              <a:endParaRPr lang="en-US" sz="988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710879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5710879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</a:t>
              </a:r>
              <a:endParaRPr lang="en-US" sz="988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111723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6111723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SK</a:t>
              </a:r>
              <a:endParaRPr lang="en-US" sz="988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6512566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5" name="Text 53"/>
            <p:cNvSpPr/>
            <p:nvPr/>
          </p:nvSpPr>
          <p:spPr>
            <a:xfrm>
              <a:off x="6512566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RS</a:t>
              </a:r>
              <a:endParaRPr lang="en-US" sz="988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913410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7" name="Text 55"/>
            <p:cNvSpPr/>
            <p:nvPr/>
          </p:nvSpPr>
          <p:spPr>
            <a:xfrm>
              <a:off x="6913410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</a:t>
              </a:r>
              <a:endParaRPr lang="en-US" sz="988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7314254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7314254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UA</a:t>
              </a:r>
              <a:endParaRPr lang="en-US" sz="988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07504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07504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PT</a:t>
              </a:r>
              <a:endParaRPr lang="en-US" sz="988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08348" y="3833019"/>
              <a:ext cx="369094" cy="369094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08348" y="3858816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ES</a:t>
              </a:r>
              <a:endParaRPr lang="en-US" sz="988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4508348" y="4017566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</a:t>
              </a:r>
              <a:endParaRPr lang="en-US" sz="8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5310035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5310035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</a:t>
              </a:r>
              <a:endParaRPr lang="en-US" sz="988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710879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710879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</a:t>
              </a:r>
              <a:endParaRPr lang="en-US" sz="988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6111723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6111723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HU</a:t>
              </a:r>
              <a:endParaRPr lang="en-US" sz="988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512566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512566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</a:t>
              </a:r>
              <a:endParaRPr lang="en-US" sz="988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913410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913410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BG</a:t>
              </a:r>
              <a:endParaRPr lang="en-US" sz="988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7314254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7314254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88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10035" y="4233863"/>
              <a:ext cx="369094" cy="369094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10035" y="4259659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IT</a:t>
              </a:r>
              <a:endParaRPr lang="en-US" sz="988" dirty="0"/>
            </a:p>
          </p:txBody>
        </p:sp>
        <p:sp>
          <p:nvSpPr>
            <p:cNvPr id="79" name="Text 77"/>
            <p:cNvSpPr/>
            <p:nvPr/>
          </p:nvSpPr>
          <p:spPr>
            <a:xfrm>
              <a:off x="5310035" y="4418409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8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6111723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6111723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HR</a:t>
              </a:r>
              <a:endParaRPr lang="en-US" sz="988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6512566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6512566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88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6913410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6913410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MK</a:t>
              </a:r>
              <a:endParaRPr lang="en-US" sz="988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7314254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7314254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</a:t>
              </a:r>
              <a:endParaRPr lang="en-US" sz="988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4909191" y="4634706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Text 87"/>
            <p:cNvSpPr/>
            <p:nvPr/>
          </p:nvSpPr>
          <p:spPr>
            <a:xfrm>
              <a:off x="4909191" y="4634706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88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6512566" y="4634706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Text 89"/>
            <p:cNvSpPr/>
            <p:nvPr/>
          </p:nvSpPr>
          <p:spPr>
            <a:xfrm>
              <a:off x="6512566" y="4634706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88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6913410" y="4634706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Text 91"/>
            <p:cNvSpPr/>
            <p:nvPr/>
          </p:nvSpPr>
          <p:spPr>
            <a:xfrm>
              <a:off x="6913410" y="4634706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</a:t>
              </a:r>
              <a:endParaRPr lang="en-US" sz="988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7715098" y="4634706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Text 93"/>
            <p:cNvSpPr/>
            <p:nvPr/>
          </p:nvSpPr>
          <p:spPr>
            <a:xfrm>
              <a:off x="7715098" y="4634706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</a:t>
              </a:r>
              <a:endParaRPr lang="en-US" sz="988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107504" y="50990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171004" y="50990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234504" y="50990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298004" y="50990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361504" y="50990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425004" y="50990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488504" y="50990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552004" y="50990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615504" y="50990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679004" y="50990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742504" y="50990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806004" y="50990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869504" y="50990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933004" y="50990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996504" y="50990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060004" y="50990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123504" y="50990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187004" y="50990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5250504" y="50990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5314004" y="50990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377504" y="50990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441004" y="50990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504504" y="50990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568004" y="50990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4107504" y="52197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50" dirty="0"/>
            </a:p>
          </p:txBody>
        </p:sp>
        <p:sp>
          <p:nvSpPr>
            <p:cNvPr id="121" name="Text 119"/>
            <p:cNvSpPr/>
            <p:nvPr/>
          </p:nvSpPr>
          <p:spPr>
            <a:xfrm>
              <a:off x="4869504" y="52197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50" dirty="0"/>
            </a:p>
          </p:txBody>
        </p:sp>
        <p:sp>
          <p:nvSpPr>
            <p:cNvPr id="122" name="Shape 120"/>
            <p:cNvSpPr/>
            <p:nvPr/>
          </p:nvSpPr>
          <p:spPr>
            <a:xfrm>
              <a:off x="5758504" y="50990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23" name="Text 121"/>
            <p:cNvSpPr/>
            <p:nvPr/>
          </p:nvSpPr>
          <p:spPr>
            <a:xfrm>
              <a:off x="5898204" y="50736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Cascade — Support volume breakdown — April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Contacts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Incidents &amp; Service Requests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41256" y="2070100"/>
              <a:ext cx="1375283" cy="30480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166656" y="261874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Total contacts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66656" y="349885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4,986</a:t>
              </a:r>
              <a:endParaRPr lang="en-US" sz="10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652556" y="2070100"/>
              <a:ext cx="1375283" cy="28218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677956" y="2578027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Answered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677956" y="3385757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4,616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677956" y="3569907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(92.6%)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52556" y="4891915"/>
              <a:ext cx="1375283" cy="226185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677956" y="4891915"/>
              <a:ext cx="1324483" cy="22618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370 (7.4%)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84548" y="5130800"/>
              <a:ext cx="15113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Dropped contacts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63856" y="2070100"/>
              <a:ext cx="1375283" cy="208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189256" y="2444773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 a case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189256" y="301560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3,405</a:t>
              </a:r>
              <a:endParaRPr lang="en-US" sz="10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189256" y="319975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(73.8%)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163856" y="4151616"/>
              <a:ext cx="1375283" cy="74029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189256" y="435031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Without a case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189256" y="452176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1,211 (26.2%)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675156" y="2070100"/>
              <a:ext cx="1375283" cy="1641372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700556" y="2365547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Solved in support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700556" y="2795536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2,685</a:t>
              </a:r>
              <a:endParaRPr lang="en-US" sz="10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700556" y="2979686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(78.9%)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675156" y="3711472"/>
              <a:ext cx="1375283" cy="440144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700556" y="3760094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 solved in support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700556" y="3931544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 (21.1%)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service desk logs, Apr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Funnel — Sales pipeline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29228" y="1828800"/>
              <a:ext cx="5163820" cy="5384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200279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Leads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929228" y="2002790"/>
              <a:ext cx="5163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961992" y="2557780"/>
              <a:ext cx="3098292" cy="5384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047848" y="273177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Qualified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961992" y="2731770"/>
              <a:ext cx="30982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03138" y="236728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60.0%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693533" y="3286760"/>
              <a:ext cx="1635210" cy="5384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047848" y="346075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Proposal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693533" y="3460750"/>
              <a:ext cx="16352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003138" y="309626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52.8%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102335" y="4015740"/>
              <a:ext cx="817605" cy="53848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047848" y="418973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Negotiation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102335" y="4189730"/>
              <a:ext cx="81760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003138" y="382524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50.0%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52947" y="4744720"/>
              <a:ext cx="516382" cy="538480"/>
            </a:xfrm>
            <a:prstGeom prst="rect">
              <a:avLst/>
            </a:prstGeom>
            <a:solidFill>
              <a:srgbClr val="4A3AA7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491871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252947" y="4918710"/>
              <a:ext cx="5163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003138" y="455422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63.2%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Share of revenue under subscription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3" name="Text 101"/>
            <p:cNvSpPr/>
            <p:nvPr/>
          </p:nvSpPr>
          <p:spPr>
            <a:xfrm>
              <a:off x="6629248" y="3263900"/>
              <a:ext cx="2489200" cy="406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26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68%</a:t>
              </a:r>
              <a:endParaRPr lang="en-US" sz="26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6629248" y="3683000"/>
              <a:ext cx="2489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Subscription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1"/>
            <a:chOff x="3047848" y="1524000"/>
            <a:chExt cx="6096000" cy="3771901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Treemap — Revenue by product 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20900" cy="346710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542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111348" y="20066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5206848" y="1828800"/>
              <a:ext cx="2476500" cy="1975757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5244948" y="18542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44948" y="20066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206848" y="3817257"/>
              <a:ext cx="2476500" cy="1478643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244948" y="38426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244948" y="39950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696048" y="1828800"/>
              <a:ext cx="1409700" cy="172720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7734148" y="18542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148" y="20066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696048" y="3568700"/>
              <a:ext cx="1409700" cy="1074738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734148" y="35941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Support</a:t>
              </a:r>
              <a:endParaRPr lang="en-US" sz="8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734148" y="37465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696048" y="4656138"/>
              <a:ext cx="1409700" cy="639763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734148" y="46815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Training</a:t>
              </a:r>
              <a:endParaRPr lang="en-US" sz="8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734148" y="48339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— Revenue by region and product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Violin — Response 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798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0864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233776" y="4411980"/>
              <a:ext cx="1685544" cy="266700"/>
            </a:xfrm>
            <a:custGeom>
              <a:avLst/>
              <a:gdLst/>
              <a:ahLst/>
              <a:cxnLst/>
              <a:rect l="l" t="t" r="r" b="b"/>
              <a:pathLst>
                <a:path w="1685544" h="266700">
                  <a:moveTo>
                    <a:pt x="1033777" y="266700"/>
                  </a:moveTo>
                  <a:lnTo>
                    <a:pt x="1070442" y="260032"/>
                  </a:lnTo>
                  <a:lnTo>
                    <a:pt x="1110864" y="253365"/>
                  </a:lnTo>
                  <a:lnTo>
                    <a:pt x="1154707" y="246697"/>
                  </a:lnTo>
                  <a:lnTo>
                    <a:pt x="1201478" y="240030"/>
                  </a:lnTo>
                  <a:lnTo>
                    <a:pt x="1250533" y="233362"/>
                  </a:lnTo>
                  <a:lnTo>
                    <a:pt x="1301085" y="226695"/>
                  </a:lnTo>
                  <a:lnTo>
                    <a:pt x="1352233" y="220027"/>
                  </a:lnTo>
                  <a:lnTo>
                    <a:pt x="1402991" y="213360"/>
                  </a:lnTo>
                  <a:lnTo>
                    <a:pt x="1452321" y="206693"/>
                  </a:lnTo>
                  <a:lnTo>
                    <a:pt x="1499178" y="200025"/>
                  </a:lnTo>
                  <a:lnTo>
                    <a:pt x="1542545" y="193357"/>
                  </a:lnTo>
                  <a:lnTo>
                    <a:pt x="1581477" y="186690"/>
                  </a:lnTo>
                  <a:lnTo>
                    <a:pt x="1615135" y="180022"/>
                  </a:lnTo>
                  <a:lnTo>
                    <a:pt x="1642818" y="173355"/>
                  </a:lnTo>
                  <a:lnTo>
                    <a:pt x="1663980" y="166687"/>
                  </a:lnTo>
                  <a:lnTo>
                    <a:pt x="1678251" y="160020"/>
                  </a:lnTo>
                  <a:lnTo>
                    <a:pt x="1685443" y="153352"/>
                  </a:lnTo>
                  <a:lnTo>
                    <a:pt x="1685544" y="146685"/>
                  </a:lnTo>
                  <a:lnTo>
                    <a:pt x="1678717" y="140018"/>
                  </a:lnTo>
                  <a:lnTo>
                    <a:pt x="1665279" y="133350"/>
                  </a:lnTo>
                  <a:lnTo>
                    <a:pt x="1645686" y="126682"/>
                  </a:lnTo>
                  <a:lnTo>
                    <a:pt x="1620508" y="120015"/>
                  </a:lnTo>
                  <a:lnTo>
                    <a:pt x="1590404" y="113347"/>
                  </a:lnTo>
                  <a:lnTo>
                    <a:pt x="1556094" y="106680"/>
                  </a:lnTo>
                  <a:lnTo>
                    <a:pt x="1518338" y="100013"/>
                  </a:lnTo>
                  <a:lnTo>
                    <a:pt x="1477903" y="93345"/>
                  </a:lnTo>
                  <a:lnTo>
                    <a:pt x="1435549" y="86677"/>
                  </a:lnTo>
                  <a:lnTo>
                    <a:pt x="1392006" y="80010"/>
                  </a:lnTo>
                  <a:lnTo>
                    <a:pt x="1347960" y="73343"/>
                  </a:lnTo>
                  <a:lnTo>
                    <a:pt x="1304039" y="66675"/>
                  </a:lnTo>
                  <a:lnTo>
                    <a:pt x="1260809" y="60007"/>
                  </a:lnTo>
                  <a:lnTo>
                    <a:pt x="1218766" y="53340"/>
                  </a:lnTo>
                  <a:lnTo>
                    <a:pt x="1178333" y="46672"/>
                  </a:lnTo>
                  <a:lnTo>
                    <a:pt x="1139866" y="40005"/>
                  </a:lnTo>
                  <a:lnTo>
                    <a:pt x="1103650" y="33337"/>
                  </a:lnTo>
                  <a:lnTo>
                    <a:pt x="1069902" y="26670"/>
                  </a:lnTo>
                  <a:lnTo>
                    <a:pt x="1038777" y="20002"/>
                  </a:lnTo>
                  <a:lnTo>
                    <a:pt x="1010369" y="13335"/>
                  </a:lnTo>
                  <a:lnTo>
                    <a:pt x="984716" y="6668"/>
                  </a:lnTo>
                  <a:lnTo>
                    <a:pt x="961801" y="0"/>
                  </a:lnTo>
                  <a:lnTo>
                    <a:pt x="723743" y="0"/>
                  </a:lnTo>
                  <a:lnTo>
                    <a:pt x="700828" y="6668"/>
                  </a:lnTo>
                  <a:lnTo>
                    <a:pt x="675175" y="13335"/>
                  </a:lnTo>
                  <a:lnTo>
                    <a:pt x="646767" y="20002"/>
                  </a:lnTo>
                  <a:lnTo>
                    <a:pt x="615642" y="26670"/>
                  </a:lnTo>
                  <a:lnTo>
                    <a:pt x="581894" y="33337"/>
                  </a:lnTo>
                  <a:lnTo>
                    <a:pt x="545678" y="40005"/>
                  </a:lnTo>
                  <a:lnTo>
                    <a:pt x="507211" y="46672"/>
                  </a:lnTo>
                  <a:lnTo>
                    <a:pt x="466778" y="53340"/>
                  </a:lnTo>
                  <a:lnTo>
                    <a:pt x="424735" y="60007"/>
                  </a:lnTo>
                  <a:lnTo>
                    <a:pt x="381505" y="66675"/>
                  </a:lnTo>
                  <a:lnTo>
                    <a:pt x="337584" y="73343"/>
                  </a:lnTo>
                  <a:lnTo>
                    <a:pt x="293538" y="80010"/>
                  </a:lnTo>
                  <a:lnTo>
                    <a:pt x="249995" y="86677"/>
                  </a:lnTo>
                  <a:lnTo>
                    <a:pt x="207641" y="93345"/>
                  </a:lnTo>
                  <a:lnTo>
                    <a:pt x="167206" y="100013"/>
                  </a:lnTo>
                  <a:lnTo>
                    <a:pt x="129450" y="106680"/>
                  </a:lnTo>
                  <a:lnTo>
                    <a:pt x="95140" y="113347"/>
                  </a:lnTo>
                  <a:lnTo>
                    <a:pt x="65036" y="120015"/>
                  </a:lnTo>
                  <a:lnTo>
                    <a:pt x="39858" y="126682"/>
                  </a:lnTo>
                  <a:lnTo>
                    <a:pt x="20265" y="133350"/>
                  </a:lnTo>
                  <a:lnTo>
                    <a:pt x="6827" y="140018"/>
                  </a:lnTo>
                  <a:lnTo>
                    <a:pt x="0" y="146685"/>
                  </a:lnTo>
                  <a:lnTo>
                    <a:pt x="101" y="153352"/>
                  </a:lnTo>
                  <a:lnTo>
                    <a:pt x="7293" y="160020"/>
                  </a:lnTo>
                  <a:lnTo>
                    <a:pt x="21564" y="166687"/>
                  </a:lnTo>
                  <a:lnTo>
                    <a:pt x="42726" y="173355"/>
                  </a:lnTo>
                  <a:lnTo>
                    <a:pt x="70409" y="180022"/>
                  </a:lnTo>
                  <a:lnTo>
                    <a:pt x="104067" y="186690"/>
                  </a:lnTo>
                  <a:lnTo>
                    <a:pt x="142999" y="193357"/>
                  </a:lnTo>
                  <a:lnTo>
                    <a:pt x="186366" y="200025"/>
                  </a:lnTo>
                  <a:lnTo>
                    <a:pt x="233223" y="206693"/>
                  </a:lnTo>
                  <a:lnTo>
                    <a:pt x="282553" y="213360"/>
                  </a:lnTo>
                  <a:lnTo>
                    <a:pt x="333311" y="220027"/>
                  </a:lnTo>
                  <a:lnTo>
                    <a:pt x="384459" y="226695"/>
                  </a:lnTo>
                  <a:lnTo>
                    <a:pt x="435011" y="233362"/>
                  </a:lnTo>
                  <a:lnTo>
                    <a:pt x="484066" y="240030"/>
                  </a:lnTo>
                  <a:lnTo>
                    <a:pt x="530837" y="246697"/>
                  </a:lnTo>
                  <a:lnTo>
                    <a:pt x="574680" y="253365"/>
                  </a:lnTo>
                  <a:lnTo>
                    <a:pt x="615102" y="260032"/>
                  </a:lnTo>
                  <a:lnTo>
                    <a:pt x="651767" y="266700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781577" y="4559332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5240376" y="4007187"/>
              <a:ext cx="1685544" cy="396200"/>
            </a:xfrm>
            <a:custGeom>
              <a:avLst/>
              <a:gdLst/>
              <a:ahLst/>
              <a:cxnLst/>
              <a:rect l="l" t="t" r="r" b="b"/>
              <a:pathLst>
                <a:path w="1685544" h="396200">
                  <a:moveTo>
                    <a:pt x="1014916" y="396200"/>
                  </a:moveTo>
                  <a:lnTo>
                    <a:pt x="1059531" y="386295"/>
                  </a:lnTo>
                  <a:lnTo>
                    <a:pt x="1110209" y="376390"/>
                  </a:lnTo>
                  <a:lnTo>
                    <a:pt x="1166302" y="366485"/>
                  </a:lnTo>
                  <a:lnTo>
                    <a:pt x="1226780" y="356580"/>
                  </a:lnTo>
                  <a:lnTo>
                    <a:pt x="1290238" y="346675"/>
                  </a:lnTo>
                  <a:lnTo>
                    <a:pt x="1354950" y="336770"/>
                  </a:lnTo>
                  <a:lnTo>
                    <a:pt x="1418936" y="326865"/>
                  </a:lnTo>
                  <a:lnTo>
                    <a:pt x="1480073" y="316960"/>
                  </a:lnTo>
                  <a:lnTo>
                    <a:pt x="1536219" y="307055"/>
                  </a:lnTo>
                  <a:lnTo>
                    <a:pt x="1585373" y="297150"/>
                  </a:lnTo>
                  <a:lnTo>
                    <a:pt x="1625829" y="287245"/>
                  </a:lnTo>
                  <a:lnTo>
                    <a:pt x="1656339" y="277340"/>
                  </a:lnTo>
                  <a:lnTo>
                    <a:pt x="1676240" y="267435"/>
                  </a:lnTo>
                  <a:lnTo>
                    <a:pt x="1685544" y="257530"/>
                  </a:lnTo>
                  <a:lnTo>
                    <a:pt x="1684948" y="247625"/>
                  </a:lnTo>
                  <a:lnTo>
                    <a:pt x="1675779" y="237720"/>
                  </a:lnTo>
                  <a:lnTo>
                    <a:pt x="1659845" y="227815"/>
                  </a:lnTo>
                  <a:lnTo>
                    <a:pt x="1639236" y="217910"/>
                  </a:lnTo>
                  <a:lnTo>
                    <a:pt x="1616068" y="208005"/>
                  </a:lnTo>
                  <a:lnTo>
                    <a:pt x="1592246" y="198100"/>
                  </a:lnTo>
                  <a:lnTo>
                    <a:pt x="1569247" y="188195"/>
                  </a:lnTo>
                  <a:lnTo>
                    <a:pt x="1547981" y="178290"/>
                  </a:lnTo>
                  <a:lnTo>
                    <a:pt x="1528744" y="168385"/>
                  </a:lnTo>
                  <a:lnTo>
                    <a:pt x="1511249" y="158480"/>
                  </a:lnTo>
                  <a:lnTo>
                    <a:pt x="1494746" y="148575"/>
                  </a:lnTo>
                  <a:lnTo>
                    <a:pt x="1478184" y="138670"/>
                  </a:lnTo>
                  <a:lnTo>
                    <a:pt x="1460396" y="128765"/>
                  </a:lnTo>
                  <a:lnTo>
                    <a:pt x="1440269" y="118860"/>
                  </a:lnTo>
                  <a:lnTo>
                    <a:pt x="1416889" y="108955"/>
                  </a:lnTo>
                  <a:lnTo>
                    <a:pt x="1389639" y="99050"/>
                  </a:lnTo>
                  <a:lnTo>
                    <a:pt x="1358252" y="89145"/>
                  </a:lnTo>
                  <a:lnTo>
                    <a:pt x="1322833" y="79240"/>
                  </a:lnTo>
                  <a:lnTo>
                    <a:pt x="1283834" y="69335"/>
                  </a:lnTo>
                  <a:lnTo>
                    <a:pt x="1242014" y="59430"/>
                  </a:lnTo>
                  <a:lnTo>
                    <a:pt x="1198367" y="49525"/>
                  </a:lnTo>
                  <a:lnTo>
                    <a:pt x="1154046" y="39620"/>
                  </a:lnTo>
                  <a:lnTo>
                    <a:pt x="1110263" y="29715"/>
                  </a:lnTo>
                  <a:lnTo>
                    <a:pt x="1068192" y="19810"/>
                  </a:lnTo>
                  <a:lnTo>
                    <a:pt x="1028879" y="9905"/>
                  </a:lnTo>
                  <a:lnTo>
                    <a:pt x="993161" y="0"/>
                  </a:lnTo>
                  <a:lnTo>
                    <a:pt x="692383" y="0"/>
                  </a:lnTo>
                  <a:lnTo>
                    <a:pt x="656665" y="9905"/>
                  </a:lnTo>
                  <a:lnTo>
                    <a:pt x="617352" y="19810"/>
                  </a:lnTo>
                  <a:lnTo>
                    <a:pt x="575281" y="29715"/>
                  </a:lnTo>
                  <a:lnTo>
                    <a:pt x="531498" y="39620"/>
                  </a:lnTo>
                  <a:lnTo>
                    <a:pt x="487177" y="49525"/>
                  </a:lnTo>
                  <a:lnTo>
                    <a:pt x="443530" y="59430"/>
                  </a:lnTo>
                  <a:lnTo>
                    <a:pt x="401710" y="69335"/>
                  </a:lnTo>
                  <a:lnTo>
                    <a:pt x="362711" y="79240"/>
                  </a:lnTo>
                  <a:lnTo>
                    <a:pt x="327292" y="89145"/>
                  </a:lnTo>
                  <a:lnTo>
                    <a:pt x="295905" y="99050"/>
                  </a:lnTo>
                  <a:lnTo>
                    <a:pt x="268655" y="108955"/>
                  </a:lnTo>
                  <a:lnTo>
                    <a:pt x="245275" y="118860"/>
                  </a:lnTo>
                  <a:lnTo>
                    <a:pt x="225148" y="128765"/>
                  </a:lnTo>
                  <a:lnTo>
                    <a:pt x="207360" y="138670"/>
                  </a:lnTo>
                  <a:lnTo>
                    <a:pt x="190798" y="148575"/>
                  </a:lnTo>
                  <a:lnTo>
                    <a:pt x="174295" y="158480"/>
                  </a:lnTo>
                  <a:lnTo>
                    <a:pt x="156800" y="168385"/>
                  </a:lnTo>
                  <a:lnTo>
                    <a:pt x="137563" y="178290"/>
                  </a:lnTo>
                  <a:lnTo>
                    <a:pt x="116297" y="188195"/>
                  </a:lnTo>
                  <a:lnTo>
                    <a:pt x="93298" y="198100"/>
                  </a:lnTo>
                  <a:lnTo>
                    <a:pt x="69476" y="208005"/>
                  </a:lnTo>
                  <a:lnTo>
                    <a:pt x="46308" y="217910"/>
                  </a:lnTo>
                  <a:lnTo>
                    <a:pt x="25699" y="227815"/>
                  </a:lnTo>
                  <a:lnTo>
                    <a:pt x="9765" y="237720"/>
                  </a:lnTo>
                  <a:lnTo>
                    <a:pt x="596" y="247625"/>
                  </a:lnTo>
                  <a:lnTo>
                    <a:pt x="0" y="257530"/>
                  </a:lnTo>
                  <a:lnTo>
                    <a:pt x="9304" y="267435"/>
                  </a:lnTo>
                  <a:lnTo>
                    <a:pt x="29205" y="277340"/>
                  </a:lnTo>
                  <a:lnTo>
                    <a:pt x="59715" y="287245"/>
                  </a:lnTo>
                  <a:lnTo>
                    <a:pt x="100171" y="297150"/>
                  </a:lnTo>
                  <a:lnTo>
                    <a:pt x="149325" y="307055"/>
                  </a:lnTo>
                  <a:lnTo>
                    <a:pt x="205471" y="316960"/>
                  </a:lnTo>
                  <a:lnTo>
                    <a:pt x="266608" y="326865"/>
                  </a:lnTo>
                  <a:lnTo>
                    <a:pt x="330594" y="336770"/>
                  </a:lnTo>
                  <a:lnTo>
                    <a:pt x="395306" y="346675"/>
                  </a:lnTo>
                  <a:lnTo>
                    <a:pt x="458764" y="356580"/>
                  </a:lnTo>
                  <a:lnTo>
                    <a:pt x="519242" y="366485"/>
                  </a:lnTo>
                  <a:lnTo>
                    <a:pt x="575335" y="376390"/>
                  </a:lnTo>
                  <a:lnTo>
                    <a:pt x="626013" y="386295"/>
                  </a:lnTo>
                  <a:lnTo>
                    <a:pt x="670628" y="396200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788177" y="423529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246976" y="2111998"/>
              <a:ext cx="1685544" cy="786154"/>
            </a:xfrm>
            <a:custGeom>
              <a:avLst/>
              <a:gdLst/>
              <a:ahLst/>
              <a:cxnLst/>
              <a:rect l="l" t="t" r="r" b="b"/>
              <a:pathLst>
                <a:path w="1685544" h="786154">
                  <a:moveTo>
                    <a:pt x="965668" y="786154"/>
                  </a:moveTo>
                  <a:lnTo>
                    <a:pt x="993047" y="766500"/>
                  </a:lnTo>
                  <a:lnTo>
                    <a:pt x="1022653" y="746846"/>
                  </a:lnTo>
                  <a:lnTo>
                    <a:pt x="1053936" y="727192"/>
                  </a:lnTo>
                  <a:lnTo>
                    <a:pt x="1086385" y="707538"/>
                  </a:lnTo>
                  <a:lnTo>
                    <a:pt x="1119622" y="687884"/>
                  </a:lnTo>
                  <a:lnTo>
                    <a:pt x="1153474" y="668231"/>
                  </a:lnTo>
                  <a:lnTo>
                    <a:pt x="1188012" y="648577"/>
                  </a:lnTo>
                  <a:lnTo>
                    <a:pt x="1223519" y="628923"/>
                  </a:lnTo>
                  <a:lnTo>
                    <a:pt x="1260409" y="609269"/>
                  </a:lnTo>
                  <a:lnTo>
                    <a:pt x="1299095" y="589615"/>
                  </a:lnTo>
                  <a:lnTo>
                    <a:pt x="1339827" y="569961"/>
                  </a:lnTo>
                  <a:lnTo>
                    <a:pt x="1382533" y="550308"/>
                  </a:lnTo>
                  <a:lnTo>
                    <a:pt x="1426714" y="530654"/>
                  </a:lnTo>
                  <a:lnTo>
                    <a:pt x="1471401" y="511000"/>
                  </a:lnTo>
                  <a:lnTo>
                    <a:pt x="1515213" y="491346"/>
                  </a:lnTo>
                  <a:lnTo>
                    <a:pt x="1556508" y="471692"/>
                  </a:lnTo>
                  <a:lnTo>
                    <a:pt x="1593618" y="452038"/>
                  </a:lnTo>
                  <a:lnTo>
                    <a:pt x="1625100" y="432385"/>
                  </a:lnTo>
                  <a:lnTo>
                    <a:pt x="1649982" y="412731"/>
                  </a:lnTo>
                  <a:lnTo>
                    <a:pt x="1667910" y="393077"/>
                  </a:lnTo>
                  <a:lnTo>
                    <a:pt x="1679192" y="373423"/>
                  </a:lnTo>
                  <a:lnTo>
                    <a:pt x="1684681" y="353769"/>
                  </a:lnTo>
                  <a:lnTo>
                    <a:pt x="1685544" y="334115"/>
                  </a:lnTo>
                  <a:lnTo>
                    <a:pt x="1682958" y="314461"/>
                  </a:lnTo>
                  <a:lnTo>
                    <a:pt x="1677792" y="294808"/>
                  </a:lnTo>
                  <a:lnTo>
                    <a:pt x="1670364" y="275154"/>
                  </a:lnTo>
                  <a:lnTo>
                    <a:pt x="1660332" y="255500"/>
                  </a:lnTo>
                  <a:lnTo>
                    <a:pt x="1646737" y="235846"/>
                  </a:lnTo>
                  <a:lnTo>
                    <a:pt x="1628213" y="216192"/>
                  </a:lnTo>
                  <a:lnTo>
                    <a:pt x="1603290" y="196538"/>
                  </a:lnTo>
                  <a:lnTo>
                    <a:pt x="1570750" y="176885"/>
                  </a:lnTo>
                  <a:lnTo>
                    <a:pt x="1529935" y="157231"/>
                  </a:lnTo>
                  <a:lnTo>
                    <a:pt x="1480956" y="137577"/>
                  </a:lnTo>
                  <a:lnTo>
                    <a:pt x="1424765" y="117923"/>
                  </a:lnTo>
                  <a:lnTo>
                    <a:pt x="1363072" y="98269"/>
                  </a:lnTo>
                  <a:lnTo>
                    <a:pt x="1298140" y="78615"/>
                  </a:lnTo>
                  <a:lnTo>
                    <a:pt x="1232503" y="58962"/>
                  </a:lnTo>
                  <a:lnTo>
                    <a:pt x="1168667" y="39308"/>
                  </a:lnTo>
                  <a:lnTo>
                    <a:pt x="1108842" y="19654"/>
                  </a:lnTo>
                  <a:lnTo>
                    <a:pt x="1054739" y="0"/>
                  </a:lnTo>
                  <a:lnTo>
                    <a:pt x="630805" y="0"/>
                  </a:lnTo>
                  <a:lnTo>
                    <a:pt x="576702" y="19654"/>
                  </a:lnTo>
                  <a:lnTo>
                    <a:pt x="516877" y="39308"/>
                  </a:lnTo>
                  <a:lnTo>
                    <a:pt x="453041" y="58962"/>
                  </a:lnTo>
                  <a:lnTo>
                    <a:pt x="387404" y="78615"/>
                  </a:lnTo>
                  <a:lnTo>
                    <a:pt x="322472" y="98269"/>
                  </a:lnTo>
                  <a:lnTo>
                    <a:pt x="260779" y="117923"/>
                  </a:lnTo>
                  <a:lnTo>
                    <a:pt x="204588" y="137577"/>
                  </a:lnTo>
                  <a:lnTo>
                    <a:pt x="155609" y="157231"/>
                  </a:lnTo>
                  <a:lnTo>
                    <a:pt x="114794" y="176885"/>
                  </a:lnTo>
                  <a:lnTo>
                    <a:pt x="82254" y="196538"/>
                  </a:lnTo>
                  <a:lnTo>
                    <a:pt x="57331" y="216192"/>
                  </a:lnTo>
                  <a:lnTo>
                    <a:pt x="38807" y="235846"/>
                  </a:lnTo>
                  <a:lnTo>
                    <a:pt x="25212" y="255500"/>
                  </a:lnTo>
                  <a:lnTo>
                    <a:pt x="15180" y="275154"/>
                  </a:lnTo>
                  <a:lnTo>
                    <a:pt x="7752" y="294808"/>
                  </a:lnTo>
                  <a:lnTo>
                    <a:pt x="2586" y="314461"/>
                  </a:lnTo>
                  <a:lnTo>
                    <a:pt x="0" y="334115"/>
                  </a:lnTo>
                  <a:lnTo>
                    <a:pt x="863" y="353769"/>
                  </a:lnTo>
                  <a:lnTo>
                    <a:pt x="6352" y="373423"/>
                  </a:lnTo>
                  <a:lnTo>
                    <a:pt x="17634" y="393077"/>
                  </a:lnTo>
                  <a:lnTo>
                    <a:pt x="35562" y="412731"/>
                  </a:lnTo>
                  <a:lnTo>
                    <a:pt x="60444" y="432385"/>
                  </a:lnTo>
                  <a:lnTo>
                    <a:pt x="91926" y="452038"/>
                  </a:lnTo>
                  <a:lnTo>
                    <a:pt x="129036" y="471692"/>
                  </a:lnTo>
                  <a:lnTo>
                    <a:pt x="170331" y="491346"/>
                  </a:lnTo>
                  <a:lnTo>
                    <a:pt x="214143" y="511000"/>
                  </a:lnTo>
                  <a:lnTo>
                    <a:pt x="258830" y="530654"/>
                  </a:lnTo>
                  <a:lnTo>
                    <a:pt x="303011" y="550308"/>
                  </a:lnTo>
                  <a:lnTo>
                    <a:pt x="345717" y="569961"/>
                  </a:lnTo>
                  <a:lnTo>
                    <a:pt x="386449" y="589615"/>
                  </a:lnTo>
                  <a:lnTo>
                    <a:pt x="425135" y="609269"/>
                  </a:lnTo>
                  <a:lnTo>
                    <a:pt x="462025" y="628923"/>
                  </a:lnTo>
                  <a:lnTo>
                    <a:pt x="497532" y="648577"/>
                  </a:lnTo>
                  <a:lnTo>
                    <a:pt x="532070" y="668231"/>
                  </a:lnTo>
                  <a:lnTo>
                    <a:pt x="565922" y="687884"/>
                  </a:lnTo>
                  <a:lnTo>
                    <a:pt x="599159" y="707538"/>
                  </a:lnTo>
                  <a:lnTo>
                    <a:pt x="631608" y="727192"/>
                  </a:lnTo>
                  <a:lnTo>
                    <a:pt x="662891" y="746846"/>
                  </a:lnTo>
                  <a:lnTo>
                    <a:pt x="692497" y="766500"/>
                  </a:lnTo>
                  <a:lnTo>
                    <a:pt x="719876" y="78615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794777" y="247507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Candlestick — 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6752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2772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791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4811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831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6851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2871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8890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910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374238" y="40386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223743" y="42519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76218" y="38252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825723" y="42519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578198" y="36118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27703" y="3825240"/>
              <a:ext cx="30099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180178" y="3611880"/>
              <a:ext cx="0" cy="64008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029683" y="382524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8215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631663" y="361188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38413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23364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8611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835623" y="31851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588098" y="31851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437603" y="3398520"/>
              <a:ext cx="300990" cy="42672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19007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039583" y="3611880"/>
              <a:ext cx="300990" cy="213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879205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64156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Decorations — totals, CAGR, difference, value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2535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2028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0503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178148" y="3595455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>
              <a:off x="8165948" y="2799673"/>
              <a:ext cx="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102448" y="2799673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8204048" y="3102314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+53%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073248" y="3233272"/>
              <a:ext cx="5181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47" name="Text 45"/>
            <p:cNvSpPr/>
            <p:nvPr/>
          </p:nvSpPr>
          <p:spPr>
            <a:xfrm>
              <a:off x="3098648" y="3042772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Ø 92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Grand total — sum of all category totals (top-right)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98533"/>
              <a:ext cx="453390" cy="16068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20671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154204"/>
              <a:ext cx="453390" cy="1951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4034552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970054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710913" y="3268980"/>
              <a:ext cx="453390" cy="18364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660113" y="409194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7003" y="3001169"/>
              <a:ext cx="453390" cy="2104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126203" y="395803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71518" y="2817019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9183" y="3383756"/>
              <a:ext cx="453390" cy="17216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058383" y="414932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75273" y="2886393"/>
              <a:ext cx="453390" cy="22190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6524473" y="390064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869788" y="2702243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507453" y="2771616"/>
              <a:ext cx="453390" cy="23337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456653" y="384325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73543" y="2427288"/>
              <a:ext cx="453390" cy="26781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922743" y="367109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268058" y="2243138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343748" y="1854200"/>
              <a:ext cx="3225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717128" y="3680619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7128" y="385278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/>
          <p:cNvGrpSpPr/>
          <p:nvPr>
            <p:custDataLst>
              <p:tags r:id="rId3"/>
            </p:custDataLst>
          </p:nvPr>
        </p:nvGrpSpPr>
        <p:grpSpPr>
          <a:xfrm>
            <a:off x="2539848" y="1397000"/>
            <a:ext cx="7112000" cy="4051300"/>
            <a:chOff x="2539848" y="1397000"/>
            <a:chExt cx="7112000" cy="4051300"/>
          </a:xfrm>
        </p:grpSpPr>
        <p:sp>
          <p:nvSpPr>
            <p:cNvPr id="2" name="Text 0"/>
            <p:cNvSpPr/>
            <p:nvPr/>
          </p:nvSpPr>
          <p:spPr>
            <a:xfrm>
              <a:off x="2539848" y="1397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scenarios — PY / AC / FC / PL by fill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514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992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28405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539848" y="168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29716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289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9436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54223" y="3390053"/>
              <a:ext cx="263525" cy="184234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203423" y="421597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530448" y="3343995"/>
              <a:ext cx="263525" cy="1888405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479648" y="419294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82898" y="3274907"/>
              <a:ext cx="263525" cy="195749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32098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911573" y="3274907"/>
              <a:ext cx="263525" cy="1957493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860773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87798" y="3205819"/>
              <a:ext cx="263525" cy="2026581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136998" y="4123859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40248" y="3159760"/>
              <a:ext cx="263525" cy="207264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89448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568923" y="3159760"/>
              <a:ext cx="263525" cy="2072640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518123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5148" y="3021584"/>
              <a:ext cx="263525" cy="2210816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794348" y="4031742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397598" y="3044613"/>
              <a:ext cx="263525" cy="2187787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346798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8226273" y="3044613"/>
              <a:ext cx="263525" cy="218778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175473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8778723" y="2883408"/>
              <a:ext cx="263525" cy="2348992"/>
            </a:xfrm>
            <a:prstGeom prst="rect">
              <a:avLst/>
            </a:prstGeom>
            <a:solidFill>
              <a:srgbClr val="91A3C1"/>
            </a:solidFill>
            <a:ln w="12700">
              <a:solidFill>
                <a:srgbClr val="3B6EA5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727923" y="3962654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054948" y="2929467"/>
              <a:ext cx="263525" cy="230293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9004148" y="398568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5232400"/>
              <a:ext cx="6629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2539848" y="1270000"/>
            <a:ext cx="7112000" cy="4305300"/>
            <a:chOff x="2539848" y="1270000"/>
            <a:chExt cx="7112000" cy="4305300"/>
          </a:xfrm>
        </p:grpSpPr>
        <p:sp>
          <p:nvSpPr>
            <p:cNvPr id="2" name="Text 0"/>
            <p:cNvSpPr/>
            <p:nvPr/>
          </p:nvSpPr>
          <p:spPr>
            <a:xfrm>
              <a:off x="2539848" y="1270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variance tier — actual vs plan (Δ below)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46990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13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1562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97164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48802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0440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2078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30728" y="2215642"/>
              <a:ext cx="492760" cy="2572258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179928" y="340652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736188" y="2121535"/>
              <a:ext cx="492760" cy="266636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685388" y="335946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47108" y="2027428"/>
              <a:ext cx="492760" cy="2760472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96308" y="3312414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2568" y="2090166"/>
              <a:ext cx="492760" cy="2697734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01768" y="334378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63488" y="1776476"/>
              <a:ext cx="492760" cy="3011424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212688" y="318693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768948" y="1807845"/>
              <a:ext cx="492760" cy="298005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718148" y="320262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779868" y="1933321"/>
              <a:ext cx="492760" cy="2854579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729068" y="326536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5328" y="1651000"/>
              <a:ext cx="492760" cy="313690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234528" y="3124200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971648" y="507365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350743" y="5073650"/>
              <a:ext cx="758190" cy="4572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2971648" y="513207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867123" y="5043170"/>
              <a:ext cx="758190" cy="3048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488028" y="490982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83503" y="5058410"/>
              <a:ext cx="758190" cy="1524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004408" y="492506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899883" y="5073650"/>
              <a:ext cx="758190" cy="1371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520788" y="522351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478790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9087968" y="31337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(PL)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087968" y="33051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 (AC)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Level difference (series) + label content Value+%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34 46%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18 24%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40 48%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26 31%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17 20%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47 48%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31 32%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19 20%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56 50%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35 31%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22 19%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178148" y="4411641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8165948" y="3962739"/>
              <a:ext cx="0" cy="448903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102448" y="3962739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8204048" y="4091940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+65%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 orientation + segment order descending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3653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1718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9782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7847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2376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5076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8896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451596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7410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0110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23768" y="2191808"/>
              <a:ext cx="1175647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72968" y="2365375"/>
              <a:ext cx="12772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99415" y="2191808"/>
              <a:ext cx="760713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48615" y="236537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360128" y="2191808"/>
              <a:ext cx="622402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09328" y="2365375"/>
              <a:ext cx="72400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020630" y="2365375"/>
              <a:ext cx="312321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23768" y="2998258"/>
              <a:ext cx="1383115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372968" y="3171825"/>
              <a:ext cx="148471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06882" y="2998258"/>
              <a:ext cx="8990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4756082" y="3171825"/>
              <a:ext cx="10006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05907" y="2998258"/>
              <a:ext cx="587824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655107" y="3171825"/>
              <a:ext cx="6894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331831" y="3171825"/>
              <a:ext cx="28120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423768" y="3804708"/>
              <a:ext cx="1625160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372968" y="3978275"/>
              <a:ext cx="1726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48927" y="3804708"/>
              <a:ext cx="1071914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998127" y="3978275"/>
              <a:ext cx="117351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120841" y="3804708"/>
              <a:ext cx="656979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70041" y="3978275"/>
              <a:ext cx="75857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815921" y="3978275"/>
              <a:ext cx="23279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23768" y="4611158"/>
              <a:ext cx="1936361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3372968" y="4784725"/>
              <a:ext cx="20379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5360128" y="4611158"/>
              <a:ext cx="12102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5309328" y="4784725"/>
              <a:ext cx="1311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6570353" y="4611158"/>
              <a:ext cx="760713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519553" y="478472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369167" y="4784725"/>
              <a:ext cx="177468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42376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Category sort descending + pinned axis + de-DE locale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85167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064933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0447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0,0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962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50,0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976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100,0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955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150,0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734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8672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0610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614" y="3962739"/>
              <a:ext cx="795867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27814" y="4438819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56,0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78614" y="3248575"/>
              <a:ext cx="795867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27814" y="351040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35,0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678614" y="2799673"/>
              <a:ext cx="795867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3627814" y="2928874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479648" y="261552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113,0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72414" y="4146381"/>
              <a:ext cx="795867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4821614" y="45306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47,0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72414" y="3513836"/>
              <a:ext cx="7958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1614" y="3734858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31,0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872414" y="3126147"/>
              <a:ext cx="7958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821614" y="322474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19,0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673448" y="2941997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97,0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066214" y="4289213"/>
              <a:ext cx="7958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15414" y="460205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40,0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66214" y="3758692"/>
              <a:ext cx="7958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15414" y="3928703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26,0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66214" y="3411813"/>
              <a:ext cx="7958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15414" y="349000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17,0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867248" y="322766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83,0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7260014" y="4411641"/>
              <a:ext cx="795867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209214" y="4663271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34,0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260014" y="3962739"/>
              <a:ext cx="7958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209214" y="40919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260014" y="3595455"/>
              <a:ext cx="7958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209214" y="368384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18,0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61048" y="3411305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74,0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8305648" y="369337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8305648" y="4101465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305648" y="467279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Clustered-stacked (stack groups) 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62975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505683" y="3575050"/>
              <a:ext cx="839470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454883" y="4244975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505683" y="2962910"/>
              <a:ext cx="839470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454883" y="317373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57853" y="3779097"/>
              <a:ext cx="839470" cy="13263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307053" y="434699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57853" y="3268980"/>
              <a:ext cx="839470" cy="51011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307053" y="342878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48533" y="277876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00703" y="308483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9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62193" y="3268980"/>
              <a:ext cx="83947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11393" y="409194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062193" y="2452793"/>
              <a:ext cx="839470" cy="81618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11393" y="2765637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914363" y="3422015"/>
              <a:ext cx="839470" cy="168338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863563" y="416845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914363" y="2707852"/>
              <a:ext cx="839470" cy="71416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863563" y="2969683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005043" y="2268643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57213" y="2523702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9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3248" y="5105400"/>
              <a:ext cx="51130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237068" y="2775162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Services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237068" y="2979208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Services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37068" y="410146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Product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237068" y="427291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Axis break (620 outlier) + axis title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910584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821684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714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€m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4684227"/>
              <a:ext cx="922867" cy="4211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47995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4553864"/>
              <a:ext cx="922867" cy="5515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4734382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3710026"/>
              <a:ext cx="922867" cy="13953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4312463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4493697"/>
              <a:ext cx="922867" cy="611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470429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54248" y="4111142"/>
              <a:ext cx="5664200" cy="192024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22" name="Shape 20"/>
            <p:cNvSpPr/>
            <p:nvPr/>
          </p:nvSpPr>
          <p:spPr>
            <a:xfrm flipV="1">
              <a:off x="3428848" y="4271416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3428848" y="4079392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Log scale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3053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5052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7051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1,000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10,000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714500"/>
              <a:ext cx="54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$m (log)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Seed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19889" y="4623692"/>
              <a:ext cx="922867" cy="4817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669089" y="476929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123239" y="3823592"/>
              <a:ext cx="922867" cy="12818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072439" y="436924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526589" y="3231228"/>
              <a:ext cx="922867" cy="18741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475789" y="40730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29939" y="2482069"/>
              <a:ext cx="922867" cy="262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879139" y="3698485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100%= row (columns short of 100%)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825240"/>
              <a:ext cx="1242907" cy="1280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37007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2865120"/>
              <a:ext cx="1242907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499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2545080"/>
              <a:ext cx="1242907" cy="8001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284988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25%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12694" y="2865120"/>
              <a:ext cx="1242907" cy="2240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7061894" y="389001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70%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112694" y="222504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7061894" y="24498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20%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717128" y="245935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Lost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717128" y="389953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waterfall + value-line-anchored difference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1116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Organic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34908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M&amp;A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8700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62492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62901" y="4085167"/>
              <a:ext cx="758613" cy="10202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86701" y="45000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62901" y="3350599"/>
              <a:ext cx="758613" cy="73456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186701" y="36226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21514" y="3350599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3" name="Shape 11"/>
            <p:cNvSpPr/>
            <p:nvPr/>
          </p:nvSpPr>
          <p:spPr>
            <a:xfrm>
              <a:off x="4400821" y="3187361"/>
              <a:ext cx="758613" cy="1632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324621" y="3173730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00821" y="3064933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159434" y="3064933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5538741" y="2962910"/>
              <a:ext cx="758613" cy="10202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538741" y="2779268"/>
              <a:ext cx="758613" cy="18364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462541" y="2775839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97354" y="2779268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676661" y="2779268"/>
              <a:ext cx="758613" cy="12242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676661" y="2901696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435274" y="3024124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7814581" y="3024124"/>
              <a:ext cx="758613" cy="20812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738381" y="3969512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5689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046914" y="3064933"/>
              <a:ext cx="470408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8700194" y="3024124"/>
              <a:ext cx="0" cy="40809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636694" y="3024124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38294" y="2949279"/>
              <a:ext cx="40555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+2.0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3064933"/>
              <a:ext cx="5689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32" name="Text 30"/>
            <p:cNvSpPr/>
            <p:nvPr/>
          </p:nvSpPr>
          <p:spPr>
            <a:xfrm>
              <a:off x="3098648" y="2874433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Rotated waterfall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679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6352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2025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7697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43370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9043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560928" y="1974144"/>
              <a:ext cx="3128061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484728" y="2067983"/>
              <a:ext cx="32804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688988" y="23523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6688988" y="2541411"/>
              <a:ext cx="509219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12788" y="2635250"/>
              <a:ext cx="6616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98208" y="29195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7198208" y="3108678"/>
              <a:ext cx="327355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122008" y="3202517"/>
              <a:ext cx="47975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525563" y="3486856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7089089" y="3675944"/>
              <a:ext cx="436474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12889" y="3769783"/>
              <a:ext cx="58887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089089" y="40541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943598" y="4243211"/>
              <a:ext cx="145491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14489" y="4337050"/>
              <a:ext cx="508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943598" y="46213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3560928" y="4810478"/>
              <a:ext cx="3382670" cy="37817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484728" y="4904317"/>
              <a:ext cx="3535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560928" y="1879600"/>
              <a:ext cx="0" cy="3403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Shape 0"/>
            <p:cNvSpPr/>
            <p:nvPr/>
          </p:nvSpPr>
          <p:spPr>
            <a:xfrm>
              <a:off x="3698088" y="2057400"/>
              <a:ext cx="1875628" cy="1587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672688" y="2755900"/>
              <a:ext cx="192642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5573716" y="2057400"/>
              <a:ext cx="1250419" cy="1587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5548316" y="2755900"/>
              <a:ext cx="13012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6824135" y="2057400"/>
              <a:ext cx="625209" cy="1587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6798735" y="2755900"/>
              <a:ext cx="67600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487444" y="2755900"/>
              <a:ext cx="165640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98088" y="3670300"/>
              <a:ext cx="2456180" cy="952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672688" y="4051300"/>
              <a:ext cx="25069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154268" y="3670300"/>
              <a:ext cx="1339735" cy="952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128868" y="405130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94002" y="3670300"/>
              <a:ext cx="1116445" cy="952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468602" y="4051300"/>
              <a:ext cx="116724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648548" y="40513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98088" y="4648200"/>
              <a:ext cx="803841" cy="6350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72688" y="4870450"/>
              <a:ext cx="8546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1928" y="4648200"/>
              <a:ext cx="982472" cy="6350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476528" y="4870450"/>
              <a:ext cx="103327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4400" y="4648200"/>
              <a:ext cx="1339735" cy="6350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459000" y="487045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62235" y="4870450"/>
              <a:ext cx="22816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with units (X extent) — rotated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47848" y="27559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40513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47848" y="48704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69808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9808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382508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2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79028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14842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527542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+ secondary axis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79679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63042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3635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19350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3988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41740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417408" y="44043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417408" y="37922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417408" y="31800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417408" y="25679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41740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707613" y="317728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3357093" y="299821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3738093" y="3024124"/>
              <a:ext cx="1329690" cy="183642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037303" y="299364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686783" y="2814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067783" y="2779268"/>
              <a:ext cx="1329690" cy="244856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66993" y="274878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016473" y="256971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 flipV="1">
              <a:off x="6397473" y="2350770"/>
              <a:ext cx="1329690" cy="42849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96683" y="232029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346163" y="214122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442808" y="214757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partition lines, trend, groups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751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862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5306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8638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7749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608610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479648" y="2450745"/>
              <a:ext cx="5562600" cy="234683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Text 21"/>
            <p:cNvSpPr/>
            <p:nvPr/>
          </p:nvSpPr>
          <p:spPr>
            <a:xfrm>
              <a:off x="7757008" y="2501545"/>
              <a:ext cx="12852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0.99, p &lt; 0.001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275938" y="44126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179860" y="395922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222848" y="3656965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65835" y="312801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2563" y="3014663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586953" y="252349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36816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39147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61251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367435" y="308356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2970213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47904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quadratic (degree 2) trend fit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180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2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6924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60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74973" y="2722880"/>
              <a:ext cx="121682" cy="21379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4296654" y="2936678"/>
              <a:ext cx="121682" cy="20197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>
              <a:off x="4418336" y="3138653"/>
              <a:ext cx="121682" cy="19015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Shape 21"/>
            <p:cNvSpPr/>
            <p:nvPr/>
          </p:nvSpPr>
          <p:spPr>
            <a:xfrm>
              <a:off x="4540018" y="3328803"/>
              <a:ext cx="121682" cy="17832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4" name="Shape 22"/>
            <p:cNvSpPr/>
            <p:nvPr/>
          </p:nvSpPr>
          <p:spPr>
            <a:xfrm>
              <a:off x="4661700" y="3507130"/>
              <a:ext cx="121682" cy="16650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5" name="Shape 23"/>
            <p:cNvSpPr/>
            <p:nvPr/>
          </p:nvSpPr>
          <p:spPr>
            <a:xfrm>
              <a:off x="4783382" y="3673634"/>
              <a:ext cx="121682" cy="15468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6" name="Shape 24"/>
            <p:cNvSpPr/>
            <p:nvPr/>
          </p:nvSpPr>
          <p:spPr>
            <a:xfrm>
              <a:off x="4905064" y="3828313"/>
              <a:ext cx="121682" cy="14285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7" name="Shape 25"/>
            <p:cNvSpPr/>
            <p:nvPr/>
          </p:nvSpPr>
          <p:spPr>
            <a:xfrm>
              <a:off x="5026746" y="3971169"/>
              <a:ext cx="121682" cy="13103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5148428" y="4102202"/>
              <a:ext cx="121682" cy="11920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9" name="Shape 27"/>
            <p:cNvSpPr/>
            <p:nvPr/>
          </p:nvSpPr>
          <p:spPr>
            <a:xfrm>
              <a:off x="5270109" y="4221410"/>
              <a:ext cx="121682" cy="10738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0" name="Shape 28"/>
            <p:cNvSpPr/>
            <p:nvPr/>
          </p:nvSpPr>
          <p:spPr>
            <a:xfrm>
              <a:off x="5391791" y="4328795"/>
              <a:ext cx="121682" cy="9556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1" name="Shape 29"/>
            <p:cNvSpPr/>
            <p:nvPr/>
          </p:nvSpPr>
          <p:spPr>
            <a:xfrm>
              <a:off x="5513473" y="4424356"/>
              <a:ext cx="121682" cy="83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2" name="Shape 30"/>
            <p:cNvSpPr/>
            <p:nvPr/>
          </p:nvSpPr>
          <p:spPr>
            <a:xfrm>
              <a:off x="5635155" y="4508094"/>
              <a:ext cx="121682" cy="7191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3" name="Shape 31"/>
            <p:cNvSpPr/>
            <p:nvPr/>
          </p:nvSpPr>
          <p:spPr>
            <a:xfrm>
              <a:off x="5756837" y="4580007"/>
              <a:ext cx="121682" cy="6009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4" name="Shape 32"/>
            <p:cNvSpPr/>
            <p:nvPr/>
          </p:nvSpPr>
          <p:spPr>
            <a:xfrm>
              <a:off x="5878519" y="4640097"/>
              <a:ext cx="121682" cy="4826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5" name="Shape 33"/>
            <p:cNvSpPr/>
            <p:nvPr/>
          </p:nvSpPr>
          <p:spPr>
            <a:xfrm>
              <a:off x="6000201" y="4688364"/>
              <a:ext cx="121682" cy="3644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6121883" y="4724806"/>
              <a:ext cx="121682" cy="2461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7" name="Shape 35"/>
            <p:cNvSpPr/>
            <p:nvPr/>
          </p:nvSpPr>
          <p:spPr>
            <a:xfrm>
              <a:off x="6243564" y="4749425"/>
              <a:ext cx="121682" cy="1279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8" name="Shape 36"/>
            <p:cNvSpPr/>
            <p:nvPr/>
          </p:nvSpPr>
          <p:spPr>
            <a:xfrm>
              <a:off x="6365246" y="4762221"/>
              <a:ext cx="121682" cy="97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6486928" y="4752340"/>
              <a:ext cx="121682" cy="1085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608610" y="4729664"/>
              <a:ext cx="121682" cy="2267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30292" y="4695165"/>
              <a:ext cx="121682" cy="345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851974" y="4648841"/>
              <a:ext cx="121682" cy="4632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973656" y="4590694"/>
              <a:ext cx="121682" cy="5814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4" name="Shape 42"/>
            <p:cNvSpPr/>
            <p:nvPr/>
          </p:nvSpPr>
          <p:spPr>
            <a:xfrm flipV="1">
              <a:off x="7095338" y="4520724"/>
              <a:ext cx="121682" cy="6997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5" name="Shape 43"/>
            <p:cNvSpPr/>
            <p:nvPr/>
          </p:nvSpPr>
          <p:spPr>
            <a:xfrm flipV="1">
              <a:off x="7217019" y="4438929"/>
              <a:ext cx="121682" cy="8179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6" name="Shape 44"/>
            <p:cNvSpPr/>
            <p:nvPr/>
          </p:nvSpPr>
          <p:spPr>
            <a:xfrm flipV="1">
              <a:off x="7338701" y="4345311"/>
              <a:ext cx="121682" cy="9361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7" name="Shape 45"/>
            <p:cNvSpPr/>
            <p:nvPr/>
          </p:nvSpPr>
          <p:spPr>
            <a:xfrm flipV="1">
              <a:off x="7460383" y="4239870"/>
              <a:ext cx="121682" cy="10544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 flipV="1">
              <a:off x="7582065" y="4122604"/>
              <a:ext cx="121682" cy="11726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9" name="Shape 47"/>
            <p:cNvSpPr/>
            <p:nvPr/>
          </p:nvSpPr>
          <p:spPr>
            <a:xfrm flipV="1">
              <a:off x="7703747" y="3993515"/>
              <a:ext cx="121682" cy="12908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7825429" y="3852602"/>
              <a:ext cx="121682" cy="14091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7947111" y="3699866"/>
              <a:ext cx="121682" cy="152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8068793" y="3535305"/>
              <a:ext cx="121682" cy="16456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8190474" y="3358921"/>
              <a:ext cx="121682" cy="17638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8312156" y="3170714"/>
              <a:ext cx="121682" cy="18820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8433838" y="2970682"/>
              <a:ext cx="121682" cy="20003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8555520" y="2758827"/>
              <a:ext cx="121682" cy="21185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8677202" y="2535149"/>
              <a:ext cx="121682" cy="22367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798884" y="2299646"/>
              <a:ext cx="121682" cy="23550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8920566" y="2052320"/>
              <a:ext cx="121682" cy="24732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0" name="Text 58"/>
            <p:cNvSpPr/>
            <p:nvPr/>
          </p:nvSpPr>
          <p:spPr>
            <a:xfrm>
              <a:off x="7695286" y="1905000"/>
              <a:ext cx="1346962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1.00 · quadratic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136873" y="2654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4832198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527523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6222848" y="4686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6918173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7613498" y="4117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308823" y="33045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9004148" y="20040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Text 67"/>
            <p:cNvSpPr/>
            <p:nvPr/>
          </p:nvSpPr>
          <p:spPr>
            <a:xfrm>
              <a:off x="4238473" y="2609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70" name="Text 68"/>
            <p:cNvSpPr/>
            <p:nvPr/>
          </p:nvSpPr>
          <p:spPr>
            <a:xfrm>
              <a:off x="4933798" y="37477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71" name="Text 69"/>
            <p:cNvSpPr/>
            <p:nvPr/>
          </p:nvSpPr>
          <p:spPr>
            <a:xfrm>
              <a:off x="5629123" y="43980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72" name="Text 70"/>
            <p:cNvSpPr/>
            <p:nvPr/>
          </p:nvSpPr>
          <p:spPr>
            <a:xfrm>
              <a:off x="6324448" y="4641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7019773" y="45605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000" dirty="0"/>
            </a:p>
          </p:txBody>
        </p:sp>
        <p:sp>
          <p:nvSpPr>
            <p:cNvPr id="74" name="Text 72"/>
            <p:cNvSpPr/>
            <p:nvPr/>
          </p:nvSpPr>
          <p:spPr>
            <a:xfrm>
              <a:off x="7715098" y="40728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75" name="Text 73"/>
            <p:cNvSpPr/>
            <p:nvPr/>
          </p:nvSpPr>
          <p:spPr>
            <a:xfrm>
              <a:off x="8410423" y="32600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1000" dirty="0"/>
            </a:p>
          </p:txBody>
        </p:sp>
        <p:sp>
          <p:nvSpPr>
            <p:cNvPr id="76" name="Text 74"/>
            <p:cNvSpPr/>
            <p:nvPr/>
          </p:nvSpPr>
          <p:spPr>
            <a:xfrm>
              <a:off x="8884768" y="19596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sections, owners, remarks, deps, today, holiday, bracket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25193" y="1993900"/>
              <a:ext cx="894651" cy="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925193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819845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925193" y="1822450"/>
              <a:ext cx="894651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Sprint 1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564230" y="2247900"/>
              <a:ext cx="63904" cy="2882900"/>
            </a:xfrm>
            <a:prstGeom prst="rect">
              <a:avLst/>
            </a:prstGeom>
            <a:solidFill>
              <a:srgbClr val="EFE7E7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97386" y="2247900"/>
              <a:ext cx="127807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244712" y="2247900"/>
              <a:ext cx="127807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692037" y="2247900"/>
              <a:ext cx="127807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139363" y="2247900"/>
              <a:ext cx="127807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586689" y="2247900"/>
              <a:ext cx="127807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7034015" y="2247900"/>
              <a:ext cx="127807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7481340" y="2247900"/>
              <a:ext cx="127807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928666" y="2247900"/>
              <a:ext cx="127807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47786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17306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25193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620393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372519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67719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819845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515045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67171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962371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714496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409696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61822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857022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60914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30434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 Feb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056474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751674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 Feb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047848" y="226060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047848" y="244094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 — Discovery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3174848" y="301752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132674" y="301752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Anna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33994" y="302387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done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477868" y="2824480"/>
              <a:ext cx="357860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925193" y="3210560"/>
              <a:ext cx="958555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5193" y="3023870"/>
              <a:ext cx="115026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25193" y="3023870"/>
              <a:ext cx="1150266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925193" y="3023870"/>
              <a:ext cx="115026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Jan–23 Jan</a:t>
              </a:r>
              <a:endParaRPr lang="en-US" sz="9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3174848" y="359410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Synthesis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132674" y="359410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4477868" y="3401060"/>
              <a:ext cx="357860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564230" y="3787140"/>
              <a:ext cx="76684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819845" y="3600450"/>
              <a:ext cx="70294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819845" y="3600450"/>
              <a:ext cx="421764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442775" y="360934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047848" y="399034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047848" y="417068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 — Delivery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174848" y="474726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132674" y="474726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Cato</a:t>
              </a:r>
              <a:endParaRPr lang="en-US" sz="10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533994" y="475361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 risk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4477868" y="4554220"/>
              <a:ext cx="357860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6011556" y="4940300"/>
              <a:ext cx="1341977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67171" y="4753610"/>
              <a:ext cx="159759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267171" y="4753610"/>
              <a:ext cx="319518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267171" y="4753610"/>
              <a:ext cx="159759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Jan–20 Feb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784753" y="476250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075460" y="3112770"/>
              <a:ext cx="0" cy="57658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794445" y="3689350"/>
              <a:ext cx="281015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rot="16200000">
              <a:off x="5807145" y="3644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522785" y="3689350"/>
              <a:ext cx="0" cy="115316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6241771" y="4842510"/>
              <a:ext cx="281015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rot="16200000">
              <a:off x="6254471" y="479806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714496" y="2247900"/>
              <a:ext cx="0" cy="28829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9" name="Text 67"/>
            <p:cNvSpPr/>
            <p:nvPr/>
          </p:nvSpPr>
          <p:spPr>
            <a:xfrm>
              <a:off x="6409696" y="5143500"/>
              <a:ext cx="6096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Manual label nudge (labelOffsets)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393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Connector lines + footnote (source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283964"/>
              <a:ext cx="863600" cy="65633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51688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859276"/>
              <a:ext cx="863600" cy="4246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39763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11804"/>
              <a:ext cx="863600" cy="34747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59029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327654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168140"/>
              <a:ext cx="863600" cy="772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4589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666236"/>
              <a:ext cx="863600" cy="50190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8219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338068"/>
              <a:ext cx="863600" cy="32816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069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15391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033012"/>
              <a:ext cx="863600" cy="90728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3914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434588"/>
              <a:ext cx="863600" cy="59842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6385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067812"/>
              <a:ext cx="863600" cy="366776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1559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883662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859276"/>
              <a:ext cx="863600" cy="108102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3045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183636"/>
              <a:ext cx="863600" cy="6756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4262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58948"/>
              <a:ext cx="863600" cy="42468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8760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7479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4152748" y="4168140"/>
              <a:ext cx="431800" cy="11582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4152748" y="3666236"/>
              <a:ext cx="431800" cy="193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152748" y="3338068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flipV="1">
              <a:off x="5448148" y="4033012"/>
              <a:ext cx="431800" cy="1351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448148" y="3434588"/>
              <a:ext cx="431800" cy="23164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5448148" y="3067812"/>
              <a:ext cx="431800" cy="2702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43548" y="3859276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743548" y="3183636"/>
              <a:ext cx="431800" cy="25095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743548" y="2758948"/>
              <a:ext cx="431800" cy="30886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3073248" y="49403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8305648" y="2885567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305648" y="343573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305648" y="431406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Statistics Denmark, 2024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Point highlight + speech-bubble callout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6293" y="3505200"/>
              <a:ext cx="932180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5493" y="421005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6293" y="3185160"/>
              <a:ext cx="932180" cy="3200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55493" y="324993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04563" y="3345180"/>
              <a:ext cx="93218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653763" y="413004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04563" y="2945130"/>
              <a:ext cx="932180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653763" y="304990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2833" y="3225165"/>
              <a:ext cx="932180" cy="188023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52033" y="407003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2833" y="2385060"/>
              <a:ext cx="932180" cy="840105"/>
            </a:xfrm>
            <a:prstGeom prst="rect">
              <a:avLst/>
            </a:prstGeom>
            <a:solidFill>
              <a:srgbClr val="E34948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2033" y="270986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1103" y="3025140"/>
              <a:ext cx="932180" cy="20802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450303" y="397002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501103" y="2465070"/>
              <a:ext cx="932180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50303" y="264985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 flipV="1">
              <a:off x="4238473" y="3345180"/>
              <a:ext cx="466090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238473" y="2945130"/>
              <a:ext cx="466090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5636743" y="3225165"/>
              <a:ext cx="466090" cy="12001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636743" y="2385060"/>
              <a:ext cx="466090" cy="56007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7035013" y="3025140"/>
              <a:ext cx="466090" cy="20002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35013" y="2385060"/>
              <a:ext cx="466090" cy="800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717128" y="265938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7128" y="397954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568923" y="1959610"/>
              <a:ext cx="381000" cy="400050"/>
            </a:xfrm>
            <a:prstGeom prst="line">
              <a:avLst/>
            </a:prstGeom>
            <a:noFill/>
            <a:ln w="9525">
              <a:solidFill>
                <a:srgbClr val="0B0B0B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One-off boost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479648" y="2438400"/>
              <a:ext cx="5613400" cy="5334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17748" y="2451100"/>
              <a:ext cx="5537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 range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Background band (target range) + line highlight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3078480"/>
              <a:ext cx="922867" cy="2026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399669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2705100"/>
              <a:ext cx="922867" cy="2400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381000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2331720"/>
              <a:ext cx="922867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362331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2491740"/>
              <a:ext cx="922867" cy="26136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370332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background bands (quadrant regions)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6956273" y="1879600"/>
              <a:ext cx="2085975" cy="3251200"/>
            </a:xfrm>
            <a:prstGeom prst="rect">
              <a:avLst/>
            </a:prstGeom>
            <a:solidFill>
              <a:srgbClr val="E8F0E4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6994373" y="1892300"/>
              <a:ext cx="20097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Focus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484535" y="50927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27523" y="37380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570510" y="42799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613498" y="29252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56485" y="23833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4586135" y="50482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629123" y="36935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672110" y="42354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715098" y="28807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58085" y="2338917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Exploding slice + slice color + 100% = note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1403350" y="0"/>
                  </a:moveTo>
                  <a:lnTo>
                    <a:pt x="1547952" y="7470"/>
                  </a:lnTo>
                  <a:lnTo>
                    <a:pt x="1691015" y="29800"/>
                  </a:lnTo>
                  <a:lnTo>
                    <a:pt x="1831015" y="66752"/>
                  </a:lnTo>
                  <a:lnTo>
                    <a:pt x="1966462" y="117933"/>
                  </a:lnTo>
                  <a:lnTo>
                    <a:pt x="2095915" y="182799"/>
                  </a:lnTo>
                  <a:lnTo>
                    <a:pt x="2217995" y="260658"/>
                  </a:lnTo>
                  <a:lnTo>
                    <a:pt x="2331402" y="350682"/>
                  </a:lnTo>
                  <a:lnTo>
                    <a:pt x="2434930" y="451912"/>
                  </a:lnTo>
                  <a:lnTo>
                    <a:pt x="2527475" y="563271"/>
                  </a:lnTo>
                  <a:lnTo>
                    <a:pt x="2608054" y="683573"/>
                  </a:lnTo>
                  <a:lnTo>
                    <a:pt x="2675808" y="811537"/>
                  </a:lnTo>
                  <a:lnTo>
                    <a:pt x="2730015" y="945802"/>
                  </a:lnTo>
                  <a:lnTo>
                    <a:pt x="2770100" y="1084938"/>
                  </a:lnTo>
                  <a:lnTo>
                    <a:pt x="2795634" y="1227464"/>
                  </a:lnTo>
                  <a:lnTo>
                    <a:pt x="2806347" y="1371862"/>
                  </a:lnTo>
                  <a:lnTo>
                    <a:pt x="2802123" y="1516595"/>
                  </a:lnTo>
                  <a:lnTo>
                    <a:pt x="2783009" y="1660122"/>
                  </a:lnTo>
                  <a:lnTo>
                    <a:pt x="2749207" y="1800916"/>
                  </a:lnTo>
                  <a:lnTo>
                    <a:pt x="2701078" y="1937478"/>
                  </a:lnTo>
                  <a:lnTo>
                    <a:pt x="2639134" y="2068354"/>
                  </a:lnTo>
                  <a:lnTo>
                    <a:pt x="2564034" y="2192150"/>
                  </a:lnTo>
                  <a:lnTo>
                    <a:pt x="2476577" y="2307549"/>
                  </a:lnTo>
                  <a:lnTo>
                    <a:pt x="2377695" y="2413322"/>
                  </a:lnTo>
                  <a:lnTo>
                    <a:pt x="2268441" y="2508343"/>
                  </a:lnTo>
                  <a:lnTo>
                    <a:pt x="2149977" y="2591600"/>
                  </a:lnTo>
                  <a:lnTo>
                    <a:pt x="2023565" y="2662208"/>
                  </a:lnTo>
                  <a:lnTo>
                    <a:pt x="1890550" y="2719415"/>
                  </a:lnTo>
                  <a:lnTo>
                    <a:pt x="1752349" y="2762611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90764" y="32818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46%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26508" y="2173627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1752349" y="2762611"/>
                  </a:moveTo>
                  <a:lnTo>
                    <a:pt x="1610066" y="2791392"/>
                  </a:lnTo>
                  <a:lnTo>
                    <a:pt x="1465571" y="2805320"/>
                  </a:lnTo>
                  <a:lnTo>
                    <a:pt x="1320410" y="2804247"/>
                  </a:lnTo>
                  <a:lnTo>
                    <a:pt x="1176137" y="2788184"/>
                  </a:lnTo>
                  <a:lnTo>
                    <a:pt x="1034295" y="2757303"/>
                  </a:lnTo>
                  <a:lnTo>
                    <a:pt x="896402" y="2711935"/>
                  </a:lnTo>
                  <a:lnTo>
                    <a:pt x="763933" y="2652564"/>
                  </a:lnTo>
                  <a:lnTo>
                    <a:pt x="638306" y="2579827"/>
                  </a:lnTo>
                  <a:lnTo>
                    <a:pt x="520865" y="2494502"/>
                  </a:lnTo>
                  <a:lnTo>
                    <a:pt x="412867" y="2397500"/>
                  </a:lnTo>
                  <a:lnTo>
                    <a:pt x="315468" y="2289862"/>
                  </a:lnTo>
                  <a:lnTo>
                    <a:pt x="229708" y="2172737"/>
                  </a:lnTo>
                  <a:lnTo>
                    <a:pt x="156507" y="2047380"/>
                  </a:lnTo>
                  <a:lnTo>
                    <a:pt x="96648" y="1915132"/>
                  </a:lnTo>
                  <a:lnTo>
                    <a:pt x="50770" y="1777407"/>
                  </a:lnTo>
                  <a:lnTo>
                    <a:pt x="19365" y="1635680"/>
                  </a:lnTo>
                  <a:lnTo>
                    <a:pt x="2769" y="1491467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50140" y="4185634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28%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2769" y="1491467"/>
                  </a:moveTo>
                  <a:lnTo>
                    <a:pt x="1122" y="1347254"/>
                  </a:lnTo>
                  <a:lnTo>
                    <a:pt x="14284" y="1203632"/>
                  </a:lnTo>
                  <a:lnTo>
                    <a:pt x="42118" y="1062121"/>
                  </a:lnTo>
                  <a:lnTo>
                    <a:pt x="84328" y="924213"/>
                  </a:lnTo>
                  <a:lnTo>
                    <a:pt x="140470" y="791366"/>
                  </a:lnTo>
                  <a:lnTo>
                    <a:pt x="209950" y="664982"/>
                  </a:lnTo>
                  <a:lnTo>
                    <a:pt x="292034" y="546397"/>
                  </a:lnTo>
                  <a:lnTo>
                    <a:pt x="385856" y="436863"/>
                  </a:lnTo>
                  <a:lnTo>
                    <a:pt x="490424" y="337537"/>
                  </a:lnTo>
                  <a:lnTo>
                    <a:pt x="604635" y="249467"/>
                  </a:lnTo>
                  <a:lnTo>
                    <a:pt x="727281" y="173585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62223" y="2971737"/>
              <a:ext cx="942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18%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727281" y="173585"/>
                  </a:moveTo>
                  <a:lnTo>
                    <a:pt x="854116" y="111943"/>
                  </a:lnTo>
                  <a:lnTo>
                    <a:pt x="986497" y="63341"/>
                  </a:lnTo>
                  <a:lnTo>
                    <a:pt x="1123087" y="28270"/>
                  </a:lnTo>
                  <a:lnTo>
                    <a:pt x="1262507" y="7085"/>
                  </a:lnTo>
                  <a:lnTo>
                    <a:pt x="1403350" y="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6319" y="2046932"/>
              <a:ext cx="17371" cy="676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22142" y="19332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= 100   ·   Source: annual report FY24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Pattern fills (SVG/preview; solid in PPT)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505200"/>
              <a:ext cx="1242907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21005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3105150"/>
              <a:ext cx="1242907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099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83974" y="2865120"/>
              <a:ext cx="1242907" cy="24003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33174" y="288988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48334" y="2785110"/>
              <a:ext cx="1242907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197534" y="296989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48334" y="2465070"/>
              <a:ext cx="1242907" cy="32004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197534" y="25298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112694" y="3105150"/>
              <a:ext cx="1242907" cy="20002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061894" y="40100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112694" y="246507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061894" y="268986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112694" y="2105025"/>
              <a:ext cx="1242907" cy="36004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061894" y="2189798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4626881" y="3345180"/>
              <a:ext cx="621453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626881" y="278511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626881" y="2465070"/>
              <a:ext cx="621453" cy="4000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6491241" y="3105150"/>
              <a:ext cx="621453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491241" y="246507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6491241" y="2105025"/>
              <a:ext cx="621453" cy="36004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717128" y="21993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Risk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7128" y="269938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717128" y="401955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from raw samples (Tukey whiskers, outliers)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39852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03860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3985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42519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350520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339014" y="352298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387274" y="187706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5450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29184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5450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65176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29718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6210148" y="2906607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71786" y="27813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57481" y="36118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157481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25928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71856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642919" y="40386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081281" y="373634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129541" y="209042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7642919" y="38481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boxplot (same shared axis, rotated)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29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70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1907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30035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8163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46291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702148" y="22860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228948" y="22860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64387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2289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597248" y="20624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965548" y="20624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84548" y="18910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07048" y="30988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597248" y="30988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119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5972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333848" y="2875280"/>
              <a:ext cx="14732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70448" y="28752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89448" y="27038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333848" y="39116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860648" y="39116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704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8606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228948" y="36880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597248" y="36880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216248" y="35166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70448" y="47244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28948" y="47244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1753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2289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965548" y="45008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5333848" y="45008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4952848" y="43294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Grouped boxplots (2024 vs 2025)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6066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333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03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087766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087766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48987" y="339852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48987" y="467868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779368" y="382524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79368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958899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58899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20120" y="25450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820120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650501" y="3185160"/>
              <a:ext cx="616797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650501" y="361188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83003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83003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91253" y="36118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691253" y="489204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521634" y="403860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21634" y="446532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742663" y="31851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742663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603883" y="31851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603883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434264" y="361188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434264" y="403860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613796" y="233172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613796" y="382524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75017" y="23317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475017" y="42519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05398" y="2971800"/>
              <a:ext cx="616797" cy="85344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05398" y="339852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484929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8484929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46150" y="33985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346150" y="46786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176531" y="382524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176531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Error bars (Error / Error+ / Error- rows)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7762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1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2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3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19889" y="3121152"/>
              <a:ext cx="922867" cy="13441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669089" y="369798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23239" y="2705100"/>
              <a:ext cx="922867" cy="17602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72439" y="348996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526589" y="2929128"/>
              <a:ext cx="922867" cy="153619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475789" y="360197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929939" y="2513076"/>
              <a:ext cx="922867" cy="19522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879139" y="339394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446532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181323" y="2961132"/>
              <a:ext cx="0" cy="32004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17823" y="296113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17823" y="32811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84673" y="2481072"/>
              <a:ext cx="0" cy="448056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1173" y="24810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21173" y="292912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988023" y="2641092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24523" y="264109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24523" y="302514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391373" y="2385060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327873" y="238506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327873" y="276910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705225"/>
              <a:ext cx="6019800" cy="1400175"/>
            </a:xfrm>
            <a:prstGeom prst="rect">
              <a:avLst/>
            </a:prstGeom>
            <a:solidFill>
              <a:srgbClr val="E4E2DA"/>
            </a:solidFill>
            <a:ln/>
          </p:spPr>
        </p:sp>
        <p:sp>
          <p:nvSpPr>
            <p:cNvPr id="3" name="Shape 1"/>
            <p:cNvSpPr/>
            <p:nvPr/>
          </p:nvSpPr>
          <p:spPr>
            <a:xfrm>
              <a:off x="3073248" y="2905125"/>
              <a:ext cx="6019800" cy="800100"/>
            </a:xfrm>
            <a:prstGeom prst="rect">
              <a:avLst/>
            </a:prstGeom>
            <a:solidFill>
              <a:srgbClr val="EFEEE8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chart (Target row + range bands)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732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5781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80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30423" y="3425190"/>
              <a:ext cx="99060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279623" y="4170045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35373" y="2905125"/>
              <a:ext cx="990600" cy="22002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784573" y="3910013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0323" y="3185160"/>
              <a:ext cx="99060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289523" y="4050030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45273" y="2665095"/>
              <a:ext cx="99060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794473" y="3789998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49552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00047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05423" y="2905125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8010373" y="278511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clustered columns +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188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71052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2704" y="2971800"/>
              <a:ext cx="593513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331904" y="394335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988918" y="3078480"/>
              <a:ext cx="593513" cy="20269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938118" y="39966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01344" y="2651760"/>
              <a:ext cx="593513" cy="24536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150544" y="378333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807558" y="2545080"/>
              <a:ext cx="593513" cy="25603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756758" y="37299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019984" y="2331720"/>
              <a:ext cx="593513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69184" y="362331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626198" y="2171700"/>
              <a:ext cx="593513" cy="2933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7575398" y="354330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579968" y="32035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579968" y="37242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8554568" y="42164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5456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26162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952088" y="259461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601568" y="24155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982568" y="2385060"/>
              <a:ext cx="1818640" cy="24003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770728" y="235458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420208" y="2175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5801208" y="2065020"/>
              <a:ext cx="1818640" cy="32004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89368" y="203454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238848" y="185547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579968" y="1652270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Dumbbell range (before vs after)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721583" y="34544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8583" y="34163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2383" y="3025140"/>
              <a:ext cx="0" cy="480060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3721583" y="297434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848583" y="293624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19853" y="285432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246853" y="281622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0653" y="2705100"/>
              <a:ext cx="0" cy="20002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119853" y="26543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246853" y="26162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18123" y="313436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645123" y="309626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68923" y="3185160"/>
              <a:ext cx="0" cy="12001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18123" y="3254375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645123" y="321627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916393" y="261429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8043393" y="257619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67193" y="2305050"/>
              <a:ext cx="0" cy="36004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16393" y="22542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043393" y="221615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717128" y="221932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7128" y="257937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Forecast with confidence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2026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2027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83148" y="3431858"/>
              <a:ext cx="56515" cy="733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6133313" y="3413189"/>
              <a:ext cx="56515" cy="2200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6183478" y="3394519"/>
              <a:ext cx="56515" cy="366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233643" y="3375851"/>
              <a:ext cx="56515" cy="5134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283808" y="3357182"/>
              <a:ext cx="56515" cy="6600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333973" y="3338513"/>
              <a:ext cx="56515" cy="806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384138" y="3319844"/>
              <a:ext cx="56515" cy="953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6434303" y="3301175"/>
              <a:ext cx="56515" cy="11001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6484468" y="3282506"/>
              <a:ext cx="56515" cy="12468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6534633" y="3263837"/>
              <a:ext cx="56515" cy="1393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584798" y="3245168"/>
              <a:ext cx="56515" cy="15401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6634963" y="3226499"/>
              <a:ext cx="56515" cy="16868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685128" y="3207830"/>
              <a:ext cx="56515" cy="18335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735293" y="3189161"/>
              <a:ext cx="56515" cy="19802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785458" y="3170492"/>
              <a:ext cx="56515" cy="21269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835623" y="3151823"/>
              <a:ext cx="56515" cy="22736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885788" y="3133154"/>
              <a:ext cx="56515" cy="24203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935953" y="3114485"/>
              <a:ext cx="56515" cy="25669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6986118" y="3095816"/>
              <a:ext cx="56515" cy="2713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036283" y="3077147"/>
              <a:ext cx="56515" cy="28603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7086448" y="3058478"/>
              <a:ext cx="56515" cy="30070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7136613" y="3039809"/>
              <a:ext cx="56515" cy="3153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6778" y="3021140"/>
              <a:ext cx="56515" cy="33004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7236943" y="3002471"/>
              <a:ext cx="56515" cy="34471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287108" y="2982468"/>
              <a:ext cx="56515" cy="3600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337273" y="2961132"/>
              <a:ext cx="56515" cy="37604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387438" y="2939796"/>
              <a:ext cx="56515" cy="39204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437603" y="2918460"/>
              <a:ext cx="56515" cy="4080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487768" y="2897124"/>
              <a:ext cx="56515" cy="42405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537933" y="2875788"/>
              <a:ext cx="56515" cy="44005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588098" y="2854452"/>
              <a:ext cx="56515" cy="45605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7638263" y="2833116"/>
              <a:ext cx="56515" cy="47205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7688428" y="2811780"/>
              <a:ext cx="56515" cy="48806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7738593" y="2790444"/>
              <a:ext cx="56515" cy="50406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7788758" y="2769108"/>
              <a:ext cx="56515" cy="52006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7838923" y="2747772"/>
              <a:ext cx="56515" cy="5360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7889088" y="2726436"/>
              <a:ext cx="56515" cy="55206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939253" y="2705100"/>
              <a:ext cx="56515" cy="5680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7989418" y="2683764"/>
              <a:ext cx="56515" cy="5840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8039583" y="2662428"/>
              <a:ext cx="56515" cy="60007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089748" y="2641092"/>
              <a:ext cx="56515" cy="6160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139913" y="2619756"/>
              <a:ext cx="56515" cy="63207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90078" y="2598420"/>
              <a:ext cx="56515" cy="64808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40243" y="2577084"/>
              <a:ext cx="56515" cy="66408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8290408" y="2555748"/>
              <a:ext cx="56515" cy="68008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8340573" y="2534412"/>
              <a:ext cx="56515" cy="69608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8390738" y="2513076"/>
              <a:ext cx="56515" cy="71208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8440903" y="2491740"/>
              <a:ext cx="56515" cy="72809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685128" y="1905000"/>
              <a:ext cx="0" cy="32004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>
              <a:off x="3644748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Text 56"/>
            <p:cNvSpPr/>
            <p:nvPr/>
          </p:nvSpPr>
          <p:spPr>
            <a:xfrm>
              <a:off x="3294228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 flipV="1">
              <a:off x="3675228" y="363321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4848708" y="36027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4498188" y="34236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62" name="Shape 60"/>
            <p:cNvSpPr/>
            <p:nvPr/>
          </p:nvSpPr>
          <p:spPr>
            <a:xfrm flipV="1">
              <a:off x="4879188" y="3441192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6052668" y="3410712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5702148" y="323164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 flipV="1">
              <a:off x="6083148" y="3185160"/>
              <a:ext cx="1203960" cy="25603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6" name="Shape 64"/>
            <p:cNvSpPr/>
            <p:nvPr/>
          </p:nvSpPr>
          <p:spPr>
            <a:xfrm>
              <a:off x="7256628" y="3154680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7" name="Text 65"/>
            <p:cNvSpPr/>
            <p:nvPr/>
          </p:nvSpPr>
          <p:spPr>
            <a:xfrm>
              <a:off x="690610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68" name="Shape 66"/>
            <p:cNvSpPr/>
            <p:nvPr/>
          </p:nvSpPr>
          <p:spPr>
            <a:xfrm flipV="1">
              <a:off x="7287108" y="2897124"/>
              <a:ext cx="1203960" cy="2880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9" name="Shape 67"/>
            <p:cNvSpPr/>
            <p:nvPr/>
          </p:nvSpPr>
          <p:spPr>
            <a:xfrm>
              <a:off x="8460588" y="2866644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0" name="Text 68"/>
            <p:cNvSpPr/>
            <p:nvPr/>
          </p:nvSpPr>
          <p:spPr>
            <a:xfrm>
              <a:off x="8110068" y="2687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69</a:t>
              </a:r>
              <a:endParaRPr lang="en-US" sz="100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Budget-vs-actual bridge (gap to target)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73908" y="3270504"/>
              <a:ext cx="80264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197708" y="40927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076548" y="3270504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1" name="Shape 9"/>
            <p:cNvSpPr/>
            <p:nvPr/>
          </p:nvSpPr>
          <p:spPr>
            <a:xfrm>
              <a:off x="4477868" y="2971800"/>
              <a:ext cx="80264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401668" y="30259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280508" y="2971800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5681828" y="2779776"/>
              <a:ext cx="80264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605628" y="2780538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84468" y="2779776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6885788" y="2779776"/>
              <a:ext cx="80264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809588" y="281254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688428" y="3035808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8089748" y="3035808"/>
              <a:ext cx="802640" cy="2069592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8013548" y="3975354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8160868" y="275844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089748" y="2758440"/>
              <a:ext cx="802640" cy="27736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038948" y="2567940"/>
              <a:ext cx="9042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Gap +13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with marginal totals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77187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05139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33092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solidFill>
              <a:srgbClr val="AABDE7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solidFill>
              <a:srgbClr val="8CA7E1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solidFill>
              <a:srgbClr val="799BDE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899833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solidFill>
              <a:srgbClr val="C3CFEE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805767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solidFill>
              <a:srgbClr val="DCE3F4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solidFill>
              <a:srgbClr val="CED8F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635848" y="1993900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635848" y="1993900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199</a:t>
              </a:r>
              <a:endParaRPr lang="en-US" sz="9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8635848" y="2899833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8635848" y="2899833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9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8635848" y="3805767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8635848" y="3805767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109</a:t>
              </a:r>
              <a:endParaRPr lang="en-US" sz="9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94</a:t>
              </a:r>
              <a:endParaRPr lang="en-US" sz="9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9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111</a:t>
              </a:r>
              <a:endParaRPr lang="en-US" sz="9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127</a:t>
              </a:r>
              <a:endParaRPr lang="en-US" sz="9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Slope chart — market share, before vs after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27212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1012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791956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15756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241648" y="32013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4272128" y="2288540"/>
              <a:ext cx="3647440" cy="9432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7889088" y="22580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136566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995768" y="219329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31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241648" y="2662321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272128" y="2692801"/>
              <a:ext cx="3647440" cy="269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7889088" y="293182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047848" y="2597551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995768" y="286705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241648" y="387510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272128" y="3501323"/>
              <a:ext cx="3647440" cy="4042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889088" y="347084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3810334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19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995768" y="3406073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22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241648" y="481838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272128" y="4040338"/>
              <a:ext cx="3647440" cy="808522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889088" y="4009858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047848" y="475361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12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995768" y="394508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18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internal market model,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order mix by channel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629248" y="3295650"/>
              <a:ext cx="11430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794348" y="32448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 52%</a:t>
              </a:r>
              <a:endParaRPr lang="en-US" sz="100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629248" y="3511550"/>
              <a:ext cx="114300" cy="1143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794348" y="34607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 33%</a:t>
              </a:r>
              <a:endParaRPr lang="en-US" sz="100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6629248" y="3727450"/>
              <a:ext cx="114300" cy="1143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Text 106"/>
            <p:cNvSpPr/>
            <p:nvPr/>
          </p:nvSpPr>
          <p:spPr>
            <a:xfrm>
              <a:off x="6794348" y="36766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 15%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07740"/>
            <a:chOff x="3047848" y="1524000"/>
            <a:chExt cx="6096000" cy="35077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Bar-of-pie — revenue with the long tail detailed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2322993"/>
                  </a:moveTo>
                  <a:lnTo>
                    <a:pt x="2550291" y="2442005"/>
                  </a:lnTo>
                  <a:lnTo>
                    <a:pt x="2442005" y="2550291"/>
                  </a:lnTo>
                  <a:lnTo>
                    <a:pt x="2322993" y="2646664"/>
                  </a:lnTo>
                  <a:lnTo>
                    <a:pt x="2194560" y="2730070"/>
                  </a:lnTo>
                  <a:lnTo>
                    <a:pt x="2058112" y="2799594"/>
                  </a:lnTo>
                  <a:lnTo>
                    <a:pt x="1915144" y="2854474"/>
                  </a:lnTo>
                  <a:lnTo>
                    <a:pt x="1767223" y="2894109"/>
                  </a:lnTo>
                  <a:lnTo>
                    <a:pt x="1615969" y="2918065"/>
                  </a:lnTo>
                  <a:lnTo>
                    <a:pt x="1463040" y="2926080"/>
                  </a:lnTo>
                  <a:lnTo>
                    <a:pt x="1310111" y="2918065"/>
                  </a:lnTo>
                  <a:lnTo>
                    <a:pt x="1158857" y="2894109"/>
                  </a:lnTo>
                  <a:lnTo>
                    <a:pt x="1010936" y="2854474"/>
                  </a:lnTo>
                  <a:lnTo>
                    <a:pt x="867968" y="2799594"/>
                  </a:lnTo>
                  <a:lnTo>
                    <a:pt x="731520" y="2730070"/>
                  </a:lnTo>
                  <a:lnTo>
                    <a:pt x="603087" y="2646664"/>
                  </a:lnTo>
                  <a:lnTo>
                    <a:pt x="484075" y="2550291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671744" y="437556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27%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484075" y="2550291"/>
                  </a:moveTo>
                  <a:lnTo>
                    <a:pt x="375789" y="2442005"/>
                  </a:lnTo>
                  <a:lnTo>
                    <a:pt x="279416" y="2322993"/>
                  </a:lnTo>
                  <a:lnTo>
                    <a:pt x="196010" y="2194560"/>
                  </a:lnTo>
                  <a:lnTo>
                    <a:pt x="126486" y="2058112"/>
                  </a:lnTo>
                  <a:lnTo>
                    <a:pt x="71606" y="1915144"/>
                  </a:lnTo>
                  <a:lnTo>
                    <a:pt x="31971" y="1767223"/>
                  </a:lnTo>
                  <a:lnTo>
                    <a:pt x="8015" y="1615969"/>
                  </a:lnTo>
                  <a:lnTo>
                    <a:pt x="0" y="1463040"/>
                  </a:lnTo>
                  <a:lnTo>
                    <a:pt x="8015" y="1310111"/>
                  </a:lnTo>
                  <a:lnTo>
                    <a:pt x="31971" y="1158857"/>
                  </a:lnTo>
                  <a:lnTo>
                    <a:pt x="71606" y="1010936"/>
                  </a:lnTo>
                  <a:lnTo>
                    <a:pt x="126486" y="867968"/>
                  </a:lnTo>
                  <a:lnTo>
                    <a:pt x="196010" y="731520"/>
                  </a:lnTo>
                  <a:lnTo>
                    <a:pt x="279416" y="603087"/>
                  </a:lnTo>
                  <a:lnTo>
                    <a:pt x="375789" y="484075"/>
                  </a:lnTo>
                  <a:lnTo>
                    <a:pt x="484075" y="375789"/>
                  </a:lnTo>
                  <a:lnTo>
                    <a:pt x="603087" y="279416"/>
                  </a:lnTo>
                  <a:lnTo>
                    <a:pt x="731520" y="196010"/>
                  </a:lnTo>
                  <a:lnTo>
                    <a:pt x="867968" y="126486"/>
                  </a:lnTo>
                  <a:lnTo>
                    <a:pt x="1010936" y="71606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552505" y="328485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33%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1010936" y="71606"/>
                  </a:moveTo>
                  <a:lnTo>
                    <a:pt x="1158857" y="31971"/>
                  </a:lnTo>
                  <a:lnTo>
                    <a:pt x="1310111" y="8015"/>
                  </a:lnTo>
                  <a:lnTo>
                    <a:pt x="1463040" y="0"/>
                  </a:lnTo>
                  <a:lnTo>
                    <a:pt x="1615969" y="8015"/>
                  </a:lnTo>
                  <a:lnTo>
                    <a:pt x="1767223" y="31971"/>
                  </a:lnTo>
                  <a:lnTo>
                    <a:pt x="1915144" y="71606"/>
                  </a:lnTo>
                  <a:lnTo>
                    <a:pt x="2058112" y="126486"/>
                  </a:lnTo>
                  <a:lnTo>
                    <a:pt x="2194560" y="196010"/>
                  </a:lnTo>
                  <a:lnTo>
                    <a:pt x="2322993" y="279416"/>
                  </a:lnTo>
                  <a:lnTo>
                    <a:pt x="2442005" y="375789"/>
                  </a:lnTo>
                  <a:lnTo>
                    <a:pt x="2550291" y="484075"/>
                  </a:lnTo>
                  <a:lnTo>
                    <a:pt x="2646664" y="603087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57232" y="261076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603087"/>
                  </a:moveTo>
                  <a:lnTo>
                    <a:pt x="2730070" y="731520"/>
                  </a:lnTo>
                  <a:lnTo>
                    <a:pt x="2799594" y="867968"/>
                  </a:lnTo>
                  <a:lnTo>
                    <a:pt x="2854474" y="1010936"/>
                  </a:lnTo>
                  <a:lnTo>
                    <a:pt x="2894109" y="1158857"/>
                  </a:lnTo>
                  <a:lnTo>
                    <a:pt x="2918065" y="1310111"/>
                  </a:lnTo>
                  <a:lnTo>
                    <a:pt x="2926080" y="1463040"/>
                  </a:lnTo>
                  <a:lnTo>
                    <a:pt x="2918065" y="1615969"/>
                  </a:lnTo>
                  <a:lnTo>
                    <a:pt x="2894109" y="1767223"/>
                  </a:lnTo>
                  <a:lnTo>
                    <a:pt x="2854474" y="1915144"/>
                  </a:lnTo>
                  <a:lnTo>
                    <a:pt x="2799594" y="2058112"/>
                  </a:lnTo>
                  <a:lnTo>
                    <a:pt x="2730070" y="2194560"/>
                  </a:lnTo>
                  <a:lnTo>
                    <a:pt x="2646664" y="2322993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898781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449722" y="3473450"/>
              <a:ext cx="668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20%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60272" y="2178812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6060272" y="4428653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6949288" y="2178812"/>
              <a:ext cx="355600" cy="926592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68388" y="254685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Nordics 7%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949288" y="3105404"/>
              <a:ext cx="355600" cy="694944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368388" y="3357626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Benelux 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949288" y="3800348"/>
              <a:ext cx="355600" cy="115824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368388" y="428421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DACH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Small multiples — one panel per brand, shared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2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479648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4796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8458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120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81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32259" y="330461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 flipV="1">
              <a:off x="3662739" y="2981036"/>
              <a:ext cx="366183" cy="3540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98443" y="295055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028923" y="2671233"/>
              <a:ext cx="366183" cy="30980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64626" y="26407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395106" y="2184400"/>
              <a:ext cx="366183" cy="48683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730809" y="2153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122181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2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53981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553981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553981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5122181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122181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122181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122181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5539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9201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2863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6525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5706593" y="3747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5737073" y="3689158"/>
              <a:ext cx="366183" cy="8851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072776" y="365867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103256" y="3689158"/>
              <a:ext cx="366183" cy="442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438959" y="370293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469439" y="3556385"/>
              <a:ext cx="366183" cy="17703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805143" y="352590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553981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7196514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</a:t>
              </a:r>
              <a:endParaRPr lang="en-US" sz="12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7628314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28314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628314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7196514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7196514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96514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7196514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76283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79944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83606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7268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80926" y="454382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7811406" y="4308764"/>
              <a:ext cx="366183" cy="265545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147109" y="427828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177589" y="3954703"/>
              <a:ext cx="366183" cy="3540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13293" y="392422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8543773" y="3290839"/>
              <a:ext cx="366183" cy="663864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879476" y="326035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7628314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size legend + quadrant matrix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79600"/>
              <a:ext cx="208597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530448" y="19050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Question marks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565623" y="1879600"/>
              <a:ext cx="347662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616423" y="19050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Stars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208597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30448" y="35306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Dogs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565623" y="3505200"/>
              <a:ext cx="347662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616423" y="35306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Cash cows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565623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406232" y="1908861"/>
              <a:ext cx="585216" cy="58521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06232" y="1737411"/>
              <a:ext cx="58521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890821" y="2080267"/>
              <a:ext cx="413810" cy="41381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890821" y="1823114"/>
              <a:ext cx="41381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663665" y="1857925"/>
              <a:ext cx="585216" cy="58521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60919" y="2701617"/>
              <a:ext cx="523433" cy="52343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72607" y="3007613"/>
              <a:ext cx="453306" cy="45330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716998" y="3850779"/>
              <a:ext cx="392575" cy="3925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3319380" y="4699599"/>
              <a:ext cx="320536" cy="32053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274281" y="20679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809752" y="28807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251313" y="31517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6134973" y="39645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3665316" y="4777317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Datamark axis (Tufte range frame)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51054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165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28848" y="19050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Diverging heatmap (YoY change, 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solidFill>
              <a:srgbClr val="F9E6E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-2.0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solidFill>
              <a:srgbClr val="6690DB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980267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solidFill>
              <a:srgbClr val="F6D8D8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-3.0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solidFill>
              <a:srgbClr val="E5EAF7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966633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solidFill>
              <a:srgbClr val="D6DEF2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solidFill>
              <a:srgbClr val="B4C3E9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5.0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F4CDCC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F6D6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F7DEDE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F9E7E7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FBEFE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FDF6F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FFFDFD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F9FAFD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E9ED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C4CFE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B9C7E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ADBEE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92ABE2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6E94DC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5487D9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85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85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4000348" y="5149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48100"/>
            <a:chOff x="3047848" y="1524000"/>
            <a:chExt cx="6096000" cy="38481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tile map (auto-detected layout)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06660" y="1828800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06660" y="1828800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988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115941" y="1828800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115941" y="1828800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88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314254" y="2229644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314254" y="2229644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988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715098" y="2229644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715098" y="2229644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988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115941" y="2229644"/>
              <a:ext cx="369094" cy="369094"/>
            </a:xfrm>
            <a:prstGeom prst="rect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115941" y="2255441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988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115941" y="241419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107504" y="2630488"/>
              <a:ext cx="369094" cy="369094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107504" y="2656284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988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07504" y="281503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08348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508348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88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909191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909191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988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10035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10035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988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710879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710879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988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111723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111723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988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12566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512566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988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314254" y="2630488"/>
              <a:ext cx="369094" cy="369094"/>
            </a:xfrm>
            <a:prstGeom prst="rect">
              <a:avLst/>
            </a:prstGeom>
            <a:solidFill>
              <a:srgbClr val="96AEE3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7314254" y="2656284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988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314254" y="281503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5098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5098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988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115941" y="2630488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115941" y="2630488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988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07504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07504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988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08348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4508348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988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4909191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4909191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988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5310035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5310035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988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5710879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5710879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988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6111723" y="3031331"/>
              <a:ext cx="369094" cy="369094"/>
            </a:xfrm>
            <a:prstGeom prst="rect">
              <a:avLst/>
            </a:prstGeom>
            <a:solidFill>
              <a:srgbClr val="CFD9F1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6111723" y="3057128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988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6111723" y="321587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6512566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6512566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988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913410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6913410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988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7314254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7314254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988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15098" y="3031331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715098" y="3031331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988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3706660" y="3432175"/>
              <a:ext cx="369094" cy="369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706660" y="3457972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988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3706660" y="3616722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07504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07504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988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08348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08348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988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4909191" y="3432175"/>
              <a:ext cx="369094" cy="369094"/>
            </a:xfrm>
            <a:prstGeom prst="rect">
              <a:avLst/>
            </a:prstGeom>
            <a:solidFill>
              <a:srgbClr val="E9EEF9"/>
            </a:solidFill>
            <a:ln/>
          </p:spPr>
        </p:sp>
        <p:sp>
          <p:nvSpPr>
            <p:cNvPr id="65" name="Text 63"/>
            <p:cNvSpPr/>
            <p:nvPr/>
          </p:nvSpPr>
          <p:spPr>
            <a:xfrm>
              <a:off x="4909191" y="3457972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988" dirty="0"/>
            </a:p>
          </p:txBody>
        </p:sp>
        <p:sp>
          <p:nvSpPr>
            <p:cNvPr id="66" name="Text 64"/>
            <p:cNvSpPr/>
            <p:nvPr/>
          </p:nvSpPr>
          <p:spPr>
            <a:xfrm>
              <a:off x="4909191" y="3616722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310035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310035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988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5710879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5710879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988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111723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111723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988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512566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512566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988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6913410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6913410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988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7314254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7314254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88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7715098" y="3432175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7715098" y="3432175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88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4508348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4508348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988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4909191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4909191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988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5310035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5310035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88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5710879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5710879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988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6111723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6111723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988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6512566" y="3833019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6512566" y="3833019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988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913410" y="3833019"/>
              <a:ext cx="369094" cy="369094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913410" y="3858816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988" dirty="0"/>
            </a:p>
          </p:txBody>
        </p:sp>
        <p:sp>
          <p:nvSpPr>
            <p:cNvPr id="95" name="Text 93"/>
            <p:cNvSpPr/>
            <p:nvPr/>
          </p:nvSpPr>
          <p:spPr>
            <a:xfrm>
              <a:off x="6913410" y="4017566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909191" y="4233863"/>
              <a:ext cx="369094" cy="369094"/>
            </a:xfrm>
            <a:prstGeom prst="rect">
              <a:avLst/>
            </a:prstGeom>
            <a:solidFill>
              <a:srgbClr val="87A4E0"/>
            </a:solidFill>
            <a:ln/>
          </p:spPr>
        </p:sp>
        <p:sp>
          <p:nvSpPr>
            <p:cNvPr id="97" name="Text 95"/>
            <p:cNvSpPr/>
            <p:nvPr/>
          </p:nvSpPr>
          <p:spPr>
            <a:xfrm>
              <a:off x="4909191" y="4259659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988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4909191" y="4418409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5310035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5310035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988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5710879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5710879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988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111723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111723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88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512566" y="4233863"/>
              <a:ext cx="369094" cy="369094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512566" y="4259659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988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6512566" y="4418409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913410" y="4233863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913410" y="4233863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988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3706660" y="4634706"/>
              <a:ext cx="369094" cy="3690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3706660" y="4634706"/>
              <a:ext cx="369094" cy="36909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988" dirty="0"/>
            </a:p>
          </p:txBody>
        </p:sp>
        <p:sp>
          <p:nvSpPr>
            <p:cNvPr id="112" name="Shape 110"/>
            <p:cNvSpPr/>
            <p:nvPr/>
          </p:nvSpPr>
          <p:spPr>
            <a:xfrm>
              <a:off x="6512566" y="4634706"/>
              <a:ext cx="369094" cy="369094"/>
            </a:xfrm>
            <a:prstGeom prst="rect">
              <a:avLst/>
            </a:prstGeom>
            <a:solidFill>
              <a:srgbClr val="AEC0E8"/>
            </a:solidFill>
            <a:ln/>
          </p:spPr>
        </p:sp>
        <p:sp>
          <p:nvSpPr>
            <p:cNvPr id="113" name="Text 111"/>
            <p:cNvSpPr/>
            <p:nvPr/>
          </p:nvSpPr>
          <p:spPr>
            <a:xfrm>
              <a:off x="6512566" y="4660503"/>
              <a:ext cx="36909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88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988" dirty="0"/>
            </a:p>
          </p:txBody>
        </p:sp>
        <p:sp>
          <p:nvSpPr>
            <p:cNvPr id="114" name="Text 112"/>
            <p:cNvSpPr/>
            <p:nvPr/>
          </p:nvSpPr>
          <p:spPr>
            <a:xfrm>
              <a:off x="6512566" y="481925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706660" y="50990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770160" y="50990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833660" y="50990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897160" y="50990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960660" y="50990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4024160" y="50990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4087660" y="50990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4151160" y="50990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4214660" y="50990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278160" y="50990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341660" y="50990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405160" y="50990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468660" y="50990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532160" y="50990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595660" y="50990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659160" y="50990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722660" y="50990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786160" y="50990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849660" y="50990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913160" y="50990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976660" y="50990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5040160" y="50990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5103660" y="50990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5167160" y="50990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9" name="Text 137"/>
            <p:cNvSpPr/>
            <p:nvPr/>
          </p:nvSpPr>
          <p:spPr>
            <a:xfrm>
              <a:off x="3706660" y="52197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0" name="Text 138"/>
            <p:cNvSpPr/>
            <p:nvPr/>
          </p:nvSpPr>
          <p:spPr>
            <a:xfrm>
              <a:off x="4468660" y="52197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1" name="Shape 139"/>
            <p:cNvSpPr/>
            <p:nvPr/>
          </p:nvSpPr>
          <p:spPr>
            <a:xfrm>
              <a:off x="5357660" y="50990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2" name="Text 140"/>
            <p:cNvSpPr/>
            <p:nvPr/>
          </p:nvSpPr>
          <p:spPr>
            <a:xfrm>
              <a:off x="5497360" y="50736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Highlighted max point (per-cell color on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644748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29422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 flipV="1">
              <a:off x="3675228" y="2945130"/>
              <a:ext cx="1203960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848708" y="291465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98188" y="273558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4879188" y="2257044"/>
              <a:ext cx="1203960" cy="6880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39968" y="2213864"/>
              <a:ext cx="86360" cy="8636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702148" y="204749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083148" y="2257044"/>
              <a:ext cx="1203960" cy="448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256628" y="26746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906108" y="24955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7287108" y="251307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8460588" y="248259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8110068" y="230352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line (staircase)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8694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09424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90153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70883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51613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52816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883296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690593" y="29718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660113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90593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97889" y="24384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7409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97889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305186" y="24384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274706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305186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112483" y="19050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82003" y="1874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12483" y="19050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19779" y="1905000"/>
              <a:ext cx="0" cy="2667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889299" y="21412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479648" y="5105400"/>
              <a:ext cx="48437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374228" y="208597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 rate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area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422648"/>
              <a:ext cx="1002538" cy="6827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973930" y="4145280"/>
              <a:ext cx="1002538" cy="9601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5970118" y="3825240"/>
              <a:ext cx="1002538" cy="1280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966306" y="3526536"/>
              <a:ext cx="1002538" cy="157886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977742" y="3633216"/>
              <a:ext cx="1002538" cy="7894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973930" y="3377184"/>
              <a:ext cx="1002538" cy="7680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970118" y="3099816"/>
              <a:ext cx="1002538" cy="7254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966306" y="2886456"/>
              <a:ext cx="1002538" cy="6400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value ticks on both flanks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5606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693563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466392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752777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07178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811991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4796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87120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848198" y="224282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34023"/>
              <a:ext cx="124348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4282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34023"/>
              <a:ext cx="1125061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4282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848198" y="285496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042178" y="2746163"/>
              <a:ext cx="180601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042178" y="285496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43498" y="2746163"/>
              <a:ext cx="1924447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43498" y="285496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848198" y="34671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49426" y="3358303"/>
              <a:ext cx="1598771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249426" y="346710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343498" y="3358303"/>
              <a:ext cx="1776413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6343498" y="346710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848198" y="407924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900778" y="3970443"/>
              <a:ext cx="947420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900778" y="407924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43498" y="3970443"/>
              <a:ext cx="1213882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343498" y="407924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848198" y="469138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492915" y="4582583"/>
              <a:ext cx="355282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492915" y="469138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343498" y="4582583"/>
              <a:ext cx="473710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343498" y="469138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8481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3434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6322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1275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04016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71973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444802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31187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385588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90401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2637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84961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overlap (Excel-style, 45%)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588706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43416" y="3065145"/>
              <a:ext cx="588706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592616" y="399002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588706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41686" y="2905125"/>
              <a:ext cx="588706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4990886" y="391001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588706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439956" y="2785110"/>
              <a:ext cx="588706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389156" y="385000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588706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838226" y="2305050"/>
              <a:ext cx="588706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787426" y="360997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Narrow gap width (histogram look, gapWidth 0)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073248" y="4411641"/>
              <a:ext cx="12954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22448" y="4663271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073248" y="3962739"/>
              <a:ext cx="12954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22448" y="40919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73248" y="3595455"/>
              <a:ext cx="12954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22448" y="368384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368648" y="4289213"/>
              <a:ext cx="12954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317848" y="460205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368648" y="3758692"/>
              <a:ext cx="12954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317848" y="3928703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68648" y="3411813"/>
              <a:ext cx="12954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17848" y="349000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64048" y="4146381"/>
              <a:ext cx="12954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13248" y="45306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664048" y="3513836"/>
              <a:ext cx="12954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13248" y="3734858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64048" y="3126147"/>
              <a:ext cx="12954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613248" y="322474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959448" y="3962739"/>
              <a:ext cx="12954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908648" y="4438819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959448" y="3248575"/>
              <a:ext cx="12954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908648" y="351040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959448" y="2799673"/>
              <a:ext cx="12954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908648" y="2928874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with negative values (net income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46532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2755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0713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8672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6631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4589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77581" y="3081147"/>
              <a:ext cx="56092" cy="760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27323" y="3129153"/>
              <a:ext cx="56092" cy="744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77064" y="3177159"/>
              <a:ext cx="56092" cy="728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026806" y="3225165"/>
              <a:ext cx="56092" cy="7120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76548" y="3273171"/>
              <a:ext cx="56092" cy="696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26289" y="3321177"/>
              <a:ext cx="56092" cy="6800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76031" y="3369183"/>
              <a:ext cx="56092" cy="664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225773" y="3417189"/>
              <a:ext cx="56092" cy="6480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75514" y="3465195"/>
              <a:ext cx="56092" cy="632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325256" y="3513201"/>
              <a:ext cx="56092" cy="616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74998" y="3561207"/>
              <a:ext cx="56092" cy="600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424739" y="3609213"/>
              <a:ext cx="56092" cy="584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74481" y="3657219"/>
              <a:ext cx="56092" cy="5680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524223" y="3705225"/>
              <a:ext cx="56092" cy="552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73964" y="3753231"/>
              <a:ext cx="56092" cy="5360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23706" y="3801237"/>
              <a:ext cx="56092" cy="5200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73448" y="3825240"/>
              <a:ext cx="56092" cy="526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723189" y="3825240"/>
              <a:ext cx="56092" cy="554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72931" y="3825240"/>
              <a:ext cx="56092" cy="582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822673" y="3825240"/>
              <a:ext cx="56092" cy="61007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72414" y="3825240"/>
              <a:ext cx="56092" cy="6380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2156" y="3825240"/>
              <a:ext cx="56092" cy="666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71898" y="3825240"/>
              <a:ext cx="56092" cy="694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021639" y="3825240"/>
              <a:ext cx="56092" cy="722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71381" y="3825240"/>
              <a:ext cx="56092" cy="750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21123" y="3825240"/>
              <a:ext cx="56092" cy="7780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70864" y="3825240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220606" y="3825240"/>
              <a:ext cx="56092" cy="8341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270348" y="3825240"/>
              <a:ext cx="56092" cy="8621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320089" y="3825240"/>
              <a:ext cx="56092" cy="8901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369831" y="3825240"/>
              <a:ext cx="56092" cy="9181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419573" y="3825240"/>
              <a:ext cx="56092" cy="9461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469314" y="3817239"/>
              <a:ext cx="56092" cy="9381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519056" y="3801237"/>
              <a:ext cx="56092" cy="8941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568798" y="3785235"/>
              <a:ext cx="56092" cy="8501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618539" y="3769233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668281" y="3753231"/>
              <a:ext cx="56092" cy="762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718023" y="3737229"/>
              <a:ext cx="56092" cy="718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767764" y="3721227"/>
              <a:ext cx="56092" cy="674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817506" y="3705225"/>
              <a:ext cx="56092" cy="630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867248" y="3689223"/>
              <a:ext cx="56092" cy="586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916989" y="3673221"/>
              <a:ext cx="56092" cy="5420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966731" y="3657219"/>
              <a:ext cx="56092" cy="4980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016473" y="3641217"/>
              <a:ext cx="56092" cy="454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066214" y="3625215"/>
              <a:ext cx="56092" cy="4100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115956" y="3609213"/>
              <a:ext cx="56092" cy="3660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165698" y="3593211"/>
              <a:ext cx="56092" cy="3220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5439" y="3577209"/>
              <a:ext cx="56092" cy="278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65181" y="3541205"/>
              <a:ext cx="56092" cy="284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14923" y="3485198"/>
              <a:ext cx="56092" cy="3400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364664" y="3429191"/>
              <a:ext cx="56092" cy="3960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414406" y="3373184"/>
              <a:ext cx="56092" cy="452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464148" y="3317177"/>
              <a:ext cx="56092" cy="5080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513889" y="3261170"/>
              <a:ext cx="56092" cy="5640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563631" y="3205163"/>
              <a:ext cx="56092" cy="620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613373" y="3149156"/>
              <a:ext cx="56092" cy="676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663114" y="3093149"/>
              <a:ext cx="56092" cy="732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712856" y="3037142"/>
              <a:ext cx="56092" cy="788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62598" y="2981135"/>
              <a:ext cx="56092" cy="8441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12339" y="2925128"/>
              <a:ext cx="56092" cy="9001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862081" y="2869121"/>
              <a:ext cx="56092" cy="95611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11823" y="2813114"/>
              <a:ext cx="56092" cy="10121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961564" y="2757107"/>
              <a:ext cx="56092" cy="1068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011306" y="2701100"/>
              <a:ext cx="56092" cy="1124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061048" y="2657094"/>
              <a:ext cx="56092" cy="11681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110789" y="2625090"/>
              <a:ext cx="56092" cy="12001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160531" y="2593086"/>
              <a:ext cx="56092" cy="12321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210273" y="2561082"/>
              <a:ext cx="56092" cy="12641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60014" y="2529078"/>
              <a:ext cx="56092" cy="12961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309756" y="2497074"/>
              <a:ext cx="56092" cy="13281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359498" y="2465070"/>
              <a:ext cx="56092" cy="13601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409239" y="2433066"/>
              <a:ext cx="56092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458981" y="2401062"/>
              <a:ext cx="56092" cy="1424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508723" y="2369058"/>
              <a:ext cx="56092" cy="1456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558464" y="2337054"/>
              <a:ext cx="56092" cy="1488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608206" y="2305050"/>
              <a:ext cx="56092" cy="1520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657948" y="2273046"/>
              <a:ext cx="56092" cy="15521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707689" y="2241042"/>
              <a:ext cx="56092" cy="15841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757431" y="2209038"/>
              <a:ext cx="56092" cy="16162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807173" y="2177034"/>
              <a:ext cx="56092" cy="1648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3479648" y="382524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01" name="Text 99"/>
            <p:cNvSpPr/>
            <p:nvPr/>
          </p:nvSpPr>
          <p:spPr>
            <a:xfrm>
              <a:off x="8305648" y="290741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Net income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Trajectory trail (one entity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4805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3916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8303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741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1800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091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5298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440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4480560"/>
              <a:ext cx="1112520" cy="26009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rot="6180000">
              <a:off x="3935641" y="4548243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4" name="Shape 22"/>
            <p:cNvSpPr/>
            <p:nvPr/>
          </p:nvSpPr>
          <p:spPr>
            <a:xfrm flipV="1">
              <a:off x="4592168" y="3830320"/>
              <a:ext cx="695325" cy="91033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rot="2220000">
              <a:off x="4858194" y="4275059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287493" y="3830320"/>
              <a:ext cx="1668780" cy="13004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rot="5640000">
              <a:off x="6020436" y="3840597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8" name="Shape 26"/>
            <p:cNvSpPr/>
            <p:nvPr/>
          </p:nvSpPr>
          <p:spPr>
            <a:xfrm flipV="1">
              <a:off x="6956273" y="2854960"/>
              <a:ext cx="973455" cy="110540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2460000">
              <a:off x="7358627" y="339498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 flipV="1">
              <a:off x="7929728" y="2009648"/>
              <a:ext cx="1112520" cy="845312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rot="3180000">
              <a:off x="8394739" y="241223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441548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554068" y="470255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249393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918173" y="392226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7891628" y="28168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9004148" y="19715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543148" y="43980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2019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55668" y="46581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350993" y="37477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19773" y="387781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7993228" y="27724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679028" y="192709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with jittered raw-data dots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86512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414528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8651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3425190"/>
              <a:ext cx="1029123" cy="72009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9334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78869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87696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373224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058752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567578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253106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476193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447461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132989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286348" y="190500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86348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54795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054795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771786" y="2465070"/>
              <a:ext cx="1029123" cy="104013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71786" y="318516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364475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5000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558829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244357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929885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38712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124240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633066" y="25260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18594" y="22059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6004122" y="18859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771786" y="29946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57481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157481" y="446532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925928" y="35052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7925928" y="47853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7642919" y="382524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7642919" y="414528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8235608" y="47663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921136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429963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11549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7801018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309845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995373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04199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89727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7875255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2" name="Text 60"/>
            <p:cNvSpPr/>
            <p:nvPr/>
          </p:nvSpPr>
          <p:spPr>
            <a:xfrm>
              <a:off x="7642919" y="395478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PowerChart"/>
          <p:cNvGrpSpPr/>
          <p:nvPr>
            <p:custDataLst>
              <p:tags r:id="rId3"/>
            </p:custDataLst>
          </p:nvPr>
        </p:nvGrpSpPr>
        <p:grpSpPr>
          <a:xfrm>
            <a:off x="2971648" y="1524000"/>
            <a:ext cx="6375400" cy="3810000"/>
            <a:chOff x="2971648" y="1524000"/>
            <a:chExt cx="63754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Continuous color scale (a Color row)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36750"/>
              <a:ext cx="53975" cy="88900"/>
            </a:xfrm>
            <a:prstGeom prst="rect">
              <a:avLst/>
            </a:prstGeom>
            <a:solidFill>
              <a:srgbClr val="EFF2F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527273" y="1936750"/>
              <a:ext cx="53975" cy="88900"/>
            </a:xfrm>
            <a:prstGeom prst="rect">
              <a:avLst/>
            </a:prstGeom>
            <a:solidFill>
              <a:srgbClr val="EAEFF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574898" y="1936750"/>
              <a:ext cx="53975" cy="88900"/>
            </a:xfrm>
            <a:prstGeom prst="rect">
              <a:avLst/>
            </a:prstGeom>
            <a:solidFill>
              <a:srgbClr val="E6EBF7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2523" y="1936750"/>
              <a:ext cx="53975" cy="88900"/>
            </a:xfrm>
            <a:prstGeom prst="rect">
              <a:avLst/>
            </a:prstGeom>
            <a:solidFill>
              <a:srgbClr val="E1E7F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70148" y="1936750"/>
              <a:ext cx="53975" cy="88900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717773" y="1936750"/>
              <a:ext cx="53975" cy="889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765398" y="1936750"/>
              <a:ext cx="53975" cy="889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813023" y="1936750"/>
              <a:ext cx="53975" cy="88900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860648" y="1936750"/>
              <a:ext cx="53975" cy="88900"/>
            </a:xfrm>
            <a:prstGeom prst="rect">
              <a:avLst/>
            </a:prstGeom>
            <a:solidFill>
              <a:srgbClr val="C8D3EF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908273" y="1936750"/>
              <a:ext cx="53975" cy="88900"/>
            </a:xfrm>
            <a:prstGeom prst="rect">
              <a:avLst/>
            </a:prstGeom>
            <a:solidFill>
              <a:srgbClr val="C2CFED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955898" y="1936750"/>
              <a:ext cx="53975" cy="88900"/>
            </a:xfrm>
            <a:prstGeom prst="rect">
              <a:avLst/>
            </a:prstGeom>
            <a:solidFill>
              <a:srgbClr val="BCCAEC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003523" y="1936750"/>
              <a:ext cx="53975" cy="88900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051148" y="1936750"/>
              <a:ext cx="53975" cy="889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098773" y="1936750"/>
              <a:ext cx="53975" cy="88900"/>
            </a:xfrm>
            <a:prstGeom prst="rect">
              <a:avLst/>
            </a:prstGeom>
            <a:solidFill>
              <a:srgbClr val="A9BCE7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46398" y="1936750"/>
              <a:ext cx="53975" cy="88900"/>
            </a:xfrm>
            <a:prstGeom prst="rect">
              <a:avLst/>
            </a:prstGeom>
            <a:solidFill>
              <a:srgbClr val="A2B7E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194023" y="1936750"/>
              <a:ext cx="53975" cy="88900"/>
            </a:xfrm>
            <a:prstGeom prst="rect">
              <a:avLst/>
            </a:prstGeom>
            <a:solidFill>
              <a:srgbClr val="9BB1E4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241648" y="1936750"/>
              <a:ext cx="53975" cy="88900"/>
            </a:xfrm>
            <a:prstGeom prst="rect">
              <a:avLst/>
            </a:prstGeom>
            <a:solidFill>
              <a:srgbClr val="93ACE2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289273" y="1936750"/>
              <a:ext cx="53975" cy="88900"/>
            </a:xfrm>
            <a:prstGeom prst="rect">
              <a:avLst/>
            </a:prstGeom>
            <a:solidFill>
              <a:srgbClr val="8AA6E1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336898" y="1936750"/>
              <a:ext cx="53975" cy="889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384523" y="1936750"/>
              <a:ext cx="53975" cy="88900"/>
            </a:xfrm>
            <a:prstGeom prst="rect">
              <a:avLst/>
            </a:prstGeom>
            <a:solidFill>
              <a:srgbClr val="779ADE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432148" y="1936750"/>
              <a:ext cx="53975" cy="88900"/>
            </a:xfrm>
            <a:prstGeom prst="rect">
              <a:avLst/>
            </a:prstGeom>
            <a:solidFill>
              <a:srgbClr val="6B93D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479773" y="1936750"/>
              <a:ext cx="53975" cy="88900"/>
            </a:xfrm>
            <a:prstGeom prst="rect">
              <a:avLst/>
            </a:prstGeom>
            <a:solidFill>
              <a:srgbClr val="5E8CDA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527398" y="1936750"/>
              <a:ext cx="53975" cy="88900"/>
            </a:xfrm>
            <a:prstGeom prst="rect">
              <a:avLst/>
            </a:prstGeom>
            <a:solidFill>
              <a:srgbClr val="4E84D9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575023" y="1936750"/>
              <a:ext cx="53975" cy="88900"/>
            </a:xfrm>
            <a:prstGeom prst="rect">
              <a:avLst/>
            </a:prstGeom>
            <a:solidFill>
              <a:srgbClr val="397CD7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2971648" y="1917700"/>
              <a:ext cx="4826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Color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7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7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F1F4F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D6DEF3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BBC9E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A5B9E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7C9DD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E2E8F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C4D0E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61" name="Text 59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Smoothed line (Catmull-Rom)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49993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020339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90685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561030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331376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101722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864820" y="4267331"/>
              <a:ext cx="26988" cy="3796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3891809" y="4217203"/>
              <a:ext cx="32443" cy="501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924251" y="4156820"/>
              <a:ext cx="37332" cy="6038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61584" y="4088085"/>
              <a:ext cx="41658" cy="6873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003242" y="4012905"/>
              <a:ext cx="45420" cy="751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048662" y="3933183"/>
              <a:ext cx="48617" cy="7972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097278" y="3850824"/>
              <a:ext cx="51250" cy="82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148528" y="3767733"/>
              <a:ext cx="53319" cy="830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4201847" y="3685813"/>
              <a:ext cx="54823" cy="8191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4256670" y="3606971"/>
              <a:ext cx="55764" cy="7884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4312433" y="3533109"/>
              <a:ext cx="56140" cy="7386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 flipV="1">
              <a:off x="4368573" y="3466133"/>
              <a:ext cx="55952" cy="669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4424525" y="3407947"/>
              <a:ext cx="55199" cy="581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4479724" y="3360455"/>
              <a:ext cx="53883" cy="474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4533607" y="3325563"/>
              <a:ext cx="52002" cy="34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 flipV="1">
              <a:off x="4585609" y="3305175"/>
              <a:ext cx="49557" cy="203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flipV="1">
              <a:off x="4635166" y="3301659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683313" y="3301659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731459" y="3314551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779606" y="3341508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827753" y="3380184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75899" y="3428237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4924046" y="3483322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4972192" y="3543095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020339" y="3605213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068486" y="3667330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116632" y="3727103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5164779" y="3782188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212925" y="3830241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261072" y="3868917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5309219" y="3895874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5357365" y="3905250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5405512" y="3883763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5453658" y="3845868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5501805" y="3793908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5549952" y="3730228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5598098" y="3657172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646245" y="3577084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5694392" y="3492308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5742538" y="3405188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5790685" y="3318067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5838831" y="3233291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5886978" y="3153203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5935125" y="3080147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flipV="1">
              <a:off x="5983271" y="3016467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flipV="1">
              <a:off x="6031418" y="2964507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 flipV="1">
              <a:off x="6079564" y="2926612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 flipV="1">
              <a:off x="6127711" y="2905125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flipV="1">
              <a:off x="6175858" y="2901389"/>
              <a:ext cx="48147" cy="37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6224004" y="2901389"/>
              <a:ext cx="48147" cy="122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6272151" y="2913681"/>
              <a:ext cx="48147" cy="2606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6320297" y="2939744"/>
              <a:ext cx="48147" cy="375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6368444" y="2977322"/>
              <a:ext cx="48147" cy="4683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6416591" y="3024158"/>
              <a:ext cx="48147" cy="538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3" name="Shape 71"/>
            <p:cNvSpPr/>
            <p:nvPr/>
          </p:nvSpPr>
          <p:spPr>
            <a:xfrm>
              <a:off x="6464737" y="3077998"/>
              <a:ext cx="48147" cy="585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4" name="Shape 72"/>
            <p:cNvSpPr/>
            <p:nvPr/>
          </p:nvSpPr>
          <p:spPr>
            <a:xfrm>
              <a:off x="6512884" y="3136585"/>
              <a:ext cx="48147" cy="610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5" name="Shape 73"/>
            <p:cNvSpPr/>
            <p:nvPr/>
          </p:nvSpPr>
          <p:spPr>
            <a:xfrm>
              <a:off x="6561030" y="3197662"/>
              <a:ext cx="48147" cy="613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6" name="Shape 74"/>
            <p:cNvSpPr/>
            <p:nvPr/>
          </p:nvSpPr>
          <p:spPr>
            <a:xfrm>
              <a:off x="6609177" y="3258973"/>
              <a:ext cx="48147" cy="5929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7" name="Shape 75"/>
            <p:cNvSpPr/>
            <p:nvPr/>
          </p:nvSpPr>
          <p:spPr>
            <a:xfrm>
              <a:off x="6657324" y="3318263"/>
              <a:ext cx="48147" cy="5501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8" name="Shape 76"/>
            <p:cNvSpPr/>
            <p:nvPr/>
          </p:nvSpPr>
          <p:spPr>
            <a:xfrm>
              <a:off x="6705470" y="3373274"/>
              <a:ext cx="48147" cy="484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9" name="Shape 77"/>
            <p:cNvSpPr/>
            <p:nvPr/>
          </p:nvSpPr>
          <p:spPr>
            <a:xfrm>
              <a:off x="6753617" y="3421752"/>
              <a:ext cx="48147" cy="396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0" name="Shape 78"/>
            <p:cNvSpPr/>
            <p:nvPr/>
          </p:nvSpPr>
          <p:spPr>
            <a:xfrm>
              <a:off x="6801763" y="3461440"/>
              <a:ext cx="48147" cy="2864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1" name="Shape 79"/>
            <p:cNvSpPr/>
            <p:nvPr/>
          </p:nvSpPr>
          <p:spPr>
            <a:xfrm>
              <a:off x="6849910" y="3490081"/>
              <a:ext cx="48147" cy="1533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2" name="Shape 80"/>
            <p:cNvSpPr/>
            <p:nvPr/>
          </p:nvSpPr>
          <p:spPr>
            <a:xfrm flipV="1">
              <a:off x="6898057" y="3505200"/>
              <a:ext cx="48147" cy="2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3" name="Shape 81"/>
            <p:cNvSpPr/>
            <p:nvPr/>
          </p:nvSpPr>
          <p:spPr>
            <a:xfrm flipV="1">
              <a:off x="6946203" y="3488211"/>
              <a:ext cx="48147" cy="169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4" name="Shape 82"/>
            <p:cNvSpPr/>
            <p:nvPr/>
          </p:nvSpPr>
          <p:spPr>
            <a:xfrm flipV="1">
              <a:off x="6994350" y="3456170"/>
              <a:ext cx="48147" cy="32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5" name="Shape 83"/>
            <p:cNvSpPr/>
            <p:nvPr/>
          </p:nvSpPr>
          <p:spPr>
            <a:xfrm flipV="1">
              <a:off x="7042497" y="3411219"/>
              <a:ext cx="48147" cy="4495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6" name="Shape 84"/>
            <p:cNvSpPr/>
            <p:nvPr/>
          </p:nvSpPr>
          <p:spPr>
            <a:xfrm flipV="1">
              <a:off x="7090643" y="3355494"/>
              <a:ext cx="48147" cy="557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7" name="Shape 85"/>
            <p:cNvSpPr/>
            <p:nvPr/>
          </p:nvSpPr>
          <p:spPr>
            <a:xfrm flipV="1">
              <a:off x="7138790" y="3291135"/>
              <a:ext cx="48147" cy="64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 flipV="1">
              <a:off x="7186936" y="3220282"/>
              <a:ext cx="48147" cy="7085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 flipV="1">
              <a:off x="7235083" y="3145072"/>
              <a:ext cx="48147" cy="7521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 flipV="1">
              <a:off x="7283230" y="3067645"/>
              <a:ext cx="48147" cy="7742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 flipV="1">
              <a:off x="7331376" y="2990141"/>
              <a:ext cx="48147" cy="7750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 flipV="1">
              <a:off x="7379523" y="2914697"/>
              <a:ext cx="48147" cy="754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 flipV="1">
              <a:off x="7427669" y="2843452"/>
              <a:ext cx="48147" cy="712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 flipV="1">
              <a:off x="7475816" y="2778547"/>
              <a:ext cx="48147" cy="6490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 flipV="1">
              <a:off x="7523963" y="2722119"/>
              <a:ext cx="48147" cy="564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 flipV="1">
              <a:off x="7572109" y="2676307"/>
              <a:ext cx="48147" cy="458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 flipV="1">
              <a:off x="7620256" y="2643251"/>
              <a:ext cx="48147" cy="3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 flipV="1">
              <a:off x="7668402" y="2625090"/>
              <a:ext cx="48147" cy="181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 flipV="1">
              <a:off x="7716549" y="2621564"/>
              <a:ext cx="49557" cy="352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7766106" y="2621564"/>
              <a:ext cx="52002" cy="844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7818108" y="2630012"/>
              <a:ext cx="53883" cy="1895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2" name="Shape 100"/>
            <p:cNvSpPr/>
            <p:nvPr/>
          </p:nvSpPr>
          <p:spPr>
            <a:xfrm>
              <a:off x="7871991" y="2648970"/>
              <a:ext cx="55199" cy="2800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3" name="Shape 101"/>
            <p:cNvSpPr/>
            <p:nvPr/>
          </p:nvSpPr>
          <p:spPr>
            <a:xfrm>
              <a:off x="7927190" y="2676971"/>
              <a:ext cx="55952" cy="3558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4" name="Shape 102"/>
            <p:cNvSpPr/>
            <p:nvPr/>
          </p:nvSpPr>
          <p:spPr>
            <a:xfrm>
              <a:off x="7983142" y="2712552"/>
              <a:ext cx="56140" cy="416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5" name="Shape 103"/>
            <p:cNvSpPr/>
            <p:nvPr/>
          </p:nvSpPr>
          <p:spPr>
            <a:xfrm>
              <a:off x="8039282" y="2754247"/>
              <a:ext cx="55764" cy="463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6" name="Shape 104"/>
            <p:cNvSpPr/>
            <p:nvPr/>
          </p:nvSpPr>
          <p:spPr>
            <a:xfrm>
              <a:off x="8095045" y="2800590"/>
              <a:ext cx="54823" cy="495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7" name="Shape 105"/>
            <p:cNvSpPr/>
            <p:nvPr/>
          </p:nvSpPr>
          <p:spPr>
            <a:xfrm>
              <a:off x="8149868" y="2850118"/>
              <a:ext cx="53319" cy="5124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8" name="Shape 106"/>
            <p:cNvSpPr/>
            <p:nvPr/>
          </p:nvSpPr>
          <p:spPr>
            <a:xfrm>
              <a:off x="8203187" y="2901365"/>
              <a:ext cx="51250" cy="5150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9" name="Shape 107"/>
            <p:cNvSpPr/>
            <p:nvPr/>
          </p:nvSpPr>
          <p:spPr>
            <a:xfrm>
              <a:off x="8254437" y="2952865"/>
              <a:ext cx="48617" cy="502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0" name="Shape 108"/>
            <p:cNvSpPr/>
            <p:nvPr/>
          </p:nvSpPr>
          <p:spPr>
            <a:xfrm>
              <a:off x="8303054" y="3003155"/>
              <a:ext cx="45420" cy="4761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1" name="Shape 109"/>
            <p:cNvSpPr/>
            <p:nvPr/>
          </p:nvSpPr>
          <p:spPr>
            <a:xfrm>
              <a:off x="8348473" y="3050768"/>
              <a:ext cx="41658" cy="4347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2" name="Shape 110"/>
            <p:cNvSpPr/>
            <p:nvPr/>
          </p:nvSpPr>
          <p:spPr>
            <a:xfrm>
              <a:off x="8390131" y="3094240"/>
              <a:ext cx="37332" cy="3786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3" name="Shape 111"/>
            <p:cNvSpPr/>
            <p:nvPr/>
          </p:nvSpPr>
          <p:spPr>
            <a:xfrm>
              <a:off x="8427464" y="3132106"/>
              <a:ext cx="32443" cy="307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4" name="Shape 112"/>
            <p:cNvSpPr/>
            <p:nvPr/>
          </p:nvSpPr>
          <p:spPr>
            <a:xfrm>
              <a:off x="8459906" y="3162901"/>
              <a:ext cx="26988" cy="222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5" name="Shape 113"/>
            <p:cNvSpPr/>
            <p:nvPr/>
          </p:nvSpPr>
          <p:spPr>
            <a:xfrm>
              <a:off x="3834340" y="42748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6" name="Shape 114"/>
            <p:cNvSpPr/>
            <p:nvPr/>
          </p:nvSpPr>
          <p:spPr>
            <a:xfrm>
              <a:off x="4604686" y="327469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7" name="Shape 115"/>
            <p:cNvSpPr/>
            <p:nvPr/>
          </p:nvSpPr>
          <p:spPr>
            <a:xfrm>
              <a:off x="5375032" y="387477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8" name="Shape 116"/>
            <p:cNvSpPr/>
            <p:nvPr/>
          </p:nvSpPr>
          <p:spPr>
            <a:xfrm>
              <a:off x="614537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9" name="Shape 117"/>
            <p:cNvSpPr/>
            <p:nvPr/>
          </p:nvSpPr>
          <p:spPr>
            <a:xfrm>
              <a:off x="6915723" y="34747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0" name="Shape 118"/>
            <p:cNvSpPr/>
            <p:nvPr/>
          </p:nvSpPr>
          <p:spPr>
            <a:xfrm>
              <a:off x="7686069" y="259461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1" name="Shape 119"/>
            <p:cNvSpPr/>
            <p:nvPr/>
          </p:nvSpPr>
          <p:spPr>
            <a:xfrm>
              <a:off x="8456415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2" name="Shape 120"/>
            <p:cNvSpPr/>
            <p:nvPr/>
          </p:nvSpPr>
          <p:spPr>
            <a:xfrm flipV="1">
              <a:off x="3864820" y="4495441"/>
              <a:ext cx="26988" cy="98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3" name="Shape 121"/>
            <p:cNvSpPr/>
            <p:nvPr/>
          </p:nvSpPr>
          <p:spPr>
            <a:xfrm flipV="1">
              <a:off x="3891809" y="4483447"/>
              <a:ext cx="32443" cy="1199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4" name="Shape 122"/>
            <p:cNvSpPr/>
            <p:nvPr/>
          </p:nvSpPr>
          <p:spPr>
            <a:xfrm flipV="1">
              <a:off x="3924251" y="4469578"/>
              <a:ext cx="37332" cy="138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5" name="Shape 123"/>
            <p:cNvSpPr/>
            <p:nvPr/>
          </p:nvSpPr>
          <p:spPr>
            <a:xfrm flipV="1">
              <a:off x="3961584" y="4454069"/>
              <a:ext cx="41658" cy="155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6" name="Shape 124"/>
            <p:cNvSpPr/>
            <p:nvPr/>
          </p:nvSpPr>
          <p:spPr>
            <a:xfrm flipV="1">
              <a:off x="4003242" y="4437152"/>
              <a:ext cx="45420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7" name="Shape 125"/>
            <p:cNvSpPr/>
            <p:nvPr/>
          </p:nvSpPr>
          <p:spPr>
            <a:xfrm flipV="1">
              <a:off x="4048662" y="4419064"/>
              <a:ext cx="48617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8" name="Shape 126"/>
            <p:cNvSpPr/>
            <p:nvPr/>
          </p:nvSpPr>
          <p:spPr>
            <a:xfrm flipV="1">
              <a:off x="4097278" y="4400038"/>
              <a:ext cx="51250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9" name="Shape 127"/>
            <p:cNvSpPr/>
            <p:nvPr/>
          </p:nvSpPr>
          <p:spPr>
            <a:xfrm flipV="1">
              <a:off x="4148528" y="4380309"/>
              <a:ext cx="5331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0" name="Shape 128"/>
            <p:cNvSpPr/>
            <p:nvPr/>
          </p:nvSpPr>
          <p:spPr>
            <a:xfrm flipV="1">
              <a:off x="4201847" y="4360112"/>
              <a:ext cx="54823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1" name="Shape 129"/>
            <p:cNvSpPr/>
            <p:nvPr/>
          </p:nvSpPr>
          <p:spPr>
            <a:xfrm flipV="1">
              <a:off x="4256670" y="4339679"/>
              <a:ext cx="55764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2" name="Shape 130"/>
            <p:cNvSpPr/>
            <p:nvPr/>
          </p:nvSpPr>
          <p:spPr>
            <a:xfrm flipV="1">
              <a:off x="4312433" y="4319247"/>
              <a:ext cx="56140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3" name="Shape 131"/>
            <p:cNvSpPr/>
            <p:nvPr/>
          </p:nvSpPr>
          <p:spPr>
            <a:xfrm flipV="1">
              <a:off x="4368573" y="4299049"/>
              <a:ext cx="55952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4" name="Shape 132"/>
            <p:cNvSpPr/>
            <p:nvPr/>
          </p:nvSpPr>
          <p:spPr>
            <a:xfrm flipV="1">
              <a:off x="4424525" y="4279320"/>
              <a:ext cx="5519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5" name="Shape 133"/>
            <p:cNvSpPr/>
            <p:nvPr/>
          </p:nvSpPr>
          <p:spPr>
            <a:xfrm flipV="1">
              <a:off x="4479724" y="4260294"/>
              <a:ext cx="53883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6" name="Shape 134"/>
            <p:cNvSpPr/>
            <p:nvPr/>
          </p:nvSpPr>
          <p:spPr>
            <a:xfrm flipV="1">
              <a:off x="4533607" y="4242206"/>
              <a:ext cx="52002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7" name="Shape 135"/>
            <p:cNvSpPr/>
            <p:nvPr/>
          </p:nvSpPr>
          <p:spPr>
            <a:xfrm flipV="1">
              <a:off x="4585609" y="4225290"/>
              <a:ext cx="49557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8" name="Shape 136"/>
            <p:cNvSpPr/>
            <p:nvPr/>
          </p:nvSpPr>
          <p:spPr>
            <a:xfrm flipV="1">
              <a:off x="4635166" y="4208603"/>
              <a:ext cx="48147" cy="1668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9" name="Shape 137"/>
            <p:cNvSpPr/>
            <p:nvPr/>
          </p:nvSpPr>
          <p:spPr>
            <a:xfrm flipV="1">
              <a:off x="4683313" y="4191184"/>
              <a:ext cx="48147" cy="174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0" name="Shape 138"/>
            <p:cNvSpPr/>
            <p:nvPr/>
          </p:nvSpPr>
          <p:spPr>
            <a:xfrm flipV="1">
              <a:off x="4731459" y="4173238"/>
              <a:ext cx="48147" cy="179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1" name="Shape 139"/>
            <p:cNvSpPr/>
            <p:nvPr/>
          </p:nvSpPr>
          <p:spPr>
            <a:xfrm flipV="1">
              <a:off x="4779606" y="4154969"/>
              <a:ext cx="48147" cy="182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2" name="Shape 140"/>
            <p:cNvSpPr/>
            <p:nvPr/>
          </p:nvSpPr>
          <p:spPr>
            <a:xfrm flipV="1">
              <a:off x="4827753" y="4136583"/>
              <a:ext cx="48147" cy="183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3" name="Shape 141"/>
            <p:cNvSpPr/>
            <p:nvPr/>
          </p:nvSpPr>
          <p:spPr>
            <a:xfrm flipV="1">
              <a:off x="4875899" y="4118284"/>
              <a:ext cx="48147" cy="182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4" name="Shape 142"/>
            <p:cNvSpPr/>
            <p:nvPr/>
          </p:nvSpPr>
          <p:spPr>
            <a:xfrm flipV="1">
              <a:off x="4924046" y="4100279"/>
              <a:ext cx="48147" cy="18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5" name="Shape 143"/>
            <p:cNvSpPr/>
            <p:nvPr/>
          </p:nvSpPr>
          <p:spPr>
            <a:xfrm flipV="1">
              <a:off x="4972192" y="4082772"/>
              <a:ext cx="48147" cy="17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6" name="Shape 144"/>
            <p:cNvSpPr/>
            <p:nvPr/>
          </p:nvSpPr>
          <p:spPr>
            <a:xfrm flipV="1">
              <a:off x="5020339" y="4065968"/>
              <a:ext cx="48147" cy="1680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7" name="Shape 145"/>
            <p:cNvSpPr/>
            <p:nvPr/>
          </p:nvSpPr>
          <p:spPr>
            <a:xfrm flipV="1">
              <a:off x="5068486" y="4050073"/>
              <a:ext cx="48147" cy="1589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8" name="Shape 146"/>
            <p:cNvSpPr/>
            <p:nvPr/>
          </p:nvSpPr>
          <p:spPr>
            <a:xfrm flipV="1">
              <a:off x="5116632" y="4035291"/>
              <a:ext cx="48147" cy="1478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9" name="Shape 147"/>
            <p:cNvSpPr/>
            <p:nvPr/>
          </p:nvSpPr>
          <p:spPr>
            <a:xfrm flipV="1">
              <a:off x="5164779" y="4021827"/>
              <a:ext cx="48147" cy="1346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0" name="Shape 148"/>
            <p:cNvSpPr/>
            <p:nvPr/>
          </p:nvSpPr>
          <p:spPr>
            <a:xfrm flipV="1">
              <a:off x="5212925" y="4009887"/>
              <a:ext cx="48147" cy="119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1" name="Shape 149"/>
            <p:cNvSpPr/>
            <p:nvPr/>
          </p:nvSpPr>
          <p:spPr>
            <a:xfrm flipV="1">
              <a:off x="5261072" y="3999676"/>
              <a:ext cx="48147" cy="1021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 flipV="1">
              <a:off x="5309219" y="3991398"/>
              <a:ext cx="48147" cy="827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3" name="Shape 151"/>
            <p:cNvSpPr/>
            <p:nvPr/>
          </p:nvSpPr>
          <p:spPr>
            <a:xfrm flipV="1">
              <a:off x="5357365" y="3985260"/>
              <a:ext cx="48147" cy="61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4" name="Shape 152"/>
            <p:cNvSpPr/>
            <p:nvPr/>
          </p:nvSpPr>
          <p:spPr>
            <a:xfrm flipV="1">
              <a:off x="5405512" y="3982276"/>
              <a:ext cx="48147" cy="29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453658" y="3982276"/>
              <a:ext cx="48147" cy="6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6" name="Shape 154"/>
            <p:cNvSpPr/>
            <p:nvPr/>
          </p:nvSpPr>
          <p:spPr>
            <a:xfrm>
              <a:off x="5501805" y="3982955"/>
              <a:ext cx="48147" cy="37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7" name="Shape 155"/>
            <p:cNvSpPr/>
            <p:nvPr/>
          </p:nvSpPr>
          <p:spPr>
            <a:xfrm>
              <a:off x="5549952" y="3986740"/>
              <a:ext cx="48147" cy="633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5598098" y="3993073"/>
              <a:ext cx="48147" cy="83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9" name="Shape 157"/>
            <p:cNvSpPr/>
            <p:nvPr/>
          </p:nvSpPr>
          <p:spPr>
            <a:xfrm>
              <a:off x="5646245" y="4001400"/>
              <a:ext cx="48147" cy="97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0" name="Shape 158"/>
            <p:cNvSpPr/>
            <p:nvPr/>
          </p:nvSpPr>
          <p:spPr>
            <a:xfrm>
              <a:off x="5694392" y="4011162"/>
              <a:ext cx="48147" cy="106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5742538" y="4021803"/>
              <a:ext cx="48147" cy="109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2" name="Shape 160"/>
            <p:cNvSpPr/>
            <p:nvPr/>
          </p:nvSpPr>
          <p:spPr>
            <a:xfrm>
              <a:off x="5790685" y="4032766"/>
              <a:ext cx="48147" cy="10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3" name="Shape 161"/>
            <p:cNvSpPr/>
            <p:nvPr/>
          </p:nvSpPr>
          <p:spPr>
            <a:xfrm>
              <a:off x="5838831" y="4043495"/>
              <a:ext cx="48147" cy="99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5886978" y="4053433"/>
              <a:ext cx="48147" cy="859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5" name="Shape 163"/>
            <p:cNvSpPr/>
            <p:nvPr/>
          </p:nvSpPr>
          <p:spPr>
            <a:xfrm>
              <a:off x="5935125" y="4062023"/>
              <a:ext cx="48147" cy="66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6" name="Shape 164"/>
            <p:cNvSpPr/>
            <p:nvPr/>
          </p:nvSpPr>
          <p:spPr>
            <a:xfrm>
              <a:off x="5983271" y="4068708"/>
              <a:ext cx="48147" cy="42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7" name="Shape 165"/>
            <p:cNvSpPr/>
            <p:nvPr/>
          </p:nvSpPr>
          <p:spPr>
            <a:xfrm>
              <a:off x="6031418" y="4072932"/>
              <a:ext cx="48147" cy="12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8" name="Shape 166"/>
            <p:cNvSpPr/>
            <p:nvPr/>
          </p:nvSpPr>
          <p:spPr>
            <a:xfrm flipV="1">
              <a:off x="6079564" y="4071770"/>
              <a:ext cx="48147" cy="236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9" name="Shape 167"/>
            <p:cNvSpPr/>
            <p:nvPr/>
          </p:nvSpPr>
          <p:spPr>
            <a:xfrm flipV="1">
              <a:off x="6127711" y="4065270"/>
              <a:ext cx="48147" cy="65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0" name="Shape 168"/>
            <p:cNvSpPr/>
            <p:nvPr/>
          </p:nvSpPr>
          <p:spPr>
            <a:xfrm flipV="1">
              <a:off x="6175858" y="4054561"/>
              <a:ext cx="48147" cy="107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1" name="Shape 169"/>
            <p:cNvSpPr/>
            <p:nvPr/>
          </p:nvSpPr>
          <p:spPr>
            <a:xfrm flipV="1">
              <a:off x="6224004" y="4040228"/>
              <a:ext cx="48147" cy="143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2" name="Shape 170"/>
            <p:cNvSpPr/>
            <p:nvPr/>
          </p:nvSpPr>
          <p:spPr>
            <a:xfrm flipV="1">
              <a:off x="6272151" y="4022711"/>
              <a:ext cx="48147" cy="1751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3" name="Shape 171"/>
            <p:cNvSpPr/>
            <p:nvPr/>
          </p:nvSpPr>
          <p:spPr>
            <a:xfrm flipV="1">
              <a:off x="6320297" y="4002450"/>
              <a:ext cx="48147" cy="2026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4" name="Shape 172"/>
            <p:cNvSpPr/>
            <p:nvPr/>
          </p:nvSpPr>
          <p:spPr>
            <a:xfrm flipV="1">
              <a:off x="6368444" y="3979883"/>
              <a:ext cx="48147" cy="225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5" name="Shape 173"/>
            <p:cNvSpPr/>
            <p:nvPr/>
          </p:nvSpPr>
          <p:spPr>
            <a:xfrm flipV="1">
              <a:off x="6416591" y="3955452"/>
              <a:ext cx="48147" cy="24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6" name="Shape 174"/>
            <p:cNvSpPr/>
            <p:nvPr/>
          </p:nvSpPr>
          <p:spPr>
            <a:xfrm flipV="1">
              <a:off x="6464737" y="3929594"/>
              <a:ext cx="48147" cy="258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7" name="Shape 175"/>
            <p:cNvSpPr/>
            <p:nvPr/>
          </p:nvSpPr>
          <p:spPr>
            <a:xfrm flipV="1">
              <a:off x="6512884" y="3902750"/>
              <a:ext cx="48147" cy="2684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8" name="Shape 176"/>
            <p:cNvSpPr/>
            <p:nvPr/>
          </p:nvSpPr>
          <p:spPr>
            <a:xfrm flipV="1">
              <a:off x="6561030" y="3875359"/>
              <a:ext cx="48147" cy="273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9" name="Shape 177"/>
            <p:cNvSpPr/>
            <p:nvPr/>
          </p:nvSpPr>
          <p:spPr>
            <a:xfrm flipV="1">
              <a:off x="6609177" y="3847860"/>
              <a:ext cx="48147" cy="2749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0" name="Shape 178"/>
            <p:cNvSpPr/>
            <p:nvPr/>
          </p:nvSpPr>
          <p:spPr>
            <a:xfrm flipV="1">
              <a:off x="6657324" y="3820694"/>
              <a:ext cx="48147" cy="271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1" name="Shape 179"/>
            <p:cNvSpPr/>
            <p:nvPr/>
          </p:nvSpPr>
          <p:spPr>
            <a:xfrm flipV="1">
              <a:off x="6705470" y="3794299"/>
              <a:ext cx="48147" cy="26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2" name="Shape 180"/>
            <p:cNvSpPr/>
            <p:nvPr/>
          </p:nvSpPr>
          <p:spPr>
            <a:xfrm flipV="1">
              <a:off x="6753617" y="3769115"/>
              <a:ext cx="48147" cy="251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3" name="Shape 181"/>
            <p:cNvSpPr/>
            <p:nvPr/>
          </p:nvSpPr>
          <p:spPr>
            <a:xfrm flipV="1">
              <a:off x="6801763" y="3745582"/>
              <a:ext cx="48147" cy="235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4" name="Shape 182"/>
            <p:cNvSpPr/>
            <p:nvPr/>
          </p:nvSpPr>
          <p:spPr>
            <a:xfrm flipV="1">
              <a:off x="6849910" y="3724138"/>
              <a:ext cx="48147" cy="2144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5" name="Shape 183"/>
            <p:cNvSpPr/>
            <p:nvPr/>
          </p:nvSpPr>
          <p:spPr>
            <a:xfrm flipV="1">
              <a:off x="6898057" y="3705225"/>
              <a:ext cx="48147" cy="189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6" name="Shape 184"/>
            <p:cNvSpPr/>
            <p:nvPr/>
          </p:nvSpPr>
          <p:spPr>
            <a:xfrm flipV="1">
              <a:off x="6946203" y="3688841"/>
              <a:ext cx="48147" cy="163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7" name="Shape 185"/>
            <p:cNvSpPr/>
            <p:nvPr/>
          </p:nvSpPr>
          <p:spPr>
            <a:xfrm flipV="1">
              <a:off x="6994350" y="3674479"/>
              <a:ext cx="48147" cy="143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8" name="Shape 186"/>
            <p:cNvSpPr/>
            <p:nvPr/>
          </p:nvSpPr>
          <p:spPr>
            <a:xfrm flipV="1">
              <a:off x="7042497" y="3661816"/>
              <a:ext cx="48147" cy="126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9" name="Shape 187"/>
            <p:cNvSpPr/>
            <p:nvPr/>
          </p:nvSpPr>
          <p:spPr>
            <a:xfrm flipV="1">
              <a:off x="7090643" y="3650531"/>
              <a:ext cx="48147" cy="112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0" name="Shape 188"/>
            <p:cNvSpPr/>
            <p:nvPr/>
          </p:nvSpPr>
          <p:spPr>
            <a:xfrm flipV="1">
              <a:off x="7138790" y="3640300"/>
              <a:ext cx="48147" cy="102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1" name="Shape 189"/>
            <p:cNvSpPr/>
            <p:nvPr/>
          </p:nvSpPr>
          <p:spPr>
            <a:xfrm flipV="1">
              <a:off x="7186936" y="3630802"/>
              <a:ext cx="48147" cy="94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2" name="Shape 190"/>
            <p:cNvSpPr/>
            <p:nvPr/>
          </p:nvSpPr>
          <p:spPr>
            <a:xfrm flipV="1">
              <a:off x="7235083" y="3621714"/>
              <a:ext cx="48147" cy="9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3" name="Shape 191"/>
            <p:cNvSpPr/>
            <p:nvPr/>
          </p:nvSpPr>
          <p:spPr>
            <a:xfrm flipV="1">
              <a:off x="7283230" y="3612713"/>
              <a:ext cx="48147" cy="90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4" name="Shape 192"/>
            <p:cNvSpPr/>
            <p:nvPr/>
          </p:nvSpPr>
          <p:spPr>
            <a:xfrm flipV="1">
              <a:off x="7331376" y="3603479"/>
              <a:ext cx="48147" cy="923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5" name="Shape 193"/>
            <p:cNvSpPr/>
            <p:nvPr/>
          </p:nvSpPr>
          <p:spPr>
            <a:xfrm flipV="1">
              <a:off x="7379523" y="3593688"/>
              <a:ext cx="48147" cy="97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6" name="Shape 194"/>
            <p:cNvSpPr/>
            <p:nvPr/>
          </p:nvSpPr>
          <p:spPr>
            <a:xfrm flipV="1">
              <a:off x="7427669" y="3583017"/>
              <a:ext cx="48147" cy="1067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7" name="Shape 195"/>
            <p:cNvSpPr/>
            <p:nvPr/>
          </p:nvSpPr>
          <p:spPr>
            <a:xfrm flipV="1">
              <a:off x="7475816" y="3571146"/>
              <a:ext cx="48147" cy="1187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8" name="Shape 196"/>
            <p:cNvSpPr/>
            <p:nvPr/>
          </p:nvSpPr>
          <p:spPr>
            <a:xfrm flipV="1">
              <a:off x="7523963" y="3557751"/>
              <a:ext cx="48147" cy="13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9" name="Shape 197"/>
            <p:cNvSpPr/>
            <p:nvPr/>
          </p:nvSpPr>
          <p:spPr>
            <a:xfrm flipV="1">
              <a:off x="7572109" y="3542509"/>
              <a:ext cx="48147" cy="152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0" name="Shape 198"/>
            <p:cNvSpPr/>
            <p:nvPr/>
          </p:nvSpPr>
          <p:spPr>
            <a:xfrm flipV="1">
              <a:off x="7620256" y="3525100"/>
              <a:ext cx="48147" cy="174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1" name="Shape 199"/>
            <p:cNvSpPr/>
            <p:nvPr/>
          </p:nvSpPr>
          <p:spPr>
            <a:xfrm flipV="1">
              <a:off x="7668402" y="3505200"/>
              <a:ext cx="48147" cy="199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2" name="Shape 200"/>
            <p:cNvSpPr/>
            <p:nvPr/>
          </p:nvSpPr>
          <p:spPr>
            <a:xfrm flipV="1">
              <a:off x="7716549" y="3482009"/>
              <a:ext cx="49557" cy="231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3" name="Shape 201"/>
            <p:cNvSpPr/>
            <p:nvPr/>
          </p:nvSpPr>
          <p:spPr>
            <a:xfrm flipV="1">
              <a:off x="7766106" y="3455311"/>
              <a:ext cx="52002" cy="266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4" name="Shape 202"/>
            <p:cNvSpPr/>
            <p:nvPr/>
          </p:nvSpPr>
          <p:spPr>
            <a:xfrm flipV="1">
              <a:off x="7818108" y="3425664"/>
              <a:ext cx="53883" cy="296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5" name="Shape 203"/>
            <p:cNvSpPr/>
            <p:nvPr/>
          </p:nvSpPr>
          <p:spPr>
            <a:xfrm flipV="1">
              <a:off x="7871991" y="3393624"/>
              <a:ext cx="55199" cy="32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6" name="Shape 204"/>
            <p:cNvSpPr/>
            <p:nvPr/>
          </p:nvSpPr>
          <p:spPr>
            <a:xfrm flipV="1">
              <a:off x="7927190" y="3359747"/>
              <a:ext cx="55952" cy="3387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7" name="Shape 205"/>
            <p:cNvSpPr/>
            <p:nvPr/>
          </p:nvSpPr>
          <p:spPr>
            <a:xfrm flipV="1">
              <a:off x="7983142" y="3324591"/>
              <a:ext cx="56140" cy="3515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8" name="Shape 206"/>
            <p:cNvSpPr/>
            <p:nvPr/>
          </p:nvSpPr>
          <p:spPr>
            <a:xfrm flipV="1">
              <a:off x="8039282" y="3288713"/>
              <a:ext cx="55764" cy="358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9" name="Shape 207"/>
            <p:cNvSpPr/>
            <p:nvPr/>
          </p:nvSpPr>
          <p:spPr>
            <a:xfrm flipV="1">
              <a:off x="8095045" y="3252668"/>
              <a:ext cx="54823" cy="3604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0" name="Shape 208"/>
            <p:cNvSpPr/>
            <p:nvPr/>
          </p:nvSpPr>
          <p:spPr>
            <a:xfrm flipV="1">
              <a:off x="8149868" y="3217015"/>
              <a:ext cx="53319" cy="3565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1" name="Shape 209"/>
            <p:cNvSpPr/>
            <p:nvPr/>
          </p:nvSpPr>
          <p:spPr>
            <a:xfrm flipV="1">
              <a:off x="8203187" y="3182308"/>
              <a:ext cx="51250" cy="347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2" name="Shape 210"/>
            <p:cNvSpPr/>
            <p:nvPr/>
          </p:nvSpPr>
          <p:spPr>
            <a:xfrm flipV="1">
              <a:off x="8254437" y="3149106"/>
              <a:ext cx="48617" cy="3320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3" name="Shape 211"/>
            <p:cNvSpPr/>
            <p:nvPr/>
          </p:nvSpPr>
          <p:spPr>
            <a:xfrm flipV="1">
              <a:off x="8303054" y="3117964"/>
              <a:ext cx="45420" cy="3114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4" name="Shape 212"/>
            <p:cNvSpPr/>
            <p:nvPr/>
          </p:nvSpPr>
          <p:spPr>
            <a:xfrm flipV="1">
              <a:off x="8348473" y="3089440"/>
              <a:ext cx="41658" cy="285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5" name="Shape 213"/>
            <p:cNvSpPr/>
            <p:nvPr/>
          </p:nvSpPr>
          <p:spPr>
            <a:xfrm flipV="1">
              <a:off x="8390131" y="3064090"/>
              <a:ext cx="37332" cy="2535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6" name="Shape 214"/>
            <p:cNvSpPr/>
            <p:nvPr/>
          </p:nvSpPr>
          <p:spPr>
            <a:xfrm flipV="1">
              <a:off x="8427464" y="3042471"/>
              <a:ext cx="32443" cy="216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7" name="Shape 215"/>
            <p:cNvSpPr/>
            <p:nvPr/>
          </p:nvSpPr>
          <p:spPr>
            <a:xfrm flipV="1">
              <a:off x="8459906" y="3025140"/>
              <a:ext cx="26988" cy="173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8" name="Shape 216"/>
            <p:cNvSpPr/>
            <p:nvPr/>
          </p:nvSpPr>
          <p:spPr>
            <a:xfrm>
              <a:off x="3834340" y="44748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9" name="Shape 217"/>
            <p:cNvSpPr/>
            <p:nvPr/>
          </p:nvSpPr>
          <p:spPr>
            <a:xfrm>
              <a:off x="4604686" y="41948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0" name="Shape 218"/>
            <p:cNvSpPr/>
            <p:nvPr/>
          </p:nvSpPr>
          <p:spPr>
            <a:xfrm>
              <a:off x="5375032" y="395478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1" name="Shape 219"/>
            <p:cNvSpPr/>
            <p:nvPr/>
          </p:nvSpPr>
          <p:spPr>
            <a:xfrm>
              <a:off x="6145378" y="403479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2" name="Shape 220"/>
            <p:cNvSpPr/>
            <p:nvPr/>
          </p:nvSpPr>
          <p:spPr>
            <a:xfrm>
              <a:off x="6915723" y="36747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3" name="Shape 221"/>
            <p:cNvSpPr/>
            <p:nvPr/>
          </p:nvSpPr>
          <p:spPr>
            <a:xfrm>
              <a:off x="7686069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4" name="Shape 222"/>
            <p:cNvSpPr/>
            <p:nvPr/>
          </p:nvSpPr>
          <p:spPr>
            <a:xfrm>
              <a:off x="8456415" y="29946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5" name="Shape 223"/>
            <p:cNvSpPr/>
            <p:nvPr/>
          </p:nvSpPr>
          <p:spPr>
            <a:xfrm>
              <a:off x="3479648" y="5105400"/>
              <a:ext cx="53924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6" name="Text 224"/>
            <p:cNvSpPr/>
            <p:nvPr/>
          </p:nvSpPr>
          <p:spPr>
            <a:xfrm>
              <a:off x="8922868" y="293941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27" name="Text 225"/>
            <p:cNvSpPr/>
            <p:nvPr/>
          </p:nvSpPr>
          <p:spPr>
            <a:xfrm>
              <a:off x="8922868" y="311086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with grouping spacers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8257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5781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3306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8356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880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3405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198660" y="3270504"/>
              <a:ext cx="50165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122460" y="40927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00310" y="3270504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951135" y="2971800"/>
              <a:ext cx="50165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874935" y="30259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452785" y="2971800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703610" y="2779776"/>
              <a:ext cx="50165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627410" y="278053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05260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456085" y="2779776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5957735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2" name="Shape 20"/>
            <p:cNvSpPr/>
            <p:nvPr/>
          </p:nvSpPr>
          <p:spPr>
            <a:xfrm>
              <a:off x="6208560" y="2779776"/>
              <a:ext cx="50165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32360" y="281254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710210" y="3035808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5" name="Shape 23"/>
            <p:cNvSpPr/>
            <p:nvPr/>
          </p:nvSpPr>
          <p:spPr>
            <a:xfrm>
              <a:off x="6961035" y="3035808"/>
              <a:ext cx="501650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884835" y="285165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462685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8" name="Shape 26"/>
            <p:cNvSpPr/>
            <p:nvPr/>
          </p:nvSpPr>
          <p:spPr>
            <a:xfrm>
              <a:off x="7713510" y="3121152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215160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30" name="Shape 28"/>
            <p:cNvSpPr/>
            <p:nvPr/>
          </p:nvSpPr>
          <p:spPr>
            <a:xfrm>
              <a:off x="8465985" y="3121152"/>
              <a:ext cx="501650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389785" y="4018026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with auto-summary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0928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10448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96207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65727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5148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2100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47848" y="2019300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047848" y="2143579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1: 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19845" y="2203269"/>
              <a:ext cx="124222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719845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962074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74848" y="2608036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409288" y="2471057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719845" y="2614386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3072493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409288" y="2935514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030402" y="3078843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047848" y="3412671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047848" y="353695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2: Build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962074" y="3596640"/>
              <a:ext cx="248445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962074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44653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74848" y="4001407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Backend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409288" y="3864429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962074" y="4007757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4465864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Frontend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4409288" y="4328886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83189" y="4472214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3174848" y="4930321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4409288" y="4793343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825418" y="4936671"/>
              <a:ext cx="62111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Notched boxplots (median CI)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825240"/>
              <a:ext cx="0" cy="3733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8120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51054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4198620"/>
              <a:ext cx="1029123" cy="613410"/>
            </a:xfrm>
            <a:custGeom>
              <a:avLst/>
              <a:gdLst/>
              <a:ahLst/>
              <a:cxnLst/>
              <a:rect l="l" t="t" r="r" b="b"/>
              <a:pathLst>
                <a:path w="1029123" h="613410">
                  <a:moveTo>
                    <a:pt x="0" y="0"/>
                  </a:moveTo>
                  <a:lnTo>
                    <a:pt x="1029123" y="0"/>
                  </a:lnTo>
                  <a:lnTo>
                    <a:pt x="1029123" y="15496"/>
                  </a:lnTo>
                  <a:lnTo>
                    <a:pt x="771843" y="320040"/>
                  </a:lnTo>
                  <a:lnTo>
                    <a:pt x="1029123" y="613410"/>
                  </a:lnTo>
                  <a:lnTo>
                    <a:pt x="1029123" y="613410"/>
                  </a:lnTo>
                  <a:lnTo>
                    <a:pt x="0" y="613410"/>
                  </a:lnTo>
                  <a:lnTo>
                    <a:pt x="0" y="613410"/>
                  </a:lnTo>
                  <a:lnTo>
                    <a:pt x="257281" y="320040"/>
                  </a:lnTo>
                  <a:lnTo>
                    <a:pt x="0" y="15496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57933" y="451866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00653" y="43281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86348" y="3291840"/>
              <a:ext cx="0" cy="4800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286348" y="4491990"/>
              <a:ext cx="0" cy="18669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054795" y="32918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54795" y="46786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71786" y="3771900"/>
              <a:ext cx="1029123" cy="720090"/>
            </a:xfrm>
            <a:custGeom>
              <a:avLst/>
              <a:gdLst/>
              <a:ahLst/>
              <a:cxnLst/>
              <a:rect l="l" t="t" r="r" b="b"/>
              <a:pathLst>
                <a:path w="1029123" h="720090">
                  <a:moveTo>
                    <a:pt x="0" y="0"/>
                  </a:moveTo>
                  <a:lnTo>
                    <a:pt x="1029123" y="0"/>
                  </a:lnTo>
                  <a:lnTo>
                    <a:pt x="1029123" y="69211"/>
                  </a:lnTo>
                  <a:lnTo>
                    <a:pt x="771843" y="426720"/>
                  </a:lnTo>
                  <a:lnTo>
                    <a:pt x="1029123" y="720090"/>
                  </a:lnTo>
                  <a:lnTo>
                    <a:pt x="1029123" y="720090"/>
                  </a:lnTo>
                  <a:lnTo>
                    <a:pt x="0" y="720090"/>
                  </a:lnTo>
                  <a:lnTo>
                    <a:pt x="0" y="720090"/>
                  </a:lnTo>
                  <a:lnTo>
                    <a:pt x="257281" y="426720"/>
                  </a:lnTo>
                  <a:lnTo>
                    <a:pt x="0" y="69211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29067" y="419862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771786" y="400812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157481" y="1905000"/>
              <a:ext cx="0" cy="66675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8157481" y="37452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25928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925928" y="40386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42919" y="2571750"/>
              <a:ext cx="1029123" cy="1173480"/>
            </a:xfrm>
            <a:custGeom>
              <a:avLst/>
              <a:gdLst/>
              <a:ahLst/>
              <a:cxnLst/>
              <a:rect l="l" t="t" r="r" b="b"/>
              <a:pathLst>
                <a:path w="1029123" h="1173480">
                  <a:moveTo>
                    <a:pt x="0" y="0"/>
                  </a:moveTo>
                  <a:lnTo>
                    <a:pt x="1029123" y="0"/>
                  </a:lnTo>
                  <a:lnTo>
                    <a:pt x="1029123" y="137483"/>
                  </a:lnTo>
                  <a:lnTo>
                    <a:pt x="771842" y="720090"/>
                  </a:lnTo>
                  <a:lnTo>
                    <a:pt x="1029123" y="1173480"/>
                  </a:lnTo>
                  <a:lnTo>
                    <a:pt x="1029123" y="1173480"/>
                  </a:lnTo>
                  <a:lnTo>
                    <a:pt x="0" y="1173480"/>
                  </a:lnTo>
                  <a:lnTo>
                    <a:pt x="0" y="1173480"/>
                  </a:lnTo>
                  <a:lnTo>
                    <a:pt x="257281" y="720090"/>
                  </a:lnTo>
                  <a:lnTo>
                    <a:pt x="0" y="13748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00200" y="329184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642919" y="31013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9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peer range + us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095848" y="25323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0" y="568960"/>
                  </a:moveTo>
                  <a:lnTo>
                    <a:pt x="492734" y="853440"/>
                  </a:lnTo>
                  <a:lnTo>
                    <a:pt x="985468" y="568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588581" y="3101340"/>
              <a:ext cx="492734" cy="1137920"/>
            </a:xfrm>
            <a:custGeom>
              <a:avLst/>
              <a:gdLst/>
              <a:ahLst/>
              <a:cxnLst/>
              <a:rect l="l" t="t" r="r" b="b"/>
              <a:pathLst>
                <a:path w="492734" h="1137920">
                  <a:moveTo>
                    <a:pt x="0" y="284480"/>
                  </a:moveTo>
                  <a:lnTo>
                    <a:pt x="0" y="853440"/>
                  </a:lnTo>
                  <a:lnTo>
                    <a:pt x="492734" y="1137920"/>
                  </a:lnTo>
                  <a:lnTo>
                    <a:pt x="492734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095848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492734" y="0"/>
                  </a:moveTo>
                  <a:lnTo>
                    <a:pt x="0" y="568960"/>
                  </a:lnTo>
                  <a:lnTo>
                    <a:pt x="0" y="853440"/>
                  </a:lnTo>
                  <a:lnTo>
                    <a:pt x="985468" y="2844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10380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985468" y="568960"/>
                  </a:moveTo>
                  <a:lnTo>
                    <a:pt x="492734" y="0"/>
                  </a:lnTo>
                  <a:lnTo>
                    <a:pt x="0" y="284480"/>
                  </a:lnTo>
                  <a:lnTo>
                    <a:pt x="985468" y="85344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110380" y="3243580"/>
              <a:ext cx="492734" cy="995680"/>
            </a:xfrm>
            <a:custGeom>
              <a:avLst/>
              <a:gdLst/>
              <a:ahLst/>
              <a:cxnLst/>
              <a:rect l="l" t="t" r="r" b="b"/>
              <a:pathLst>
                <a:path w="492734" h="995680">
                  <a:moveTo>
                    <a:pt x="492734" y="711200"/>
                  </a:moveTo>
                  <a:lnTo>
                    <a:pt x="492734" y="142240"/>
                  </a:lnTo>
                  <a:lnTo>
                    <a:pt x="246367" y="0"/>
                  </a:lnTo>
                  <a:lnTo>
                    <a:pt x="0" y="9956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356747" y="2532380"/>
              <a:ext cx="739101" cy="853440"/>
            </a:xfrm>
            <a:custGeom>
              <a:avLst/>
              <a:gdLst/>
              <a:ahLst/>
              <a:cxnLst/>
              <a:rect l="l" t="t" r="r" b="b"/>
              <a:pathLst>
                <a:path w="739101" h="853440">
                  <a:moveTo>
                    <a:pt x="246367" y="853440"/>
                  </a:moveTo>
                  <a:lnTo>
                    <a:pt x="739101" y="568960"/>
                  </a:lnTo>
                  <a:lnTo>
                    <a:pt x="739101" y="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246367" y="71120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603114" y="3101340"/>
              <a:ext cx="985468" cy="1422400"/>
            </a:xfrm>
            <a:custGeom>
              <a:avLst/>
              <a:gdLst/>
              <a:ahLst/>
              <a:cxnLst/>
              <a:rect l="l" t="t" r="r" b="b"/>
              <a:pathLst>
                <a:path w="985468" h="142240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42240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864013" y="2816860"/>
              <a:ext cx="2217302" cy="1564640"/>
            </a:xfrm>
            <a:custGeom>
              <a:avLst/>
              <a:gdLst/>
              <a:ahLst/>
              <a:cxnLst/>
              <a:rect l="l" t="t" r="r" b="b"/>
              <a:pathLst>
                <a:path w="2217302" h="1564640">
                  <a:moveTo>
                    <a:pt x="1231835" y="0"/>
                  </a:moveTo>
                  <a:lnTo>
                    <a:pt x="2217302" y="284480"/>
                  </a:lnTo>
                  <a:lnTo>
                    <a:pt x="2217302" y="1422400"/>
                  </a:lnTo>
                  <a:lnTo>
                    <a:pt x="1231835" y="1422400"/>
                  </a:lnTo>
                  <a:lnTo>
                    <a:pt x="0" y="1564640"/>
                  </a:lnTo>
                  <a:lnTo>
                    <a:pt x="246367" y="284480"/>
                  </a:lnTo>
                  <a:close/>
                </a:path>
              </a:pathLst>
            </a:custGeom>
            <a:solidFill>
              <a:srgbClr val="008300">
                <a:alpha val="18000"/>
              </a:srgbClr>
            </a:solidFill>
            <a:ln w="20320">
              <a:solidFill>
                <a:srgbClr val="0083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52514E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174848" y="18034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Peer range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01304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0048" y="180340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Long tail collapsed into Other (otherBucket)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004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5276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61114" y="4289213"/>
              <a:ext cx="11514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10314" y="4602057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61114" y="3840311"/>
              <a:ext cx="11514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10314" y="3969512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61114" y="3473027"/>
              <a:ext cx="11514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10314" y="356141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61114" y="3350599"/>
              <a:ext cx="1151467" cy="122428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3361114" y="3166957"/>
              <a:ext cx="1151467" cy="183642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10314" y="316352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73248" y="2982807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88314" y="4166785"/>
              <a:ext cx="1151467" cy="93861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037514" y="4540843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88314" y="3636264"/>
              <a:ext cx="11514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037514" y="380627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088314" y="3289385"/>
              <a:ext cx="11514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37514" y="3367574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088314" y="3146552"/>
              <a:ext cx="1151467" cy="14283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88314" y="2922101"/>
              <a:ext cx="1151467" cy="224451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037514" y="2939076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800448" y="273795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815514" y="4044357"/>
              <a:ext cx="1151467" cy="106104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764714" y="447962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815514" y="3411813"/>
              <a:ext cx="11514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64714" y="363283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815514" y="3024124"/>
              <a:ext cx="11514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764714" y="312271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815514" y="2860887"/>
              <a:ext cx="1151467" cy="16323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764714" y="284725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815514" y="2616031"/>
              <a:ext cx="1151467" cy="244856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764714" y="264320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527648" y="243188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305648" y="265273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305648" y="285678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Gov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305648" y="313224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05648" y="364236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305648" y="448915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PowerChart"/>
          <p:cNvGrpSpPr/>
          <p:nvPr>
            <p:custDataLst>
              <p:tags r:id="rId3"/>
            </p:custDataLst>
          </p:nvPr>
        </p:nvGrpSpPr>
        <p:grpSpPr>
          <a:xfrm>
            <a:off x="2946248" y="1524000"/>
            <a:ext cx="6197600" cy="3797300"/>
            <a:chOff x="2946248" y="1524000"/>
            <a:chExt cx="61976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Calendar heatmap (daily commits)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06600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8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877457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8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48314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619171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</a:t>
              </a:r>
              <a:endParaRPr lang="en-US" sz="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327248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068962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27248" y="2006600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27248" y="2442029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327248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327248" y="3312886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327248" y="3748314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327248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327248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762676" y="2006600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762676" y="2442029"/>
              <a:ext cx="416379" cy="416379"/>
            </a:xfrm>
            <a:prstGeom prst="rect">
              <a:avLst/>
            </a:prstGeom>
            <a:solidFill>
              <a:srgbClr val="E6EB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62676" y="2877457"/>
              <a:ext cx="416379" cy="416379"/>
            </a:xfrm>
            <a:prstGeom prst="rect">
              <a:avLst/>
            </a:prstGeom>
            <a:solidFill>
              <a:srgbClr val="5D8BDA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62676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762676" y="3748314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762676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762676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198105" y="2006600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198105" y="2442029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98105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98105" y="3312886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98105" y="3748314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198105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198105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633533" y="2006600"/>
              <a:ext cx="416379" cy="416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633533" y="2442029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633533" y="2877457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633533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633533" y="3748314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33533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33533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68962" y="2006600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068962" y="2442029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2946248" y="5118100"/>
              <a:ext cx="3302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Less</a:t>
              </a:r>
              <a:endParaRPr lang="en-US" sz="8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7248" y="5118100"/>
              <a:ext cx="203200" cy="2032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543148" y="5118100"/>
              <a:ext cx="203200" cy="203200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759048" y="5118100"/>
              <a:ext cx="203200" cy="203200"/>
            </a:xfrm>
            <a:prstGeom prst="rect">
              <a:avLst/>
            </a:prstGeom>
            <a:solidFill>
              <a:srgbClr val="DDE4F5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974948" y="5118100"/>
              <a:ext cx="203200" cy="2032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190848" y="5118100"/>
              <a:ext cx="203200" cy="203200"/>
            </a:xfrm>
            <a:prstGeom prst="rect">
              <a:avLst/>
            </a:prstGeom>
            <a:solidFill>
              <a:srgbClr val="C7D2E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406748" y="5118100"/>
              <a:ext cx="203200" cy="203200"/>
            </a:xfrm>
            <a:prstGeom prst="rect">
              <a:avLst/>
            </a:prstGeom>
            <a:solidFill>
              <a:srgbClr val="BAC8E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622648" y="5118100"/>
              <a:ext cx="203200" cy="203200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838548" y="5118100"/>
              <a:ext cx="203200" cy="203200"/>
            </a:xfrm>
            <a:prstGeom prst="rect">
              <a:avLst/>
            </a:prstGeom>
            <a:solidFill>
              <a:srgbClr val="9CB3E4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054448" y="5118100"/>
              <a:ext cx="203200" cy="203200"/>
            </a:xfrm>
            <a:prstGeom prst="rect">
              <a:avLst/>
            </a:prstGeom>
            <a:solidFill>
              <a:srgbClr val="8BA6E1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70348" y="5118100"/>
              <a:ext cx="203200" cy="203200"/>
            </a:xfrm>
            <a:prstGeom prst="rect">
              <a:avLst/>
            </a:prstGeom>
            <a:solidFill>
              <a:srgbClr val="7599D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86248" y="5118100"/>
              <a:ext cx="203200" cy="203200"/>
            </a:xfrm>
            <a:prstGeom prst="rect">
              <a:avLst/>
            </a:prstGeom>
            <a:solidFill>
              <a:srgbClr val="598AD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02148" y="5118100"/>
              <a:ext cx="203200" cy="2032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5943448" y="5118100"/>
              <a:ext cx="381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More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stacked flanks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60664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FT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30768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443468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PT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135728" y="1847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526272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FT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82660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9536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PT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96846" y="2140373"/>
              <a:ext cx="65135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196846" y="2261870"/>
              <a:ext cx="65135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40373"/>
              <a:ext cx="592138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6187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40373"/>
              <a:ext cx="71056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6187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054063" y="2140373"/>
              <a:ext cx="414496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54063" y="226187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41564" y="2790613"/>
              <a:ext cx="100663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841564" y="2912110"/>
              <a:ext cx="100663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042178" y="2790613"/>
              <a:ext cx="79938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042178" y="2912110"/>
              <a:ext cx="79938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43498" y="2790613"/>
              <a:ext cx="1243489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343498" y="291211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86986" y="2790613"/>
              <a:ext cx="68095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7586986" y="2912110"/>
              <a:ext cx="68095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230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59991" y="3440853"/>
              <a:ext cx="888206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959991" y="3562350"/>
              <a:ext cx="8882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249426" y="3440853"/>
              <a:ext cx="710565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4249426" y="356235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43498" y="3440853"/>
              <a:ext cx="118427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43498" y="3562350"/>
              <a:ext cx="11842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527773" y="3440853"/>
              <a:ext cx="59213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7527773" y="356235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5315274" y="4091093"/>
              <a:ext cx="53292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5315274" y="4212590"/>
              <a:ext cx="5329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180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900778" y="4091093"/>
              <a:ext cx="41449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900778" y="421259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43498" y="4091093"/>
              <a:ext cx="828992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6343498" y="4212590"/>
              <a:ext cx="8289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280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2490" y="4091093"/>
              <a:ext cx="384889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7172490" y="4212590"/>
              <a:ext cx="3848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130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670556" y="4741333"/>
              <a:ext cx="17764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492915" y="4741333"/>
              <a:ext cx="17764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43498" y="4741333"/>
              <a:ext cx="325676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343498" y="4862830"/>
              <a:ext cx="3256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669173" y="4741333"/>
              <a:ext cx="148034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447593"/>
            <a:chOff x="3047848" y="1524000"/>
            <a:chExt cx="6096000" cy="3447593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with per-spoke scales (mixed KPIs)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757652" y="3314700"/>
              <a:ext cx="676391" cy="643286"/>
            </a:xfrm>
            <a:custGeom>
              <a:avLst/>
              <a:gdLst/>
              <a:ahLst/>
              <a:cxnLst/>
              <a:rect l="l" t="t" r="r" b="b"/>
              <a:pathLst>
                <a:path w="676391" h="643286">
                  <a:moveTo>
                    <a:pt x="338196" y="0"/>
                  </a:moveTo>
                  <a:lnTo>
                    <a:pt x="676391" y="245714"/>
                  </a:lnTo>
                  <a:lnTo>
                    <a:pt x="547212" y="643286"/>
                  </a:lnTo>
                  <a:lnTo>
                    <a:pt x="129179" y="643286"/>
                  </a:lnTo>
                  <a:lnTo>
                    <a:pt x="0" y="24571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419456" y="2959100"/>
              <a:ext cx="1352783" cy="1286573"/>
            </a:xfrm>
            <a:custGeom>
              <a:avLst/>
              <a:gdLst/>
              <a:ahLst/>
              <a:cxnLst/>
              <a:rect l="l" t="t" r="r" b="b"/>
              <a:pathLst>
                <a:path w="1352783" h="1286573">
                  <a:moveTo>
                    <a:pt x="676391" y="0"/>
                  </a:moveTo>
                  <a:lnTo>
                    <a:pt x="1352783" y="491427"/>
                  </a:lnTo>
                  <a:lnTo>
                    <a:pt x="1094424" y="1286573"/>
                  </a:lnTo>
                  <a:lnTo>
                    <a:pt x="258359" y="1286573"/>
                  </a:lnTo>
                  <a:lnTo>
                    <a:pt x="0" y="49142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081261" y="2603500"/>
              <a:ext cx="2029174" cy="1929859"/>
            </a:xfrm>
            <a:custGeom>
              <a:avLst/>
              <a:gdLst/>
              <a:ahLst/>
              <a:cxnLst/>
              <a:rect l="l" t="t" r="r" b="b"/>
              <a:pathLst>
                <a:path w="2029174" h="1929859">
                  <a:moveTo>
                    <a:pt x="1014587" y="0"/>
                  </a:moveTo>
                  <a:lnTo>
                    <a:pt x="2029174" y="737141"/>
                  </a:lnTo>
                  <a:lnTo>
                    <a:pt x="1641636" y="1929859"/>
                  </a:lnTo>
                  <a:lnTo>
                    <a:pt x="387538" y="1929859"/>
                  </a:lnTo>
                  <a:lnTo>
                    <a:pt x="0" y="737141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2188849" y="257314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27548" y="1993900"/>
              <a:ext cx="73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$m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21101" y="3118307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976703" y="4793793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5259782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46973" y="4793793"/>
              <a:ext cx="6680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Headcount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743065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71154" y="3118307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Uptime 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749849" y="2569087"/>
              <a:ext cx="2379033" cy="2251959"/>
            </a:xfrm>
            <a:custGeom>
              <a:avLst/>
              <a:gdLst/>
              <a:ahLst/>
              <a:cxnLst/>
              <a:rect l="l" t="t" r="r" b="b"/>
              <a:pathLst>
                <a:path w="2379033" h="2251959">
                  <a:moveTo>
                    <a:pt x="1345999" y="0"/>
                  </a:moveTo>
                  <a:lnTo>
                    <a:pt x="2379033" y="765560"/>
                  </a:lnTo>
                  <a:lnTo>
                    <a:pt x="2182064" y="2251959"/>
                  </a:lnTo>
                  <a:lnTo>
                    <a:pt x="652676" y="2055490"/>
                  </a:lnTo>
                  <a:lnTo>
                    <a:pt x="0" y="663871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065368" y="253860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098402" y="330416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901433" y="4790566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372045" y="459409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19369" y="3202479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1875324" y="214161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065368" y="22174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418150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587909" y="435903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229302" y="479056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712585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6015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37285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Missing-data bridge (bridgeGaps)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46532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8252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30980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13996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7011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80027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63043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4246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894726" y="2865120"/>
              <a:ext cx="1660313" cy="960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4559" y="283464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55039" y="2865120"/>
              <a:ext cx="1660313" cy="320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184873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7215353" y="2033016"/>
              <a:ext cx="830157" cy="11521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015029" y="20025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11388" y="194729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Floating range columns (transparent base)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5437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3549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1662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3435" y="2705100"/>
              <a:ext cx="920750" cy="16002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2635" y="340995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4560" y="2545080"/>
              <a:ext cx="920750" cy="14401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33760" y="316992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65685" y="2225040"/>
              <a:ext cx="920750" cy="19202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014885" y="308991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46810" y="2385060"/>
              <a:ext cx="920750" cy="128016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96010" y="292989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073248" y="5105400"/>
              <a:ext cx="55245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8648548" y="2939415"/>
              <a:ext cx="4953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Range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502400" cy="3797300"/>
            <a:chOff x="3047848" y="1524000"/>
            <a:chExt cx="6502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waterfall bridge + %-of-total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End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2971800"/>
              <a:ext cx="668867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39433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545080"/>
              <a:ext cx="668867" cy="42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26631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545080"/>
              <a:ext cx="668867" cy="32004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6098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8651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331720"/>
              <a:ext cx="668867" cy="5334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50317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23317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2331720"/>
              <a:ext cx="668867" cy="2133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3431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2545080"/>
              <a:ext cx="668867" cy="256032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37299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911844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9118448" y="43764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9118448" y="37363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9118448" y="30962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9118448" y="24561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11844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544418" y="251460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3193898" y="23355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3574898" y="2417064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547718" y="2386584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197198" y="220751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78198" y="2417064"/>
              <a:ext cx="1003300" cy="2560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551018" y="264261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200498" y="246354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581498" y="2289048"/>
              <a:ext cx="1003300" cy="38404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554318" y="225856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203798" y="207949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584798" y="2289048"/>
              <a:ext cx="1003300" cy="1920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557618" y="2450592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207098" y="227152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 flipV="1">
              <a:off x="7588098" y="2353056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560918" y="232257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8210398" y="21435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9143848" y="2149856"/>
              <a:ext cx="457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268980"/>
              <a:ext cx="1589741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09194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044700"/>
              <a:ext cx="1589741" cy="12242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56159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22448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88389" y="3137807"/>
              <a:ext cx="2225638" cy="196759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662989" y="402635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8389" y="2044700"/>
              <a:ext cx="2225638" cy="109310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62989" y="249600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37589" y="186055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939426" y="3881120"/>
              <a:ext cx="1589741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6914026" y="439801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39426" y="2044700"/>
              <a:ext cx="1589741" cy="18364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6914026" y="286766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888626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Mekko base + overlaid line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22448" y="514350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(29%)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37589" y="514350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(41%)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888626" y="514350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(29%)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79968" y="287718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B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79968" y="440753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A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425132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554568" y="348615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554568" y="272097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55456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837638" y="270287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3487118" y="252380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3868118" y="2427288"/>
              <a:ext cx="1933089" cy="30607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770728" y="239680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5420208" y="221773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801208" y="2427288"/>
              <a:ext cx="1933089" cy="95646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703817" y="335327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353297" y="31742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79968" y="3180556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independent line axes (mixed KPIs)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2008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691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1375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7720" y="5041392"/>
              <a:ext cx="897890" cy="640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4644555" y="5028590"/>
              <a:ext cx="897890" cy="7681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991390" y="5033391"/>
              <a:ext cx="897890" cy="7200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338225" y="5009388"/>
              <a:ext cx="897890" cy="9601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11388" y="493395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3746665" y="3505200"/>
              <a:ext cx="1346835" cy="16002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063020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712500" y="329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93500" y="3505200"/>
              <a:ext cx="1346835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409855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059335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 flipV="1">
              <a:off x="6440335" y="2438400"/>
              <a:ext cx="1346835" cy="13868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756690" y="2407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406170" y="2228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11388" y="22352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746665" y="3905250"/>
              <a:ext cx="1346835" cy="12001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063020" y="38747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4712500" y="36957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1,500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093500" y="3905250"/>
              <a:ext cx="1346835" cy="4000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409855" y="42748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59335" y="40957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1,400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6440335" y="2305050"/>
              <a:ext cx="1346835" cy="20002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6690" y="22745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7406170" y="20955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8511388" y="20320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Orders k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6350"/>
            <a:chOff x="3047848" y="1524000"/>
            <a:chExt cx="6096000" cy="38163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Hexagonal tile map (US)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52384" y="182880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22386" y="1828800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427586" y="182880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8397588" y="1828800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708240" y="221839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678243" y="2218398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187804" y="221839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157806" y="2218398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667368" y="221839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DFE6F5"/>
            </a:solidFill>
            <a:ln w="12700">
              <a:solidFill>
                <a:srgbClr val="DFE6F5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637370" y="2283555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637370" y="2442305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31948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D8E0F3"/>
            </a:solidFill>
            <a:ln w="12700">
              <a:solidFill>
                <a:srgbClr val="D8E0F3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01950" y="2673153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601950" y="2831903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111512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081514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91076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561078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070639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040641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550203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520205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029767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999769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9331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E5EAF7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6479333" y="2673153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479333" y="2831903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468458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96AEE3"/>
            </a:solidFill>
            <a:ln w="12700">
              <a:solidFill>
                <a:srgbClr val="96AEE3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438461" y="2673153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438461" y="2831903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948022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918024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8427586" y="260799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97588" y="260799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871730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841732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351294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321296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830857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4800860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5310421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4" name="Text 42"/>
            <p:cNvSpPr/>
            <p:nvPr/>
          </p:nvSpPr>
          <p:spPr>
            <a:xfrm>
              <a:off x="5280423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5789985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5759987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6269549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CFD9F1"/>
            </a:solidFill>
            <a:ln w="12700">
              <a:solidFill>
                <a:srgbClr val="CFD9F1"/>
              </a:solidFill>
              <a:prstDash val="solid"/>
            </a:ln>
          </p:spPr>
        </p:sp>
        <p:sp>
          <p:nvSpPr>
            <p:cNvPr id="48" name="Text 46"/>
            <p:cNvSpPr/>
            <p:nvPr/>
          </p:nvSpPr>
          <p:spPr>
            <a:xfrm>
              <a:off x="6239551" y="3062751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6239551" y="3221501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6749113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1" name="Text 49"/>
            <p:cNvSpPr/>
            <p:nvPr/>
          </p:nvSpPr>
          <p:spPr>
            <a:xfrm>
              <a:off x="6719115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228677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DDE4F5"/>
            </a:solidFill>
            <a:ln w="12700">
              <a:solidFill>
                <a:srgbClr val="DDE4F5"/>
              </a:solidFill>
              <a:prstDash val="solid"/>
            </a:ln>
          </p:spPr>
        </p:sp>
        <p:sp>
          <p:nvSpPr>
            <p:cNvPr id="53" name="Text 51"/>
            <p:cNvSpPr/>
            <p:nvPr/>
          </p:nvSpPr>
          <p:spPr>
            <a:xfrm>
              <a:off x="7198679" y="3062751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198679" y="3221501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08240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CAD5EF"/>
            </a:solidFill>
            <a:ln w="12700">
              <a:solidFill>
                <a:srgbClr val="CAD5EF"/>
              </a:solidFill>
              <a:prstDash val="solid"/>
            </a:ln>
          </p:spPr>
        </p:sp>
        <p:sp>
          <p:nvSpPr>
            <p:cNvPr id="56" name="Text 54"/>
            <p:cNvSpPr/>
            <p:nvPr/>
          </p:nvSpPr>
          <p:spPr>
            <a:xfrm>
              <a:off x="7678243" y="3062751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10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7678243" y="3221501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8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8187804" y="2997594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9" name="Text 57"/>
            <p:cNvSpPr/>
            <p:nvPr/>
          </p:nvSpPr>
          <p:spPr>
            <a:xfrm>
              <a:off x="8157806" y="2997594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10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3152384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122386" y="3452349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3122386" y="3611099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631948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3601950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4111512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6" name="Text 64"/>
            <p:cNvSpPr/>
            <p:nvPr/>
          </p:nvSpPr>
          <p:spPr>
            <a:xfrm>
              <a:off x="4081514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10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4591076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9EEF9"/>
            </a:solidFill>
            <a:ln w="12700">
              <a:solidFill>
                <a:srgbClr val="E9EEF9"/>
              </a:solidFill>
              <a:prstDash val="solid"/>
            </a:ln>
          </p:spPr>
        </p:sp>
        <p:sp>
          <p:nvSpPr>
            <p:cNvPr id="68" name="Text 66"/>
            <p:cNvSpPr/>
            <p:nvPr/>
          </p:nvSpPr>
          <p:spPr>
            <a:xfrm>
              <a:off x="4561078" y="3452349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1000" dirty="0"/>
            </a:p>
          </p:txBody>
        </p:sp>
        <p:sp>
          <p:nvSpPr>
            <p:cNvPr id="69" name="Text 67"/>
            <p:cNvSpPr/>
            <p:nvPr/>
          </p:nvSpPr>
          <p:spPr>
            <a:xfrm>
              <a:off x="4561078" y="3611099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5070639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1" name="Text 69"/>
            <p:cNvSpPr/>
            <p:nvPr/>
          </p:nvSpPr>
          <p:spPr>
            <a:xfrm>
              <a:off x="5040641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1000" dirty="0"/>
            </a:p>
          </p:txBody>
        </p:sp>
        <p:sp>
          <p:nvSpPr>
            <p:cNvPr id="72" name="Shape 70"/>
            <p:cNvSpPr/>
            <p:nvPr/>
          </p:nvSpPr>
          <p:spPr>
            <a:xfrm>
              <a:off x="5550203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3" name="Text 71"/>
            <p:cNvSpPr/>
            <p:nvPr/>
          </p:nvSpPr>
          <p:spPr>
            <a:xfrm>
              <a:off x="5520205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10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6029767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5" name="Text 73"/>
            <p:cNvSpPr/>
            <p:nvPr/>
          </p:nvSpPr>
          <p:spPr>
            <a:xfrm>
              <a:off x="5999769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10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6509331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7" name="Text 75"/>
            <p:cNvSpPr/>
            <p:nvPr/>
          </p:nvSpPr>
          <p:spPr>
            <a:xfrm>
              <a:off x="6479333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1000" dirty="0"/>
            </a:p>
          </p:txBody>
        </p:sp>
        <p:sp>
          <p:nvSpPr>
            <p:cNvPr id="78" name="Shape 76"/>
            <p:cNvSpPr/>
            <p:nvPr/>
          </p:nvSpPr>
          <p:spPr>
            <a:xfrm>
              <a:off x="6988895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9" name="Text 77"/>
            <p:cNvSpPr/>
            <p:nvPr/>
          </p:nvSpPr>
          <p:spPr>
            <a:xfrm>
              <a:off x="6958897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10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7468458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1" name="Text 79"/>
            <p:cNvSpPr/>
            <p:nvPr/>
          </p:nvSpPr>
          <p:spPr>
            <a:xfrm>
              <a:off x="7438461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10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7948022" y="3387192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3" name="Text 81"/>
            <p:cNvSpPr/>
            <p:nvPr/>
          </p:nvSpPr>
          <p:spPr>
            <a:xfrm>
              <a:off x="7918024" y="3387192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10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4351294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EF1FA"/>
            </a:solidFill>
            <a:ln w="12700">
              <a:solidFill>
                <a:srgbClr val="EEF1FA"/>
              </a:solidFill>
              <a:prstDash val="solid"/>
            </a:ln>
          </p:spPr>
        </p:sp>
        <p:sp>
          <p:nvSpPr>
            <p:cNvPr id="85" name="Text 83"/>
            <p:cNvSpPr/>
            <p:nvPr/>
          </p:nvSpPr>
          <p:spPr>
            <a:xfrm>
              <a:off x="4321296" y="3841947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100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321296" y="4000697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4830857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8" name="Text 86"/>
            <p:cNvSpPr/>
            <p:nvPr/>
          </p:nvSpPr>
          <p:spPr>
            <a:xfrm>
              <a:off x="4800860" y="3776790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100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5310421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0" name="Text 88"/>
            <p:cNvSpPr/>
            <p:nvPr/>
          </p:nvSpPr>
          <p:spPr>
            <a:xfrm>
              <a:off x="5280423" y="3776790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100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5789985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2" name="Text 90"/>
            <p:cNvSpPr/>
            <p:nvPr/>
          </p:nvSpPr>
          <p:spPr>
            <a:xfrm>
              <a:off x="5759987" y="3776790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100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269549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4" name="Text 92"/>
            <p:cNvSpPr/>
            <p:nvPr/>
          </p:nvSpPr>
          <p:spPr>
            <a:xfrm>
              <a:off x="6239551" y="3776790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100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6749113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8EDF8"/>
            </a:solidFill>
            <a:ln w="12700">
              <a:solidFill>
                <a:srgbClr val="E8EDF8"/>
              </a:solidFill>
              <a:prstDash val="solid"/>
            </a:ln>
          </p:spPr>
        </p:sp>
        <p:sp>
          <p:nvSpPr>
            <p:cNvPr id="96" name="Text 94"/>
            <p:cNvSpPr/>
            <p:nvPr/>
          </p:nvSpPr>
          <p:spPr>
            <a:xfrm>
              <a:off x="6719115" y="3841947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1000" dirty="0"/>
            </a:p>
          </p:txBody>
        </p:sp>
        <p:sp>
          <p:nvSpPr>
            <p:cNvPr id="97" name="Text 95"/>
            <p:cNvSpPr/>
            <p:nvPr/>
          </p:nvSpPr>
          <p:spPr>
            <a:xfrm>
              <a:off x="6719115" y="4000697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98" name="Shape 96"/>
            <p:cNvSpPr/>
            <p:nvPr/>
          </p:nvSpPr>
          <p:spPr>
            <a:xfrm>
              <a:off x="7228677" y="3776790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F1F4FB"/>
            </a:solidFill>
            <a:ln w="12700">
              <a:solidFill>
                <a:srgbClr val="F1F4FB"/>
              </a:solidFill>
              <a:prstDash val="solid"/>
            </a:ln>
          </p:spPr>
        </p:sp>
        <p:sp>
          <p:nvSpPr>
            <p:cNvPr id="99" name="Text 97"/>
            <p:cNvSpPr/>
            <p:nvPr/>
          </p:nvSpPr>
          <p:spPr>
            <a:xfrm>
              <a:off x="7198679" y="3841947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7198679" y="4000697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4591076" y="416638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87A4E0"/>
            </a:solidFill>
            <a:ln w="12700">
              <a:solidFill>
                <a:srgbClr val="87A4E0"/>
              </a:solidFill>
              <a:prstDash val="solid"/>
            </a:ln>
          </p:spPr>
        </p:sp>
        <p:sp>
          <p:nvSpPr>
            <p:cNvPr id="102" name="Text 100"/>
            <p:cNvSpPr/>
            <p:nvPr/>
          </p:nvSpPr>
          <p:spPr>
            <a:xfrm>
              <a:off x="4561078" y="4231545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1000" dirty="0"/>
            </a:p>
          </p:txBody>
        </p:sp>
        <p:sp>
          <p:nvSpPr>
            <p:cNvPr id="103" name="Text 101"/>
            <p:cNvSpPr/>
            <p:nvPr/>
          </p:nvSpPr>
          <p:spPr>
            <a:xfrm>
              <a:off x="4561078" y="4390295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104" name="Shape 102"/>
            <p:cNvSpPr/>
            <p:nvPr/>
          </p:nvSpPr>
          <p:spPr>
            <a:xfrm>
              <a:off x="5070639" y="416638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5" name="Text 103"/>
            <p:cNvSpPr/>
            <p:nvPr/>
          </p:nvSpPr>
          <p:spPr>
            <a:xfrm>
              <a:off x="5040641" y="4166388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1000" dirty="0"/>
            </a:p>
          </p:txBody>
        </p:sp>
        <p:sp>
          <p:nvSpPr>
            <p:cNvPr id="106" name="Shape 104"/>
            <p:cNvSpPr/>
            <p:nvPr/>
          </p:nvSpPr>
          <p:spPr>
            <a:xfrm>
              <a:off x="5550203" y="416638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7" name="Text 105"/>
            <p:cNvSpPr/>
            <p:nvPr/>
          </p:nvSpPr>
          <p:spPr>
            <a:xfrm>
              <a:off x="5520205" y="4166388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10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029767" y="416638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9" name="Text 107"/>
            <p:cNvSpPr/>
            <p:nvPr/>
          </p:nvSpPr>
          <p:spPr>
            <a:xfrm>
              <a:off x="5999769" y="4166388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1000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6509331" y="416638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CF0F9"/>
            </a:solidFill>
            <a:ln w="12700">
              <a:solidFill>
                <a:srgbClr val="ECF0F9"/>
              </a:solidFill>
              <a:prstDash val="solid"/>
            </a:ln>
          </p:spPr>
        </p:sp>
        <p:sp>
          <p:nvSpPr>
            <p:cNvPr id="111" name="Text 109"/>
            <p:cNvSpPr/>
            <p:nvPr/>
          </p:nvSpPr>
          <p:spPr>
            <a:xfrm>
              <a:off x="6479333" y="4231545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6479333" y="4390295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6988895" y="4166388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4" name="Text 112"/>
            <p:cNvSpPr/>
            <p:nvPr/>
          </p:nvSpPr>
          <p:spPr>
            <a:xfrm>
              <a:off x="6958897" y="4166388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10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392166" y="455598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6" name="Text 114"/>
            <p:cNvSpPr/>
            <p:nvPr/>
          </p:nvSpPr>
          <p:spPr>
            <a:xfrm>
              <a:off x="3362168" y="4555986"/>
              <a:ext cx="447814" cy="44781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100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749113" y="4555986"/>
              <a:ext cx="387818" cy="447814"/>
            </a:xfrm>
            <a:custGeom>
              <a:avLst/>
              <a:gdLst/>
              <a:ahLst/>
              <a:cxnLst/>
              <a:rect l="l" t="t" r="r" b="b"/>
              <a:pathLst>
                <a:path w="387818" h="447814">
                  <a:moveTo>
                    <a:pt x="193909" y="0"/>
                  </a:moveTo>
                  <a:lnTo>
                    <a:pt x="0" y="111953"/>
                  </a:lnTo>
                  <a:lnTo>
                    <a:pt x="0" y="335860"/>
                  </a:lnTo>
                  <a:lnTo>
                    <a:pt x="193909" y="447814"/>
                  </a:lnTo>
                  <a:lnTo>
                    <a:pt x="387818" y="335860"/>
                  </a:lnTo>
                  <a:lnTo>
                    <a:pt x="387818" y="111953"/>
                  </a:lnTo>
                  <a:close/>
                </a:path>
              </a:pathLst>
            </a:custGeom>
            <a:solidFill>
              <a:srgbClr val="AEC0E8"/>
            </a:solidFill>
            <a:ln w="12700">
              <a:solidFill>
                <a:srgbClr val="AEC0E8"/>
              </a:solidFill>
              <a:prstDash val="solid"/>
            </a:ln>
          </p:spPr>
        </p:sp>
        <p:sp>
          <p:nvSpPr>
            <p:cNvPr id="118" name="Text 116"/>
            <p:cNvSpPr/>
            <p:nvPr/>
          </p:nvSpPr>
          <p:spPr>
            <a:xfrm>
              <a:off x="6719115" y="4621143"/>
              <a:ext cx="44781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1000" dirty="0"/>
            </a:p>
          </p:txBody>
        </p:sp>
        <p:sp>
          <p:nvSpPr>
            <p:cNvPr id="119" name="Text 117"/>
            <p:cNvSpPr/>
            <p:nvPr/>
          </p:nvSpPr>
          <p:spPr>
            <a:xfrm>
              <a:off x="6719115" y="4779893"/>
              <a:ext cx="44781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20" name="Shape 118"/>
            <p:cNvSpPr/>
            <p:nvPr/>
          </p:nvSpPr>
          <p:spPr>
            <a:xfrm>
              <a:off x="3122386" y="506730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185886" y="506730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249386" y="506730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312886" y="506730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3376386" y="506730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3439886" y="506730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3503386" y="506730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3566886" y="506730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3630386" y="506730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3693886" y="506730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3757386" y="506730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3820886" y="506730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3884386" y="506730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3947886" y="506730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011386" y="506730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074886" y="506730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138386" y="506730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201886" y="506730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265386" y="506730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328886" y="506730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392386" y="506730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455886" y="506730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519386" y="506730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582886" y="506730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4" name="Text 142"/>
            <p:cNvSpPr/>
            <p:nvPr/>
          </p:nvSpPr>
          <p:spPr>
            <a:xfrm>
              <a:off x="3122386" y="51879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3884386" y="51879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6" name="Shape 144"/>
            <p:cNvSpPr/>
            <p:nvPr/>
          </p:nvSpPr>
          <p:spPr>
            <a:xfrm>
              <a:off x="4773386" y="506730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7" name="Text 145"/>
            <p:cNvSpPr/>
            <p:nvPr/>
          </p:nvSpPr>
          <p:spPr>
            <a:xfrm>
              <a:off x="4913086" y="504190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7450"/>
            <a:chOff x="3047848" y="1524000"/>
            <a:chExt cx="6096000" cy="37274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with per-region mini-bars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06660" y="1828800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06660" y="1850946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115941" y="1828800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115941" y="1850946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314254" y="2229644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314254" y="2251789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715098" y="2229644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715098" y="2251789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115941" y="2229644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115941" y="2251789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107504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148104" y="2909461"/>
              <a:ext cx="65623" cy="384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220077" y="2901771"/>
              <a:ext cx="65623" cy="4613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292051" y="2897927"/>
              <a:ext cx="65623" cy="499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364024" y="2886393"/>
              <a:ext cx="65623" cy="61516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07504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08348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9191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9191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310035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310035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710879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5710879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111723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111723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512566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6512566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314254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354854" y="2878703"/>
              <a:ext cx="65623" cy="692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426827" y="2871014"/>
              <a:ext cx="65623" cy="768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498801" y="2863324"/>
              <a:ext cx="65623" cy="8458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570774" y="2847945"/>
              <a:ext cx="65623" cy="9996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7314254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8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715098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7715098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85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8115941" y="2630488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115941" y="2652633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8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107504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107504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4508348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4508348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8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09191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09191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8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5310035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5310035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8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710879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5710879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8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111723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2323" y="3302615"/>
              <a:ext cx="65623" cy="4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6224296" y="3294926"/>
              <a:ext cx="65623" cy="538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6296269" y="3291081"/>
              <a:ext cx="65623" cy="576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6368243" y="3279547"/>
              <a:ext cx="65623" cy="6920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6111723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8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512566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512566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85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6913410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913410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8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314254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2" name="Text 60"/>
            <p:cNvSpPr/>
            <p:nvPr/>
          </p:nvSpPr>
          <p:spPr>
            <a:xfrm>
              <a:off x="7314254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8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7715098" y="3031331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7715098" y="3053477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8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3706660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747260" y="3634254"/>
              <a:ext cx="65623" cy="1153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819234" y="3615030"/>
              <a:ext cx="65623" cy="134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891207" y="3595807"/>
              <a:ext cx="65623" cy="1537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963180" y="3565049"/>
              <a:ext cx="65623" cy="184547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3706660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85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4107504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4107504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85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4508348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4508348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85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4909191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4909191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85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10035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10035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85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5710879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5710879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850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6111723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6111723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850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6512566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6512566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850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6913410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6913410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7314254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7314254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85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7715098" y="3432175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7715098" y="3454321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85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4508348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4508348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85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4909191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4909191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85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5310035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5310035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850" dirty="0"/>
            </a:p>
          </p:txBody>
        </p:sp>
        <p:sp>
          <p:nvSpPr>
            <p:cNvPr id="97" name="Shape 95"/>
            <p:cNvSpPr/>
            <p:nvPr/>
          </p:nvSpPr>
          <p:spPr>
            <a:xfrm>
              <a:off x="5710879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8" name="Text 96"/>
            <p:cNvSpPr/>
            <p:nvPr/>
          </p:nvSpPr>
          <p:spPr>
            <a:xfrm>
              <a:off x="5710879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85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6111723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6111723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85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6512566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6512566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850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913410" y="3833019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913410" y="3855164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85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4909191" y="4233863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949792" y="4474389"/>
              <a:ext cx="65623" cy="768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21765" y="4455165"/>
              <a:ext cx="65623" cy="961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093738" y="4443631"/>
              <a:ext cx="65623" cy="10765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165712" y="4428252"/>
              <a:ext cx="65623" cy="123031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10" name="Text 108"/>
            <p:cNvSpPr/>
            <p:nvPr/>
          </p:nvSpPr>
          <p:spPr>
            <a:xfrm>
              <a:off x="4909191" y="425600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850" dirty="0"/>
            </a:p>
          </p:txBody>
        </p:sp>
        <p:sp>
          <p:nvSpPr>
            <p:cNvPr id="111" name="Shape 109"/>
            <p:cNvSpPr/>
            <p:nvPr/>
          </p:nvSpPr>
          <p:spPr>
            <a:xfrm>
              <a:off x="5310035" y="4233863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2" name="Text 110"/>
            <p:cNvSpPr/>
            <p:nvPr/>
          </p:nvSpPr>
          <p:spPr>
            <a:xfrm>
              <a:off x="5310035" y="425600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85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5710879" y="4233863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5710879" y="425600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85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6111723" y="4233863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6111723" y="425600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85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512566" y="4233863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512566" y="425600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850" dirty="0"/>
            </a:p>
          </p:txBody>
        </p:sp>
        <p:sp>
          <p:nvSpPr>
            <p:cNvPr id="119" name="Shape 117"/>
            <p:cNvSpPr/>
            <p:nvPr/>
          </p:nvSpPr>
          <p:spPr>
            <a:xfrm>
              <a:off x="6913410" y="4233863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6913410" y="4256008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850" dirty="0"/>
            </a:p>
          </p:txBody>
        </p:sp>
        <p:sp>
          <p:nvSpPr>
            <p:cNvPr id="121" name="Shape 119"/>
            <p:cNvSpPr/>
            <p:nvPr/>
          </p:nvSpPr>
          <p:spPr>
            <a:xfrm>
              <a:off x="3706660" y="4634706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2" name="Text 120"/>
            <p:cNvSpPr/>
            <p:nvPr/>
          </p:nvSpPr>
          <p:spPr>
            <a:xfrm>
              <a:off x="3706660" y="4656852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850" dirty="0"/>
            </a:p>
          </p:txBody>
        </p:sp>
        <p:sp>
          <p:nvSpPr>
            <p:cNvPr id="123" name="Shape 121"/>
            <p:cNvSpPr/>
            <p:nvPr/>
          </p:nvSpPr>
          <p:spPr>
            <a:xfrm>
              <a:off x="6512566" y="4634706"/>
              <a:ext cx="369094" cy="369094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553167" y="4894456"/>
              <a:ext cx="65623" cy="576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625140" y="4886767"/>
              <a:ext cx="65623" cy="653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697113" y="4879077"/>
              <a:ext cx="65623" cy="730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769087" y="4867543"/>
              <a:ext cx="65623" cy="84584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28" name="Text 126"/>
            <p:cNvSpPr/>
            <p:nvPr/>
          </p:nvSpPr>
          <p:spPr>
            <a:xfrm>
              <a:off x="6512566" y="4656852"/>
              <a:ext cx="36909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850" dirty="0"/>
            </a:p>
          </p:txBody>
        </p:sp>
        <p:sp>
          <p:nvSpPr>
            <p:cNvPr id="129" name="Shape 127"/>
            <p:cNvSpPr/>
            <p:nvPr/>
          </p:nvSpPr>
          <p:spPr>
            <a:xfrm>
              <a:off x="3706660" y="51117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0" name="Text 128"/>
            <p:cNvSpPr/>
            <p:nvPr/>
          </p:nvSpPr>
          <p:spPr>
            <a:xfrm>
              <a:off x="3833660" y="50736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850" dirty="0"/>
            </a:p>
          </p:txBody>
        </p:sp>
        <p:sp>
          <p:nvSpPr>
            <p:cNvPr id="131" name="Shape 129"/>
            <p:cNvSpPr/>
            <p:nvPr/>
          </p:nvSpPr>
          <p:spPr>
            <a:xfrm>
              <a:off x="4123220" y="51117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Text 130"/>
            <p:cNvSpPr/>
            <p:nvPr/>
          </p:nvSpPr>
          <p:spPr>
            <a:xfrm>
              <a:off x="4250220" y="50736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850" dirty="0"/>
            </a:p>
          </p:txBody>
        </p:sp>
        <p:sp>
          <p:nvSpPr>
            <p:cNvPr id="133" name="Shape 131"/>
            <p:cNvSpPr/>
            <p:nvPr/>
          </p:nvSpPr>
          <p:spPr>
            <a:xfrm>
              <a:off x="4539780" y="51117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Text 132"/>
            <p:cNvSpPr/>
            <p:nvPr/>
          </p:nvSpPr>
          <p:spPr>
            <a:xfrm>
              <a:off x="4666780" y="50736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850" dirty="0"/>
            </a:p>
          </p:txBody>
        </p:sp>
        <p:sp>
          <p:nvSpPr>
            <p:cNvPr id="135" name="Shape 133"/>
            <p:cNvSpPr/>
            <p:nvPr/>
          </p:nvSpPr>
          <p:spPr>
            <a:xfrm>
              <a:off x="4956340" y="51117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36" name="Text 134"/>
            <p:cNvSpPr/>
            <p:nvPr/>
          </p:nvSpPr>
          <p:spPr>
            <a:xfrm>
              <a:off x="5083340" y="50736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chart with negative segments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2918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45897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0%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202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50%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479648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39961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800274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56366" y="3014472"/>
              <a:ext cx="1106876" cy="16642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705566" y="375132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56366" y="1905000"/>
              <a:ext cx="1106876" cy="110947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705566" y="236448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756366" y="4678680"/>
              <a:ext cx="1106876" cy="41605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705566" y="479145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416680" y="2990353"/>
              <a:ext cx="1106876" cy="168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65880" y="373926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416680" y="1905000"/>
              <a:ext cx="1106876" cy="108535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365880" y="235242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39%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416680" y="4678680"/>
              <a:ext cx="1106876" cy="24119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365880" y="4704025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076993" y="2971800"/>
              <a:ext cx="1106876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7026193" y="37299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76993" y="1905000"/>
              <a:ext cx="1106876" cy="10668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026193" y="234315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076993" y="4678680"/>
              <a:ext cx="1106876" cy="42672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026193" y="47967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79648" y="467868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511388" y="235267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Renewal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511388" y="37395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48063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Returns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4599940"/>
            <a:chOff x="3047848" y="1524000"/>
            <a:chExt cx="6096000" cy="45999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Semi-circle gauge (market share)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0" y="2141220"/>
                  </a:moveTo>
                  <a:lnTo>
                    <a:pt x="11020" y="1924264"/>
                  </a:lnTo>
                  <a:lnTo>
                    <a:pt x="43965" y="1709542"/>
                  </a:lnTo>
                  <a:lnTo>
                    <a:pt x="98498" y="1499262"/>
                  </a:lnTo>
                  <a:lnTo>
                    <a:pt x="174056" y="1295590"/>
                  </a:lnTo>
                  <a:lnTo>
                    <a:pt x="269862" y="1100623"/>
                  </a:lnTo>
                  <a:lnTo>
                    <a:pt x="384930" y="916366"/>
                  </a:lnTo>
                  <a:lnTo>
                    <a:pt x="518075" y="744716"/>
                  </a:lnTo>
                  <a:lnTo>
                    <a:pt x="667927" y="587440"/>
                  </a:lnTo>
                  <a:lnTo>
                    <a:pt x="832944" y="446158"/>
                  </a:lnTo>
                  <a:lnTo>
                    <a:pt x="1011426" y="322322"/>
                  </a:lnTo>
                  <a:lnTo>
                    <a:pt x="1201538" y="217209"/>
                  </a:lnTo>
                  <a:lnTo>
                    <a:pt x="1401321" y="131899"/>
                  </a:lnTo>
                  <a:lnTo>
                    <a:pt x="1608720" y="67270"/>
                  </a:lnTo>
                  <a:lnTo>
                    <a:pt x="1832370" y="938329"/>
                  </a:lnTo>
                  <a:lnTo>
                    <a:pt x="1712079" y="975814"/>
                  </a:lnTo>
                  <a:lnTo>
                    <a:pt x="1596204" y="1025293"/>
                  </a:lnTo>
                  <a:lnTo>
                    <a:pt x="1485940" y="1086259"/>
                  </a:lnTo>
                  <a:lnTo>
                    <a:pt x="1382420" y="1158084"/>
                  </a:lnTo>
                  <a:lnTo>
                    <a:pt x="1286710" y="1240028"/>
                  </a:lnTo>
                  <a:lnTo>
                    <a:pt x="1199796" y="1331248"/>
                  </a:lnTo>
                  <a:lnTo>
                    <a:pt x="1122572" y="1430804"/>
                  </a:lnTo>
                  <a:lnTo>
                    <a:pt x="1055832" y="1537674"/>
                  </a:lnTo>
                  <a:lnTo>
                    <a:pt x="1000265" y="1650755"/>
                  </a:lnTo>
                  <a:lnTo>
                    <a:pt x="956441" y="1768884"/>
                  </a:lnTo>
                  <a:lnTo>
                    <a:pt x="924812" y="1890847"/>
                  </a:lnTo>
                  <a:lnTo>
                    <a:pt x="905704" y="2015386"/>
                  </a:lnTo>
                  <a:lnTo>
                    <a:pt x="899312" y="214122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338725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861392" y="251283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42%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1608720" y="67270"/>
                  </a:moveTo>
                  <a:lnTo>
                    <a:pt x="1813644" y="25206"/>
                  </a:lnTo>
                  <a:lnTo>
                    <a:pt x="2021694" y="3339"/>
                  </a:lnTo>
                  <a:lnTo>
                    <a:pt x="2230885" y="1878"/>
                  </a:lnTo>
                  <a:lnTo>
                    <a:pt x="2439220" y="20838"/>
                  </a:lnTo>
                  <a:lnTo>
                    <a:pt x="2644711" y="60038"/>
                  </a:lnTo>
                  <a:lnTo>
                    <a:pt x="2845396" y="119102"/>
                  </a:lnTo>
                  <a:lnTo>
                    <a:pt x="3039359" y="197469"/>
                  </a:lnTo>
                  <a:lnTo>
                    <a:pt x="3224750" y="294388"/>
                  </a:lnTo>
                  <a:lnTo>
                    <a:pt x="3399798" y="408937"/>
                  </a:lnTo>
                  <a:lnTo>
                    <a:pt x="2871195" y="1136496"/>
                  </a:lnTo>
                  <a:lnTo>
                    <a:pt x="2769667" y="1070058"/>
                  </a:lnTo>
                  <a:lnTo>
                    <a:pt x="2662141" y="1013844"/>
                  </a:lnTo>
                  <a:lnTo>
                    <a:pt x="2549642" y="968392"/>
                  </a:lnTo>
                  <a:lnTo>
                    <a:pt x="2433245" y="934134"/>
                  </a:lnTo>
                  <a:lnTo>
                    <a:pt x="2314060" y="911399"/>
                  </a:lnTo>
                  <a:lnTo>
                    <a:pt x="2193226" y="900402"/>
                  </a:lnTo>
                  <a:lnTo>
                    <a:pt x="2071895" y="901249"/>
                  </a:lnTo>
                  <a:lnTo>
                    <a:pt x="1951226" y="913932"/>
                  </a:lnTo>
                  <a:lnTo>
                    <a:pt x="1832370" y="938329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6499452" y="1798339"/>
              <a:ext cx="13089" cy="68613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516110" y="168437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A 28%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3399798" y="408937"/>
                  </a:moveTo>
                  <a:lnTo>
                    <a:pt x="3557234" y="535067"/>
                  </a:lnTo>
                  <a:lnTo>
                    <a:pt x="3702102" y="675454"/>
                  </a:lnTo>
                  <a:lnTo>
                    <a:pt x="3833116" y="828851"/>
                  </a:lnTo>
                  <a:lnTo>
                    <a:pt x="3949112" y="993897"/>
                  </a:lnTo>
                  <a:lnTo>
                    <a:pt x="4049061" y="1169126"/>
                  </a:lnTo>
                  <a:lnTo>
                    <a:pt x="4132076" y="1352984"/>
                  </a:lnTo>
                  <a:lnTo>
                    <a:pt x="3295916" y="1684043"/>
                  </a:lnTo>
                  <a:lnTo>
                    <a:pt x="3247768" y="1577406"/>
                  </a:lnTo>
                  <a:lnTo>
                    <a:pt x="3189797" y="1475773"/>
                  </a:lnTo>
                  <a:lnTo>
                    <a:pt x="3122520" y="1380046"/>
                  </a:lnTo>
                  <a:lnTo>
                    <a:pt x="3046532" y="1291076"/>
                  </a:lnTo>
                  <a:lnTo>
                    <a:pt x="2962508" y="1209651"/>
                  </a:lnTo>
                  <a:lnTo>
                    <a:pt x="2871195" y="1136496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7797778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7868023" y="251283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B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4132076" y="1352984"/>
                  </a:moveTo>
                  <a:lnTo>
                    <a:pt x="4197420" y="1543839"/>
                  </a:lnTo>
                  <a:lnTo>
                    <a:pt x="4244513" y="1739995"/>
                  </a:lnTo>
                  <a:lnTo>
                    <a:pt x="4272937" y="1939713"/>
                  </a:lnTo>
                  <a:lnTo>
                    <a:pt x="4282440" y="2141220"/>
                  </a:lnTo>
                  <a:lnTo>
                    <a:pt x="3383128" y="2141220"/>
                  </a:lnTo>
                  <a:lnTo>
                    <a:pt x="3377616" y="2024346"/>
                  </a:lnTo>
                  <a:lnTo>
                    <a:pt x="3361130" y="1908510"/>
                  </a:lnTo>
                  <a:lnTo>
                    <a:pt x="3333816" y="1794739"/>
                  </a:lnTo>
                  <a:lnTo>
                    <a:pt x="3295916" y="1684043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8211616" y="3566027"/>
              <a:ext cx="68613" cy="13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8298941" y="346720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Others 12%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954628" y="3766820"/>
              <a:ext cx="4282440" cy="254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700" dirty="0"/>
            </a:p>
          </p:txBody>
        </p:sp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Pareto chart (defect causes)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Scratches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97113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Dents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86902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Misalign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6691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Cracks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66480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Paint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6269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2896" y="2545080"/>
              <a:ext cx="598593" cy="25603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72096" y="37299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20786" y="3398520"/>
              <a:ext cx="598593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69986" y="41567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18676" y="4145280"/>
              <a:ext cx="598593" cy="9601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967876" y="45300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916566" y="4465320"/>
              <a:ext cx="598593" cy="6400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865766" y="46901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814456" y="4785360"/>
              <a:ext cx="598593" cy="32004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763656" y="485013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12346" y="4892040"/>
              <a:ext cx="598593" cy="2133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661546" y="490347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11388" y="48431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Defects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48598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48598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48598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1713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41193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522193" y="2970733"/>
              <a:ext cx="897890" cy="854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389603" y="29402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039083" y="2761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67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4420083" y="2490673"/>
              <a:ext cx="897890" cy="48006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287493" y="2460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936973" y="22811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5317973" y="2170633"/>
              <a:ext cx="897890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185383" y="21401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5834863" y="19610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 flipV="1">
              <a:off x="6215863" y="2010613"/>
              <a:ext cx="897890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7083273" y="198013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732753" y="180106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40" name="Shape 38"/>
            <p:cNvSpPr/>
            <p:nvPr/>
          </p:nvSpPr>
          <p:spPr>
            <a:xfrm flipV="1">
              <a:off x="7113753" y="1905000"/>
              <a:ext cx="897890" cy="1056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7981163" y="18745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7630643" y="1695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511388" y="163195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Cumulative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02050"/>
            <a:chOff x="3047848" y="1524000"/>
            <a:chExt cx="6096000" cy="37020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Bump chart (brand rank by year)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21548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166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58784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77402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6020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909668" y="278765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09584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28202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67268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85886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4504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723122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841740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04784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53170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90966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95848" y="2006600"/>
              <a:ext cx="1186180" cy="156210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67268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85886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4504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231228" y="35179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41740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04784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3170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23488" y="3568700"/>
              <a:ext cx="1186180" cy="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6095848" y="2787650"/>
              <a:ext cx="1186180" cy="156210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67268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85886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45048" y="42989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231228" y="27368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841740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04784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53170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723488" y="4349750"/>
              <a:ext cx="1186180" cy="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09584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367268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85886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6045048" y="35179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23122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417408" y="50800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0" name="Text 48"/>
            <p:cNvSpPr/>
            <p:nvPr/>
          </p:nvSpPr>
          <p:spPr>
            <a:xfrm>
              <a:off x="304784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853170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372348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490966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9584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367268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485886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604504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23122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417408" y="429895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04784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53170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(line)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87156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90788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694420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798052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901684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530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6676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60308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6394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7572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0552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25971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Execution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31390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36808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Innovation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47848" y="42227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Finance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47646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535520" y="21200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616800" y="20552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 flipV="1">
              <a:off x="6840576" y="2150533"/>
              <a:ext cx="725424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10096" y="2661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6891376" y="25971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0576" y="2692400"/>
              <a:ext cx="113995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50048" y="32037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31328" y="31390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7203288" y="3234267"/>
              <a:ext cx="77724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72808" y="37456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254088" y="36808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03288" y="3776133"/>
              <a:ext cx="129540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468208" y="4287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49488" y="42227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6322416" y="4318000"/>
              <a:ext cx="217627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291936" y="48293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6373216" y="47646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(stacked area)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7634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632317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767001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01684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247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7154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1837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6521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2694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28841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34988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41135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47282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62950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75650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203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44738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9508" y="2364740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629508" y="2412023"/>
              <a:ext cx="281022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629508" y="2459306"/>
              <a:ext cx="288792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629508" y="2506589"/>
              <a:ext cx="296562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9508" y="2553872"/>
              <a:ext cx="304332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29508" y="2601155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629508" y="2648438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629508" y="2695722"/>
              <a:ext cx="327643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629508" y="2743005"/>
              <a:ext cx="335413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629508" y="2790288"/>
              <a:ext cx="343183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629508" y="2837571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629508" y="2884854"/>
              <a:ext cx="35872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629508" y="2932137"/>
              <a:ext cx="36649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629508" y="2979420"/>
              <a:ext cx="36390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629508" y="3026703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29508" y="3073986"/>
              <a:ext cx="338003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629508" y="3121269"/>
              <a:ext cx="325053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629508" y="3168552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629508" y="3215835"/>
              <a:ext cx="29915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629508" y="3263118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629508" y="3310402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629508" y="3357685"/>
              <a:ext cx="260301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629508" y="3404968"/>
              <a:ext cx="247351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629508" y="3452251"/>
              <a:ext cx="234401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29508" y="3499534"/>
              <a:ext cx="22145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629508" y="3546817"/>
              <a:ext cx="208500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629508" y="3594100"/>
              <a:ext cx="20668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29508" y="3641383"/>
              <a:ext cx="21601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629508" y="3688666"/>
              <a:ext cx="225335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29508" y="3735949"/>
              <a:ext cx="234660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629508" y="3783232"/>
              <a:ext cx="24398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629508" y="3830515"/>
              <a:ext cx="253308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629508" y="3877798"/>
              <a:ext cx="26263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629508" y="3925082"/>
              <a:ext cx="271957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629508" y="3972365"/>
              <a:ext cx="281281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3629508" y="4019648"/>
              <a:ext cx="290605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3629508" y="4066931"/>
              <a:ext cx="299929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3629508" y="4114214"/>
              <a:ext cx="309254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3629508" y="4161497"/>
              <a:ext cx="31857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3629508" y="4208780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3629508" y="4256063"/>
              <a:ext cx="313139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629508" y="4303346"/>
              <a:ext cx="306405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29508" y="4350629"/>
              <a:ext cx="29967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29508" y="4397912"/>
              <a:ext cx="292936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629508" y="4445195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629508" y="4492478"/>
              <a:ext cx="27946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629508" y="4539762"/>
              <a:ext cx="27273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629508" y="4587045"/>
              <a:ext cx="265999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629508" y="4634328"/>
              <a:ext cx="259265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3629508" y="4681611"/>
              <a:ext cx="25253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3629508" y="4728894"/>
              <a:ext cx="24579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3629508" y="4776177"/>
              <a:ext cx="2390632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362029" y="2364740"/>
              <a:ext cx="16705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39731" y="2412023"/>
              <a:ext cx="16446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17433" y="2459306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95135" y="2506589"/>
              <a:ext cx="15928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72837" y="2553872"/>
              <a:ext cx="15669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50539" y="2601155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28241" y="2648438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905943" y="2695722"/>
              <a:ext cx="14892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83645" y="2743005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061347" y="2790288"/>
              <a:ext cx="14374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139049" y="2837571"/>
              <a:ext cx="14115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216751" y="2884854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294453" y="2932137"/>
              <a:ext cx="135978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268552" y="2979420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139049" y="3026703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009545" y="3073986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6880042" y="3121269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6750539" y="3168552"/>
              <a:ext cx="169649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6621035" y="3215835"/>
              <a:ext cx="177419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491532" y="3263118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362029" y="3310402"/>
              <a:ext cx="192960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232525" y="3357685"/>
              <a:ext cx="200730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103022" y="3404968"/>
              <a:ext cx="208500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5973519" y="3452251"/>
              <a:ext cx="216270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5844015" y="3499534"/>
              <a:ext cx="224040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5714512" y="3546817"/>
              <a:ext cx="231811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696381" y="3594100"/>
              <a:ext cx="23232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789624" y="3641383"/>
              <a:ext cx="225594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82866" y="3688666"/>
              <a:ext cx="218860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5976109" y="3735949"/>
              <a:ext cx="212126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069351" y="3783232"/>
              <a:ext cx="205392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6162593" y="3830515"/>
              <a:ext cx="198658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6255836" y="3877798"/>
              <a:ext cx="191924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6349078" y="3925082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6442321" y="3972365"/>
              <a:ext cx="178455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6535563" y="4019648"/>
              <a:ext cx="171721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6628806" y="4066931"/>
              <a:ext cx="164987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6722048" y="4114214"/>
              <a:ext cx="158253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6815290" y="4161497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6828241" y="4208780"/>
              <a:ext cx="150223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6760899" y="4256063"/>
              <a:ext cx="154368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693557" y="4303346"/>
              <a:ext cx="158512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626215" y="4350629"/>
              <a:ext cx="162656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558874" y="4397912"/>
              <a:ext cx="166800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491532" y="4445195"/>
              <a:ext cx="170944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424190" y="4492478"/>
              <a:ext cx="17508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356848" y="4539762"/>
              <a:ext cx="179232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289507" y="4587045"/>
              <a:ext cx="183376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222165" y="4634328"/>
              <a:ext cx="187520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154823" y="4681611"/>
              <a:ext cx="191665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087481" y="4728894"/>
              <a:ext cx="19580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020140" y="4776177"/>
              <a:ext cx="199953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</p:grp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Two-level treemap (region |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46300" cy="3467100"/>
            </a:xfrm>
            <a:prstGeom prst="rect">
              <a:avLst/>
            </a:prstGeom>
            <a:solidFill>
              <a:srgbClr val="EFF2FA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41500"/>
              <a:ext cx="2082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098648" y="2019300"/>
              <a:ext cx="2095500" cy="1553972"/>
            </a:xfrm>
            <a:prstGeom prst="rect">
              <a:avLst/>
            </a:prstGeom>
            <a:solidFill>
              <a:srgbClr val="7297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136748" y="20447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136748" y="21971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98648" y="3585972"/>
              <a:ext cx="1284654" cy="1684528"/>
            </a:xfrm>
            <a:prstGeom prst="rect">
              <a:avLst/>
            </a:prstGeom>
            <a:solidFill>
              <a:srgbClr val="92AB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36748" y="36113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136748" y="37637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96001" y="3585972"/>
              <a:ext cx="798146" cy="1684528"/>
            </a:xfrm>
            <a:prstGeom prst="rect">
              <a:avLst/>
            </a:prstGeom>
            <a:solidFill>
              <a:srgbClr val="AABCE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34101" y="36113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34101" y="37637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32248" y="1828800"/>
              <a:ext cx="2232660" cy="3467100"/>
            </a:xfrm>
            <a:prstGeom prst="rect">
              <a:avLst/>
            </a:prstGeom>
            <a:solidFill>
              <a:srgbClr val="EFF6F2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270348" y="1841500"/>
              <a:ext cx="21691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7648" y="2019300"/>
              <a:ext cx="2181860" cy="1995854"/>
            </a:xfrm>
            <a:prstGeom prst="rect">
              <a:avLst/>
            </a:prstGeom>
            <a:solidFill>
              <a:srgbClr val="6FBE9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95748" y="20447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295748" y="21971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57648" y="4027854"/>
              <a:ext cx="2181860" cy="1242646"/>
            </a:xfrm>
            <a:prstGeom prst="rect">
              <a:avLst/>
            </a:prstGeom>
            <a:solidFill>
              <a:srgbClr val="90C9A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295748" y="40532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295748" y="42056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77608" y="1828800"/>
              <a:ext cx="1628140" cy="3467100"/>
            </a:xfrm>
            <a:prstGeom prst="rect">
              <a:avLst/>
            </a:prstGeom>
            <a:solidFill>
              <a:srgbClr val="FDF5EF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515708" y="1841500"/>
              <a:ext cx="15646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503008" y="2019300"/>
              <a:ext cx="1577340" cy="1533358"/>
            </a:xfrm>
            <a:prstGeom prst="rect">
              <a:avLst/>
            </a:prstGeom>
            <a:solidFill>
              <a:srgbClr val="F0B36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541108" y="20447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41108" y="21971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03008" y="3565358"/>
              <a:ext cx="1577340" cy="1018005"/>
            </a:xfrm>
            <a:prstGeom prst="rect">
              <a:avLst/>
            </a:prstGeom>
            <a:solidFill>
              <a:srgbClr val="F2C08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541108" y="35907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541108" y="37431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03008" y="4596063"/>
              <a:ext cx="1577340" cy="674437"/>
            </a:xfrm>
            <a:prstGeom prst="rect">
              <a:avLst/>
            </a:prstGeom>
            <a:solidFill>
              <a:srgbClr val="F4CDA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541108" y="46214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541108" y="47738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(region →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Response-time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629338" y="4245559"/>
              <a:ext cx="1571752" cy="337109"/>
            </a:xfrm>
            <a:custGeom>
              <a:avLst/>
              <a:gdLst/>
              <a:ahLst/>
              <a:cxnLst/>
              <a:rect l="l" t="t" r="r" b="b"/>
              <a:pathLst>
                <a:path w="1571752" h="337109">
                  <a:moveTo>
                    <a:pt x="962595" y="337109"/>
                  </a:moveTo>
                  <a:lnTo>
                    <a:pt x="1002677" y="328681"/>
                  </a:lnTo>
                  <a:lnTo>
                    <a:pt x="1046833" y="320253"/>
                  </a:lnTo>
                  <a:lnTo>
                    <a:pt x="1094256" y="311826"/>
                  </a:lnTo>
                  <a:lnTo>
                    <a:pt x="1143910" y="303398"/>
                  </a:lnTo>
                  <a:lnTo>
                    <a:pt x="1194597" y="294970"/>
                  </a:lnTo>
                  <a:lnTo>
                    <a:pt x="1245039" y="286542"/>
                  </a:lnTo>
                  <a:lnTo>
                    <a:pt x="1293979" y="278115"/>
                  </a:lnTo>
                  <a:lnTo>
                    <a:pt x="1340269" y="269687"/>
                  </a:lnTo>
                  <a:lnTo>
                    <a:pt x="1382953" y="261259"/>
                  </a:lnTo>
                  <a:lnTo>
                    <a:pt x="1421320" y="252832"/>
                  </a:lnTo>
                  <a:lnTo>
                    <a:pt x="1454936" y="244404"/>
                  </a:lnTo>
                  <a:lnTo>
                    <a:pt x="1483640" y="235976"/>
                  </a:lnTo>
                  <a:lnTo>
                    <a:pt x="1507512" y="227548"/>
                  </a:lnTo>
                  <a:lnTo>
                    <a:pt x="1526831" y="219121"/>
                  </a:lnTo>
                  <a:lnTo>
                    <a:pt x="1542009" y="210693"/>
                  </a:lnTo>
                  <a:lnTo>
                    <a:pt x="1553528" y="202265"/>
                  </a:lnTo>
                  <a:lnTo>
                    <a:pt x="1561873" y="193838"/>
                  </a:lnTo>
                  <a:lnTo>
                    <a:pt x="1567484" y="185410"/>
                  </a:lnTo>
                  <a:lnTo>
                    <a:pt x="1570704" y="176982"/>
                  </a:lnTo>
                  <a:lnTo>
                    <a:pt x="1571752" y="168554"/>
                  </a:lnTo>
                  <a:lnTo>
                    <a:pt x="1570704" y="160127"/>
                  </a:lnTo>
                  <a:lnTo>
                    <a:pt x="1567484" y="151699"/>
                  </a:lnTo>
                  <a:lnTo>
                    <a:pt x="1561873" y="143271"/>
                  </a:lnTo>
                  <a:lnTo>
                    <a:pt x="1553528" y="134844"/>
                  </a:lnTo>
                  <a:lnTo>
                    <a:pt x="1542009" y="126416"/>
                  </a:lnTo>
                  <a:lnTo>
                    <a:pt x="1526831" y="117988"/>
                  </a:lnTo>
                  <a:lnTo>
                    <a:pt x="1507512" y="109560"/>
                  </a:lnTo>
                  <a:lnTo>
                    <a:pt x="1483640" y="101133"/>
                  </a:lnTo>
                  <a:lnTo>
                    <a:pt x="1454936" y="92705"/>
                  </a:lnTo>
                  <a:lnTo>
                    <a:pt x="1421320" y="84277"/>
                  </a:lnTo>
                  <a:lnTo>
                    <a:pt x="1382953" y="75849"/>
                  </a:lnTo>
                  <a:lnTo>
                    <a:pt x="1340269" y="67422"/>
                  </a:lnTo>
                  <a:lnTo>
                    <a:pt x="1293979" y="58994"/>
                  </a:lnTo>
                  <a:lnTo>
                    <a:pt x="1245039" y="50566"/>
                  </a:lnTo>
                  <a:lnTo>
                    <a:pt x="1194597" y="42139"/>
                  </a:lnTo>
                  <a:lnTo>
                    <a:pt x="1143910" y="33711"/>
                  </a:lnTo>
                  <a:lnTo>
                    <a:pt x="1094256" y="25283"/>
                  </a:lnTo>
                  <a:lnTo>
                    <a:pt x="1046833" y="16855"/>
                  </a:lnTo>
                  <a:lnTo>
                    <a:pt x="1002677" y="8428"/>
                  </a:lnTo>
                  <a:lnTo>
                    <a:pt x="962595" y="0"/>
                  </a:lnTo>
                  <a:lnTo>
                    <a:pt x="609157" y="0"/>
                  </a:lnTo>
                  <a:lnTo>
                    <a:pt x="569075" y="8428"/>
                  </a:lnTo>
                  <a:lnTo>
                    <a:pt x="524919" y="16855"/>
                  </a:lnTo>
                  <a:lnTo>
                    <a:pt x="477496" y="25283"/>
                  </a:lnTo>
                  <a:lnTo>
                    <a:pt x="427842" y="33711"/>
                  </a:lnTo>
                  <a:lnTo>
                    <a:pt x="377155" y="42139"/>
                  </a:lnTo>
                  <a:lnTo>
                    <a:pt x="326713" y="50566"/>
                  </a:lnTo>
                  <a:lnTo>
                    <a:pt x="277773" y="58994"/>
                  </a:lnTo>
                  <a:lnTo>
                    <a:pt x="231483" y="67422"/>
                  </a:lnTo>
                  <a:lnTo>
                    <a:pt x="188799" y="75849"/>
                  </a:lnTo>
                  <a:lnTo>
                    <a:pt x="150432" y="84277"/>
                  </a:lnTo>
                  <a:lnTo>
                    <a:pt x="116816" y="92705"/>
                  </a:lnTo>
                  <a:lnTo>
                    <a:pt x="88112" y="101133"/>
                  </a:lnTo>
                  <a:lnTo>
                    <a:pt x="64240" y="109560"/>
                  </a:lnTo>
                  <a:lnTo>
                    <a:pt x="44921" y="117988"/>
                  </a:lnTo>
                  <a:lnTo>
                    <a:pt x="29743" y="126416"/>
                  </a:lnTo>
                  <a:lnTo>
                    <a:pt x="18224" y="134844"/>
                  </a:lnTo>
                  <a:lnTo>
                    <a:pt x="9879" y="143271"/>
                  </a:lnTo>
                  <a:lnTo>
                    <a:pt x="4268" y="151699"/>
                  </a:lnTo>
                  <a:lnTo>
                    <a:pt x="1048" y="160127"/>
                  </a:lnTo>
                  <a:lnTo>
                    <a:pt x="0" y="168554"/>
                  </a:lnTo>
                  <a:lnTo>
                    <a:pt x="1048" y="176982"/>
                  </a:lnTo>
                  <a:lnTo>
                    <a:pt x="4268" y="185410"/>
                  </a:lnTo>
                  <a:lnTo>
                    <a:pt x="9879" y="193838"/>
                  </a:lnTo>
                  <a:lnTo>
                    <a:pt x="18224" y="202265"/>
                  </a:lnTo>
                  <a:lnTo>
                    <a:pt x="29743" y="210693"/>
                  </a:lnTo>
                  <a:lnTo>
                    <a:pt x="44921" y="219121"/>
                  </a:lnTo>
                  <a:lnTo>
                    <a:pt x="64240" y="227548"/>
                  </a:lnTo>
                  <a:lnTo>
                    <a:pt x="88112" y="235976"/>
                  </a:lnTo>
                  <a:lnTo>
                    <a:pt x="116816" y="244404"/>
                  </a:lnTo>
                  <a:lnTo>
                    <a:pt x="150432" y="252832"/>
                  </a:lnTo>
                  <a:lnTo>
                    <a:pt x="188799" y="261259"/>
                  </a:lnTo>
                  <a:lnTo>
                    <a:pt x="231483" y="269687"/>
                  </a:lnTo>
                  <a:lnTo>
                    <a:pt x="277773" y="278115"/>
                  </a:lnTo>
                  <a:lnTo>
                    <a:pt x="326713" y="286542"/>
                  </a:lnTo>
                  <a:lnTo>
                    <a:pt x="377155" y="294970"/>
                  </a:lnTo>
                  <a:lnTo>
                    <a:pt x="427842" y="303398"/>
                  </a:lnTo>
                  <a:lnTo>
                    <a:pt x="477496" y="311826"/>
                  </a:lnTo>
                  <a:lnTo>
                    <a:pt x="524919" y="320253"/>
                  </a:lnTo>
                  <a:lnTo>
                    <a:pt x="569075" y="328681"/>
                  </a:lnTo>
                  <a:lnTo>
                    <a:pt x="609157" y="337109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40158" y="4414114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500472" y="3580158"/>
              <a:ext cx="1571752" cy="739794"/>
            </a:xfrm>
            <a:custGeom>
              <a:avLst/>
              <a:gdLst/>
              <a:ahLst/>
              <a:cxnLst/>
              <a:rect l="l" t="t" r="r" b="b"/>
              <a:pathLst>
                <a:path w="1571752" h="739794">
                  <a:moveTo>
                    <a:pt x="965914" y="739794"/>
                  </a:moveTo>
                  <a:lnTo>
                    <a:pt x="1008771" y="721300"/>
                  </a:lnTo>
                  <a:lnTo>
                    <a:pt x="1056028" y="702805"/>
                  </a:lnTo>
                  <a:lnTo>
                    <a:pt x="1106669" y="684310"/>
                  </a:lnTo>
                  <a:lnTo>
                    <a:pt x="1159413" y="665815"/>
                  </a:lnTo>
                  <a:lnTo>
                    <a:pt x="1212801" y="647320"/>
                  </a:lnTo>
                  <a:lnTo>
                    <a:pt x="1265323" y="628825"/>
                  </a:lnTo>
                  <a:lnTo>
                    <a:pt x="1315540" y="610330"/>
                  </a:lnTo>
                  <a:lnTo>
                    <a:pt x="1362202" y="591836"/>
                  </a:lnTo>
                  <a:lnTo>
                    <a:pt x="1404342" y="573341"/>
                  </a:lnTo>
                  <a:lnTo>
                    <a:pt x="1441327" y="554846"/>
                  </a:lnTo>
                  <a:lnTo>
                    <a:pt x="1472874" y="536351"/>
                  </a:lnTo>
                  <a:lnTo>
                    <a:pt x="1499020" y="517856"/>
                  </a:lnTo>
                  <a:lnTo>
                    <a:pt x="1520072" y="499361"/>
                  </a:lnTo>
                  <a:lnTo>
                    <a:pt x="1536529" y="480866"/>
                  </a:lnTo>
                  <a:lnTo>
                    <a:pt x="1548998" y="462372"/>
                  </a:lnTo>
                  <a:lnTo>
                    <a:pt x="1558122" y="443877"/>
                  </a:lnTo>
                  <a:lnTo>
                    <a:pt x="1564505" y="425382"/>
                  </a:lnTo>
                  <a:lnTo>
                    <a:pt x="1568668" y="406887"/>
                  </a:lnTo>
                  <a:lnTo>
                    <a:pt x="1571002" y="388392"/>
                  </a:lnTo>
                  <a:lnTo>
                    <a:pt x="1571752" y="369897"/>
                  </a:lnTo>
                  <a:lnTo>
                    <a:pt x="1571002" y="351402"/>
                  </a:lnTo>
                  <a:lnTo>
                    <a:pt x="1568668" y="332908"/>
                  </a:lnTo>
                  <a:lnTo>
                    <a:pt x="1564505" y="314413"/>
                  </a:lnTo>
                  <a:lnTo>
                    <a:pt x="1558122" y="295918"/>
                  </a:lnTo>
                  <a:lnTo>
                    <a:pt x="1548998" y="277423"/>
                  </a:lnTo>
                  <a:lnTo>
                    <a:pt x="1536529" y="258928"/>
                  </a:lnTo>
                  <a:lnTo>
                    <a:pt x="1520072" y="240433"/>
                  </a:lnTo>
                  <a:lnTo>
                    <a:pt x="1499020" y="221938"/>
                  </a:lnTo>
                  <a:lnTo>
                    <a:pt x="1472874" y="203443"/>
                  </a:lnTo>
                  <a:lnTo>
                    <a:pt x="1441327" y="184949"/>
                  </a:lnTo>
                  <a:lnTo>
                    <a:pt x="1404342" y="166454"/>
                  </a:lnTo>
                  <a:lnTo>
                    <a:pt x="1362202" y="147959"/>
                  </a:lnTo>
                  <a:lnTo>
                    <a:pt x="1315540" y="129464"/>
                  </a:lnTo>
                  <a:lnTo>
                    <a:pt x="1265323" y="110969"/>
                  </a:lnTo>
                  <a:lnTo>
                    <a:pt x="1212801" y="92474"/>
                  </a:lnTo>
                  <a:lnTo>
                    <a:pt x="1159413" y="73979"/>
                  </a:lnTo>
                  <a:lnTo>
                    <a:pt x="1106669" y="55485"/>
                  </a:lnTo>
                  <a:lnTo>
                    <a:pt x="1056028" y="36990"/>
                  </a:lnTo>
                  <a:lnTo>
                    <a:pt x="1008771" y="18495"/>
                  </a:lnTo>
                  <a:lnTo>
                    <a:pt x="965914" y="0"/>
                  </a:lnTo>
                  <a:lnTo>
                    <a:pt x="605838" y="0"/>
                  </a:lnTo>
                  <a:lnTo>
                    <a:pt x="562981" y="18495"/>
                  </a:lnTo>
                  <a:lnTo>
                    <a:pt x="515724" y="36990"/>
                  </a:lnTo>
                  <a:lnTo>
                    <a:pt x="465083" y="55485"/>
                  </a:lnTo>
                  <a:lnTo>
                    <a:pt x="412339" y="73979"/>
                  </a:lnTo>
                  <a:lnTo>
                    <a:pt x="358951" y="92474"/>
                  </a:lnTo>
                  <a:lnTo>
                    <a:pt x="306429" y="110969"/>
                  </a:lnTo>
                  <a:lnTo>
                    <a:pt x="256212" y="129464"/>
                  </a:lnTo>
                  <a:lnTo>
                    <a:pt x="209550" y="147959"/>
                  </a:lnTo>
                  <a:lnTo>
                    <a:pt x="167410" y="166454"/>
                  </a:lnTo>
                  <a:lnTo>
                    <a:pt x="130425" y="184949"/>
                  </a:lnTo>
                  <a:lnTo>
                    <a:pt x="98878" y="203443"/>
                  </a:lnTo>
                  <a:lnTo>
                    <a:pt x="72732" y="221938"/>
                  </a:lnTo>
                  <a:lnTo>
                    <a:pt x="51680" y="240433"/>
                  </a:lnTo>
                  <a:lnTo>
                    <a:pt x="35223" y="258928"/>
                  </a:lnTo>
                  <a:lnTo>
                    <a:pt x="22754" y="277423"/>
                  </a:lnTo>
                  <a:lnTo>
                    <a:pt x="13630" y="295918"/>
                  </a:lnTo>
                  <a:lnTo>
                    <a:pt x="7247" y="314413"/>
                  </a:lnTo>
                  <a:lnTo>
                    <a:pt x="3084" y="332908"/>
                  </a:lnTo>
                  <a:lnTo>
                    <a:pt x="750" y="351402"/>
                  </a:lnTo>
                  <a:lnTo>
                    <a:pt x="0" y="369897"/>
                  </a:lnTo>
                  <a:lnTo>
                    <a:pt x="750" y="388392"/>
                  </a:lnTo>
                  <a:lnTo>
                    <a:pt x="3084" y="406887"/>
                  </a:lnTo>
                  <a:lnTo>
                    <a:pt x="7247" y="425382"/>
                  </a:lnTo>
                  <a:lnTo>
                    <a:pt x="13630" y="443877"/>
                  </a:lnTo>
                  <a:lnTo>
                    <a:pt x="22754" y="462372"/>
                  </a:lnTo>
                  <a:lnTo>
                    <a:pt x="35223" y="480866"/>
                  </a:lnTo>
                  <a:lnTo>
                    <a:pt x="51680" y="499361"/>
                  </a:lnTo>
                  <a:lnTo>
                    <a:pt x="72732" y="517856"/>
                  </a:lnTo>
                  <a:lnTo>
                    <a:pt x="98878" y="536351"/>
                  </a:lnTo>
                  <a:lnTo>
                    <a:pt x="130425" y="554846"/>
                  </a:lnTo>
                  <a:lnTo>
                    <a:pt x="167410" y="573341"/>
                  </a:lnTo>
                  <a:lnTo>
                    <a:pt x="209550" y="591836"/>
                  </a:lnTo>
                  <a:lnTo>
                    <a:pt x="256212" y="610330"/>
                  </a:lnTo>
                  <a:lnTo>
                    <a:pt x="306429" y="628825"/>
                  </a:lnTo>
                  <a:lnTo>
                    <a:pt x="358951" y="647320"/>
                  </a:lnTo>
                  <a:lnTo>
                    <a:pt x="412339" y="665815"/>
                  </a:lnTo>
                  <a:lnTo>
                    <a:pt x="465083" y="684310"/>
                  </a:lnTo>
                  <a:lnTo>
                    <a:pt x="515724" y="702805"/>
                  </a:lnTo>
                  <a:lnTo>
                    <a:pt x="562981" y="721300"/>
                  </a:lnTo>
                  <a:lnTo>
                    <a:pt x="605838" y="739794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6011291" y="3950056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7371605" y="1905000"/>
              <a:ext cx="1571752" cy="1550674"/>
            </a:xfrm>
            <a:custGeom>
              <a:avLst/>
              <a:gdLst/>
              <a:ahLst/>
              <a:cxnLst/>
              <a:rect l="l" t="t" r="r" b="b"/>
              <a:pathLst>
                <a:path w="1571752" h="1550674">
                  <a:moveTo>
                    <a:pt x="965927" y="1550674"/>
                  </a:moveTo>
                  <a:lnTo>
                    <a:pt x="1002391" y="1511907"/>
                  </a:lnTo>
                  <a:lnTo>
                    <a:pt x="1042182" y="1473140"/>
                  </a:lnTo>
                  <a:lnTo>
                    <a:pt x="1084703" y="1434373"/>
                  </a:lnTo>
                  <a:lnTo>
                    <a:pt x="1129197" y="1395607"/>
                  </a:lnTo>
                  <a:lnTo>
                    <a:pt x="1174788" y="1356840"/>
                  </a:lnTo>
                  <a:lnTo>
                    <a:pt x="1220535" y="1318073"/>
                  </a:lnTo>
                  <a:lnTo>
                    <a:pt x="1265484" y="1279306"/>
                  </a:lnTo>
                  <a:lnTo>
                    <a:pt x="1308732" y="1240539"/>
                  </a:lnTo>
                  <a:lnTo>
                    <a:pt x="1349479" y="1201772"/>
                  </a:lnTo>
                  <a:lnTo>
                    <a:pt x="1387073" y="1163006"/>
                  </a:lnTo>
                  <a:lnTo>
                    <a:pt x="1421038" y="1124239"/>
                  </a:lnTo>
                  <a:lnTo>
                    <a:pt x="1451085" y="1085472"/>
                  </a:lnTo>
                  <a:lnTo>
                    <a:pt x="1477112" y="1046705"/>
                  </a:lnTo>
                  <a:lnTo>
                    <a:pt x="1499187" y="1007938"/>
                  </a:lnTo>
                  <a:lnTo>
                    <a:pt x="1517513" y="969171"/>
                  </a:lnTo>
                  <a:lnTo>
                    <a:pt x="1532402" y="930404"/>
                  </a:lnTo>
                  <a:lnTo>
                    <a:pt x="1544228" y="891638"/>
                  </a:lnTo>
                  <a:lnTo>
                    <a:pt x="1553395" y="852871"/>
                  </a:lnTo>
                  <a:lnTo>
                    <a:pt x="1560302" y="814104"/>
                  </a:lnTo>
                  <a:lnTo>
                    <a:pt x="1565316" y="775337"/>
                  </a:lnTo>
                  <a:lnTo>
                    <a:pt x="1568748" y="736570"/>
                  </a:lnTo>
                  <a:lnTo>
                    <a:pt x="1570840" y="697803"/>
                  </a:lnTo>
                  <a:lnTo>
                    <a:pt x="1571752" y="659036"/>
                  </a:lnTo>
                  <a:lnTo>
                    <a:pt x="1571559" y="620270"/>
                  </a:lnTo>
                  <a:lnTo>
                    <a:pt x="1570244" y="581503"/>
                  </a:lnTo>
                  <a:lnTo>
                    <a:pt x="1567703" y="542736"/>
                  </a:lnTo>
                  <a:lnTo>
                    <a:pt x="1563745" y="503969"/>
                  </a:lnTo>
                  <a:lnTo>
                    <a:pt x="1558103" y="465202"/>
                  </a:lnTo>
                  <a:lnTo>
                    <a:pt x="1550444" y="426435"/>
                  </a:lnTo>
                  <a:lnTo>
                    <a:pt x="1540387" y="387669"/>
                  </a:lnTo>
                  <a:lnTo>
                    <a:pt x="1527527" y="348902"/>
                  </a:lnTo>
                  <a:lnTo>
                    <a:pt x="1511468" y="310135"/>
                  </a:lnTo>
                  <a:lnTo>
                    <a:pt x="1491852" y="271368"/>
                  </a:lnTo>
                  <a:lnTo>
                    <a:pt x="1468402" y="232601"/>
                  </a:lnTo>
                  <a:lnTo>
                    <a:pt x="1440958" y="193834"/>
                  </a:lnTo>
                  <a:lnTo>
                    <a:pt x="1409510" y="155067"/>
                  </a:lnTo>
                  <a:lnTo>
                    <a:pt x="1374225" y="116301"/>
                  </a:lnTo>
                  <a:lnTo>
                    <a:pt x="1335456" y="77534"/>
                  </a:lnTo>
                  <a:lnTo>
                    <a:pt x="1293744" y="38767"/>
                  </a:lnTo>
                  <a:lnTo>
                    <a:pt x="1249800" y="0"/>
                  </a:lnTo>
                  <a:lnTo>
                    <a:pt x="321952" y="0"/>
                  </a:lnTo>
                  <a:lnTo>
                    <a:pt x="278008" y="38767"/>
                  </a:lnTo>
                  <a:lnTo>
                    <a:pt x="236296" y="77534"/>
                  </a:lnTo>
                  <a:lnTo>
                    <a:pt x="197527" y="116301"/>
                  </a:lnTo>
                  <a:lnTo>
                    <a:pt x="162242" y="155067"/>
                  </a:lnTo>
                  <a:lnTo>
                    <a:pt x="130794" y="193834"/>
                  </a:lnTo>
                  <a:lnTo>
                    <a:pt x="103350" y="232601"/>
                  </a:lnTo>
                  <a:lnTo>
                    <a:pt x="79900" y="271368"/>
                  </a:lnTo>
                  <a:lnTo>
                    <a:pt x="60284" y="310135"/>
                  </a:lnTo>
                  <a:lnTo>
                    <a:pt x="44225" y="348902"/>
                  </a:lnTo>
                  <a:lnTo>
                    <a:pt x="31365" y="387669"/>
                  </a:lnTo>
                  <a:lnTo>
                    <a:pt x="21308" y="426435"/>
                  </a:lnTo>
                  <a:lnTo>
                    <a:pt x="13649" y="465202"/>
                  </a:lnTo>
                  <a:lnTo>
                    <a:pt x="8007" y="503969"/>
                  </a:lnTo>
                  <a:lnTo>
                    <a:pt x="4049" y="542736"/>
                  </a:lnTo>
                  <a:lnTo>
                    <a:pt x="1508" y="581503"/>
                  </a:lnTo>
                  <a:lnTo>
                    <a:pt x="193" y="620270"/>
                  </a:lnTo>
                  <a:lnTo>
                    <a:pt x="0" y="659036"/>
                  </a:lnTo>
                  <a:lnTo>
                    <a:pt x="912" y="697803"/>
                  </a:lnTo>
                  <a:lnTo>
                    <a:pt x="3004" y="736570"/>
                  </a:lnTo>
                  <a:lnTo>
                    <a:pt x="6436" y="775337"/>
                  </a:lnTo>
                  <a:lnTo>
                    <a:pt x="11450" y="814104"/>
                  </a:lnTo>
                  <a:lnTo>
                    <a:pt x="18357" y="852871"/>
                  </a:lnTo>
                  <a:lnTo>
                    <a:pt x="27524" y="891638"/>
                  </a:lnTo>
                  <a:lnTo>
                    <a:pt x="39350" y="930404"/>
                  </a:lnTo>
                  <a:lnTo>
                    <a:pt x="54239" y="969171"/>
                  </a:lnTo>
                  <a:lnTo>
                    <a:pt x="72565" y="1007938"/>
                  </a:lnTo>
                  <a:lnTo>
                    <a:pt x="94640" y="1046705"/>
                  </a:lnTo>
                  <a:lnTo>
                    <a:pt x="120667" y="1085472"/>
                  </a:lnTo>
                  <a:lnTo>
                    <a:pt x="150714" y="1124239"/>
                  </a:lnTo>
                  <a:lnTo>
                    <a:pt x="184679" y="1163006"/>
                  </a:lnTo>
                  <a:lnTo>
                    <a:pt x="222273" y="1201772"/>
                  </a:lnTo>
                  <a:lnTo>
                    <a:pt x="263020" y="1240539"/>
                  </a:lnTo>
                  <a:lnTo>
                    <a:pt x="306268" y="1279306"/>
                  </a:lnTo>
                  <a:lnTo>
                    <a:pt x="351217" y="1318073"/>
                  </a:lnTo>
                  <a:lnTo>
                    <a:pt x="396964" y="1356840"/>
                  </a:lnTo>
                  <a:lnTo>
                    <a:pt x="442555" y="1395607"/>
                  </a:lnTo>
                  <a:lnTo>
                    <a:pt x="487049" y="1434373"/>
                  </a:lnTo>
                  <a:lnTo>
                    <a:pt x="529570" y="1473140"/>
                  </a:lnTo>
                  <a:lnTo>
                    <a:pt x="569361" y="1511907"/>
                  </a:lnTo>
                  <a:lnTo>
                    <a:pt x="605825" y="155067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882424" y="2551481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0409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6023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1636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7250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D5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2863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D6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476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D7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090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D8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703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D9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5317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76031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619983" y="361188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21658" y="275844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81323" y="297180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882998" y="254508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42663" y="297180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44338" y="233172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304003" y="254508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056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8653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567018" y="25450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26683" y="2758440"/>
              <a:ext cx="280670" cy="64008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2835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988023" y="297180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89698" y="211836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49363" y="233172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251038" y="19050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10703" y="233172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123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6720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340600" cy="3733800"/>
            <a:chOff x="2539848" y="1524000"/>
            <a:chExt cx="7340600" cy="37338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 plan — critical path highlighted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122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642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95983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65503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84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6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03704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73224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1822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27241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21228" y="25484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3–8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2660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21228" y="30903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8–14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38078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Copywriting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21228" y="3632200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539848" y="43497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21228" y="41740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14–18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539848" y="48916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21228" y="47159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18–20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344391" y="2277533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318991" y="28194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rot="5400000">
              <a:off x="4225011" y="27660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882996" y="28194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857596" y="33612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rot="5400000">
              <a:off x="5763616" y="33079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344391" y="2277533"/>
              <a:ext cx="0" cy="1625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318991" y="390313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 rot="5400000">
              <a:off x="4242791" y="385868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729322" y="3361267"/>
              <a:ext cx="0" cy="1083733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703922" y="44450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 rot="5400000">
              <a:off x="7609942" y="43916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960206" y="44450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934806" y="49868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rot="5400000">
              <a:off x="8840826" y="49335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</p:grp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Assay reproducibility (mean ± SD)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A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C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407290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2842003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40729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2986908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2552195"/>
              <a:ext cx="1029123" cy="289809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269709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900653" y="250659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696642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177387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69664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33763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856891"/>
              <a:ext cx="1029123" cy="320497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301713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771786" y="282663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2596482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007565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259648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7792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066843"/>
              <a:ext cx="1029123" cy="940722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537204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642919" y="3346704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PowerChart"/>
          <p:cNvGrpSpPr/>
          <p:nvPr>
            <p:custDataLst>
              <p:tags r:id="rId3"/>
            </p:custDataLst>
          </p:nvPr>
        </p:nvGrpSpPr>
        <p:grpSpPr>
          <a:xfrm>
            <a:off x="3047848" y="1778000"/>
            <a:ext cx="6096000" cy="3220466"/>
            <a:chOff x="3047848" y="1778000"/>
            <a:chExt cx="6096000" cy="3220466"/>
          </a:xfrm>
        </p:grpSpPr>
        <p:sp>
          <p:nvSpPr>
            <p:cNvPr id="2" name="Text 0"/>
            <p:cNvSpPr/>
            <p:nvPr/>
          </p:nvSpPr>
          <p:spPr>
            <a:xfrm>
              <a:off x="3047848" y="1778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KPI sparklines — last 12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2923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 flipV="1">
              <a:off x="3629508" y="2577592"/>
              <a:ext cx="474980" cy="3454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4104488" y="2577592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 flipV="1">
              <a:off x="4579468" y="2525776"/>
              <a:ext cx="474980" cy="69088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5054448" y="252577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5529428" y="2439416"/>
              <a:ext cx="474980" cy="10363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6004408" y="243941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479388" y="233578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6954368" y="2335784"/>
              <a:ext cx="474980" cy="51816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 flipV="1">
              <a:off x="7429348" y="2266696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7904328" y="226669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8379308" y="216306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605378" y="25880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8830158" y="21389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827618" y="2136394"/>
              <a:ext cx="53340" cy="5334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8905088" y="20678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30797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3629508" y="337912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4104488" y="3338299"/>
              <a:ext cx="474980" cy="40825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579468" y="3338299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5054448" y="3277062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529428" y="3277062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6004408" y="3195412"/>
              <a:ext cx="474980" cy="10206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6479388" y="3134175"/>
              <a:ext cx="474980" cy="61237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54368" y="3134175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7429348" y="3032113"/>
              <a:ext cx="474980" cy="122474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7904328" y="2950464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79308" y="295046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605378" y="33754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355178" y="29263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827618" y="2944206"/>
              <a:ext cx="53340" cy="53340"/>
            </a:xfrm>
            <a:prstGeom prst="ellipse">
              <a:avLst/>
            </a:prstGeom>
            <a:solidFill>
              <a:srgbClr val="1BAF7A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8905088" y="2875626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3047848" y="38671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629508" y="3737864"/>
              <a:ext cx="468745" cy="56134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098253" y="3775287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566999" y="3775287"/>
              <a:ext cx="468745" cy="93557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035744" y="383142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504489" y="3831421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973235" y="3943689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441980" y="3962400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910726" y="3962400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379471" y="4074668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848217" y="411209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16962" y="4149513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761578" y="41628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05378" y="37137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759038" y="4160266"/>
              <a:ext cx="53340" cy="53340"/>
            </a:xfrm>
            <a:prstGeom prst="ellipse">
              <a:avLst/>
            </a:prstGeom>
            <a:solidFill>
              <a:srgbClr val="EDA100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8836508" y="4091686"/>
              <a:ext cx="307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2.7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047848" y="4654550"/>
              <a:ext cx="231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 flipV="1">
              <a:off x="3355188" y="4938410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3855106" y="4938410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4355024" y="4884522"/>
              <a:ext cx="499918" cy="71852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4854942" y="4830633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354860" y="4794707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854779" y="479470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6354697" y="4722856"/>
              <a:ext cx="499918" cy="89814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6854615" y="4668967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7354533" y="466896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7854451" y="4579153"/>
              <a:ext cx="499918" cy="107777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8354369" y="4525264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3331058" y="49502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8830158" y="45011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8827618" y="4498594"/>
              <a:ext cx="53340" cy="53340"/>
            </a:xfrm>
            <a:prstGeom prst="ellipse">
              <a:avLst/>
            </a:prstGeom>
            <a:solidFill>
              <a:srgbClr val="008300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8905088" y="44300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/>
          <p:cNvGrpSpPr/>
          <p:nvPr>
            <p:custDataLst>
              <p:tags r:id="rId3"/>
            </p:custDataLst>
          </p:nvPr>
        </p:nvGrpSpPr>
        <p:grpSpPr>
          <a:xfrm>
            <a:off x="3428848" y="1397000"/>
            <a:ext cx="5334000" cy="3856325"/>
            <a:chOff x="3428848" y="1397000"/>
            <a:chExt cx="5334000" cy="3856325"/>
          </a:xfrm>
        </p:grpSpPr>
        <p:sp>
          <p:nvSpPr>
            <p:cNvPr id="2" name="Text 0"/>
            <p:cNvSpPr/>
            <p:nvPr/>
          </p:nvSpPr>
          <p:spPr>
            <a:xfrm>
              <a:off x="3428848" y="1397000"/>
              <a:ext cx="533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Monthly sales (radial bars)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21758" y="2594610"/>
              <a:ext cx="1948180" cy="194818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251841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444848" y="1917700"/>
              <a:ext cx="3302000" cy="330200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18415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257140" y="2729992"/>
              <a:ext cx="1677416" cy="1677416"/>
            </a:xfrm>
            <a:custGeom>
              <a:avLst/>
              <a:gdLst/>
              <a:ahLst/>
              <a:cxnLst/>
              <a:rect l="l" t="t" r="r" b="b"/>
              <a:pathLst>
                <a:path w="1677416" h="1677416">
                  <a:moveTo>
                    <a:pt x="878217" y="931"/>
                  </a:moveTo>
                  <a:lnTo>
                    <a:pt x="960608" y="8906"/>
                  </a:lnTo>
                  <a:lnTo>
                    <a:pt x="1041813" y="24964"/>
                  </a:lnTo>
                  <a:lnTo>
                    <a:pt x="1121039" y="48948"/>
                  </a:lnTo>
                  <a:lnTo>
                    <a:pt x="1197515" y="80626"/>
                  </a:lnTo>
                  <a:lnTo>
                    <a:pt x="1270495" y="119687"/>
                  </a:lnTo>
                  <a:lnTo>
                    <a:pt x="1339270" y="165753"/>
                  </a:lnTo>
                  <a:lnTo>
                    <a:pt x="1403169" y="218373"/>
                  </a:lnTo>
                  <a:lnTo>
                    <a:pt x="1038714" y="618904"/>
                  </a:lnTo>
                  <a:lnTo>
                    <a:pt x="1016073" y="600259"/>
                  </a:lnTo>
                  <a:lnTo>
                    <a:pt x="991703" y="583937"/>
                  </a:lnTo>
                  <a:lnTo>
                    <a:pt x="965844" y="570096"/>
                  </a:lnTo>
                  <a:lnTo>
                    <a:pt x="938746" y="558872"/>
                  </a:lnTo>
                  <a:lnTo>
                    <a:pt x="910674" y="550373"/>
                  </a:lnTo>
                  <a:lnTo>
                    <a:pt x="881901" y="544684"/>
                  </a:lnTo>
                  <a:lnTo>
                    <a:pt x="852707" y="54185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756818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54067" y="2526919"/>
              <a:ext cx="2083562" cy="2083562"/>
            </a:xfrm>
            <a:custGeom>
              <a:avLst/>
              <a:gdLst/>
              <a:ahLst/>
              <a:cxnLst/>
              <a:rect l="l" t="t" r="r" b="b"/>
              <a:pathLst>
                <a:path w="2083562" h="2083562">
                  <a:moveTo>
                    <a:pt x="1812315" y="340649"/>
                  </a:moveTo>
                  <a:lnTo>
                    <a:pt x="1877676" y="420020"/>
                  </a:lnTo>
                  <a:lnTo>
                    <a:pt x="1934895" y="505447"/>
                  </a:lnTo>
                  <a:lnTo>
                    <a:pt x="1983415" y="596098"/>
                  </a:lnTo>
                  <a:lnTo>
                    <a:pt x="2022762" y="691091"/>
                  </a:lnTo>
                  <a:lnTo>
                    <a:pt x="2052554" y="789499"/>
                  </a:lnTo>
                  <a:lnTo>
                    <a:pt x="2072500" y="890365"/>
                  </a:lnTo>
                  <a:lnTo>
                    <a:pt x="2082405" y="992706"/>
                  </a:lnTo>
                  <a:lnTo>
                    <a:pt x="1338631" y="1027782"/>
                  </a:lnTo>
                  <a:lnTo>
                    <a:pt x="1335805" y="998588"/>
                  </a:lnTo>
                  <a:lnTo>
                    <a:pt x="1330116" y="969815"/>
                  </a:lnTo>
                  <a:lnTo>
                    <a:pt x="1321617" y="941743"/>
                  </a:lnTo>
                  <a:lnTo>
                    <a:pt x="1310393" y="914645"/>
                  </a:lnTo>
                  <a:lnTo>
                    <a:pt x="1296552" y="888786"/>
                  </a:lnTo>
                  <a:lnTo>
                    <a:pt x="1280230" y="864416"/>
                  </a:lnTo>
                  <a:lnTo>
                    <a:pt x="1261585" y="841775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691572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392522" y="2865374"/>
              <a:ext cx="1406652" cy="1406652"/>
            </a:xfrm>
            <a:custGeom>
              <a:avLst/>
              <a:gdLst/>
              <a:ahLst/>
              <a:cxnLst/>
              <a:rect l="l" t="t" r="r" b="b"/>
              <a:pathLst>
                <a:path w="1406652" h="1406652">
                  <a:moveTo>
                    <a:pt x="1405871" y="736457"/>
                  </a:moveTo>
                  <a:lnTo>
                    <a:pt x="1399184" y="805550"/>
                  </a:lnTo>
                  <a:lnTo>
                    <a:pt x="1385718" y="873646"/>
                  </a:lnTo>
                  <a:lnTo>
                    <a:pt x="1365605" y="940084"/>
                  </a:lnTo>
                  <a:lnTo>
                    <a:pt x="1339041" y="1004215"/>
                  </a:lnTo>
                  <a:lnTo>
                    <a:pt x="1306284" y="1065415"/>
                  </a:lnTo>
                  <a:lnTo>
                    <a:pt x="1267655" y="1123089"/>
                  </a:lnTo>
                  <a:lnTo>
                    <a:pt x="1223528" y="1176673"/>
                  </a:lnTo>
                  <a:lnTo>
                    <a:pt x="923130" y="903332"/>
                  </a:lnTo>
                  <a:lnTo>
                    <a:pt x="941775" y="880691"/>
                  </a:lnTo>
                  <a:lnTo>
                    <a:pt x="958097" y="856321"/>
                  </a:lnTo>
                  <a:lnTo>
                    <a:pt x="971938" y="830462"/>
                  </a:lnTo>
                  <a:lnTo>
                    <a:pt x="983162" y="803364"/>
                  </a:lnTo>
                  <a:lnTo>
                    <a:pt x="991661" y="775292"/>
                  </a:lnTo>
                  <a:lnTo>
                    <a:pt x="997350" y="746519"/>
                  </a:lnTo>
                  <a:lnTo>
                    <a:pt x="1000176" y="717325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691572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50994" y="2323846"/>
              <a:ext cx="2489708" cy="2489708"/>
            </a:xfrm>
            <a:custGeom>
              <a:avLst/>
              <a:gdLst/>
              <a:ahLst/>
              <a:cxnLst/>
              <a:rect l="l" t="t" r="r" b="b"/>
              <a:pathLst>
                <a:path w="2489708" h="2489708">
                  <a:moveTo>
                    <a:pt x="2082656" y="2165587"/>
                  </a:moveTo>
                  <a:lnTo>
                    <a:pt x="1987814" y="2243689"/>
                  </a:lnTo>
                  <a:lnTo>
                    <a:pt x="1885735" y="2312062"/>
                  </a:lnTo>
                  <a:lnTo>
                    <a:pt x="1777413" y="2370039"/>
                  </a:lnTo>
                  <a:lnTo>
                    <a:pt x="1663904" y="2417056"/>
                  </a:lnTo>
                  <a:lnTo>
                    <a:pt x="1546313" y="2452655"/>
                  </a:lnTo>
                  <a:lnTo>
                    <a:pt x="1425785" y="2476489"/>
                  </a:lnTo>
                  <a:lnTo>
                    <a:pt x="1303495" y="2488326"/>
                  </a:lnTo>
                  <a:lnTo>
                    <a:pt x="1258853" y="1541704"/>
                  </a:lnTo>
                  <a:lnTo>
                    <a:pt x="1288047" y="1538878"/>
                  </a:lnTo>
                  <a:lnTo>
                    <a:pt x="1316820" y="1533189"/>
                  </a:lnTo>
                  <a:lnTo>
                    <a:pt x="1344892" y="1524690"/>
                  </a:lnTo>
                  <a:lnTo>
                    <a:pt x="1371990" y="1513466"/>
                  </a:lnTo>
                  <a:lnTo>
                    <a:pt x="1397849" y="1499625"/>
                  </a:lnTo>
                  <a:lnTo>
                    <a:pt x="1422219" y="1483303"/>
                  </a:lnTo>
                  <a:lnTo>
                    <a:pt x="1444860" y="146465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6756818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959299" y="2432152"/>
              <a:ext cx="2273097" cy="2273097"/>
            </a:xfrm>
            <a:custGeom>
              <a:avLst/>
              <a:gdLst/>
              <a:ahLst/>
              <a:cxnLst/>
              <a:rect l="l" t="t" r="r" b="b"/>
              <a:pathLst>
                <a:path w="2273097" h="2273097">
                  <a:moveTo>
                    <a:pt x="1083010" y="2271835"/>
                  </a:moveTo>
                  <a:lnTo>
                    <a:pt x="971359" y="2261028"/>
                  </a:lnTo>
                  <a:lnTo>
                    <a:pt x="861318" y="2239268"/>
                  </a:lnTo>
                  <a:lnTo>
                    <a:pt x="753957" y="2206766"/>
                  </a:lnTo>
                  <a:lnTo>
                    <a:pt x="650323" y="2163840"/>
                  </a:lnTo>
                  <a:lnTo>
                    <a:pt x="551426" y="2110906"/>
                  </a:lnTo>
                  <a:lnTo>
                    <a:pt x="458228" y="2048482"/>
                  </a:lnTo>
                  <a:lnTo>
                    <a:pt x="371637" y="1977175"/>
                  </a:lnTo>
                  <a:lnTo>
                    <a:pt x="936543" y="1356352"/>
                  </a:lnTo>
                  <a:lnTo>
                    <a:pt x="959184" y="1374997"/>
                  </a:lnTo>
                  <a:lnTo>
                    <a:pt x="983553" y="1391320"/>
                  </a:lnTo>
                  <a:lnTo>
                    <a:pt x="1009412" y="1405160"/>
                  </a:lnTo>
                  <a:lnTo>
                    <a:pt x="1036510" y="1416385"/>
                  </a:lnTo>
                  <a:lnTo>
                    <a:pt x="1064582" y="1424883"/>
                  </a:lnTo>
                  <a:lnTo>
                    <a:pt x="1093355" y="1430573"/>
                  </a:lnTo>
                  <a:lnTo>
                    <a:pt x="1122549" y="1433398"/>
                  </a:lnTo>
                  <a:close/>
                </a:path>
              </a:pathLst>
            </a:cu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178337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8834" y="2621686"/>
              <a:ext cx="1894027" cy="1894027"/>
            </a:xfrm>
            <a:custGeom>
              <a:avLst/>
              <a:gdLst/>
              <a:ahLst/>
              <a:cxnLst/>
              <a:rect l="l" t="t" r="r" b="b"/>
              <a:pathLst>
                <a:path w="1894027" h="1894027">
                  <a:moveTo>
                    <a:pt x="246573" y="1584366"/>
                  </a:moveTo>
                  <a:lnTo>
                    <a:pt x="187157" y="1512215"/>
                  </a:lnTo>
                  <a:lnTo>
                    <a:pt x="135143" y="1434559"/>
                  </a:lnTo>
                  <a:lnTo>
                    <a:pt x="91037" y="1352154"/>
                  </a:lnTo>
                  <a:lnTo>
                    <a:pt x="55269" y="1265803"/>
                  </a:lnTo>
                  <a:lnTo>
                    <a:pt x="28188" y="1176346"/>
                  </a:lnTo>
                  <a:lnTo>
                    <a:pt x="10056" y="1084655"/>
                  </a:lnTo>
                  <a:lnTo>
                    <a:pt x="1051" y="991624"/>
                  </a:lnTo>
                  <a:lnTo>
                    <a:pt x="650164" y="961013"/>
                  </a:lnTo>
                  <a:lnTo>
                    <a:pt x="652989" y="990207"/>
                  </a:lnTo>
                  <a:lnTo>
                    <a:pt x="658679" y="1018980"/>
                  </a:lnTo>
                  <a:lnTo>
                    <a:pt x="667177" y="1047052"/>
                  </a:lnTo>
                  <a:lnTo>
                    <a:pt x="678402" y="1074150"/>
                  </a:lnTo>
                  <a:lnTo>
                    <a:pt x="692242" y="1100009"/>
                  </a:lnTo>
                  <a:lnTo>
                    <a:pt x="708565" y="1124378"/>
                  </a:lnTo>
                  <a:lnTo>
                    <a:pt x="727210" y="1147019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43583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15612" y="2188464"/>
              <a:ext cx="2760472" cy="2760472"/>
            </a:xfrm>
            <a:custGeom>
              <a:avLst/>
              <a:gdLst/>
              <a:ahLst/>
              <a:cxnLst/>
              <a:rect l="l" t="t" r="r" b="b"/>
              <a:pathLst>
                <a:path w="2760472" h="2760472">
                  <a:moveTo>
                    <a:pt x="1532" y="1315218"/>
                  </a:moveTo>
                  <a:lnTo>
                    <a:pt x="14656" y="1179628"/>
                  </a:lnTo>
                  <a:lnTo>
                    <a:pt x="41082" y="1045993"/>
                  </a:lnTo>
                  <a:lnTo>
                    <a:pt x="80553" y="915613"/>
                  </a:lnTo>
                  <a:lnTo>
                    <a:pt x="132683" y="789759"/>
                  </a:lnTo>
                  <a:lnTo>
                    <a:pt x="196966" y="669657"/>
                  </a:lnTo>
                  <a:lnTo>
                    <a:pt x="272774" y="556476"/>
                  </a:lnTo>
                  <a:lnTo>
                    <a:pt x="359371" y="451320"/>
                  </a:lnTo>
                  <a:lnTo>
                    <a:pt x="1160432" y="1180230"/>
                  </a:lnTo>
                  <a:lnTo>
                    <a:pt x="1141787" y="1202871"/>
                  </a:lnTo>
                  <a:lnTo>
                    <a:pt x="1125465" y="1227241"/>
                  </a:lnTo>
                  <a:lnTo>
                    <a:pt x="1111624" y="1253100"/>
                  </a:lnTo>
                  <a:lnTo>
                    <a:pt x="1100400" y="1280198"/>
                  </a:lnTo>
                  <a:lnTo>
                    <a:pt x="1091901" y="1308270"/>
                  </a:lnTo>
                  <a:lnTo>
                    <a:pt x="1086212" y="1337043"/>
                  </a:lnTo>
                  <a:lnTo>
                    <a:pt x="1083386" y="1366237"/>
                  </a:lnTo>
                  <a:close/>
                </a:path>
              </a:pathLst>
            </a:custGeom>
            <a:solidFill>
              <a:srgbClr val="E87BA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243583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4831" y="2797683"/>
              <a:ext cx="1542034" cy="1542034"/>
            </a:xfrm>
            <a:custGeom>
              <a:avLst/>
              <a:gdLst/>
              <a:ahLst/>
              <a:cxnLst/>
              <a:rect l="l" t="t" r="r" b="b"/>
              <a:pathLst>
                <a:path w="1542034" h="1542034">
                  <a:moveTo>
                    <a:pt x="252113" y="200749"/>
                  </a:moveTo>
                  <a:lnTo>
                    <a:pt x="310855" y="152375"/>
                  </a:lnTo>
                  <a:lnTo>
                    <a:pt x="374079" y="110027"/>
                  </a:lnTo>
                  <a:lnTo>
                    <a:pt x="441169" y="74118"/>
                  </a:lnTo>
                  <a:lnTo>
                    <a:pt x="511473" y="44998"/>
                  </a:lnTo>
                  <a:lnTo>
                    <a:pt x="584305" y="22949"/>
                  </a:lnTo>
                  <a:lnTo>
                    <a:pt x="658955" y="8187"/>
                  </a:lnTo>
                  <a:lnTo>
                    <a:pt x="734697" y="856"/>
                  </a:lnTo>
                  <a:lnTo>
                    <a:pt x="757018" y="474167"/>
                  </a:lnTo>
                  <a:lnTo>
                    <a:pt x="727824" y="476993"/>
                  </a:lnTo>
                  <a:lnTo>
                    <a:pt x="699051" y="482682"/>
                  </a:lnTo>
                  <a:lnTo>
                    <a:pt x="670979" y="491181"/>
                  </a:lnTo>
                  <a:lnTo>
                    <a:pt x="643881" y="502405"/>
                  </a:lnTo>
                  <a:lnTo>
                    <a:pt x="618022" y="516246"/>
                  </a:lnTo>
                  <a:lnTo>
                    <a:pt x="593652" y="532568"/>
                  </a:lnTo>
                  <a:lnTo>
                    <a:pt x="571011" y="551213"/>
                  </a:lnTo>
                  <a:close/>
                </a:path>
              </a:pathLst>
            </a:custGeom>
            <a:solidFill>
              <a:srgbClr val="EB683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78337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Aug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76700"/>
            <a:chOff x="3174848" y="1397000"/>
            <a:chExt cx="5842000" cy="40767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Team capability (stacked radar)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48574" y="3153833"/>
              <a:ext cx="894547" cy="1032933"/>
            </a:xfrm>
            <a:custGeom>
              <a:avLst/>
              <a:gdLst/>
              <a:ahLst/>
              <a:cxnLst/>
              <a:rect l="l" t="t" r="r" b="b"/>
              <a:pathLst>
                <a:path w="894547" h="1032933">
                  <a:moveTo>
                    <a:pt x="447273" y="0"/>
                  </a:moveTo>
                  <a:lnTo>
                    <a:pt x="894547" y="258233"/>
                  </a:lnTo>
                  <a:lnTo>
                    <a:pt x="894547" y="774700"/>
                  </a:lnTo>
                  <a:lnTo>
                    <a:pt x="447273" y="1032933"/>
                  </a:lnTo>
                  <a:lnTo>
                    <a:pt x="0" y="774700"/>
                  </a:lnTo>
                  <a:lnTo>
                    <a:pt x="0" y="258233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77633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01301" y="2637367"/>
              <a:ext cx="1789093" cy="2065867"/>
            </a:xfrm>
            <a:custGeom>
              <a:avLst/>
              <a:gdLst/>
              <a:ahLst/>
              <a:cxnLst/>
              <a:rect l="l" t="t" r="r" b="b"/>
              <a:pathLst>
                <a:path w="1789093" h="2065867">
                  <a:moveTo>
                    <a:pt x="894547" y="0"/>
                  </a:moveTo>
                  <a:lnTo>
                    <a:pt x="1789093" y="516467"/>
                  </a:lnTo>
                  <a:lnTo>
                    <a:pt x="1789093" y="1549400"/>
                  </a:lnTo>
                  <a:lnTo>
                    <a:pt x="894547" y="2065867"/>
                  </a:lnTo>
                  <a:lnTo>
                    <a:pt x="0" y="1549400"/>
                  </a:lnTo>
                  <a:lnTo>
                    <a:pt x="0" y="51646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561167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54028" y="2120900"/>
              <a:ext cx="2683640" cy="3098800"/>
            </a:xfrm>
            <a:custGeom>
              <a:avLst/>
              <a:gdLst/>
              <a:ahLst/>
              <a:cxnLst/>
              <a:rect l="l" t="t" r="r" b="b"/>
              <a:pathLst>
                <a:path w="2683640" h="3098800">
                  <a:moveTo>
                    <a:pt x="1341820" y="0"/>
                  </a:moveTo>
                  <a:lnTo>
                    <a:pt x="2683640" y="774700"/>
                  </a:lnTo>
                  <a:lnTo>
                    <a:pt x="2683640" y="2324100"/>
                  </a:lnTo>
                  <a:lnTo>
                    <a:pt x="1341820" y="3098800"/>
                  </a:lnTo>
                  <a:lnTo>
                    <a:pt x="0" y="2324100"/>
                  </a:lnTo>
                  <a:lnTo>
                    <a:pt x="0" y="77470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33948" y="20447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6095848" y="21209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796128" y="1866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9584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503658" y="27686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503658" y="43942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95848" y="36703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933288" y="52959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 flipV="1">
              <a:off x="475402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94337" y="4394200"/>
              <a:ext cx="3937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Comms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5402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431497" y="2768600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38029" y="3257127"/>
              <a:ext cx="805092" cy="671407"/>
            </a:xfrm>
            <a:custGeom>
              <a:avLst/>
              <a:gdLst/>
              <a:ahLst/>
              <a:cxnLst/>
              <a:rect l="l" t="t" r="r" b="b"/>
              <a:pathLst>
                <a:path w="805092" h="671407">
                  <a:moveTo>
                    <a:pt x="357819" y="0"/>
                  </a:moveTo>
                  <a:lnTo>
                    <a:pt x="626183" y="258233"/>
                  </a:lnTo>
                  <a:lnTo>
                    <a:pt x="805092" y="671407"/>
                  </a:lnTo>
                  <a:lnTo>
                    <a:pt x="357819" y="619760"/>
                  </a:lnTo>
                  <a:lnTo>
                    <a:pt x="0" y="619760"/>
                  </a:lnTo>
                  <a:lnTo>
                    <a:pt x="89455" y="25823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close/>
                </a:path>
              </a:pathLst>
            </a:custGeom>
            <a:solidFill>
              <a:srgbClr val="2A78D6">
                <a:alpha val="55000"/>
              </a:srgbClr>
            </a:solidFill>
            <a:ln w="1524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9665" y="2947247"/>
              <a:ext cx="1252365" cy="1446107"/>
            </a:xfrm>
            <a:custGeom>
              <a:avLst/>
              <a:gdLst/>
              <a:ahLst/>
              <a:cxnLst/>
              <a:rect l="l" t="t" r="r" b="b"/>
              <a:pathLst>
                <a:path w="1252365" h="1446107">
                  <a:moveTo>
                    <a:pt x="626183" y="0"/>
                  </a:moveTo>
                  <a:lnTo>
                    <a:pt x="1252365" y="361527"/>
                  </a:lnTo>
                  <a:lnTo>
                    <a:pt x="1252365" y="1084580"/>
                  </a:lnTo>
                  <a:lnTo>
                    <a:pt x="626183" y="1446107"/>
                  </a:lnTo>
                  <a:lnTo>
                    <a:pt x="0" y="1084580"/>
                  </a:lnTo>
                  <a:lnTo>
                    <a:pt x="0" y="361527"/>
                  </a:lnTo>
                  <a:lnTo>
                    <a:pt x="357819" y="568113"/>
                  </a:lnTo>
                  <a:lnTo>
                    <a:pt x="268364" y="929640"/>
                  </a:lnTo>
                  <a:lnTo>
                    <a:pt x="626183" y="929640"/>
                  </a:lnTo>
                  <a:lnTo>
                    <a:pt x="1073456" y="981287"/>
                  </a:lnTo>
                  <a:lnTo>
                    <a:pt x="894547" y="568113"/>
                  </a:lnTo>
                  <a:lnTo>
                    <a:pt x="626183" y="309880"/>
                  </a:lnTo>
                  <a:close/>
                </a:path>
              </a:pathLst>
            </a:custGeom>
            <a:solidFill>
              <a:srgbClr val="1BAF7A">
                <a:alpha val="55000"/>
              </a:srgbClr>
            </a:solidFill>
            <a:ln w="1524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22392" y="2740660"/>
              <a:ext cx="1968002" cy="1962573"/>
            </a:xfrm>
            <a:custGeom>
              <a:avLst/>
              <a:gdLst/>
              <a:ahLst/>
              <a:cxnLst/>
              <a:rect l="l" t="t" r="r" b="b"/>
              <a:pathLst>
                <a:path w="1968002" h="1962573">
                  <a:moveTo>
                    <a:pt x="1073456" y="0"/>
                  </a:moveTo>
                  <a:lnTo>
                    <a:pt x="1968002" y="413173"/>
                  </a:lnTo>
                  <a:lnTo>
                    <a:pt x="1968002" y="1446107"/>
                  </a:lnTo>
                  <a:lnTo>
                    <a:pt x="1073456" y="1962573"/>
                  </a:lnTo>
                  <a:lnTo>
                    <a:pt x="0" y="1549400"/>
                  </a:lnTo>
                  <a:lnTo>
                    <a:pt x="268364" y="464820"/>
                  </a:lnTo>
                  <a:lnTo>
                    <a:pt x="447273" y="568113"/>
                  </a:lnTo>
                  <a:lnTo>
                    <a:pt x="447273" y="1291167"/>
                  </a:lnTo>
                  <a:lnTo>
                    <a:pt x="1073456" y="1652693"/>
                  </a:lnTo>
                  <a:lnTo>
                    <a:pt x="1699638" y="1291167"/>
                  </a:lnTo>
                  <a:lnTo>
                    <a:pt x="1699638" y="568113"/>
                  </a:lnTo>
                  <a:lnTo>
                    <a:pt x="1073456" y="206587"/>
                  </a:lnTo>
                  <a:close/>
                </a:path>
              </a:pathLst>
            </a:custGeom>
            <a:solidFill>
              <a:srgbClr val="EDA100">
                <a:alpha val="55000"/>
              </a:srgbClr>
            </a:solidFill>
            <a:ln w="15240">
              <a:solidFill>
                <a:srgbClr val="EDA1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174848" y="1720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301848" y="1676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Alice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797148" y="1720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924148" y="16764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Bob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82288" y="1720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409288" y="1676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PowerChart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3784600"/>
            <a:chOff x="3174848" y="1397000"/>
            <a:chExt cx="5842000" cy="37846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share (angle = revenue, radius = margin)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82948" y="1955800"/>
              <a:ext cx="3225800" cy="3225800"/>
            </a:xfrm>
            <a:custGeom>
              <a:avLst/>
              <a:gdLst/>
              <a:ahLst/>
              <a:cxnLst/>
              <a:rect l="l" t="t" r="r" b="b"/>
              <a:pathLst>
                <a:path w="3225800" h="3225800">
                  <a:moveTo>
                    <a:pt x="1612900" y="0"/>
                  </a:moveTo>
                  <a:lnTo>
                    <a:pt x="1781494" y="8836"/>
                  </a:lnTo>
                  <a:lnTo>
                    <a:pt x="1948241" y="35246"/>
                  </a:lnTo>
                  <a:lnTo>
                    <a:pt x="2111314" y="78941"/>
                  </a:lnTo>
                  <a:lnTo>
                    <a:pt x="2268926" y="139443"/>
                  </a:lnTo>
                  <a:lnTo>
                    <a:pt x="2419350" y="216088"/>
                  </a:lnTo>
                  <a:lnTo>
                    <a:pt x="2560939" y="308036"/>
                  </a:lnTo>
                  <a:lnTo>
                    <a:pt x="2692141" y="414282"/>
                  </a:lnTo>
                  <a:lnTo>
                    <a:pt x="2811518" y="533659"/>
                  </a:lnTo>
                  <a:lnTo>
                    <a:pt x="2917764" y="664861"/>
                  </a:lnTo>
                  <a:lnTo>
                    <a:pt x="3009712" y="806450"/>
                  </a:lnTo>
                  <a:lnTo>
                    <a:pt x="3086357" y="956874"/>
                  </a:lnTo>
                  <a:lnTo>
                    <a:pt x="3146859" y="1114486"/>
                  </a:lnTo>
                  <a:lnTo>
                    <a:pt x="3190554" y="1277559"/>
                  </a:lnTo>
                  <a:lnTo>
                    <a:pt x="3216964" y="1444306"/>
                  </a:lnTo>
                  <a:lnTo>
                    <a:pt x="3225800" y="1612900"/>
                  </a:lnTo>
                  <a:lnTo>
                    <a:pt x="3216964" y="1781494"/>
                  </a:lnTo>
                  <a:lnTo>
                    <a:pt x="3190554" y="1948241"/>
                  </a:lnTo>
                  <a:lnTo>
                    <a:pt x="3146859" y="2111314"/>
                  </a:lnTo>
                  <a:lnTo>
                    <a:pt x="3086357" y="2268926"/>
                  </a:lnTo>
                  <a:lnTo>
                    <a:pt x="3009712" y="2419350"/>
                  </a:lnTo>
                  <a:lnTo>
                    <a:pt x="2917764" y="2560939"/>
                  </a:lnTo>
                  <a:lnTo>
                    <a:pt x="2811518" y="2692141"/>
                  </a:lnTo>
                  <a:lnTo>
                    <a:pt x="2692141" y="2811518"/>
                  </a:lnTo>
                  <a:lnTo>
                    <a:pt x="2560939" y="2917764"/>
                  </a:lnTo>
                  <a:lnTo>
                    <a:pt x="2419350" y="3009712"/>
                  </a:lnTo>
                  <a:lnTo>
                    <a:pt x="2268926" y="3086357"/>
                  </a:lnTo>
                  <a:lnTo>
                    <a:pt x="2111314" y="3146859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701434" y="3303473"/>
              <a:ext cx="68990" cy="1092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789239" y="320524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45%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796567" y="2269419"/>
              <a:ext cx="2598561" cy="2598561"/>
            </a:xfrm>
            <a:custGeom>
              <a:avLst/>
              <a:gdLst/>
              <a:ahLst/>
              <a:cxnLst/>
              <a:rect l="l" t="t" r="r" b="b"/>
              <a:pathLst>
                <a:path w="2598561" h="2598561">
                  <a:moveTo>
                    <a:pt x="1700780" y="2534970"/>
                  </a:moveTo>
                  <a:lnTo>
                    <a:pt x="1569416" y="2570169"/>
                  </a:lnTo>
                  <a:lnTo>
                    <a:pt x="1435092" y="2591444"/>
                  </a:lnTo>
                  <a:lnTo>
                    <a:pt x="1299281" y="2598561"/>
                  </a:lnTo>
                  <a:lnTo>
                    <a:pt x="1163469" y="2591444"/>
                  </a:lnTo>
                  <a:lnTo>
                    <a:pt x="1029145" y="2570169"/>
                  </a:lnTo>
                  <a:lnTo>
                    <a:pt x="897781" y="2534970"/>
                  </a:lnTo>
                  <a:lnTo>
                    <a:pt x="770816" y="2486232"/>
                  </a:lnTo>
                  <a:lnTo>
                    <a:pt x="649640" y="2424491"/>
                  </a:lnTo>
                  <a:lnTo>
                    <a:pt x="535583" y="2350421"/>
                  </a:lnTo>
                  <a:lnTo>
                    <a:pt x="429892" y="2264834"/>
                  </a:lnTo>
                  <a:lnTo>
                    <a:pt x="333727" y="2168669"/>
                  </a:lnTo>
                  <a:lnTo>
                    <a:pt x="248141" y="2062979"/>
                  </a:lnTo>
                  <a:lnTo>
                    <a:pt x="174071" y="1948921"/>
                  </a:lnTo>
                  <a:lnTo>
                    <a:pt x="112329" y="1827746"/>
                  </a:lnTo>
                  <a:lnTo>
                    <a:pt x="63591" y="1700780"/>
                  </a:lnTo>
                  <a:lnTo>
                    <a:pt x="28392" y="1569416"/>
                  </a:lnTo>
                  <a:lnTo>
                    <a:pt x="7118" y="1435092"/>
                  </a:lnTo>
                  <a:lnTo>
                    <a:pt x="0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5283628" y="4630115"/>
              <a:ext cx="41057" cy="565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398671" y="460678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62159" y="2135011"/>
              <a:ext cx="2867378" cy="2867378"/>
            </a:xfrm>
            <a:custGeom>
              <a:avLst/>
              <a:gdLst/>
              <a:ahLst/>
              <a:cxnLst/>
              <a:rect l="l" t="t" r="r" b="b"/>
              <a:pathLst>
                <a:path w="2867378" h="2867378">
                  <a:moveTo>
                    <a:pt x="0" y="1433689"/>
                  </a:moveTo>
                  <a:lnTo>
                    <a:pt x="7571" y="1286543"/>
                  </a:lnTo>
                  <a:lnTo>
                    <a:pt x="30205" y="1140951"/>
                  </a:lnTo>
                  <a:lnTo>
                    <a:pt x="67661" y="998450"/>
                  </a:lnTo>
                  <a:lnTo>
                    <a:pt x="119546" y="860547"/>
                  </a:lnTo>
                  <a:lnTo>
                    <a:pt x="185310" y="728697"/>
                  </a:lnTo>
                  <a:lnTo>
                    <a:pt x="264259" y="604293"/>
                  </a:lnTo>
                  <a:lnTo>
                    <a:pt x="355560" y="488649"/>
                  </a:lnTo>
                  <a:lnTo>
                    <a:pt x="458247" y="382986"/>
                  </a:lnTo>
                  <a:lnTo>
                    <a:pt x="571237" y="288420"/>
                  </a:lnTo>
                  <a:lnTo>
                    <a:pt x="693336" y="205951"/>
                  </a:lnTo>
                  <a:lnTo>
                    <a:pt x="823254" y="136448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815645" y="2756259"/>
              <a:ext cx="58976" cy="374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200120" y="265080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30975" y="2403828"/>
              <a:ext cx="2329744" cy="2329744"/>
            </a:xfrm>
            <a:custGeom>
              <a:avLst/>
              <a:gdLst/>
              <a:ahLst/>
              <a:cxnLst/>
              <a:rect l="l" t="t" r="r" b="b"/>
              <a:pathLst>
                <a:path w="2329744" h="2329744">
                  <a:moveTo>
                    <a:pt x="668894" y="110864"/>
                  </a:moveTo>
                  <a:lnTo>
                    <a:pt x="763407" y="71367"/>
                  </a:lnTo>
                  <a:lnTo>
                    <a:pt x="861025" y="40326"/>
                  </a:lnTo>
                  <a:lnTo>
                    <a:pt x="960993" y="17981"/>
                  </a:lnTo>
                  <a:lnTo>
                    <a:pt x="1062537" y="4504"/>
                  </a:lnTo>
                  <a:lnTo>
                    <a:pt x="1164872" y="0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823731" y="2351320"/>
              <a:ext cx="15237" cy="6816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220135" y="22374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LatAm 7%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PowerChart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32250"/>
            <a:chOff x="3174848" y="1397000"/>
            <a:chExt cx="5842000" cy="403225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Correlation matrix — size = magnitude, +/− marks the direction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61934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69376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818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4260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1702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174848" y="186690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835248" y="186690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961232" y="199288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4942919" y="190015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5055602" y="201283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055081" y="193789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152667" y="203548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150757" y="195915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7239841" y="204823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184373" y="191834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8289779" y="210280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250952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8499" y="254277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81182" y="265545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909668" y="250952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035652" y="263550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035533" y="256096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140939" y="266637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73869" y="272488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13708" y="276472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275377" y="265196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344381" y="277272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315214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906241" y="322313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003827" y="332072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961113" y="320358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066519" y="330899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984088" y="315214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6110072" y="327812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32613" y="332624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288955" y="338258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307033" y="332624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363375" y="342484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174848" y="379476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927497" y="388701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016581" y="397609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125029" y="401012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64868" y="404996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158193" y="396886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214535" y="402520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7058508" y="379476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7184492" y="392074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49090" y="381092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68609" y="402008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174848" y="443738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3886693" y="448882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92099" y="467328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52117" y="457982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1121" y="470058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158193" y="461148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14535" y="471008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074670" y="445354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194189" y="466270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132928" y="443738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8258912" y="456336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19348" y="5156200"/>
              <a:ext cx="80433" cy="114300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93431" y="5156200"/>
              <a:ext cx="80433" cy="114300"/>
            </a:xfrm>
            <a:prstGeom prst="rect">
              <a:avLst/>
            </a:prstGeom>
            <a:solidFill>
              <a:srgbClr val="E88685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67514" y="5156200"/>
              <a:ext cx="80433" cy="114300"/>
            </a:xfrm>
            <a:prstGeom prst="rect">
              <a:avLst/>
            </a:prstGeom>
            <a:solidFill>
              <a:srgbClr val="EB989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841598" y="5156200"/>
              <a:ext cx="80433" cy="114300"/>
            </a:xfrm>
            <a:prstGeom prst="rect">
              <a:avLst/>
            </a:prstGeom>
            <a:solidFill>
              <a:srgbClr val="EDA8A8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915681" y="5156200"/>
              <a:ext cx="80433" cy="114300"/>
            </a:xfrm>
            <a:prstGeom prst="rect">
              <a:avLst/>
            </a:prstGeom>
            <a:solidFill>
              <a:srgbClr val="F0B6B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89764" y="5156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63848" y="5156200"/>
              <a:ext cx="80433" cy="114300"/>
            </a:xfrm>
            <a:prstGeom prst="rect">
              <a:avLst/>
            </a:prstGeom>
            <a:solidFill>
              <a:srgbClr val="F4CFC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137931" y="5156200"/>
              <a:ext cx="80433" cy="114300"/>
            </a:xfrm>
            <a:prstGeom prst="rect">
              <a:avLst/>
            </a:prstGeom>
            <a:solidFill>
              <a:srgbClr val="F6DAD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212014" y="5156200"/>
              <a:ext cx="80433" cy="114300"/>
            </a:xfrm>
            <a:prstGeom prst="rect">
              <a:avLst/>
            </a:prstGeom>
            <a:solidFill>
              <a:srgbClr val="F9E4E4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286098" y="5156200"/>
              <a:ext cx="80433" cy="114300"/>
            </a:xfrm>
            <a:prstGeom prst="rect">
              <a:avLst/>
            </a:prstGeom>
            <a:solidFill>
              <a:srgbClr val="FBEEEE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360181" y="5156200"/>
              <a:ext cx="80433" cy="114300"/>
            </a:xfrm>
            <a:prstGeom prst="rect">
              <a:avLst/>
            </a:prstGeom>
            <a:solidFill>
              <a:srgbClr val="FDF7F7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434264" y="5156200"/>
              <a:ext cx="80433" cy="114300"/>
            </a:xfrm>
            <a:prstGeom prst="rect">
              <a:avLst/>
            </a:prstGeom>
            <a:solidFill>
              <a:srgbClr val="FEFEFF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4508348" y="5156200"/>
              <a:ext cx="80433" cy="114300"/>
            </a:xfrm>
            <a:prstGeom prst="rect">
              <a:avLst/>
            </a:prstGeom>
            <a:solidFill>
              <a:srgbClr val="F5F7FC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582431" y="5156200"/>
              <a:ext cx="80433" cy="114300"/>
            </a:xfrm>
            <a:prstGeom prst="rect">
              <a:avLst/>
            </a:prstGeom>
            <a:solidFill>
              <a:srgbClr val="EBEEF9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656514" y="5156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30598" y="5156200"/>
              <a:ext cx="80433" cy="114300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4804681" y="5156200"/>
              <a:ext cx="80433" cy="114300"/>
            </a:xfrm>
            <a:prstGeom prst="rect">
              <a:avLst/>
            </a:prstGeom>
            <a:solidFill>
              <a:srgbClr val="CAD4E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4878764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4952848" y="5156200"/>
              <a:ext cx="80433" cy="114300"/>
            </a:xfrm>
            <a:prstGeom prst="rect">
              <a:avLst/>
            </a:prstGeom>
            <a:solidFill>
              <a:srgbClr val="AFBFE8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026931" y="5156200"/>
              <a:ext cx="80433" cy="114300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101014" y="5156200"/>
              <a:ext cx="80433" cy="114300"/>
            </a:xfrm>
            <a:prstGeom prst="rect">
              <a:avLst/>
            </a:prstGeom>
            <a:solidFill>
              <a:srgbClr val="8DA8E1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175098" y="5156200"/>
              <a:ext cx="80433" cy="114300"/>
            </a:xfrm>
            <a:prstGeom prst="rect">
              <a:avLst/>
            </a:prstGeom>
            <a:solidFill>
              <a:srgbClr val="779ADD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249181" y="5156200"/>
              <a:ext cx="80433" cy="114300"/>
            </a:xfrm>
            <a:prstGeom prst="rect">
              <a:avLst/>
            </a:prstGeom>
            <a:solidFill>
              <a:srgbClr val="5B8AD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532326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3619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-0.9</a:t>
              </a:r>
              <a:endParaRPr lang="en-US" sz="850" dirty="0"/>
            </a:p>
          </p:txBody>
        </p:sp>
        <p:sp>
          <p:nvSpPr>
            <p:cNvPr id="88" name="Text 86"/>
            <p:cNvSpPr/>
            <p:nvPr/>
          </p:nvSpPr>
          <p:spPr>
            <a:xfrm>
              <a:off x="4508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850" dirty="0"/>
            </a:p>
          </p:txBody>
        </p:sp>
        <p:sp>
          <p:nvSpPr>
            <p:cNvPr id="89" name="Text 87"/>
            <p:cNvSpPr/>
            <p:nvPr/>
          </p:nvSpPr>
          <p:spPr>
            <a:xfrm>
              <a:off x="4334558" y="5276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/>
          <p:cNvGrpSpPr/>
          <p:nvPr>
            <p:custDataLst>
              <p:tags r:id="rId3"/>
            </p:custDataLst>
          </p:nvPr>
        </p:nvGrpSpPr>
        <p:grpSpPr>
          <a:xfrm>
            <a:off x="2920848" y="1397000"/>
            <a:ext cx="6350000" cy="4032250"/>
            <a:chOff x="2920848" y="1397000"/>
            <a:chExt cx="6350000" cy="4032250"/>
          </a:xfrm>
        </p:grpSpPr>
        <p:sp>
          <p:nvSpPr>
            <p:cNvPr id="2" name="Text 0"/>
            <p:cNvSpPr/>
            <p:nvPr/>
          </p:nvSpPr>
          <p:spPr>
            <a:xfrm>
              <a:off x="2920848" y="1397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KPIs (rows clustered)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01050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31924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62797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93671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28848" y="186690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solidFill>
              <a:srgbClr val="5C8BD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428848" y="240241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solidFill>
              <a:srgbClr val="618DD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solidFill>
              <a:srgbClr val="5186D9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solidFill>
              <a:srgbClr val="3D7ED7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428848" y="293793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Metro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solidFill>
              <a:srgbClr val="6590D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solidFill>
              <a:srgbClr val="6D94DC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solidFill>
              <a:srgbClr val="4B83D8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solidFill>
              <a:srgbClr val="4581D8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87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428848" y="347345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solidFill>
              <a:srgbClr val="BBC9EC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solidFill>
              <a:srgbClr val="BFCCED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solidFill>
              <a:srgbClr val="B1C1E9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3428848" y="400896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solidFill>
              <a:srgbClr val="EEF2FA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solidFill>
              <a:srgbClr val="F0F3FB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28848" y="454448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solidFill>
              <a:srgbClr val="EDF0FA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010508" y="5156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084591" y="5156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158674" y="5156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232758" y="5156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306841" y="5156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80924" y="5156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55008" y="5156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529091" y="5156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603174" y="5156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77258" y="5156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51341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25424" y="5156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9508" y="5156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591" y="5156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47674" y="5156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21758" y="5156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195841" y="5156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269924" y="5156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344008" y="5156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18091" y="5156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492174" y="5156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566258" y="5156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640341" y="5156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71442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010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85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899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3375954" y="2670175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>
              <a:off x="3375954" y="3205692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>
              <a:off x="3375954" y="267017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>
              <a:off x="3370908" y="2134658"/>
              <a:ext cx="1984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>
              <a:off x="3370908" y="2937933"/>
              <a:ext cx="5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>
              <a:off x="3370908" y="213465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>
              <a:off x="3357394" y="4276725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>
              <a:off x="3357394" y="4812242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>
              <a:off x="3357394" y="427672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>
              <a:off x="3134294" y="3741208"/>
              <a:ext cx="2564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>
              <a:off x="3134294" y="4544483"/>
              <a:ext cx="2231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>
              <a:off x="3134294" y="374120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>
              <a:off x="2946248" y="2536296"/>
              <a:ext cx="42466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2946248" y="4142846"/>
              <a:ext cx="188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2946248" y="2536296"/>
              <a:ext cx="0" cy="16065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5" name="PowerChart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51300"/>
            <a:chOff x="2793848" y="1397000"/>
            <a:chExt cx="6604000" cy="40513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mix (stacked area) + margin 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81924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79037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76150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3262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70375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7488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4811" y="4364482"/>
              <a:ext cx="54906" cy="8679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53367" y="4355846"/>
              <a:ext cx="54906" cy="8765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401924" y="4347210"/>
              <a:ext cx="54906" cy="885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450480" y="4338574"/>
              <a:ext cx="54906" cy="8938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499036" y="4329938"/>
              <a:ext cx="54906" cy="9024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547593" y="4321302"/>
              <a:ext cx="54906" cy="911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596149" y="4312666"/>
              <a:ext cx="54906" cy="9197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644705" y="4304030"/>
              <a:ext cx="54906" cy="9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693262" y="4295394"/>
              <a:ext cx="54906" cy="9370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41818" y="4286758"/>
              <a:ext cx="54906" cy="9456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90374" y="4278122"/>
              <a:ext cx="54906" cy="9542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838931" y="4269486"/>
              <a:ext cx="54906" cy="9629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887487" y="4260850"/>
              <a:ext cx="54906" cy="971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36043" y="4252214"/>
              <a:ext cx="54906" cy="980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984600" y="4243578"/>
              <a:ext cx="54906" cy="9888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33156" y="4234942"/>
              <a:ext cx="54906" cy="9974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081712" y="4226306"/>
              <a:ext cx="54906" cy="1006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30269" y="4217670"/>
              <a:ext cx="54906" cy="10147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78825" y="4209034"/>
              <a:ext cx="54906" cy="10233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27381" y="4200398"/>
              <a:ext cx="54906" cy="10320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275938" y="4191762"/>
              <a:ext cx="54906" cy="10406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24494" y="4183126"/>
              <a:ext cx="54906" cy="10492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373050" y="4174490"/>
              <a:ext cx="54906" cy="10579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21607" y="4165854"/>
              <a:ext cx="54906" cy="10665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70163" y="4157218"/>
              <a:ext cx="54906" cy="1075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18719" y="4148582"/>
              <a:ext cx="54906" cy="10838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567276" y="4139946"/>
              <a:ext cx="54906" cy="10924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15832" y="4131310"/>
              <a:ext cx="54906" cy="1101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664388" y="4122674"/>
              <a:ext cx="54906" cy="11097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12945" y="4114038"/>
              <a:ext cx="54906" cy="11183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761501" y="4105402"/>
              <a:ext cx="54906" cy="11269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10057" y="4096766"/>
              <a:ext cx="54906" cy="1135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858614" y="4088130"/>
              <a:ext cx="54906" cy="11442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07170" y="4079494"/>
              <a:ext cx="54906" cy="11529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955726" y="4070858"/>
              <a:ext cx="54906" cy="1161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04283" y="4062222"/>
              <a:ext cx="54906" cy="1170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052839" y="4053586"/>
              <a:ext cx="54906" cy="11788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01395" y="4044950"/>
              <a:ext cx="54906" cy="11874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149952" y="4036314"/>
              <a:ext cx="54906" cy="11960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198508" y="4027678"/>
              <a:ext cx="54906" cy="12047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47064" y="4021201"/>
              <a:ext cx="54906" cy="121119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295621" y="4016883"/>
              <a:ext cx="54906" cy="12155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344177" y="4012565"/>
              <a:ext cx="54906" cy="12198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392733" y="4008247"/>
              <a:ext cx="54906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441290" y="4003929"/>
              <a:ext cx="54906" cy="12284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489846" y="3999611"/>
              <a:ext cx="54906" cy="12327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538402" y="3995293"/>
              <a:ext cx="54906" cy="1237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586959" y="3990975"/>
              <a:ext cx="54906" cy="12414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635515" y="3986657"/>
              <a:ext cx="54906" cy="12457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684071" y="3982339"/>
              <a:ext cx="54906" cy="12500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732628" y="3978021"/>
              <a:ext cx="54906" cy="1254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781184" y="3973703"/>
              <a:ext cx="54906" cy="12586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29740" y="3969385"/>
              <a:ext cx="54906" cy="12630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878297" y="3965067"/>
              <a:ext cx="54906" cy="12673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5926853" y="3960749"/>
              <a:ext cx="54906" cy="12716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975409" y="3956431"/>
              <a:ext cx="54906" cy="12759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023966" y="3952113"/>
              <a:ext cx="54906" cy="1280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072522" y="3947795"/>
              <a:ext cx="54906" cy="12846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121078" y="3943477"/>
              <a:ext cx="54906" cy="12889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169635" y="3939159"/>
              <a:ext cx="54906" cy="1293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218191" y="3931602"/>
              <a:ext cx="54906" cy="13007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266747" y="3920808"/>
              <a:ext cx="54906" cy="13115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315304" y="3910012"/>
              <a:ext cx="54906" cy="132238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363860" y="3899218"/>
              <a:ext cx="54906" cy="1333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412416" y="3888423"/>
              <a:ext cx="54906" cy="13439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60973" y="3877627"/>
              <a:ext cx="54906" cy="13547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09529" y="3866832"/>
              <a:ext cx="54906" cy="13655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58085" y="3856038"/>
              <a:ext cx="54906" cy="13763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06642" y="3845243"/>
              <a:ext cx="54906" cy="1387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655198" y="3834447"/>
              <a:ext cx="54906" cy="13979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703754" y="3823652"/>
              <a:ext cx="54906" cy="1408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752311" y="3812858"/>
              <a:ext cx="54906" cy="14195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800867" y="3802062"/>
              <a:ext cx="54906" cy="14303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849423" y="3791268"/>
              <a:ext cx="54906" cy="1441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6897980" y="3780473"/>
              <a:ext cx="54906" cy="14519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6946536" y="3769678"/>
              <a:ext cx="54906" cy="14627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6995092" y="3758882"/>
              <a:ext cx="54906" cy="14735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043649" y="3748087"/>
              <a:ext cx="54906" cy="14843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092205" y="3737293"/>
              <a:ext cx="54906" cy="1495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140761" y="3726497"/>
              <a:ext cx="54906" cy="15059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189318" y="3715702"/>
              <a:ext cx="54906" cy="15166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237874" y="3704908"/>
              <a:ext cx="54906" cy="1527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286430" y="3694113"/>
              <a:ext cx="54906" cy="1538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334987" y="3683317"/>
              <a:ext cx="54906" cy="1549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383543" y="3672523"/>
              <a:ext cx="54906" cy="15598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432099" y="3661728"/>
              <a:ext cx="54906" cy="15706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480656" y="3650932"/>
              <a:ext cx="54906" cy="15814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529212" y="3640138"/>
              <a:ext cx="54906" cy="15922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577768" y="3629343"/>
              <a:ext cx="54906" cy="1603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626325" y="3618548"/>
              <a:ext cx="54906" cy="16138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674881" y="3607752"/>
              <a:ext cx="54906" cy="16246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7723437" y="3596957"/>
              <a:ext cx="54906" cy="16354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7771994" y="3586162"/>
              <a:ext cx="54906" cy="16462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7820550" y="3575368"/>
              <a:ext cx="54906" cy="16570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7869106" y="3564573"/>
              <a:ext cx="54906" cy="16678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7917663" y="3553778"/>
              <a:ext cx="54906" cy="16786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7966219" y="3542982"/>
              <a:ext cx="54906" cy="16894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8014775" y="3532187"/>
              <a:ext cx="54906" cy="17002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8063332" y="3521393"/>
              <a:ext cx="54906" cy="17110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8111888" y="3510598"/>
              <a:ext cx="54906" cy="17218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3304811" y="3717862"/>
              <a:ext cx="54906" cy="6466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3353367" y="3711385"/>
              <a:ext cx="54906" cy="6444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3401924" y="3704908"/>
              <a:ext cx="54906" cy="6423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3450480" y="3698430"/>
              <a:ext cx="54906" cy="64014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3499036" y="3691954"/>
              <a:ext cx="54906" cy="6379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3547593" y="3685477"/>
              <a:ext cx="54906" cy="6358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3596149" y="3678999"/>
              <a:ext cx="54906" cy="6336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644705" y="3672523"/>
              <a:ext cx="54906" cy="63150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693262" y="3666046"/>
              <a:ext cx="54906" cy="6293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741818" y="3659568"/>
              <a:ext cx="54906" cy="6271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790374" y="3653092"/>
              <a:ext cx="54906" cy="6250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3838931" y="3646615"/>
              <a:ext cx="54906" cy="6228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887487" y="3640138"/>
              <a:ext cx="54906" cy="6207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936043" y="3633660"/>
              <a:ext cx="54906" cy="6185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984600" y="3627184"/>
              <a:ext cx="54906" cy="6163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033156" y="3620706"/>
              <a:ext cx="54906" cy="61423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081712" y="3614230"/>
              <a:ext cx="54906" cy="6120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130269" y="3607753"/>
              <a:ext cx="54906" cy="6099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178825" y="3601276"/>
              <a:ext cx="54906" cy="6077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227381" y="3594798"/>
              <a:ext cx="54906" cy="6056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275938" y="3585083"/>
              <a:ext cx="54906" cy="6066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324494" y="3572129"/>
              <a:ext cx="54906" cy="6109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373050" y="3559175"/>
              <a:ext cx="54906" cy="6153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421607" y="3546221"/>
              <a:ext cx="54906" cy="619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470163" y="3533267"/>
              <a:ext cx="54906" cy="6239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518719" y="3520313"/>
              <a:ext cx="54906" cy="6282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567276" y="3507359"/>
              <a:ext cx="54906" cy="6325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615832" y="3494405"/>
              <a:ext cx="54906" cy="63690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664388" y="3481451"/>
              <a:ext cx="54906" cy="6412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712945" y="3468497"/>
              <a:ext cx="54906" cy="6455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761501" y="3455543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810057" y="3442589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858614" y="3429635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907170" y="3416681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955726" y="3403727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5004283" y="3390773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5052839" y="3377819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5101395" y="3364865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5149952" y="3351911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5198508" y="333895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5247064" y="3331400"/>
              <a:ext cx="54906" cy="6898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5295621" y="3329241"/>
              <a:ext cx="54906" cy="6876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5344177" y="3327082"/>
              <a:ext cx="54906" cy="6854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5392733" y="3324923"/>
              <a:ext cx="54906" cy="6833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5441290" y="3322765"/>
              <a:ext cx="54906" cy="6811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5489846" y="3320605"/>
              <a:ext cx="54906" cy="6790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5538402" y="3318446"/>
              <a:ext cx="54906" cy="6768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5586959" y="3316287"/>
              <a:ext cx="54906" cy="6746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5635515" y="3314128"/>
              <a:ext cx="54906" cy="6725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5684071" y="3311970"/>
              <a:ext cx="54906" cy="6703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5732628" y="3309810"/>
              <a:ext cx="54906" cy="6682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5781184" y="3307652"/>
              <a:ext cx="54906" cy="66605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5829740" y="3305492"/>
              <a:ext cx="54906" cy="6638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5878297" y="3303333"/>
              <a:ext cx="54906" cy="66173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5926853" y="3301174"/>
              <a:ext cx="54906" cy="6595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5975409" y="3299016"/>
              <a:ext cx="54906" cy="65741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6023966" y="3296857"/>
              <a:ext cx="54906" cy="6552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6072522" y="3294698"/>
              <a:ext cx="54906" cy="653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6121078" y="3292538"/>
              <a:ext cx="54906" cy="65093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6169635" y="3290380"/>
              <a:ext cx="54906" cy="6487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6218191" y="3281744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6266747" y="3266631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6315304" y="3251518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6363860" y="3236404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6412416" y="3221292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6460973" y="3206179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6509529" y="3191065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6" name="Shape 174"/>
            <p:cNvSpPr/>
            <p:nvPr/>
          </p:nvSpPr>
          <p:spPr>
            <a:xfrm>
              <a:off x="6558085" y="3175952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7" name="Shape 175"/>
            <p:cNvSpPr/>
            <p:nvPr/>
          </p:nvSpPr>
          <p:spPr>
            <a:xfrm>
              <a:off x="6606642" y="3160839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8" name="Shape 176"/>
            <p:cNvSpPr/>
            <p:nvPr/>
          </p:nvSpPr>
          <p:spPr>
            <a:xfrm>
              <a:off x="6655198" y="314572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9" name="Shape 177"/>
            <p:cNvSpPr/>
            <p:nvPr/>
          </p:nvSpPr>
          <p:spPr>
            <a:xfrm>
              <a:off x="6703754" y="3130614"/>
              <a:ext cx="54906" cy="69303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0" name="Shape 178"/>
            <p:cNvSpPr/>
            <p:nvPr/>
          </p:nvSpPr>
          <p:spPr>
            <a:xfrm>
              <a:off x="6752311" y="3115500"/>
              <a:ext cx="54906" cy="6973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1" name="Shape 179"/>
            <p:cNvSpPr/>
            <p:nvPr/>
          </p:nvSpPr>
          <p:spPr>
            <a:xfrm>
              <a:off x="6800867" y="3100388"/>
              <a:ext cx="54906" cy="7016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2" name="Shape 180"/>
            <p:cNvSpPr/>
            <p:nvPr/>
          </p:nvSpPr>
          <p:spPr>
            <a:xfrm>
              <a:off x="6849423" y="3085274"/>
              <a:ext cx="54906" cy="7059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3" name="Shape 181"/>
            <p:cNvSpPr/>
            <p:nvPr/>
          </p:nvSpPr>
          <p:spPr>
            <a:xfrm>
              <a:off x="6897980" y="3070162"/>
              <a:ext cx="54906" cy="7103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4" name="Shape 182"/>
            <p:cNvSpPr/>
            <p:nvPr/>
          </p:nvSpPr>
          <p:spPr>
            <a:xfrm>
              <a:off x="6946536" y="3055049"/>
              <a:ext cx="54906" cy="714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5" name="Shape 183"/>
            <p:cNvSpPr/>
            <p:nvPr/>
          </p:nvSpPr>
          <p:spPr>
            <a:xfrm>
              <a:off x="6995092" y="3039935"/>
              <a:ext cx="54906" cy="7189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6" name="Shape 184"/>
            <p:cNvSpPr/>
            <p:nvPr/>
          </p:nvSpPr>
          <p:spPr>
            <a:xfrm>
              <a:off x="7043649" y="3024822"/>
              <a:ext cx="54906" cy="7232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7" name="Shape 185"/>
            <p:cNvSpPr/>
            <p:nvPr/>
          </p:nvSpPr>
          <p:spPr>
            <a:xfrm>
              <a:off x="7092205" y="3009709"/>
              <a:ext cx="54906" cy="7275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8" name="Shape 186"/>
            <p:cNvSpPr/>
            <p:nvPr/>
          </p:nvSpPr>
          <p:spPr>
            <a:xfrm>
              <a:off x="7140761" y="2994596"/>
              <a:ext cx="54906" cy="7319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9" name="Shape 187"/>
            <p:cNvSpPr/>
            <p:nvPr/>
          </p:nvSpPr>
          <p:spPr>
            <a:xfrm>
              <a:off x="7189318" y="2980563"/>
              <a:ext cx="54906" cy="73514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0" name="Shape 188"/>
            <p:cNvSpPr/>
            <p:nvPr/>
          </p:nvSpPr>
          <p:spPr>
            <a:xfrm>
              <a:off x="7237874" y="2967609"/>
              <a:ext cx="54906" cy="7372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1" name="Shape 189"/>
            <p:cNvSpPr/>
            <p:nvPr/>
          </p:nvSpPr>
          <p:spPr>
            <a:xfrm>
              <a:off x="7286430" y="2954655"/>
              <a:ext cx="54906" cy="7394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2" name="Shape 190"/>
            <p:cNvSpPr/>
            <p:nvPr/>
          </p:nvSpPr>
          <p:spPr>
            <a:xfrm>
              <a:off x="7334987" y="2941701"/>
              <a:ext cx="54906" cy="7416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3" name="Shape 191"/>
            <p:cNvSpPr/>
            <p:nvPr/>
          </p:nvSpPr>
          <p:spPr>
            <a:xfrm>
              <a:off x="7383543" y="2928747"/>
              <a:ext cx="54906" cy="7437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4" name="Shape 192"/>
            <p:cNvSpPr/>
            <p:nvPr/>
          </p:nvSpPr>
          <p:spPr>
            <a:xfrm>
              <a:off x="7432099" y="2915793"/>
              <a:ext cx="54906" cy="74593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5" name="Shape 193"/>
            <p:cNvSpPr/>
            <p:nvPr/>
          </p:nvSpPr>
          <p:spPr>
            <a:xfrm>
              <a:off x="7480656" y="2902839"/>
              <a:ext cx="54906" cy="748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6" name="Shape 194"/>
            <p:cNvSpPr/>
            <p:nvPr/>
          </p:nvSpPr>
          <p:spPr>
            <a:xfrm>
              <a:off x="7529212" y="2889885"/>
              <a:ext cx="54906" cy="7502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7" name="Shape 195"/>
            <p:cNvSpPr/>
            <p:nvPr/>
          </p:nvSpPr>
          <p:spPr>
            <a:xfrm>
              <a:off x="7577768" y="2876931"/>
              <a:ext cx="54906" cy="75241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8" name="Shape 196"/>
            <p:cNvSpPr/>
            <p:nvPr/>
          </p:nvSpPr>
          <p:spPr>
            <a:xfrm>
              <a:off x="7626325" y="2863977"/>
              <a:ext cx="54906" cy="7545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9" name="Shape 197"/>
            <p:cNvSpPr/>
            <p:nvPr/>
          </p:nvSpPr>
          <p:spPr>
            <a:xfrm>
              <a:off x="7674881" y="2851023"/>
              <a:ext cx="54906" cy="7567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0" name="Shape 198"/>
            <p:cNvSpPr/>
            <p:nvPr/>
          </p:nvSpPr>
          <p:spPr>
            <a:xfrm>
              <a:off x="7723437" y="2838069"/>
              <a:ext cx="54906" cy="7588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1" name="Shape 199"/>
            <p:cNvSpPr/>
            <p:nvPr/>
          </p:nvSpPr>
          <p:spPr>
            <a:xfrm>
              <a:off x="7771994" y="2825115"/>
              <a:ext cx="54906" cy="7610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2" name="Shape 200"/>
            <p:cNvSpPr/>
            <p:nvPr/>
          </p:nvSpPr>
          <p:spPr>
            <a:xfrm>
              <a:off x="7820550" y="2812161"/>
              <a:ext cx="54906" cy="7632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3" name="Shape 201"/>
            <p:cNvSpPr/>
            <p:nvPr/>
          </p:nvSpPr>
          <p:spPr>
            <a:xfrm>
              <a:off x="7869106" y="2799207"/>
              <a:ext cx="54906" cy="76536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4" name="Shape 202"/>
            <p:cNvSpPr/>
            <p:nvPr/>
          </p:nvSpPr>
          <p:spPr>
            <a:xfrm>
              <a:off x="7917663" y="2786253"/>
              <a:ext cx="54906" cy="7675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5" name="Shape 203"/>
            <p:cNvSpPr/>
            <p:nvPr/>
          </p:nvSpPr>
          <p:spPr>
            <a:xfrm>
              <a:off x="7966219" y="2773299"/>
              <a:ext cx="54906" cy="7696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6" name="Shape 204"/>
            <p:cNvSpPr/>
            <p:nvPr/>
          </p:nvSpPr>
          <p:spPr>
            <a:xfrm>
              <a:off x="8014775" y="2760345"/>
              <a:ext cx="54906" cy="7718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7" name="Shape 205"/>
            <p:cNvSpPr/>
            <p:nvPr/>
          </p:nvSpPr>
          <p:spPr>
            <a:xfrm>
              <a:off x="8063332" y="2747391"/>
              <a:ext cx="54906" cy="7740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8" name="Shape 206"/>
            <p:cNvSpPr/>
            <p:nvPr/>
          </p:nvSpPr>
          <p:spPr>
            <a:xfrm>
              <a:off x="8111888" y="2734437"/>
              <a:ext cx="54906" cy="7761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9" name="Shape 207"/>
            <p:cNvSpPr/>
            <p:nvPr/>
          </p:nvSpPr>
          <p:spPr>
            <a:xfrm>
              <a:off x="3304811" y="3284982"/>
              <a:ext cx="54906" cy="4328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0" name="Shape 208"/>
            <p:cNvSpPr/>
            <p:nvPr/>
          </p:nvSpPr>
          <p:spPr>
            <a:xfrm>
              <a:off x="3353367" y="3276346"/>
              <a:ext cx="54906" cy="43503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1" name="Shape 209"/>
            <p:cNvSpPr/>
            <p:nvPr/>
          </p:nvSpPr>
          <p:spPr>
            <a:xfrm>
              <a:off x="3401924" y="3267710"/>
              <a:ext cx="54906" cy="4371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2" name="Shape 210"/>
            <p:cNvSpPr/>
            <p:nvPr/>
          </p:nvSpPr>
          <p:spPr>
            <a:xfrm>
              <a:off x="3450480" y="3259074"/>
              <a:ext cx="54906" cy="43935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3" name="Shape 211"/>
            <p:cNvSpPr/>
            <p:nvPr/>
          </p:nvSpPr>
          <p:spPr>
            <a:xfrm>
              <a:off x="3499036" y="3250438"/>
              <a:ext cx="54906" cy="44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4" name="Shape 212"/>
            <p:cNvSpPr/>
            <p:nvPr/>
          </p:nvSpPr>
          <p:spPr>
            <a:xfrm>
              <a:off x="3547593" y="3241802"/>
              <a:ext cx="54906" cy="44367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5" name="Shape 213"/>
            <p:cNvSpPr/>
            <p:nvPr/>
          </p:nvSpPr>
          <p:spPr>
            <a:xfrm>
              <a:off x="3596149" y="3233166"/>
              <a:ext cx="54906" cy="44583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6" name="Shape 214"/>
            <p:cNvSpPr/>
            <p:nvPr/>
          </p:nvSpPr>
          <p:spPr>
            <a:xfrm>
              <a:off x="3644705" y="3224530"/>
              <a:ext cx="54906" cy="4479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7" name="Shape 215"/>
            <p:cNvSpPr/>
            <p:nvPr/>
          </p:nvSpPr>
          <p:spPr>
            <a:xfrm>
              <a:off x="3693262" y="3215894"/>
              <a:ext cx="54906" cy="4501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8" name="Shape 216"/>
            <p:cNvSpPr/>
            <p:nvPr/>
          </p:nvSpPr>
          <p:spPr>
            <a:xfrm>
              <a:off x="3741818" y="3207258"/>
              <a:ext cx="54906" cy="45231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9" name="Shape 217"/>
            <p:cNvSpPr/>
            <p:nvPr/>
          </p:nvSpPr>
          <p:spPr>
            <a:xfrm>
              <a:off x="3790374" y="3198622"/>
              <a:ext cx="54906" cy="45447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0" name="Shape 218"/>
            <p:cNvSpPr/>
            <p:nvPr/>
          </p:nvSpPr>
          <p:spPr>
            <a:xfrm>
              <a:off x="3838931" y="3189986"/>
              <a:ext cx="54906" cy="45662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1" name="Shape 219"/>
            <p:cNvSpPr/>
            <p:nvPr/>
          </p:nvSpPr>
          <p:spPr>
            <a:xfrm>
              <a:off x="3887487" y="3181350"/>
              <a:ext cx="54906" cy="4587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2" name="Shape 220"/>
            <p:cNvSpPr/>
            <p:nvPr/>
          </p:nvSpPr>
          <p:spPr>
            <a:xfrm>
              <a:off x="3936043" y="3172714"/>
              <a:ext cx="54906" cy="46094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3" name="Shape 221"/>
            <p:cNvSpPr/>
            <p:nvPr/>
          </p:nvSpPr>
          <p:spPr>
            <a:xfrm>
              <a:off x="3984600" y="3164078"/>
              <a:ext cx="54906" cy="46310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4" name="Shape 222"/>
            <p:cNvSpPr/>
            <p:nvPr/>
          </p:nvSpPr>
          <p:spPr>
            <a:xfrm>
              <a:off x="4033156" y="3155442"/>
              <a:ext cx="54906" cy="4652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5" name="Shape 223"/>
            <p:cNvSpPr/>
            <p:nvPr/>
          </p:nvSpPr>
          <p:spPr>
            <a:xfrm>
              <a:off x="4081712" y="3146806"/>
              <a:ext cx="54906" cy="4674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6" name="Shape 224"/>
            <p:cNvSpPr/>
            <p:nvPr/>
          </p:nvSpPr>
          <p:spPr>
            <a:xfrm>
              <a:off x="4130269" y="3138170"/>
              <a:ext cx="54906" cy="46958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7" name="Shape 225"/>
            <p:cNvSpPr/>
            <p:nvPr/>
          </p:nvSpPr>
          <p:spPr>
            <a:xfrm>
              <a:off x="4178825" y="3129534"/>
              <a:ext cx="54906" cy="47174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8" name="Shape 226"/>
            <p:cNvSpPr/>
            <p:nvPr/>
          </p:nvSpPr>
          <p:spPr>
            <a:xfrm>
              <a:off x="4227381" y="3120898"/>
              <a:ext cx="54906" cy="47390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9" name="Shape 227"/>
            <p:cNvSpPr/>
            <p:nvPr/>
          </p:nvSpPr>
          <p:spPr>
            <a:xfrm>
              <a:off x="4275938" y="3109023"/>
              <a:ext cx="54906" cy="47606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0" name="Shape 228"/>
            <p:cNvSpPr/>
            <p:nvPr/>
          </p:nvSpPr>
          <p:spPr>
            <a:xfrm>
              <a:off x="4324494" y="3093910"/>
              <a:ext cx="54906" cy="4782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1" name="Shape 229"/>
            <p:cNvSpPr/>
            <p:nvPr/>
          </p:nvSpPr>
          <p:spPr>
            <a:xfrm>
              <a:off x="4373050" y="3078798"/>
              <a:ext cx="54906" cy="4803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2" name="Shape 230"/>
            <p:cNvSpPr/>
            <p:nvPr/>
          </p:nvSpPr>
          <p:spPr>
            <a:xfrm>
              <a:off x="4421607" y="3063684"/>
              <a:ext cx="54906" cy="4825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3" name="Shape 231"/>
            <p:cNvSpPr/>
            <p:nvPr/>
          </p:nvSpPr>
          <p:spPr>
            <a:xfrm>
              <a:off x="4470163" y="3048571"/>
              <a:ext cx="54906" cy="4846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4" name="Shape 232"/>
            <p:cNvSpPr/>
            <p:nvPr/>
          </p:nvSpPr>
          <p:spPr>
            <a:xfrm>
              <a:off x="4518719" y="3033458"/>
              <a:ext cx="54906" cy="4868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5" name="Shape 233"/>
            <p:cNvSpPr/>
            <p:nvPr/>
          </p:nvSpPr>
          <p:spPr>
            <a:xfrm>
              <a:off x="4567276" y="3018345"/>
              <a:ext cx="54906" cy="48901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6" name="Shape 234"/>
            <p:cNvSpPr/>
            <p:nvPr/>
          </p:nvSpPr>
          <p:spPr>
            <a:xfrm>
              <a:off x="4615832" y="3003233"/>
              <a:ext cx="54906" cy="4911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7" name="Shape 235"/>
            <p:cNvSpPr/>
            <p:nvPr/>
          </p:nvSpPr>
          <p:spPr>
            <a:xfrm>
              <a:off x="4664388" y="2988119"/>
              <a:ext cx="54906" cy="4933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8" name="Shape 236"/>
            <p:cNvSpPr/>
            <p:nvPr/>
          </p:nvSpPr>
          <p:spPr>
            <a:xfrm>
              <a:off x="4712945" y="2973007"/>
              <a:ext cx="54906" cy="49549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9" name="Shape 237"/>
            <p:cNvSpPr/>
            <p:nvPr/>
          </p:nvSpPr>
          <p:spPr>
            <a:xfrm>
              <a:off x="4761501" y="2957893"/>
              <a:ext cx="54906" cy="4976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0" name="Shape 238"/>
            <p:cNvSpPr/>
            <p:nvPr/>
          </p:nvSpPr>
          <p:spPr>
            <a:xfrm>
              <a:off x="4810057" y="2942781"/>
              <a:ext cx="54906" cy="49980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1" name="Shape 239"/>
            <p:cNvSpPr/>
            <p:nvPr/>
          </p:nvSpPr>
          <p:spPr>
            <a:xfrm>
              <a:off x="4858614" y="2927668"/>
              <a:ext cx="54906" cy="5019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2" name="Shape 240"/>
            <p:cNvSpPr/>
            <p:nvPr/>
          </p:nvSpPr>
          <p:spPr>
            <a:xfrm>
              <a:off x="4907170" y="2912555"/>
              <a:ext cx="54906" cy="50412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3" name="Shape 241"/>
            <p:cNvSpPr/>
            <p:nvPr/>
          </p:nvSpPr>
          <p:spPr>
            <a:xfrm>
              <a:off x="4955726" y="2897442"/>
              <a:ext cx="54906" cy="50628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4" name="Shape 242"/>
            <p:cNvSpPr/>
            <p:nvPr/>
          </p:nvSpPr>
          <p:spPr>
            <a:xfrm>
              <a:off x="5004283" y="2882329"/>
              <a:ext cx="54906" cy="50844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5" name="Shape 243"/>
            <p:cNvSpPr/>
            <p:nvPr/>
          </p:nvSpPr>
          <p:spPr>
            <a:xfrm>
              <a:off x="5052839" y="2867216"/>
              <a:ext cx="54906" cy="51060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6" name="Shape 244"/>
            <p:cNvSpPr/>
            <p:nvPr/>
          </p:nvSpPr>
          <p:spPr>
            <a:xfrm>
              <a:off x="5101395" y="2852102"/>
              <a:ext cx="54906" cy="51276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7" name="Shape 245"/>
            <p:cNvSpPr/>
            <p:nvPr/>
          </p:nvSpPr>
          <p:spPr>
            <a:xfrm>
              <a:off x="5149952" y="2836990"/>
              <a:ext cx="54906" cy="5149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8" name="Shape 246"/>
            <p:cNvSpPr/>
            <p:nvPr/>
          </p:nvSpPr>
          <p:spPr>
            <a:xfrm>
              <a:off x="5198508" y="2821877"/>
              <a:ext cx="54906" cy="5170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9" name="Shape 247"/>
            <p:cNvSpPr/>
            <p:nvPr/>
          </p:nvSpPr>
          <p:spPr>
            <a:xfrm>
              <a:off x="5247064" y="2811082"/>
              <a:ext cx="54906" cy="5203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0" name="Shape 248"/>
            <p:cNvSpPr/>
            <p:nvPr/>
          </p:nvSpPr>
          <p:spPr>
            <a:xfrm>
              <a:off x="5295621" y="2804605"/>
              <a:ext cx="54906" cy="5246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1" name="Shape 249"/>
            <p:cNvSpPr/>
            <p:nvPr/>
          </p:nvSpPr>
          <p:spPr>
            <a:xfrm>
              <a:off x="5344177" y="2798128"/>
              <a:ext cx="54906" cy="5289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2" name="Shape 250"/>
            <p:cNvSpPr/>
            <p:nvPr/>
          </p:nvSpPr>
          <p:spPr>
            <a:xfrm>
              <a:off x="5392733" y="2791651"/>
              <a:ext cx="54906" cy="5332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3" name="Shape 251"/>
            <p:cNvSpPr/>
            <p:nvPr/>
          </p:nvSpPr>
          <p:spPr>
            <a:xfrm>
              <a:off x="5441290" y="2785174"/>
              <a:ext cx="54906" cy="53759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4" name="Shape 252"/>
            <p:cNvSpPr/>
            <p:nvPr/>
          </p:nvSpPr>
          <p:spPr>
            <a:xfrm>
              <a:off x="5489846" y="2778697"/>
              <a:ext cx="54906" cy="5419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5" name="Shape 253"/>
            <p:cNvSpPr/>
            <p:nvPr/>
          </p:nvSpPr>
          <p:spPr>
            <a:xfrm>
              <a:off x="5538402" y="2772220"/>
              <a:ext cx="54906" cy="54622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6" name="Shape 254"/>
            <p:cNvSpPr/>
            <p:nvPr/>
          </p:nvSpPr>
          <p:spPr>
            <a:xfrm>
              <a:off x="5586959" y="2765743"/>
              <a:ext cx="54906" cy="55054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7" name="Shape 255"/>
            <p:cNvSpPr/>
            <p:nvPr/>
          </p:nvSpPr>
          <p:spPr>
            <a:xfrm>
              <a:off x="5635515" y="2759266"/>
              <a:ext cx="54906" cy="55486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8" name="Shape 256"/>
            <p:cNvSpPr/>
            <p:nvPr/>
          </p:nvSpPr>
          <p:spPr>
            <a:xfrm>
              <a:off x="5684071" y="2752788"/>
              <a:ext cx="54906" cy="5591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9" name="Shape 257"/>
            <p:cNvSpPr/>
            <p:nvPr/>
          </p:nvSpPr>
          <p:spPr>
            <a:xfrm>
              <a:off x="5732628" y="2746312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0" name="Shape 258"/>
            <p:cNvSpPr/>
            <p:nvPr/>
          </p:nvSpPr>
          <p:spPr>
            <a:xfrm>
              <a:off x="5781184" y="2739835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1" name="Shape 259"/>
            <p:cNvSpPr/>
            <p:nvPr/>
          </p:nvSpPr>
          <p:spPr>
            <a:xfrm>
              <a:off x="5829740" y="2733357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2" name="Shape 260"/>
            <p:cNvSpPr/>
            <p:nvPr/>
          </p:nvSpPr>
          <p:spPr>
            <a:xfrm>
              <a:off x="5878297" y="2726880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3" name="Shape 261"/>
            <p:cNvSpPr/>
            <p:nvPr/>
          </p:nvSpPr>
          <p:spPr>
            <a:xfrm>
              <a:off x="5926853" y="2720404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4" name="Shape 262"/>
            <p:cNvSpPr/>
            <p:nvPr/>
          </p:nvSpPr>
          <p:spPr>
            <a:xfrm>
              <a:off x="5975409" y="2713926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5" name="Shape 263"/>
            <p:cNvSpPr/>
            <p:nvPr/>
          </p:nvSpPr>
          <p:spPr>
            <a:xfrm>
              <a:off x="6023966" y="2707449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6" name="Shape 264"/>
            <p:cNvSpPr/>
            <p:nvPr/>
          </p:nvSpPr>
          <p:spPr>
            <a:xfrm>
              <a:off x="6072522" y="2700972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7" name="Shape 265"/>
            <p:cNvSpPr/>
            <p:nvPr/>
          </p:nvSpPr>
          <p:spPr>
            <a:xfrm>
              <a:off x="6121078" y="2694495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8" name="Shape 266"/>
            <p:cNvSpPr/>
            <p:nvPr/>
          </p:nvSpPr>
          <p:spPr>
            <a:xfrm>
              <a:off x="6169635" y="2688018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9" name="Shape 267"/>
            <p:cNvSpPr/>
            <p:nvPr/>
          </p:nvSpPr>
          <p:spPr>
            <a:xfrm>
              <a:off x="6218191" y="2678303"/>
              <a:ext cx="54906" cy="6034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0" name="Shape 268"/>
            <p:cNvSpPr/>
            <p:nvPr/>
          </p:nvSpPr>
          <p:spPr>
            <a:xfrm>
              <a:off x="6266747" y="2665349"/>
              <a:ext cx="54906" cy="6012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1" name="Shape 269"/>
            <p:cNvSpPr/>
            <p:nvPr/>
          </p:nvSpPr>
          <p:spPr>
            <a:xfrm>
              <a:off x="6315304" y="2652395"/>
              <a:ext cx="54906" cy="5991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2" name="Shape 270"/>
            <p:cNvSpPr/>
            <p:nvPr/>
          </p:nvSpPr>
          <p:spPr>
            <a:xfrm>
              <a:off x="6363860" y="2639441"/>
              <a:ext cx="54906" cy="59696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3" name="Shape 271"/>
            <p:cNvSpPr/>
            <p:nvPr/>
          </p:nvSpPr>
          <p:spPr>
            <a:xfrm>
              <a:off x="6412416" y="2626487"/>
              <a:ext cx="54906" cy="5948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4" name="Shape 272"/>
            <p:cNvSpPr/>
            <p:nvPr/>
          </p:nvSpPr>
          <p:spPr>
            <a:xfrm>
              <a:off x="6460973" y="2613533"/>
              <a:ext cx="54906" cy="59264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5" name="Shape 273"/>
            <p:cNvSpPr/>
            <p:nvPr/>
          </p:nvSpPr>
          <p:spPr>
            <a:xfrm>
              <a:off x="6509529" y="2600579"/>
              <a:ext cx="54906" cy="5904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6" name="Shape 274"/>
            <p:cNvSpPr/>
            <p:nvPr/>
          </p:nvSpPr>
          <p:spPr>
            <a:xfrm>
              <a:off x="6558085" y="2587625"/>
              <a:ext cx="54906" cy="58832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7" name="Shape 275"/>
            <p:cNvSpPr/>
            <p:nvPr/>
          </p:nvSpPr>
          <p:spPr>
            <a:xfrm>
              <a:off x="6606642" y="2574671"/>
              <a:ext cx="54906" cy="5861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8" name="Shape 276"/>
            <p:cNvSpPr/>
            <p:nvPr/>
          </p:nvSpPr>
          <p:spPr>
            <a:xfrm>
              <a:off x="6655198" y="2561717"/>
              <a:ext cx="54906" cy="5840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9" name="Shape 277"/>
            <p:cNvSpPr/>
            <p:nvPr/>
          </p:nvSpPr>
          <p:spPr>
            <a:xfrm>
              <a:off x="6703754" y="2548763"/>
              <a:ext cx="54906" cy="5818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0" name="Shape 278"/>
            <p:cNvSpPr/>
            <p:nvPr/>
          </p:nvSpPr>
          <p:spPr>
            <a:xfrm>
              <a:off x="6752311" y="2535809"/>
              <a:ext cx="54906" cy="57969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1" name="Shape 279"/>
            <p:cNvSpPr/>
            <p:nvPr/>
          </p:nvSpPr>
          <p:spPr>
            <a:xfrm>
              <a:off x="6800867" y="2522855"/>
              <a:ext cx="54906" cy="5775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2" name="Shape 280"/>
            <p:cNvSpPr/>
            <p:nvPr/>
          </p:nvSpPr>
          <p:spPr>
            <a:xfrm>
              <a:off x="6849423" y="2509901"/>
              <a:ext cx="54906" cy="57537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3" name="Shape 281"/>
            <p:cNvSpPr/>
            <p:nvPr/>
          </p:nvSpPr>
          <p:spPr>
            <a:xfrm>
              <a:off x="6897980" y="2496947"/>
              <a:ext cx="54906" cy="5732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4" name="Shape 282"/>
            <p:cNvSpPr/>
            <p:nvPr/>
          </p:nvSpPr>
          <p:spPr>
            <a:xfrm>
              <a:off x="6946536" y="2483993"/>
              <a:ext cx="54906" cy="5710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5" name="Shape 283"/>
            <p:cNvSpPr/>
            <p:nvPr/>
          </p:nvSpPr>
          <p:spPr>
            <a:xfrm>
              <a:off x="6995092" y="2471039"/>
              <a:ext cx="54906" cy="5688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6" name="Shape 284"/>
            <p:cNvSpPr/>
            <p:nvPr/>
          </p:nvSpPr>
          <p:spPr>
            <a:xfrm>
              <a:off x="7043649" y="2458085"/>
              <a:ext cx="54906" cy="5667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7" name="Shape 285"/>
            <p:cNvSpPr/>
            <p:nvPr/>
          </p:nvSpPr>
          <p:spPr>
            <a:xfrm>
              <a:off x="7092205" y="2445131"/>
              <a:ext cx="54906" cy="5645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8" name="Shape 286"/>
            <p:cNvSpPr/>
            <p:nvPr/>
          </p:nvSpPr>
          <p:spPr>
            <a:xfrm>
              <a:off x="7140761" y="2432177"/>
              <a:ext cx="54906" cy="5624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9" name="Shape 287"/>
            <p:cNvSpPr/>
            <p:nvPr/>
          </p:nvSpPr>
          <p:spPr>
            <a:xfrm>
              <a:off x="7189318" y="2417064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0" name="Shape 288"/>
            <p:cNvSpPr/>
            <p:nvPr/>
          </p:nvSpPr>
          <p:spPr>
            <a:xfrm>
              <a:off x="7237874" y="2399792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1" name="Shape 289"/>
            <p:cNvSpPr/>
            <p:nvPr/>
          </p:nvSpPr>
          <p:spPr>
            <a:xfrm>
              <a:off x="7286430" y="2382520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2" name="Shape 290"/>
            <p:cNvSpPr/>
            <p:nvPr/>
          </p:nvSpPr>
          <p:spPr>
            <a:xfrm>
              <a:off x="7334987" y="2365248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3" name="Shape 291"/>
            <p:cNvSpPr/>
            <p:nvPr/>
          </p:nvSpPr>
          <p:spPr>
            <a:xfrm>
              <a:off x="7383543" y="2347976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4" name="Shape 292"/>
            <p:cNvSpPr/>
            <p:nvPr/>
          </p:nvSpPr>
          <p:spPr>
            <a:xfrm>
              <a:off x="7432099" y="2330704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5" name="Shape 293"/>
            <p:cNvSpPr/>
            <p:nvPr/>
          </p:nvSpPr>
          <p:spPr>
            <a:xfrm>
              <a:off x="7480656" y="2313432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6" name="Shape 294"/>
            <p:cNvSpPr/>
            <p:nvPr/>
          </p:nvSpPr>
          <p:spPr>
            <a:xfrm>
              <a:off x="7529212" y="2296160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7" name="Shape 295"/>
            <p:cNvSpPr/>
            <p:nvPr/>
          </p:nvSpPr>
          <p:spPr>
            <a:xfrm>
              <a:off x="7577768" y="2278888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8" name="Shape 296"/>
            <p:cNvSpPr/>
            <p:nvPr/>
          </p:nvSpPr>
          <p:spPr>
            <a:xfrm>
              <a:off x="7626325" y="2261616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9" name="Shape 297"/>
            <p:cNvSpPr/>
            <p:nvPr/>
          </p:nvSpPr>
          <p:spPr>
            <a:xfrm>
              <a:off x="7674881" y="2244344"/>
              <a:ext cx="54906" cy="6066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0" name="Shape 298"/>
            <p:cNvSpPr/>
            <p:nvPr/>
          </p:nvSpPr>
          <p:spPr>
            <a:xfrm>
              <a:off x="7723437" y="2227072"/>
              <a:ext cx="54906" cy="6109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1" name="Shape 299"/>
            <p:cNvSpPr/>
            <p:nvPr/>
          </p:nvSpPr>
          <p:spPr>
            <a:xfrm>
              <a:off x="7771994" y="2209800"/>
              <a:ext cx="54906" cy="6153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2" name="Shape 300"/>
            <p:cNvSpPr/>
            <p:nvPr/>
          </p:nvSpPr>
          <p:spPr>
            <a:xfrm>
              <a:off x="7820550" y="2192528"/>
              <a:ext cx="54906" cy="6196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3" name="Shape 301"/>
            <p:cNvSpPr/>
            <p:nvPr/>
          </p:nvSpPr>
          <p:spPr>
            <a:xfrm>
              <a:off x="7869106" y="2175256"/>
              <a:ext cx="54906" cy="6239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4" name="Shape 302"/>
            <p:cNvSpPr/>
            <p:nvPr/>
          </p:nvSpPr>
          <p:spPr>
            <a:xfrm>
              <a:off x="7917663" y="2157984"/>
              <a:ext cx="54906" cy="6282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5" name="Shape 303"/>
            <p:cNvSpPr/>
            <p:nvPr/>
          </p:nvSpPr>
          <p:spPr>
            <a:xfrm>
              <a:off x="7966219" y="2140712"/>
              <a:ext cx="54906" cy="6325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6" name="Shape 304"/>
            <p:cNvSpPr/>
            <p:nvPr/>
          </p:nvSpPr>
          <p:spPr>
            <a:xfrm>
              <a:off x="8014775" y="2123440"/>
              <a:ext cx="54906" cy="6369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7" name="Shape 305"/>
            <p:cNvSpPr/>
            <p:nvPr/>
          </p:nvSpPr>
          <p:spPr>
            <a:xfrm>
              <a:off x="8063332" y="2106168"/>
              <a:ext cx="54906" cy="6412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8" name="Shape 306"/>
            <p:cNvSpPr/>
            <p:nvPr/>
          </p:nvSpPr>
          <p:spPr>
            <a:xfrm>
              <a:off x="8111888" y="2088896"/>
              <a:ext cx="54906" cy="6455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9" name="Shape 307"/>
            <p:cNvSpPr/>
            <p:nvPr/>
          </p:nvSpPr>
          <p:spPr>
            <a:xfrm>
              <a:off x="2819248" y="5232400"/>
              <a:ext cx="5826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0" name="Text 308"/>
            <p:cNvSpPr/>
            <p:nvPr/>
          </p:nvSpPr>
          <p:spPr>
            <a:xfrm>
              <a:off x="8696808" y="231838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11" name="Text 309"/>
            <p:cNvSpPr/>
            <p:nvPr/>
          </p:nvSpPr>
          <p:spPr>
            <a:xfrm>
              <a:off x="8696808" y="303085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12" name="Text 310"/>
            <p:cNvSpPr/>
            <p:nvPr/>
          </p:nvSpPr>
          <p:spPr>
            <a:xfrm>
              <a:off x="8696808" y="428307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1000" dirty="0"/>
            </a:p>
          </p:txBody>
        </p:sp>
        <p:sp>
          <p:nvSpPr>
            <p:cNvPr id="313" name="Text 311"/>
            <p:cNvSpPr/>
            <p:nvPr/>
          </p:nvSpPr>
          <p:spPr>
            <a:xfrm>
              <a:off x="8671408" y="5143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4" name="Text 312"/>
            <p:cNvSpPr/>
            <p:nvPr/>
          </p:nvSpPr>
          <p:spPr>
            <a:xfrm>
              <a:off x="8671408" y="3992033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15" name="Text 313"/>
            <p:cNvSpPr/>
            <p:nvPr/>
          </p:nvSpPr>
          <p:spPr>
            <a:xfrm>
              <a:off x="8671408" y="2840567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16" name="Text 314"/>
            <p:cNvSpPr/>
            <p:nvPr/>
          </p:nvSpPr>
          <p:spPr>
            <a:xfrm>
              <a:off x="8671408" y="1689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7" name="Shape 315"/>
            <p:cNvSpPr/>
            <p:nvPr/>
          </p:nvSpPr>
          <p:spPr>
            <a:xfrm>
              <a:off x="3274331" y="266869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8" name="Text 316"/>
            <p:cNvSpPr/>
            <p:nvPr/>
          </p:nvSpPr>
          <p:spPr>
            <a:xfrm>
              <a:off x="2923811" y="24896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19" name="Shape 317"/>
            <p:cNvSpPr/>
            <p:nvPr/>
          </p:nvSpPr>
          <p:spPr>
            <a:xfrm flipV="1">
              <a:off x="3304811" y="246888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0" name="Shape 318"/>
            <p:cNvSpPr/>
            <p:nvPr/>
          </p:nvSpPr>
          <p:spPr>
            <a:xfrm>
              <a:off x="4245458" y="243840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1" name="Text 319"/>
            <p:cNvSpPr/>
            <p:nvPr/>
          </p:nvSpPr>
          <p:spPr>
            <a:xfrm>
              <a:off x="3894938" y="22593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322" name="Shape 320"/>
            <p:cNvSpPr/>
            <p:nvPr/>
          </p:nvSpPr>
          <p:spPr>
            <a:xfrm flipV="1">
              <a:off x="4275938" y="2238587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3" name="Shape 321"/>
            <p:cNvSpPr/>
            <p:nvPr/>
          </p:nvSpPr>
          <p:spPr>
            <a:xfrm>
              <a:off x="5216584" y="2208107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4" name="Text 322"/>
            <p:cNvSpPr/>
            <p:nvPr/>
          </p:nvSpPr>
          <p:spPr>
            <a:xfrm>
              <a:off x="4866064" y="20290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325" name="Shape 323"/>
            <p:cNvSpPr/>
            <p:nvPr/>
          </p:nvSpPr>
          <p:spPr>
            <a:xfrm>
              <a:off x="5247064" y="2238587"/>
              <a:ext cx="971127" cy="115147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6" name="Shape 324"/>
            <p:cNvSpPr/>
            <p:nvPr/>
          </p:nvSpPr>
          <p:spPr>
            <a:xfrm>
              <a:off x="6187711" y="232325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7" name="Text 325"/>
            <p:cNvSpPr/>
            <p:nvPr/>
          </p:nvSpPr>
          <p:spPr>
            <a:xfrm>
              <a:off x="5837191" y="2144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28" name="Shape 326"/>
            <p:cNvSpPr/>
            <p:nvPr/>
          </p:nvSpPr>
          <p:spPr>
            <a:xfrm flipV="1">
              <a:off x="6218191" y="2008293"/>
              <a:ext cx="971127" cy="345440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9" name="Shape 327"/>
            <p:cNvSpPr/>
            <p:nvPr/>
          </p:nvSpPr>
          <p:spPr>
            <a:xfrm>
              <a:off x="7158838" y="197781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0" name="Text 328"/>
            <p:cNvSpPr/>
            <p:nvPr/>
          </p:nvSpPr>
          <p:spPr>
            <a:xfrm>
              <a:off x="6808318" y="179874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331" name="Shape 329"/>
            <p:cNvSpPr/>
            <p:nvPr/>
          </p:nvSpPr>
          <p:spPr>
            <a:xfrm flipV="1">
              <a:off x="7189318" y="177800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32" name="Shape 330"/>
            <p:cNvSpPr/>
            <p:nvPr/>
          </p:nvSpPr>
          <p:spPr>
            <a:xfrm>
              <a:off x="8129964" y="174752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3" name="Text 331"/>
            <p:cNvSpPr/>
            <p:nvPr/>
          </p:nvSpPr>
          <p:spPr>
            <a:xfrm>
              <a:off x="7779444" y="1568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334" name="Text 332"/>
            <p:cNvSpPr/>
            <p:nvPr/>
          </p:nvSpPr>
          <p:spPr>
            <a:xfrm>
              <a:off x="8696808" y="150495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/>
          <p:cNvGrpSpPr/>
          <p:nvPr>
            <p:custDataLst>
              <p:tags r:id="rId3"/>
            </p:custDataLst>
          </p:nvPr>
        </p:nvGrpSpPr>
        <p:grpSpPr>
          <a:xfrm>
            <a:off x="2158848" y="1778000"/>
            <a:ext cx="7874000" cy="3225800"/>
            <a:chOff x="2158848" y="1778000"/>
            <a:chExt cx="7874000" cy="3225800"/>
          </a:xfrm>
        </p:grpSpPr>
        <p:sp>
          <p:nvSpPr>
            <p:cNvPr id="2" name="Text 0"/>
            <p:cNvSpPr/>
            <p:nvPr/>
          </p:nvSpPr>
          <p:spPr>
            <a:xfrm>
              <a:off x="2158848" y="1778000"/>
              <a:ext cx="787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Programme plan — cost and effort beside the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9486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49006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06550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401750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18239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313439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529928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9225128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158848" y="22733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158848" y="23939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94862" y="2453640"/>
              <a:ext cx="191168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794862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706550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285848" y="28511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606128" y="28511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94862" y="27178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0–3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2285848" y="33083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Concept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9606128" y="33083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794862" y="31750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158848" y="36449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2158848" y="37655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706550" y="3825240"/>
              <a:ext cx="344104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70655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14759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2285848" y="42227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606128" y="42227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794862" y="40894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2285848" y="46799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606128" y="46799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794862" y="45466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11–14</a:t>
              </a:r>
              <a:endParaRPr lang="en-US" sz="9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2903068" y="2057400"/>
              <a:ext cx="482854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 k€</a:t>
              </a:r>
              <a:endParaRPr lang="en-US" sz="9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2903068" y="2393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2903068" y="28511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2903068" y="33083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75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903068" y="37655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260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2903068" y="42227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191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2903068" y="4679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62122" y="2057400"/>
              <a:ext cx="25654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FTE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462122" y="2393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3462122" y="28511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462122" y="33083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62122" y="37655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462122" y="42227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3462122" y="4679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/>
          <p:cNvGrpSpPr/>
          <p:nvPr>
            <p:custDataLst>
              <p:tags r:id="rId3"/>
            </p:custDataLst>
          </p:nvPr>
        </p:nvGrpSpPr>
        <p:grpSpPr>
          <a:xfrm>
            <a:off x="2539848" y="1905000"/>
            <a:ext cx="7340600" cy="2971800"/>
            <a:chOff x="2539848" y="1905000"/>
            <a:chExt cx="7340600" cy="2971800"/>
          </a:xfrm>
        </p:grpSpPr>
        <p:sp>
          <p:nvSpPr>
            <p:cNvPr id="2" name="Text 0"/>
            <p:cNvSpPr/>
            <p:nvPr/>
          </p:nvSpPr>
          <p:spPr>
            <a:xfrm>
              <a:off x="2539848" y="1905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Working-day timeline — weekends carry no width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832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7352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88149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483349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7970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170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865827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61027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6035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Jan–8 Jan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32258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8328" y="30099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 Jan–15 Jan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8481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8328" y="36322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 Jan–20 Jan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44704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8328" y="42545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207791" y="4476750"/>
              <a:ext cx="68392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814041" y="26987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88641" y="33210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5400000">
              <a:off x="5712441" y="32766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1898" y="33210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156498" y="39433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rot="5400000">
              <a:off x="7080298" y="3898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207791" y="39433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82391" y="45656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rot="5400000">
              <a:off x="8106191" y="45212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PowerChart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64000"/>
            <a:chOff x="2793848" y="1397000"/>
            <a:chExt cx="6604000" cy="40640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Marginal histograms — distribution beside the relationship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5168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894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40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7211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632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9527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8638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1844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095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9208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305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402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1499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5596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2184400"/>
              <a:ext cx="0" cy="30734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3930498" y="2072640"/>
              <a:ext cx="692150" cy="7366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63534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4019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749898" y="2035810"/>
              <a:ext cx="692150" cy="11049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454748" y="1925320"/>
              <a:ext cx="692150" cy="22098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8159598" y="1814830"/>
              <a:ext cx="692150" cy="33147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8902548" y="487362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8902548" y="4489450"/>
              <a:ext cx="368300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902548" y="410527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902548" y="3721100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8902548" y="3336925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8902548" y="2952750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902548" y="2568575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56278" y="51428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949673" y="472027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443068" y="42976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5936463" y="487394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879188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372583" y="502761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865978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08703" y="418242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302098" y="475869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795493" y="43360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738218" y="49123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231613" y="44897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725008" y="50660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667733" y="464343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161128" y="422084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654523" y="47971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4597248" y="43745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090643" y="49507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5584038" y="452818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4526763" y="51044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5020158" y="46818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5513553" y="425926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473923" y="27609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8826348" y="395192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7064223" y="383667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416648" y="372141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769073" y="36061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21498" y="349091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473923" y="33756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826348" y="32604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7064223" y="31451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7416648" y="302990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7769073" y="29146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8121498" y="27993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473923" y="3990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8826348" y="387508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7064223" y="375983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7416648" y="364458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7769073" y="35293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8121498" y="34140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Overlap relief — markers nudged along Y only, by a disclosed cap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513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3624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9370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848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34226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33337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9083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819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25648" y="23939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2793848" y="23050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225648" y="18796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793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208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4384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9561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4737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225648" y="1879600"/>
              <a:ext cx="0" cy="30861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24382" y="1874591"/>
              <a:ext cx="621066" cy="62106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624382" y="1703141"/>
              <a:ext cx="62106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083622" y="2056497"/>
              <a:ext cx="439160" cy="43916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83622" y="1794094"/>
              <a:ext cx="43916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714969" y="2021109"/>
              <a:ext cx="555498" cy="555498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2965837" y="4318908"/>
              <a:ext cx="519621" cy="519621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045888" y="1629240"/>
              <a:ext cx="500719" cy="500719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288640" y="4622292"/>
              <a:ext cx="481075" cy="4810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147115" y="3809573"/>
              <a:ext cx="460595" cy="46059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924903" y="2380110"/>
              <a:ext cx="439160" cy="4391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93218" y="4073572"/>
              <a:ext cx="416623" cy="41662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72202" y="1838884"/>
              <a:ext cx="392796" cy="39279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795115" y="478028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Charlie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3633110" y="395732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891753" y="28446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Y positions approximate: markers spread by up to ±3.0 to reduce overlap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Shape per group — the split survives greyscale and color blindness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013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3924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060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2971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108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208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3496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4908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56320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7732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225648" y="2108200"/>
              <a:ext cx="0" cy="28575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1955800"/>
              <a:ext cx="88900" cy="8890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352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985108" y="1944540"/>
              <a:ext cx="111420" cy="111420"/>
            </a:xfrm>
            <a:prstGeom prst="diamond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13462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744568" y="1944540"/>
              <a:ext cx="111420" cy="111420"/>
            </a:xfrm>
            <a:prstGeom prst="triangle">
              <a:avLst/>
            </a:prstGeom>
            <a:solidFill>
              <a:srgbClr val="EDA100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89408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16020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280256" y="3927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523080" y="4689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098138" y="41656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848960" y="32510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73902" y="358444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31078" y="291769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16726" y="34415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670140" y="2441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095082" y="2727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912964" y="2060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337906" y="2346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017620" y="44069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Northwind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381856" y="388302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24680" y="4645025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4199738" y="41211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960212" y="32162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Umbra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6385154" y="35496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142330" y="2882900"/>
              <a:ext cx="5740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Vandelay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6380328" y="326072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Hooli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781392" y="240665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Stark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206334" y="26924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Wayne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742276" y="2171700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Tyrell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8449158" y="23114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Cyberdyne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Groups: challengers, contenders, leaders.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/>
          <p:cNvGrpSpPr/>
          <p:nvPr>
            <p:custDataLst>
              <p:tags r:id="rId3"/>
            </p:custDataLst>
          </p:nvPr>
        </p:nvGrpSpPr>
        <p:grpSpPr>
          <a:xfrm>
            <a:off x="2920848" y="1524000"/>
            <a:ext cx="6350000" cy="3797300"/>
            <a:chOff x="2920848" y="1524000"/>
            <a:chExt cx="6350000" cy="3797300"/>
          </a:xfrm>
        </p:grpSpPr>
        <p:sp>
          <p:nvSpPr>
            <p:cNvPr id="2" name="Text 0"/>
            <p:cNvSpPr/>
            <p:nvPr/>
          </p:nvSpPr>
          <p:spPr>
            <a:xfrm>
              <a:off x="2920848" y="1524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Benchmark markers — consensus per quarter, on the columns' own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94624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3943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2581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78446" y="3677073"/>
              <a:ext cx="928793" cy="142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127646" y="429598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78446" y="3064933"/>
              <a:ext cx="928793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27646" y="327575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46248" y="2531533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571636" y="3524038"/>
              <a:ext cx="928793" cy="158136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20836" y="4219469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71636" y="2809875"/>
              <a:ext cx="928793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20836" y="307170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339438" y="248602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64826" y="3575050"/>
              <a:ext cx="92879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14026" y="4244975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64826" y="2707852"/>
              <a:ext cx="928793" cy="86719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14026" y="3046201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23702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358016" y="3268980"/>
              <a:ext cx="928793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307216" y="4091940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358016" y="2503805"/>
              <a:ext cx="928793" cy="76517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307216" y="279114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125818" y="217995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946248" y="5105400"/>
              <a:ext cx="5572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69808" y="2800668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69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602203" y="2922270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261843" y="275336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995393" y="282024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655033" y="26513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88583" y="251417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048223" y="234526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781773" y="2565188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441413" y="239627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69808" y="2402628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Consensus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112000" cy="3797300"/>
            <a:chOff x="2539848" y="1524000"/>
            <a:chExt cx="7112000" cy="37973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Bridge with “of which” detail columns — the walk steps over them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652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4447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3241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2036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Labour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Freight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626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Energy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8420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7215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711827" y="2353056"/>
              <a:ext cx="586317" cy="27523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635627" y="36339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98143" y="2353056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591302" y="1905000"/>
              <a:ext cx="586317" cy="448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515102" y="20337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77618" y="1905000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470777" y="1905000"/>
              <a:ext cx="586317" cy="38404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394577" y="200177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57093" y="2289048"/>
              <a:ext cx="293158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350252" y="1905000"/>
              <a:ext cx="586317" cy="22402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274052" y="192176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229727" y="2129028"/>
              <a:ext cx="586317" cy="9601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53527" y="19448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109202" y="2225040"/>
              <a:ext cx="586317" cy="6400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033002" y="2040890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988677" y="2289048"/>
              <a:ext cx="586317" cy="128016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7912477" y="210489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574993" y="2417064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868152" y="2417064"/>
              <a:ext cx="586317" cy="2688336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91952" y="3665982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565248" y="5105400"/>
              <a:ext cx="7035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/>
          <p:cNvGrpSpPr/>
          <p:nvPr>
            <p:custDataLst>
              <p:tags r:id="rId3"/>
            </p:custDataLst>
          </p:nvPr>
        </p:nvGrpSpPr>
        <p:grpSpPr>
          <a:xfrm>
            <a:off x="2539848" y="1651000"/>
            <a:ext cx="7340600" cy="3479800"/>
            <a:chOff x="2539848" y="1651000"/>
            <a:chExt cx="7340600" cy="3479800"/>
          </a:xfrm>
        </p:grpSpPr>
        <p:sp>
          <p:nvSpPr>
            <p:cNvPr id="2" name="Text 0"/>
            <p:cNvSpPr/>
            <p:nvPr/>
          </p:nvSpPr>
          <p:spPr>
            <a:xfrm>
              <a:off x="2539848" y="1651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grouped into owner lanes — dependencies follow their rows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7265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503267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609270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715273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821275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927278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32154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9106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27551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97071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33554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03074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39556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9076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45559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15079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851562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821082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95756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927084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539848" y="2146300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2539848" y="2252436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275514" y="2312126"/>
              <a:ext cx="318008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27551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45559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2666848" y="2680607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215488" y="2561771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Jan–12 Jan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666848" y="3108779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215488" y="2989943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Jan–26 Jan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539848" y="3430814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2539848" y="3536950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335541" y="3596640"/>
              <a:ext cx="3634377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335541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8969918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2666848" y="3965121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215488" y="3846286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Jan–19 Jan</a:t>
              </a:r>
              <a:endParaRPr lang="en-US" sz="9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666848" y="4393293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215488" y="4274457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 Feb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666848" y="4821464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Handover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3215488" y="4702629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8515621" y="4827814"/>
              <a:ext cx="45429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395568" y="3204029"/>
              <a:ext cx="0" cy="856343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6370168" y="3204029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rot="5400000">
              <a:off x="6293968" y="3159579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335541" y="2775857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5310141" y="4060371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rot="5400000">
              <a:off x="5233941" y="4015921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455594" y="3204029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430194" y="448854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rot="5400000">
              <a:off x="7353994" y="444409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515621" y="4488543"/>
              <a:ext cx="0" cy="428171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490221" y="4916714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rot="5400000">
              <a:off x="8414021" y="4872264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werChart" descr="preencoded.png">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"/>
          <a:stretch>
            <a:fillRect/>
          </a:stretch>
        </p:blipFill>
        <p:spPr>
          <a:xfrm>
            <a:off x="3047848" y="1524000"/>
            <a:ext cx="6096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Shape 0"/>
            <p:cNvSpPr/>
            <p:nvPr/>
          </p:nvSpPr>
          <p:spPr>
            <a:xfrm>
              <a:off x="3492348" y="1879600"/>
              <a:ext cx="303847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30448" y="1892300"/>
              <a:ext cx="29622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poor</a:t>
              </a:r>
              <a:endParaRPr lang="en-US" sz="9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6530823" y="1879600"/>
              <a:ext cx="1104900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568923" y="1892300"/>
              <a:ext cx="10287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7635723" y="1879600"/>
              <a:ext cx="138112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7673823" y="1892300"/>
              <a:ext cx="13049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good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graph — actual vs target, the way one is usually drawn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949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326217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34099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4493683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92348" y="2060222"/>
              <a:ext cx="38671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441548" y="2326217"/>
              <a:ext cx="39687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3143956"/>
              <a:ext cx="3038475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441548" y="3409950"/>
              <a:ext cx="31400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92348" y="4227689"/>
              <a:ext cx="49720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441548" y="4493683"/>
              <a:ext cx="50736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911948" y="2091267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07048" y="3175000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188173" y="4258733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Stacked — Revenue by segment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— Sales by quarter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— Channel mix&quot;,&quot;data&quot;:{&quot;categories&quot;:[&quot;2022&quot;,&quot;2023&quot;,&quot;2024&quot;,&quot;2025&quot;],&quot;series&quot;:[{&quot;name&quot;:&quot;Retail&quot;,&quot;values&quot;:[55,49,44,38]},{&quot;name&quot;:&quot;Online&quot;,&quot;values&quot;:[30,36,41,47]},{&quot;name&quot;:&quot;Wholesale&quot;,&quot;values&quot;:[15,15,15,15]}]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— EBITDA bridge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— Revenue by region and segment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Line — Gross margin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true,&quot;gridlines&quot;:true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— Active users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— Headcount by age band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rice vs. margin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Group&quot;,&quot;values&quot;:[1,1,2,2,3,3,1,2]}]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— Market map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Size&quot;,&quot;values&quot;:[10,40,90,25,55,70,15,35]},{&quot;name&quot;:&quot;Group&quot;,&quot;values&quot;:[1,1,2,2,3,3,1,2]}]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Programme plan (weeks)&quot;,&quot;data&quot;:{&quot;categories&quot;:[&quot;Scoping&quot;,&quot;Design&quot;,&quot;Build&quot;,&quot;Test&quot;,&quot;Rollout&quot;],&quot;series&quot;:[{&quot;name&quot;:&quot;Start&quot;,&quot;values&quot;:[1,3,5,10,13]},{&quot;name&quot;:&quot;End&quot;,&quot;values&quot;:[3,6,11,13,15]},{&quot;name&quot;:&quot;Milestone&quot;,&quot;values&quot;:[null,6,null,13,15]}]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— Revenue and margin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Pie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Doughnut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— Delivery days by region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— Capability assessment&quot;,&quot;data&quot;:{&quot;categories&quot;:[&quot;Strategy&quot;,&quot;Data&quot;,&quot;Talent&quot;,&quot;Process&quot;,&quot;Tech&quot;,&quot;Culture&quot;],&quot;series&quot;:[{&quot;name&quot;:&quot;Today&quot;,&quot;values&quot;:[3,2,3,2,4,3]},{&quot;name&quot;:&quot;Target&quot;,&quot;values&quot;:[4,4,4,3,5,4]}]},&quot;scale&quot;:{&quot;min&quot;:0,&quot;max&quot;:5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— Sales by region and quarter&quot;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,{&quot;name&quot;:&quot;West&quot;,&quot;values&quot;:[18,16,21,24]}]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— Revenue by market (€m)&quot;,&quot;map&quot;:&quot;europe&quot;,&quot;data&quot;:{&quot;categories&quot;:[&quot;DK&quot;,&quot;SE&quot;,&quot;NO&quot;,&quot;FI&quot;,&quot;DE&quot;,&quot;NL&quot;,&quot;FR&quot;,&quot;GB&quot;,&quot;ES&quot;,&quot;IT&quot;,&quot;PL&quot;],&quot;series&quot;:[{&quot;name&quot;:&quot;Revenue&quot;,&quot;values&quot;:[84,61,45,32,140,66,98,112,54,72,38]}]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scade&quot;,&quot;width&quot;:480,&quot;height&quot;:300,&quot;title&quot;:&quot;Cascade — Support volume breakdown — April&quot;,&quot;data&quot;:{&quot;categories&quot;:[&quot;Total contacts | | Contacts&quot;,&quot;Answered | Dropped contacts | Contacts&quot;,&quot;With a case | Without a case | Incidents &amp; Service Requests&quot;,&quot;Solved in support | Not solved in support | Incidents &amp; Service Requests&quot;],&quot;series&quot;:[{&quot;name&quot;:&quot;Volume&quot;,&quot;values&quot;:[4986,4616,3405,2685]}]},&quot;footnote&quot;:&quot;Source: service desk logs, Apr 2026&quot;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funnel&quot;,&quot;width&quot;:480,&quot;height&quot;:300,&quot;title&quot;:&quot;Funnel — Sales pipeline&quot;,&quot;data&quot;:{&quot;categories&quot;:[&quot;Leads&quot;,&quot;Qualified&quot;,&quot;Proposal&quot;,&quot;Negotiation&quot;,&quot;Won&quot;],&quot;series&quot;:[{&quot;name&quot;:&quot;Deals&quot;,&quot;values&quot;:[1200,720,380,190,120]}]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Share of revenue under subscription&quot;,&quot;data&quot;:{&quot;categories&quot;:[&quot;Subscription&quot;],&quot;series&quot;:[{&quot;name&quot;:&quot;Share&quot;,&quot;values&quot;:[68]}]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reemap — Revenue by product line&quot;,&quot;data&quot;:{&quot;categories&quot;:[&quot;Cloud&quot;,&quot;Licenses&quot;,&quot;Services&quot;,&quot;Hardware&quot;,&quot;Support&quot;,&quot;Training&quot;],&quot;series&quot;:[{&quot;name&quot;:&quot;Revenue&quot;,&quot;values&quot;:[120,80,60,40,25,15]}]},&quot;decorations&quot;:{&quot;segmentLabels&quot;:true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— Revenue by region and product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Violin — Response time distribution (ms)&quot;,&quot;data&quot;:{&quot;categories&quot;:[&quot;API&quot;,&quot;Web&quot;,&quot;Batch&quot;],&quot;series&quot;:[{&quot;name&quot;:&quot;s1&quot;,&quot;values&quot;:[120,210,640]},{&quot;name&quot;:&quot;s2&quot;,&quot;values&quot;:[135,190,700]},{&quot;name&quot;:&quot;s3&quot;,&quot;values&quot;:[128,240,580]},{&quot;name&quot;:&quot;s4&quot;,&quot;values&quot;:[142,205,660]},{&quot;name&quot;:&quot;s5&quot;,&quot;values&quot;:[150,260,720]},{&quot;name&quot;:&quot;s6&quot;,&quot;values&quot;:[131,220,610]},{&quot;name&quot;:&quot;s7&quot;,&quot;values&quot;:[125,235,690]},{&quot;name&quot;:&quot;s8&quot;,&quot;values&quot;:[160,200,640]},{&quot;name&quot;:&quot;s9&quot;,&quot;values&quot;:[138,250,705]},{&quot;name&quot;:&quot;s10&quot;,&quot;values&quot;:[145,215,655]}]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Candlestick — Share price — last two weeks&quot;,&quot;data&quot;:{&quot;categories&quot;:[&quot;Mon&quot;,&quot;Tue&quot;,&quot;Wed&quot;,&quot;Thu&quot;,&quot;Fri&quot;,&quot;Mon&quot;,&quot;Tue&quot;,&quot;Wed&quot;,&quot;Thu&quot;,&quot;Fri&quot;],&quot;series&quot;:[{&quot;name&quot;:&quot;Open&quot;,&quot;values&quot;:[42,44,43,46,45,47,49,48,46,47]},{&quot;name&quot;:&quot;High&quot;,&quot;values&quot;:[45,46,47,47,48,50,51,49,48,50]},{&quot;name&quot;:&quot;Low&quot;,&quot;values&quot;:[41,42,42,44,44,46,47,45,44,46]},{&quot;name&quot;:&quot;Close&quot;,&quot;values&quot;:[44,43,46,45,47,49,48,46,47,49]}]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Decorations — totals, CAGR, difference, value lin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,&quot;difference&quot;:{&quot;from&quot;:0,&quot;to&quot;:3},&quot;valueLines&quot;:[{&quot;mode&quot;:&quot;mean&quot;}]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Grand total — sum of all category totals (top-right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totals&quot;:true,&quot;grandTotal&quot;:true,&quot;categoryAxis&quot;:true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20,&quot;title&quot;:&quot;IBCS scenarios — PY / AC / FC / PL by fill&quot;,&quot;decorations&quot;:{&quot;categoryAxis&quot;:true,&quot;seriesLabels&quot;:false,&quot;valueAxis&quot;:true},&quot;data&quot;:{&quot;categories&quot;:[&quot;Q1&quot;,&quot;Q2&quot;,&quot;Q3&quot;,&quot;Q4&quot;],&quot;series&quot;:[{&quot;name&quot;:&quot;Sales&quot;,&quot;scenario&quot;:&quot;PY&quot;,&quot;color&quot;:&quot;#3b6ea5&quot;,&quot;values&quot;:[80,85,90,95]},{&quot;name&quot;:&quot;Sales&quot;,&quot;scenario&quot;:&quot;AC&quot;,&quot;color&quot;:&quot;#3b6ea5&quot;,&quot;values&quot;:[82,88,96,null]},{&quot;name&quot;:&quot;Sales&quot;,&quot;scenario&quot;:&quot;FC&quot;,&quot;color&quot;:&quot;#3b6ea5&quot;,&quot;values&quot;:[null,null,null,102]},{&quot;name&quot;:&quot;Sales&quot;,&quot;scenario&quot;:&quot;PL&quot;,&quot;color&quot;:&quot;#3b6ea5&quot;,&quot;values&quot;:[85,90,95,100]}]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40,&quot;title&quot;:&quot;IBCS variance tier — actual vs plan (Δ below)&quot;,&quot;decorations&quot;:{&quot;categoryAxis&quot;:true,&quot;valueAxis&quot;:true,&quot;variance&quot;:{&quot;actual&quot;:0,&quot;reference&quot;:1}},&quot;data&quot;:{&quot;categories&quot;:[&quot;Q1&quot;,&quot;Q2&quot;,&quot;Q3&quot;,&quot;Q4&quot;],&quot;series&quot;:[{&quot;name&quot;:&quot;Actual&quot;,&quot;scenario&quot;:&quot;AC&quot;,&quot;color&quot;:&quot;#3b6ea5&quot;,&quot;values&quot;:[82,88,96,91]},{&quot;name&quot;:&quot;Plan&quot;,&quot;scenario&quot;:&quot;PL&quot;,&quot;color&quot;:&quot;#3b6ea5&quot;,&quot;values&quot;:[85,86,95,100]}]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evel difference (series) + label content Value+%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difference&quot;:{&quot;from&quot;:0,&quot;to&quot;:3,&quot;series&quot;:0},&quot;labelContent&quot;:[&quot;value&quot;,&quot;percent&quot;]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Bar orientation + segment order descending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seriesLabels&quot;:true},&quot;horizontal&quot;:true,&quot;segmentOrder&quot;:&quot;descending&quot;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ategory sort descending + pinned axis + de-DE local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valueAxis&quot;:true,&quot;gridlines&quot;:true},&quot;categorySort&quot;:&quot;descending&quot;,&quot;scale&quot;:{&quot;max&quot;:150},&quot;numberFormat&quot;:{&quot;decimals&quot;:1,&quot;locale&quot;:&quot;de-DE&quot;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lustered-stacked (stack groups) &quot;,&quot;data&quot;:{&quot;categories&quot;:[&quot;2024&quot;,&quot;2025&quot;],&quot;series&quot;:[{&quot;name&quot;:&quot;EU Product&quot;,&quot;values&quot;:[30,36],&quot;stack&quot;:0},{&quot;name&quot;:&quot;EU Services&quot;,&quot;values&quot;:[12,16],&quot;stack&quot;:0},{&quot;name&quot;:&quot;US Product&quot;,&quot;values&quot;:[26,33],&quot;stack&quot;:1},{&quot;name&quot;:&quot;US Services&quot;,&quot;values&quot;:[10,14],&quot;stack&quot;:1}]},&quot;decorations&quot;:{&quot;totals&quot;:true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Axis break (620 outlier) + axis title&quot;,&quot;data&quot;:{&quot;categories&quot;:[&quot;Q1&quot;,&quot;Q2&quot;,&quot;Q3&quot;,&quot;Q4&quot;],&quot;series&quot;:[{&quot;name&quot;:&quot;Sales&quot;,&quot;values&quot;:[42,55,620,61]}]},&quot;axisBreak&quot;:{&quot;from&quot;:80,&quot;to&quot;:580},&quot;valueAxisTitle&quot;:&quot;€m&quot;,&quot;decorations&quot;:{&quot;valueAxis&quot;:true,&quot;gridlines&quot;:true,&quot;seriesLabels&quot;:false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Log scale&quot;,&quot;data&quot;:{&quot;categories&quot;:[&quot;Seed&quot;,&quot;A&quot;,&quot;B&quot;,&quot;C&quot;],&quot;series&quot;:[{&quot;name&quot;:&quot;Valuation&quot;,&quot;values&quot;:[4,40,220,1900]}]},&quot;logScale&quot;:true,&quot;valueAxisTitle&quot;:&quot;$m (log)&quot;,&quot;decorations&quot;:{&quot;valueAxis&quot;:true,&quot;gridlines&quot;:true,&quot;seriesLabels&quot;:false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= row (columns short of 100%)&quot;,&quot;data&quot;:{&quot;categories&quot;:[&quot;2023&quot;,&quot;2024&quot;,&quot;2025&quot;],&quot;series&quot;:[{&quot;name&quot;:&quot;Won&quot;,&quot;values&quot;:[40,55,70]},{&quot;name&quot;:&quot;Lost&quot;,&quot;values&quot;:[30,25,20]}],&quot;hundredPercent&quot;:[100,100,100]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Stacked waterfall + value-line-anchored difference&quot;,&quot;data&quot;:{&quot;categories&quot;:[&quot;FY23&quot;,&quot;Organic&quot;,&quot;M&amp;A&quot;,&quot;Cost&quot;,&quot;FY24&quot;],&quot;series&quot;:[{&quot;name&quot;:&quot;Europe&quot;,&quot;values&quot;:[50,8,5,-6,0]},{&quot;name&quot;:&quot;Americas&quot;,&quot;values&quot;:[36,6,9,-6,0]}]},&quot;waterfall&quot;:{&quot;totalIndices&quot;:[4]},&quot;decorations&quot;:{&quot;categoryAxis&quot;:true,&quot;valueLines&quot;:[{&quot;mode&quot;:&quot;value&quot;,&quot;value&quot;:100}],&quot;difference&quot;:{&quot;from&quot;:0,&quot;to&quot;:4,&quot;fromValueLine&quot;:0,&quot;percent&quot;:false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Rotated waterfall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,&quot;horizontal&quot;:true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with units (X extent) — rotated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,&quot;xExtent&quot;:[50,30,20]},&quot;horizontal&quot;:true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+ secondary axis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,&quot;secondaryAxis&quot;:true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artition lines, trend, groups&quot;,&quot;data&quot;:{&quot;categories&quot;:[&quot;Alpha&quot;,&quot;Bravo&quot;,&quot;Core&quot;,&quot;Delta&quot;,&quot;Echo&quot;,&quot;Foxtrot&quot;],&quot;series&quot;:[{&quot;name&quot;:&quot;X&quot;,&quot;values&quot;:[12,25,40,55,62,74]},{&quot;name&quot;:&quot;Y&quot;,&quot;values&quot;:[18,30,38,52,55,68]},{&quot;name&quot;:&quot;Group&quot;,&quot;values&quot;:[1,1,2,2,3,3]},{&quot;name&quot;:&quot;X line&quot;,&quot;values&quot;:[45,null,null,null,null,null]},{&quot;name&quot;:&quot;Y line&quot;,&quot;values&quot;:[40,null,null,null,null,null]},{&quot;name&quot;:&quot;Trend&quot;,&quot;values&quot;:[1,null,null,null,null,null]}]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quadratic (degree 2) trend fit&quot;,&quot;decorations&quot;:{&quot;valueAxis&quot;:true,&quot;gridlines&quot;:true},&quot;scatter&quot;:{&quot;trendDegree&quot;:2},&quot;data&quot;:{&quot;categories&quot;:[&quot;1&quot;,&quot;2&quot;,&quot;3&quot;,&quot;4&quot;,&quot;5&quot;,&quot;6&quot;,&quot;7&quot;,&quot;8&quot;],&quot;series&quot;:[{&quot;name&quot;:&quot;X&quot;,&quot;values&quot;:[1,2,3,4,5,6,7,8]},{&quot;name&quot;:&quot;Y&quot;,&quot;values&quot;:[30,16,8,5,6,12,22,38]},{&quot;name&quot;:&quot;Trend&quot;,&quot;values&quot;:[1,null,null,null,null,null,null,null]}]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sections, owners, remarks, deps, today, holiday, bracket&quot;,&quot;data&quot;:{&quot;categories&quot;:[&quot;Phase 1 — Discovery&quot;,&quot;&gt; Interviews | Anna | 12 done&quot;,&quot;&gt; Synthesis | Ben&quot;,&quot;Phase 2 — Delivery&quot;,&quot;&gt; Build | Cato | at risk&quot;],&quot;series&quot;:[{&quot;name&quot;:&quot;Start&quot;,&quot;values&quot;:[null,20458,20472,null,20479]},{&quot;name&quot;:&quot;End&quot;,&quot;values&quot;:[null,20476,20483,null,20504]},{&quot;name&quot;:&quot;Milestone&quot;,&quot;values&quot;:[null,null,20483,null,20504]},{&quot;name&quot;:&quot;After&quot;,&quot;values&quot;:[null,null,2,null,3]},{&quot;name&quot;:&quot;Today&quot;,&quot;values&quot;:[20486,null,null,null,null]},{&quot;name&quot;:&quot;Holiday&quot;,&quot;values&quot;:[20468,null,null,null,null]},{&quot;name&quot;:&quot;Bracket Sprint 1&quot;,&quot;values&quot;:[20458,20472,null,null,null]},{&quot;name&quot;:&quot;% Complete&quot;,&quot;values&quot;:[null,100,60,null,20]},{&quot;name&quot;:&quot;Baseline start&quot;,&quot;values&quot;:[null,20458,20468,null,20475]},{&quot;name&quot;:&quot;Baseline end&quot;,&quot;values&quot;:[null,20473,20480,null,20496]}],&quot;dates&quot;:true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Manual label nudge (labelOffsets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labelOffsets&quot;:{&quot;total-3&quot;:{&quot;dx&quot;:0,&quot;dy&quot;:-6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onnector lines + footnote (source line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connectors&quot;:true,&quot;totals&quot;:true},&quot;footnote&quot;:&quot;Source: Statistics Denmark, 2024&quot;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oint highlight + speech-bubble callout&quot;,&quot;data&quot;:{&quot;categories&quot;:[&quot;2021&quot;,&quot;2022&quot;,&quot;2023&quot;,&quot;2024&quot;],&quot;series&quot;:[{&quot;name&quot;:&quot;Base&quot;,&quot;values&quot;:[40,44,47,52]},{&quot;name&quot;:&quot;New&quot;,&quot;values&quot;:[8,10,21,14],&quot;colors&quot;:[null,null,&quot;#e34948&quot;,null]}]},&quot;decorations&quot;:{&quot;connectors&quot;:true,&quot;callouts&quot;:[{&quot;text&quot;:&quot;One-off boost&quot;,&quot;category&quot;:2,&quot;dx&quot;:30}]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ackground band (target range) + line highlight&quot;,&quot;data&quot;:{&quot;categories&quot;:[&quot;Q1&quot;,&quot;Q2&quot;,&quot;Q3&quot;,&quot;Q4&quot;],&quot;series&quot;:[{&quot;name&quot;:&quot;Margin&quot;,&quot;values&quot;:[38,45,52,49]}]},&quot;decorations&quot;:{&quot;bands&quot;:[{&quot;axis&quot;:&quot;y&quot;,&quot;from&quot;:40,&quot;to&quot;:50,&quot;label&quot;:&quot;Target range&quot;}],&quot;seriesLabels&quot;:false,&quot;valueAxis&quot;:true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background bands (quadrant regions)&quot;,&quot;data&quot;:{&quot;categories&quot;:[&quot;A&quot;,&quot;B&quot;,&quot;C&quot;,&quot;D&quot;,&quot;E&quot;],&quot;series&quot;:[{&quot;name&quot;:&quot;X&quot;,&quot;values&quot;:[15,30,45,60,75]},{&quot;name&quot;:&quot;Y&quot;,&quot;values&quot;:[20,45,35,60,70]}]},&quot;decorations&quot;:{&quot;bands&quot;:[{&quot;axis&quot;:&quot;x&quot;,&quot;from&quot;:50,&quot;to&quot;:80,&quot;color&quot;:&quot;#e8f0e4&quot;,&quot;label&quot;:&quot;Focus&quot;}]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Exploding slice + slice color + 100% = note&quot;,&quot;footnote&quot;:&quot;Source: annual report FY24&quot;,&quot;pie&quot;:{&quot;explode&quot;:[1]},&quot;data&quot;:{&quot;categories&quot;:[&quot;Retail&quot;,&quot;Online&quot;,&quot;Wholesale&quot;,&quot;Other&quot;],&quot;series&quot;:[{&quot;name&quot;:&quot;Revenue&quot;,&quot;values&quot;:[46,28,18,8],&quot;colors&quot;:[null,&quot;#e34948&quot;,null,null]}]},&quot;decorations&quot;:{&quot;hundredPercentNote&quot;:true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attern fills (SVG/preview; solid in PPT)&quot;,&quot;data&quot;:{&quot;categories&quot;:[&quot;2022&quot;,&quot;2023&quot;,&quot;2024&quot;],&quot;series&quot;:[{&quot;name&quot;:&quot;Base&quot;,&quot;values&quot;:[40,44,50]},{&quot;name&quot;:&quot;Plan&quot;,&quot;values&quot;:[10,14,16],&quot;pattern&quot;:&quot;diagonal&quot;},{&quot;name&quot;:&quot;Risk&quot;,&quot;values&quot;:[6,8,9],&quot;pattern&quot;:&quot;dots&quot;}]},&quot;decorations&quot;:{&quot;connectors&quot;:true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from raw samples (Tukey whiskers, outliers)&quot;,&quot;boxplot&quot;:{&quot;showMean&quot;:true},&quot;data&quot;:{&quot;categories&quot;:[&quot;North&quot;,&quot;South&quot;,&quot;East&quot;],&quot;series&quot;:[{&quot;name&quot;:&quot;&quot;,&quot;values&quot;:[4,7,3]},{&quot;name&quot;:&quot;&quot;,&quot;values&quot;:[5,8,4]},{&quot;name&quot;:&quot;&quot;,&quot;values&quot;:[5,9,4]},{&quot;name&quot;:&quot;&quot;,&quot;values&quot;:[6,9,5]},{&quot;name&quot;:&quot;&quot;,&quot;values&quot;:[6,10,5]},{&quot;name&quot;:&quot;&quot;,&quot;values&quot;:[7,11,6]},{&quot;name&quot;:&quot;&quot;,&quot;values&quot;:[7,11,6]},{&quot;name&quot;:&quot;&quot;,&quot;values&quot;:[8,12,7]},{&quot;name&quot;:&quot;&quot;,&quot;values&quot;:[15,12,14]}]},&quot;decorations&quot;:{&quot;categoryAxis&quot;:true,&quot;valueAxis&quot;:true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Horizontal boxplot (same shared axis, rotated)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,&quot;horizontal&quot;:true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Grouped boxplots (2024 vs 2025)&quot;,&quot;data&quot;:{&quot;categories&quot;:[&quot;North&quot;,&quot;South&quot;,&quot;East&quot;],&quot;series&quot;:[{&quot;name&quot;:&quot;Min | 2024&quot;,&quot;values&quot;:[2,3,1]},{&quot;name&quot;:&quot;Q1 | 2024&quot;,&quot;values&quot;:[3,5,2]},{&quot;name&quot;:&quot;Median | 2024&quot;,&quot;values&quot;:[4,7,3]},{&quot;name&quot;:&quot;Q3 | 2024&quot;,&quot;values&quot;:[6,9,5]},{&quot;name&quot;:&quot;Max | 2024&quot;,&quot;values&quot;:[8,12,7]},{&quot;name&quot;:&quot;Min | 2025&quot;,&quot;values&quot;:[3,4,2]},{&quot;name&quot;:&quot;Q1 | 2025&quot;,&quot;values&quot;:[4,6,3]},{&quot;name&quot;:&quot;Median | 2025&quot;,&quot;values&quot;:[5,8,4]},{&quot;name&quot;:&quot;Q3 | 2025&quot;,&quot;values&quot;:[7,10,6]},{&quot;name&quot;:&quot;Max | 2025&quot;,&quot;values&quot;:[9,13,8]}]},&quot;decorations&quot;:{&quot;valueAxis&quot;:true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Error bars (Error / Error+ / Error- rows)&quot;,&quot;data&quot;:{&quot;categories&quot;:[&quot;Trial 1&quot;,&quot;Trial 2&quot;,&quot;Trial 3&quot;,&quot;Trial 4&quot;],&quot;series&quot;:[{&quot;name&quot;:&quot;Result&quot;,&quot;values&quot;:[42,55,48,61]},{&quot;name&quot;:&quot;Error&quot;,&quot;values&quot;:[5,7,null,null]},{&quot;name&quot;:&quot;Error+&quot;,&quot;values&quot;:[null,null,9,4]},{&quot;name&quot;:&quot;Error-&quot;,&quot;values&quot;:[null,null,3,8]}]},&quot;decorations&quot;:{&quot;valueAxis&quot;:true,&quot;seriesLabels&quot;:false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ullet chart (Target row + range bands)&quot;,&quot;data&quot;:{&quot;categories&quot;:[&quot;North&quot;,&quot;South&quot;,&quot;East&quot;,&quot;West&quot;],&quot;series&quot;:[{&quot;name&quot;:&quot;Actual&quot;,&quot;values&quot;:[42,55,48,61]},{&quot;name&quot;:&quot;Target&quot;,&quot;values&quot;:[50,50,55,58]}]},&quot;decorations&quot;:{&quot;bands&quot;:[{&quot;axis&quot;:&quot;y&quot;,&quot;from&quot;:0,&quot;to&quot;:35,&quot;color&quot;:&quot;#e4e2da&quot;},{&quot;axis&quot;:&quot;y&quot;,&quot;from&quot;:35,&quot;to&quot;:55,&quot;color&quot;:&quot;#efeee8&quot;}],&quot;seriesLabels&quot;:false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clustered columns + line&quot;,&quot;combo&quot;:{&quot;columns&quot;:&quot;clustered&quot;},&quot;data&quot;:{&quot;categories&quot;:[&quot;2023&quot;,&quot;2024&quot;,&quot;2025&quot;],&quot;series&quot;:[{&quot;name&quot;:&quot;Actual&quot;,&quot;values&quot;:[40,46,52]},{&quot;name&quot;:&quot;Plan&quot;,&quot;values&quot;:[38,48,55]},{&quot;name&quot;:&quot;Margin %&quot;,&quot;values&quot;:[31,34,38],&quot;type&quot;:&quot;line&quot;}]},&quot;secondaryAxis&quot;:true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Dumbbell range (before vs after)&quot;,&quot;data&quot;:{&quot;categories&quot;:[&quot;North&quot;,&quot;South&quot;,&quot;East&quot;,&quot;West&quot;],&quot;series&quot;:[{&quot;name&quot;:&quot;2024&quot;,&quot;values&quot;:[40,55,48,61]},{&quot;name&quot;:&quot;2025&quot;,&quot;values&quot;:[52,60,45,70]}]},&quot;decorations&quot;:{&quot;barStyle&quot;:&quot;range&quot;,&quot;seriesLabels&quot;:true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Forecast with confidence band&quot;,&quot;data&quot;:{&quot;categories&quot;:[&quot;2023&quot;,&quot;2024&quot;,&quot;2025&quot;,&quot;2026&quot;,&quot;2027&quot;],&quot;series&quot;:[{&quot;name&quot;:&quot;Revenue&quot;,&quot;values&quot;:[40,46,52,60,69]},{&quot;name&quot;:&quot;Band low&quot;,&quot;values&quot;:[null,null,52,55,59]},{&quot;name&quot;:&quot;Band high&quot;,&quot;values&quot;:[null,null,52,66,82]}]},&quot;decorations&quot;:{&quot;forecastFrom&quot;:3,&quot;seriesLabels&quot;:false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Budget-vs-actual bridge (gap to target)&quot;,&quot;data&quot;:{&quot;categories&quot;:[&quot;FY23&quot;,&quot;Volume&quot;,&quot;Price&quot;,&quot;Cost&quot;,&quot;FY24&quot;],&quot;series&quot;:[{&quot;name&quot;:&quot;Delta&quot;,&quot;values&quot;:[86,14,9,-12,0]},{&quot;name&quot;:&quot;Target&quot;,&quot;values&quot;:[null,null,null,null,110]}]},&quot;waterfall&quot;:{&quot;totalIndices&quot;:[4]},&quot;decorations&quot;:{&quot;categoryAxis&quot;:true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with marginal totals&quot;,&quot;heatmap&quot;:{&quot;totals&quot;:&quot;both&quot;}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]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lope chart — market share, before vs after&quot;,&quot;data&quot;:{&quot;categories&quot;:[&quot;2020&quot;,&quot;2025&quot;],&quot;series&quot;:[{&quot;name&quot;:&quot;Brand A&quot;,&quot;values&quot;:[24,31]},{&quot;name&quot;:&quot;Brand B&quot;,&quot;values&quot;:[28,26]},{&quot;name&quot;:&quot;Brand C&quot;,&quot;values&quot;:[19,22]},{&quot;name&quot;:&quot;Private label&quot;,&quot;values&quot;:[12,18]}]},&quot;decorations&quot;:{&quot;slope&quot;:true},&quot;footnote&quot;:&quot;Source: internal market model, 2026&quot;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order mix by channel&quot;,&quot;data&quot;:{&quot;categories&quot;:[&quot;Online&quot;,&quot;Retail&quot;,&quot;Wholesale&quot;],&quot;series&quot;:[{&quot;name&quot;:&quot;Orders&quot;,&quot;values&quot;:[52,33,15]}]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Bar-of-pie — revenue with the long tail detailed&quot;,&quot;data&quot;:{&quot;categories&quot;:[&quot;EMEA&quot;,&quot;Americas&quot;,&quot;APAC&quot;,&quot;Nordics&quot;,&quot;Benelux&quot;,&quot;DACH&quot;],&quot;series&quot;:[{&quot;name&quot;:&quot;Revenue&quot;,&quot;values&quot;:[80,100,60,20,15,25]}]},&quot;pie&quot;:{&quot;breakout&quot;:[3,4,5]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all multiples — one panel per brand, shared scale&quot;,&quot;multiples&quot;:{},&quot;data&quot;:{&quot;categories&quot;:[&quot;2022&quot;,&quot;2023&quot;,&quot;2024&quot;,&quot;2025&quot;],&quot;series&quot;:[{&quot;name&quot;:&quot;Brand A&quot;,&quot;values&quot;:[40,48,55,66]},{&quot;name&quot;:&quot;Brand B&quot;,&quot;values&quot;:[30,32,31,35]},{&quot;name&quot;:&quot;Brand C&quot;,&quot;values&quot;:[12,18,26,41]}]},&quot;decorations&quot;:{&quot;segmentLabels&quot;:false,&quot;valueAxis&quot;:true,&quot;gridlines&quot;:true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size legend + quadrant matrix&quot;,&quot;data&quot;:{&quot;categories&quot;:[&quot;Alpha&quot;,&quot;Bravo&quot;,&quot;Core&quot;,&quot;Delta&quot;,&quot;Echo&quot;],&quot;series&quot;:[{&quot;name&quot;:&quot;X&quot;,&quot;values&quot;:[20,35,55,70,85]},{&quot;name&quot;:&quot;Y&quot;,&quot;values&quot;:[25,60,40,75,55]},{&quot;name&quot;:&quot;Size&quot;,&quot;values&quot;:[30,80,45,100,60]}]},&quot;decorations&quot;:{&quot;quadrants&quot;:{&quot;x&quot;:50,&quot;y&quot;:50,&quot;labels&quot;:[&quot;Question marks&quot;,&quot;Stars&quot;,&quot;Dogs&quot;,&quot;Cash cows&quot;]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Datamark axis (Tufte range frame)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&quot;datamarks&quot;,&quot;tickMode&quot;:&quot;data&quot;,&quot;gridlines&quot;:false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Diverging heatmap (YoY change, %)&quot;,&quot;data&quot;:{&quot;categories&quot;:[&quot;Q1&quot;,&quot;Q2&quot;,&quot;Q3&quot;,&quot;Q4&quot;],&quot;series&quot;:[{&quot;name&quot;:&quot;North&quot;,&quot;values&quot;:[4,6,-2,8]},{&quot;name&quot;:&quot;South&quot;,&quot;values&quot;:[-5,-3,2,1]},{&quot;name&quot;:&quot;East&quot;,&quot;values&quot;:[1,3,5,9]}]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US tile map (auto-detected layout)&quot;,&quot;data&quot;:{&quot;categories&quot;:[&quot;CA&quot;,&quot;TX&quot;,&quot;NY&quot;,&quot;FL&quot;,&quot;IL&quot;,&quot;WA&quot;,&quot;MA&quot;,&quot;CO&quot;,&quot;GA&quot;,&quot;NC&quot;],&quot;series&quot;:[{&quot;name&quot;:&quot;Stores&quot;,&quot;values&quot;:[120,95,88,74,51,44,38,29,27,22]}]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ighlighted max point (per-cell color on line)&quot;,&quot;data&quot;:{&quot;categories&quot;:[&quot;Jan&quot;,&quot;Feb&quot;,&quot;Mar&quot;,&quot;Apr&quot;,&quot;May&quot;],&quot;series&quot;:[{&quot;name&quot;:&quot;Orders&quot;,&quot;values&quot;:[120,135,178,150,162],&quot;colors&quot;:[null,null,&quot;#e34948&quot;,null,null]}]},&quot;decorations&quot;:{&quot;seriesLabels&quot;:false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tepped line (staircase)&quot;,&quot;data&quot;:{&quot;categories&quot;:[&quot;Jan&quot;,&quot;Feb&quot;,&quot;Mar&quot;,&quot;Apr&quot;,&quot;May&quot;,&quot;Jun&quot;],&quot;series&quot;:[{&quot;name&quot;:&quot;Base rate&quot;,&quot;values&quot;:[2,2,2.5,2.5,3,2.75]}]},&quot;decorations&quot;:{&quot;segmentLabels&quot;:false,&quot;valueAxis&quot;:true,&quot;gridlines&quot;:true,&quot;stepped&quot;:&quot;after&quot;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Stepped area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,&quot;stepped&quot;:&quot;before&quot;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value ticks on both flanks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,&quot;decorations&quot;:{&quot;segmentLabels&quot;:true,&quot;valueAxis&quot;:true,&quot;gridlines&quot;:true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overlap (Excel-style, 45%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,&quot;overlap&quot;:4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Narrow gap width (histogram look, gapWidth 0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gapWidth&quot;:0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with negative values (net income over time)&quot;,&quot;data&quot;:{&quot;categories&quot;:[&quot;2020&quot;,&quot;2021&quot;,&quot;2022&quot;,&quot;2023&quot;,&quot;2024&quot;,&quot;2025&quot;],&quot;series&quot;:[{&quot;name&quot;:&quot;Net income&quot;,&quot;values&quot;:[12,-8,-15,4,18,26]}]},&quot;decorations&quot;:{&quot;segmentLabels&quot;:false,&quot;valueAxis&quot;:true,&quot;gridlines&quot;:true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Trajectory trail (one entity over time)&quot;,&quot;data&quot;:{&quot;categories&quot;:[&quot;2019&quot;,&quot;2020&quot;,&quot;2021&quot;,&quot;2022&quot;,&quot;2023&quot;,&quot;2024&quot;],&quot;series&quot;:[{&quot;name&quot;:&quot;X&quot;,&quot;values&quot;:[20,28,33,45,52,60]},{&quot;name&quot;:&quot;Y&quot;,&quot;values&quot;:[30,26,40,38,55,68]}]},&quot;decorations&quot;:{&quot;trajectory&quot;:true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with jittered raw-data dots&quot;,&quot;boxplot&quot;:{&quot;jitter&quot;:true},&quot;data&quot;:{&quot;categories&quot;:[&quot;North&quot;,&quot;South&quot;,&quot;East&quot;],&quot;series&quot;:[{&quot;name&quot;:&quot;s1&quot;,&quot;values&quot;:[4,6,3]},{&quot;name&quot;:&quot;s2&quot;,&quot;values&quot;:[5,7,4]},{&quot;name&quot;:&quot;s3&quot;,&quot;values&quot;:[6,7,5]},{&quot;name&quot;:&quot;s4&quot;,&quot;values&quot;:[5,9,4]},{&quot;name&quot;:&quot;s5&quot;,&quot;values&quot;:[7,8,6]},{&quot;name&quot;:&quot;s6&quot;,&quot;values&quot;:[6,11,5]},{&quot;name&quot;:&quot;s7&quot;,&quot;values&quot;:[8,7,7]},{&quot;name&quot;:&quot;s8&quot;,&quot;values&quot;:[5,10,4]},{&quot;name&quot;:&quot;s9&quot;,&quot;values&quot;:[9,8,6]},{&quot;name&quot;:&quot;s10&quot;,&quot;values&quot;:[6,12,5]}]},&quot;decorations&quot;:{&quot;categoryAxis&quot;:true,&quot;valueAxis&quot;:true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Continuous color scale (a Color row)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Color&quot;,&quot;values&quot;:[5,12,18,22,28,34,9,16]}]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oothed line (Catmull-Rom)&quot;,&quot;data&quot;:{&quot;categories&quot;:[&quot;Jan&quot;,&quot;Feb&quot;,&quot;Mar&quot;,&quot;Apr&quot;,&quot;May&quot;,&quot;Jun&quot;,&quot;Jul&quot;],&quot;series&quot;:[{&quot;name&quot;:&quot;A&quot;,&quot;values&quot;:[20,45,30,55,40,62,48]},{&quot;name&quot;:&quot;B&quot;,&quot;values&quot;:[15,22,28,26,35,40,52]}]},&quot;decorations&quot;:{&quot;segmentLabels&quot;:false,&quot;valueAxis&quot;:true,&quot;gridlines&quot;:true,&quot;smooth&quot;:true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with grouping spacers&quot;,&quot;data&quot;:{&quot;categories&quot;:[&quot;FY23&quot;,&quot;Volume&quot;,&quot;Price&quot;,&quot;&quot;,&quot;Cost&quot;,&quot;FX&quot;,&quot;&quot;,&quot;FY24&quot;],&quot;series&quot;:[{&quot;name&quot;:&quot;Delta&quot;,&quot;values&quot;:[86,14,9,null,-12,-4,null,0]}]},&quot;waterfall&quot;:{&quot;totalIndices&quot;:[7],&quot;spacerIndices&quot;:[3,6]},&quot;decorations&quot;:{&quot;categoryAxis&quot;:true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with auto-summary bars&quot;,&quot;data&quot;:{&quot;categories&quot;:[&quot;Phase 1: Discovery&quot;,&quot;&gt; Research&quot;,&quot;&gt; Interviews&quot;,&quot;Phase 2: Build&quot;,&quot;&gt; Backend&quot;,&quot;&gt; Frontend&quot;,&quot;&gt; QA&quot;],&quot;series&quot;:[{&quot;name&quot;:&quot;Start&quot;,&quot;values&quot;:[null,1,2,null,5,7,11]},{&quot;name&quot;:&quot;End&quot;,&quot;values&quot;:[null,4,5,null,10,12,13]}]},&quot;decorations&quot;:{&quot;summaryBars&quot;:true,&quot;segmentLabels&quot;:false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Notched boxplots (median CI)&quot;,&quot;boxplot&quot;:{&quot;notch&quot;:true},&quot;data&quot;:{&quot;categories&quot;:[&quot;A&quot;,&quot;B&quot;,&quot;C&quot;],&quot;series&quot;:[{&quot;name&quot;:&quot;o1&quot;,&quot;values&quot;:[10,14,20]},{&quot;name&quot;:&quot;o2&quot;,&quot;values&quot;:[12,15,22]},{&quot;name&quot;:&quot;o3&quot;,&quot;values&quot;:[13,16,23]},{&quot;name&quot;:&quot;o4&quot;,&quot;values&quot;:[14,17,25]},{&quot;name&quot;:&quot;o5&quot;,&quot;values&quot;:[15,18,26]},{&quot;name&quot;:&quot;o6&quot;,&quot;values&quot;:[16,19,28]},{&quot;name&quot;:&quot;o7&quot;,&quot;values&quot;:[17,20,30]},{&quot;name&quot;:&quot;o8&quot;,&quot;values&quot;:[18,22,33]},{&quot;name&quot;:&quot;o9&quot;,&quot;values&quot;:[20,24,36]},{&quot;name&quot;:&quot;o10&quot;,&quot;values&quot;:[22,27,40]}]},&quot;decorations&quot;:{&quot;categoryAxis&quot;:true,&quot;valueAxis&quot;:true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peer range + us&quot;,&quot;scale&quot;:{&quot;min&quot;:0,&quot;max&quot;:5},&quot;data&quot;:{&quot;categories&quot;:[&quot;Strategy&quot;,&quot;Data&quot;,&quot;Talent&quot;,&quot;Process&quot;,&quot;Tech&quot;,&quot;Culture&quot;],&quot;series&quot;:[{&quot;name&quot;:&quot;Peer 1&quot;,&quot;values&quot;:[3,2,4,3,3,2]},{&quot;name&quot;:&quot;Peer 2&quot;,&quot;values&quot;:[2,3,3,4,2,3]},{&quot;name&quot;:&quot;Peer 3&quot;,&quot;values&quot;:[4,4,2,3,4,3]},{&quot;name&quot;:&quot;Us&quot;,&quot;values&quot;:[3,4,4,2,5,4]}]},&quot;decorations&quot;:{&quot;seriesLabels&quot;:true,&quot;radarBand&quot;:true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ong tail collapsed into Other (otherBucket)&quot;,&quot;otherBucket&quot;:{&quot;max&quot;:5},&quot;data&quot;:{&quot;categories&quot;:[&quot;2023&quot;,&quot;2024&quot;,&quot;2025&quot;],&quot;series&quot;:[{&quot;name&quot;:&quot;Enterprise&quot;,&quot;values&quot;:[40,46,52]},{&quot;name&quot;:&quot;SMB&quot;,&quot;values&quot;:[22,26,31]},{&quot;name&quot;:&quot;Consumer&quot;,&quot;values&quot;:[18,17,19]},{&quot;name&quot;:&quot;Gov&quot;,&quot;values&quot;:[6,7,8]},{&quot;name&quot;:&quot;Edu&quot;,&quot;values&quot;:[4,5,5]},{&quot;name&quot;:&quot;NGO&quot;,&quot;values&quot;:[3,3,4]},{&quot;name&quot;:&quot;Startup&quot;,&quot;values&quot;:[2,3,3]}]},&quot;decorations&quot;:{&quot;totals&quot;:true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Calendar heatmap (daily commits)&quot;,&quot;heatmap&quot;:{&quot;calendar&quot;:true},&quot;data&quot;:{&quot;categories&quot;:[&quot;2025-01-06&quot;,&quot;2025-01-07&quot;,&quot;2025-01-08&quot;,&quot;2025-01-09&quot;,&quot;2025-01-10&quot;,&quot;2025-01-11&quot;,&quot;2025-01-12&quot;,&quot;2025-01-13&quot;,&quot;2025-01-14&quot;,&quot;2025-01-15&quot;,&quot;2025-01-16&quot;,&quot;2025-01-17&quot;,&quot;2025-01-18&quot;,&quot;2025-01-19&quot;,&quot;2025-01-20&quot;,&quot;2025-01-21&quot;,&quot;2025-01-22&quot;,&quot;2025-01-23&quot;,&quot;2025-01-24&quot;,&quot;2025-01-25&quot;,&quot;2025-01-26&quot;,&quot;2025-01-27&quot;,&quot;2025-01-28&quot;,&quot;2025-01-29&quot;,&quot;2025-01-30&quot;,&quot;2025-01-31&quot;,&quot;2025-02-01&quot;,&quot;2025-02-02&quot;,&quot;2025-02-03&quot;,&quot;2025-02-04&quot;],&quot;series&quot;:[{&quot;name&quot;:&quot;Commits&quot;,&quot;values&quot;:[3,5,2,8,4,0,0,6,1,9,7,3,0,0,5,8,2,4,6,0,0,10,3,5,7,2,0,0,4,6]}]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stacked flanks&quot;,&quot;butterfly&quot;:{&quot;split&quot;:2},&quot;data&quot;:{&quot;categories&quot;:[&quot;&lt;30&quot;,&quot;30–39&quot;,&quot;40–49&quot;,&quot;50–59&quot;,&quot;60+&quot;],&quot;series&quot;:[{&quot;name&quot;:&quot;Women FT&quot;,&quot;values&quot;:[220,340,300,180,60]},{&quot;name&quot;:&quot;Women PT&quot;,&quot;values&quot;:[200,270,240,140,60]},{&quot;name&quot;:&quot;Men FT&quot;,&quot;values&quot;:[240,420,400,280,110]},{&quot;name&quot;:&quot;Men PT&quot;,&quot;values&quot;:[140,230,200,130,50]}]},&quot;decorations&quot;:{&quot;segmentLabels&quot;:true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with per-spoke scales (mixed KPIs)&quot;,&quot;radar&quot;:{&quot;perSpoke&quot;:true},&quot;data&quot;:{&quot;categories&quot;:[&quot;Revenue $m&quot;,&quot;NPS&quot;,&quot;Churn %&quot;,&quot;Headcount&quot;,&quot;Uptime %&quot;],&quot;series&quot;:[{&quot;name&quot;:&quot;2024&quot;,&quot;values&quot;:[120,42,8,340,99.2]},{&quot;name&quot;:&quot;2025&quot;,&quot;values&quot;:[155,55,5,410,99.7]}]},&quot;decorations&quot;:{&quot;seriesLabels&quot;:true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Missing-data bridge (bridgeGaps)&quot;,&quot;data&quot;:{&quot;categories&quot;:[&quot;Jan&quot;,&quot;Feb&quot;,&quot;Mar&quot;,&quot;Apr&quot;,&quot;May&quot;,&quot;Jun&quot;],&quot;series&quot;:[{&quot;name&quot;:&quot;Signups&quot;,&quot;values&quot;:[20,null,35,null,30,48]}]},&quot;decorations&quot;:{&quot;segmentLabels&quot;:false,&quot;valueAxis&quot;:true,&quot;gridlines&quot;:true,&quot;bridgeGaps&quot;:true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Floating range columns (transparent base)&quot;,&quot;data&quot;:{&quot;categories&quot;:[&quot;Q1&quot;,&quot;Q2&quot;,&quot;Q3&quot;,&quot;Q4&quot;],&quot;series&quot;:[{&quot;name&quot;:&quot;Floor&quot;,&quot;color&quot;:&quot;transparent&quot;,&quot;values&quot;:[10,14,12,18]},{&quot;name&quot;:&quot;Range&quot;,&quot;values&quot;:[20,18,24,16]}]},&quot;decorations&quot;:{&quot;segmentLabels&quot;:true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waterfall bridge + %-of-total line&quot;,&quot;secondaryAxis&quot;:true,&quot;combo&quot;:{&quot;columns&quot;:&quot;waterfall&quot;},&quot;waterfall&quot;:{&quot;totalIndices&quot;:[5]},&quot;data&quot;:{&quot;categories&quot;:[&quot;Start&quot;,&quot;Q1&quot;,&quot;Q2&quot;,&quot;Q3&quot;,&quot;Q4&quot;,&quot;End&quot;],&quot;series&quot;:[{&quot;name&quot;:&quot;Delta&quot;,&quot;values&quot;:[100,20,-15,25,-10,0]},{&quot;name&quot;:&quot;Margin %&quot;,&quot;type&quot;:&quot;line&quot;,&quot;values&quot;:[40,42,38,44,41,43]}]},&quot;decorations&quot;:{&quot;segmentLabels&quot;:true,&quot;seriesLabels&quot;:true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Mekko base + overlaid line&quot;,&quot;secondaryAxis&quot;:true,&quot;combo&quot;:{&quot;columns&quot;:&quot;mekko&quot;},&quot;data&quot;:{&quot;categories&quot;:[&quot;EMEA&quot;,&quot;Americas&quot;,&quot;APAC&quot;],&quot;series&quot;:[{&quot;name&quot;:&quot;Prod A&quot;,&quot;values&quot;:[30,45,20]},{&quot;name&quot;:&quot;Prod B&quot;,&quot;values&quot;:[20,25,30]},{&quot;name&quot;:&quot;Share %&quot;,&quot;type&quot;:&quot;line&quot;,&quot;values&quot;:[62,70,45]}]},&quot;decorations&quot;:{&quot;seriesLabels&quot;:true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independent line axes (mixed KPIs)&quot;,&quot;combo&quot;:{&quot;lineAxes&quot;:&quot;independent&quot;},&quot;data&quot;:{&quot;categories&quot;:[&quot;Jan&quot;,&quot;Feb&quot;,&quot;Mar&quot;,&quot;Apr&quot;],&quot;series&quot;:[{&quot;name&quot;:&quot;Revenue&quot;,&quot;values&quot;:[40,48,45,60]},{&quot;name&quot;:&quot;NPS&quot;,&quot;type&quot;:&quot;line&quot;,&quot;values&quot;:[30,45,42,55]},{&quot;name&quot;:&quot;Orders k&quot;,&quot;type&quot;:&quot;line&quot;,&quot;values&quot;:[1200,1500,1400,1900]}]},&quot;decorations&quot;:{&quot;seriesLabels&quot;:true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Hexagonal tile map (US)&quot;,&quot;map&quot;:&quot;us&quot;,&quot;tilemap&quot;:{&quot;shape&quot;:&quot;hex&quot;},&quot;data&quot;:{&quot;categories&quot;:[&quot;CA&quot;,&quot;TX&quot;,&quot;NY&quot;,&quot;FL&quot;,&quot;IL&quot;,&quot;WA&quot;,&quot;MA&quot;,&quot;CO&quot;,&quot;GA&quot;,&quot;NC&quot;,&quot;OH&quot;,&quot;PA&quot;,&quot;MI&quot;,&quot;AZ&quot;,&quot;VA&quot;],&quot;series&quot;:[{&quot;name&quot;:&quot;Stores&quot;,&quot;values&quot;:[120,95,88,74,51,44,38,29,27,22,40,55,33,25,30]}]},&quot;decorations&quot;:{&quot;segmentLabels&quot;:true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with per-region mini-bars&quot;,&quot;map&quot;:&quot;us&quot;,&quot;tilemap&quot;:{&quot;glyph&quot;:&quot;bars&quot;},&quot;data&quot;:{&quot;categories&quot;:[&quot;CA&quot;,&quot;TX&quot;,&quot;NY&quot;,&quot;FL&quot;,&quot;IL&quot;,&quot;WA&quot;],&quot;series&quot;:[{&quot;name&quot;:&quot;Q1&quot;,&quot;values&quot;:[30,20,18,15,12,10]},{&quot;name&quot;:&quot;Q2&quot;,&quot;values&quot;:[35,25,20,17,14,12]},{&quot;name&quot;:&quot;Q3&quot;,&quot;values&quot;:[40,28,22,19,15,13]},{&quot;name&quot;:&quot;Q4&quot;,&quot;values&quot;:[48,32,26,22,18,16]}]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chart with negative segments&quot;,&quot;data&quot;:{&quot;categories&quot;:[&quot;Q1&quot;,&quot;Q2&quot;,&quot;Q3&quot;],&quot;series&quot;:[{&quot;name&quot;:&quot;New&quot;,&quot;values&quot;:[60,70,80]},{&quot;name&quot;:&quot;Renewal&quot;,&quot;values&quot;:[40,45,50]},{&quot;name&quot;:&quot;Returns&quot;,&quot;values&quot;:[-15,-10,-20]}]},&quot;decorations&quot;:{&quot;segmentLabels&quot;:true,&quot;valueAxis&quot;:true,&quot;gridlines&quot;:true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Semi-circle gauge (market share)&quot;,&quot;pie&quot;:{&quot;semi&quot;:true},&quot;data&quot;:{&quot;categories&quot;:[&quot;Us&quot;,&quot;Rival A&quot;,&quot;Rival B&quot;,&quot;Others&quot;],&quot;series&quot;:[{&quot;name&quot;:&quot;Share&quot;,&quot;values&quot;:[42,28,18,12]}]},&quot;decorations&quot;:{&quot;segmentLabels&quot;:true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Pareto chart (defect causes)&quot;,&quot;pareto&quot;:true,&quot;data&quot;:{&quot;categories&quot;:[&quot;Scratches&quot;,&quot;Dents&quot;,&quot;Misalign&quot;,&quot;Cracks&quot;,&quot;Paint&quot;,&quot;Other&quot;],&quot;series&quot;:[{&quot;name&quot;:&quot;Defects&quot;,&quot;values&quot;:[120,80,45,30,15,10]}]},&quot;decorations&quot;:{&quot;seriesLabels&quot;:true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Bump chart (brand rank by year)&quot;,&quot;data&quot;:{&quot;categories&quot;:[&quot;2021&quot;,&quot;2022&quot;,&quot;2023&quot;,&quot;2024&quot;,&quot;2025&quot;],&quot;series&quot;:[{&quot;name&quot;:&quot;Acme&quot;,&quot;values&quot;:[1,2,2,1,1]},{&quot;name&quot;:&quot;Globex&quot;,&quot;values&quot;:[2,1,1,3,2]},{&quot;name&quot;:&quot;Initech&quot;,&quot;values&quot;:[3,3,4,2,3]},{&quot;name&quot;:&quot;Umbrella&quot;,&quot;values&quot;:[4,4,3,4,5]},{&quot;name&quot;:&quot;Soylent&quot;,&quot;values&quot;:[5,5,5,5,4]}]},&quot;decorations&quot;:{&quot;bump&quot;:true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orizontal profile chart (line)&quot;,&quot;horizontal&quot;:true,&quot;data&quot;:{&quot;categories&quot;:[&quot;Strategy&quot;,&quot;Execution&quot;,&quot;Culture&quot;,&quot;Innovation&quot;,&quot;Finance&quot;,&quot;Talent&quot;],&quot;series&quot;:[{&quot;name&quot;:&quot;Score&quot;,&quot;values&quot;:[72,58,80,65,90,48]}]},&quot;decorations&quot;:{&quot;segmentLabels&quot;:true,&quot;categoryAxis&quot;:true,&quot;valueAxis&quot;:true,&quot;gridlines&quot;:true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Horizontal profile chart (stacked area)&quot;,&quot;horizontal&quot;:true,&quot;data&quot;:{&quot;categories&quot;:[&quot;North&quot;,&quot;South&quot;,&quot;East&quot;,&quot;West&quot;,&quot;Central&quot;],&quot;series&quot;:[{&quot;name&quot;:&quot;Retail&quot;,&quot;values&quot;:[40,55,30,48,35]},{&quot;name&quot;:&quot;Online&quot;,&quot;values&quot;:[25,20,35,22,30]}]},&quot;decorations&quot;:{&quot;seriesLabels&quot;:true,&quot;categoryAxis&quot;:true,&quot;valueAxis&quot;:true,&quot;gridlines&quot;:true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wo-level treemap (region | product)&quot;,&quot;data&quot;:{&quot;categories&quot;:[&quot;EMEA | Cloud&quot;,&quot;EMEA | Licenses&quot;,&quot;EMEA | Services&quot;,&quot;Americas | Cloud&quot;,&quot;Americas | Licenses&quot;,&quot;APAC | Cloud&quot;,&quot;APAC | Hardware&quot;,&quot;APAC | Services&quot;],&quot;series&quot;:[{&quot;name&quot;:&quot;Revenue&quot;,&quot;values&quot;:[60,40,25,80,50,45,30,20]}]},&quot;decorations&quot;:{&quot;segmentLabels&quot;:true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(region → product)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Response-time distribution (ms)&quot;,&quot;data&quot;:{&quot;categories&quot;:[&quot;API&quot;,&quot;Web&quot;,&quot;Batch&quot;],&quot;series&quot;:[{&quot;name&quot;:&quot;s1&quot;,&quot;values&quot;:[90,140,300]},{&quot;name&quot;:&quot;s2&quot;,&quot;values&quot;:[94,149,322]},{&quot;name&quot;:&quot;s3&quot;,&quot;values&quot;:[98,158,344]},{&quot;name&quot;:&quot;s4&quot;,&quot;values&quot;:[102,167,366]},{&quot;name&quot;:&quot;s5&quot;,&quot;values&quot;:[106,176,388]},{&quot;name&quot;:&quot;s6&quot;,&quot;values&quot;:[110,185,410]},{&quot;name&quot;:&quot;s7&quot;,&quot;values&quot;:[114,194,432]},{&quot;name&quot;:&quot;s8&quot;,&quot;values&quot;:[118,203,454]},{&quot;name&quot;:&quot;s9&quot;,&quot;values&quot;:[122,212,476]},{&quot;name&quot;:&quot;s10&quot;,&quot;values&quot;:[126,221,498]}]},&quot;decorations&quot;:{&quot;categoryAxis&quot;:true,&quot;valueAxis&quot;:true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Share price — last two weeks&quot;,&quot;data&quot;:{&quot;categories&quot;:[&quot;D1&quot;,&quot;D2&quot;,&quot;D3&quot;,&quot;D4&quot;,&quot;D5&quot;,&quot;D6&quot;,&quot;D7&quot;,&quot;D8&quot;,&quot;D9&quot;,&quot;D10&quot;],&quot;series&quot;:[{&quot;name&quot;:&quot;Open&quot;,&quot;values&quot;:[40,42,45,44,47,46,43,45,48,47]},{&quot;name&quot;:&quot;High&quot;,&quot;values&quot;:[43,46,47,48,49,47,46,49,50,49]},{&quot;name&quot;:&quot;Low&quot;,&quot;values&quot;:[39,41,43,43,45,42,42,44,46,45]},{&quot;name&quot;:&quot;Close&quot;,&quot;values&quot;:[42,45,44,47,46,43,45,48,47,46]}]},&quot;decorations&quot;:{&quot;valueAxis&quot;:true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300,&quot;title&quot;:&quot;Launch plan — critical path highlighted&quot;,&quot;data&quot;:{&quot;categories&quot;:[&quot;Research&quot;,&quot;Design&quot;,&quot;Build&quot;,&quot;Copywriting&quot;,&quot;QA&quot;,&quot;Launch&quot;],&quot;series&quot;:[{&quot;name&quot;:&quot;Start&quot;,&quot;values&quot;:[1,3,8,3,14,18]},{&quot;name&quot;:&quot;End&quot;,&quot;values&quot;:[3,8,14,5,18,20]},{&quot;name&quot;:&quot;After&quot;,&quot;values&quot;:[null,1,2,1,3,5]}]},&quot;decorations&quot;:{&quot;criticalPath&quot;:true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Assay reproducibility (mean ± SD)&quot;,&quot;data&quot;:{&quot;categories&quot;:[&quot;Lot A&quot;,&quot;Lot B&quot;,&quot;Lot C&quot;],&quot;series&quot;:[{&quot;name&quot;:&quot;r1&quot;,&quot;values&quot;:[95,90,74]},{&quot;name&quot;:&quot;r2&quot;,&quot;values&quot;:[100,93,77]},{&quot;name&quot;:&quot;r3&quot;,&quot;values&quot;:[98,96,80]},{&quot;name&quot;:&quot;r4&quot;,&quot;values&quot;:[96,90,83]},{&quot;name&quot;:&quot;r5&quot;,&quot;values&quot;:[101,93,86]},{&quot;name&quot;:&quot;r6&quot;,&quot;values&quot;:[99,96,89]},{&quot;name&quot;:&quot;r7&quot;,&quot;values&quot;:[97,90,92]},{&quot;name&quot;:&quot;r8&quot;,&quot;values&quot;:[95,93,95]}]},&quot;boxplot&quot;:{&quot;meanSd&quot;:true},&quot;decorations&quot;:{&quot;valueAxis&quot;:true,&quot;segmentLabels&quot;:true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260,&quot;title&quot;:&quot;KPI sparklines — last 12 weeks&quot;,&quot;data&quot;:{&quot;categories&quot;:[&quot;w1&quot;,&quot;w2&quot;,&quot;w3&quot;,&quot;w4&quot;,&quot;w5&quot;,&quot;w6&quot;,&quot;w7&quot;,&quot;w8&quot;,&quot;w9&quot;,&quot;w10&quot;,&quot;w11&quot;,&quot;w12&quot;],&quot;series&quot;:[{&quot;name&quot;:&quot;Signups&quot;,&quot;values&quot;:[40,44,42,50,48,60,58,72,66,80,78,92]},{&quot;name&quot;:&quot;Revenue&quot;,&quot;values&quot;:[12,13,15,14,18,17,22,25,24,30,34,33]},{&quot;name&quot;:&quot;Churn %&quot;,&quot;values&quot;:[5.1,4.8,4.9,4.4,4.6,4,3.8,3.9,3.3,3.1,2.9,2.7]},{&quot;name&quot;:&quot;NPS&quot;,&quot;values&quot;:[30,32,31,35,38,40,39,44,47,46,52,55]}]},&quot;multiples&quot;:{&quot;columns&quot;:1},&quot;decorations&quot;:{&quot;sparkline&quot;:true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20,&quot;height&quot;:320,&quot;title&quot;:&quot;Monthly sales (radial bars)&quot;,&quot;data&quot;:{&quot;categories&quot;:[&quot;Jan&quot;,&quot;Feb&quot;,&quot;Mar&quot;,&quot;Apr&quot;,&quot;May&quot;,&quot;Jun&quot;,&quot;Jul&quot;,&quot;Aug&quot;],&quot;series&quot;:[{&quot;name&quot;:&quot;Units&quot;,&quot;values&quot;:[40,55,30,70,62,48,80,35]}]},&quot;radar&quot;:{&quot;bars&quot;:true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60,&quot;height&quot;:320,&quot;title&quot;:&quot;Team capability (stacked radar)&quot;,&quot;data&quot;:{&quot;categories&quot;:[&quot;Strategy&quot;,&quot;Delivery&quot;,&quot;Design&quot;,&quot;Data&quot;,&quot;Comms&quot;,&quot;Ops&quot;],&quot;series&quot;:[{&quot;name&quot;:&quot;Alice&quot;,&quot;values&quot;:[4,3,5,2,4,3]},{&quot;name&quot;:&quot;Bob&quot;,&quot;values&quot;:[3,4,2,5,3,4]},{&quot;name&quot;:&quot;Cara&quot;,&quot;values&quot;:[2,3,3,3,5,2]}]},&quot;radar&quot;:{&quot;stacked&quot;:true},&quot;decorations&quot;:{&quot;seriesLabels&quot;:true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60,&quot;height&quot;:320,&quot;title&quot;:&quot;Region share (angle = revenue, radius = margin)&quot;,&quot;data&quot;:{&quot;categories&quot;:[&quot;EMEA&quot;,&quot;Americas&quot;,&quot;APAC&quot;,&quot;LatAm&quot;],&quot;series&quot;:[{&quot;name&quot;:&quot;Revenue&quot;,&quot;values&quot;:[45,30,18,7]},{&quot;name&quot;:&quot;Radius&quot;,&quot;values&quot;:[90,55,70,40]}]},&quot;pie&quot;:{&quot;variableRadius&quot;:true},&quot;decorations&quot;:{&quot;segmentLabels&quot;:true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60,&quot;height&quot;:320,&quot;title&quot;:&quot;Correlation matrix — size = magnitude, +/− marks the direction&quot;,&quot;data&quot;:{&quot;categories&quot;:[&quot;Rev&quot;,&quot;Cost&quot;,&quot;Head&quot;,&quot;NPS&quot;,&quot;Churn&quot;],&quot;series&quot;:[{&quot;name&quot;:&quot;Rev&quot;,&quot;values&quot;:[1,0.8,0.6,0.5,-0.7]},{&quot;name&quot;:&quot;Cost&quot;,&quot;values&quot;:[0.8,1,0.7,0.1,-0.3]},{&quot;name&quot;:&quot;Head&quot;,&quot;values&quot;:[0.6,0.7,1,0.2,-0.2]},{&quot;name&quot;:&quot;NPS&quot;,&quot;values&quot;:[0.5,0.1,0.2,1,-0.9]},{&quot;name&quot;:&quot;Churn&quot;,&quot;values&quot;:[-0.7,-0.3,-0.2,-0.9,1]}]},&quot;heatmap&quot;:{&quot;sizeEncode&quot;:true,&quot;mode&quot;:&quot;diverging&quot;,&quot;symbols&quot;:&quot;sign&quot;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500,&quot;height&quot;:320,&quot;title&quot;:&quot;Region KPIs (rows clustered)&quot;,&quot;data&quot;:{&quot;categories&quot;:[&quot;Q1&quot;,&quot;Q2&quot;,&quot;Q3&quot;,&quot;Q4&quot;],&quot;series&quot;:[{&quot;name&quot;:&quot;North&quot;,&quot;values&quot;:[80,82,85,88]},{&quot;name&quot;:&quot;South&quot;,&quot;values&quot;:[20,22,19,25]},{&quot;name&quot;:&quot;East&quot;,&quot;values&quot;:[78,80,83,90]},{&quot;name&quot;:&quot;West&quot;,&quot;values&quot;:[22,18,24,21]},{&quot;name&quot;:&quot;Central&quot;,&quot;values&quot;:[50,52,48,55]},{&quot;name&quot;:&quot;Metro&quot;,&quot;values&quot;:[81,79,86,87]}]},&quot;heatmap&quot;:{&quot;cluster&quot;:true},&quot;decorations&quot;:{&quot;segmentLabels&quot;:true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20,&quot;height&quot;:320,&quot;title&quot;:&quot;Revenue mix (stacked area) + margin %&quot;,&quot;data&quot;:{&quot;categories&quot;:[&quot;Jan&quot;,&quot;Feb&quot;,&quot;Mar&quot;,&quot;Apr&quot;,&quot;May&quot;,&quot;Jun&quot;],&quot;series&quot;:[{&quot;name&quot;:&quot;Cloud&quot;,&quot;values&quot;:[20,24,28,30,35,40]},{&quot;name&quot;:&quot;Licenses&quot;,&quot;values&quot;:[15,14,16,15,17,18]},{&quot;name&quot;:&quot;Services&quot;,&quot;values&quot;:[10,11,12,14,13,15]},{&quot;name&quot;:&quot;Margin %&quot;,&quot;type&quot;:&quot;line&quot;,&quot;values&quot;:[22,24,26,25,28,30]}]},&quot;combo&quot;:{&quot;columns&quot;:&quot;area&quot;},&quot;secondaryAxis&quot;:true,&quot;decorations&quot;:{&quot;seriesLabels&quot;:true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620,&quot;height&quot;:260,&quot;title&quot;:&quot;Programme plan — cost and effort beside the bars&quot;,&quot;data&quot;:{&quot;categories&quot;:[&quot;Discovery | Ana&quot;,&quot;&gt; Research | Ana&quot;,&quot;&gt; Concept | Ana&quot;,&quot;Delivery | Ben&quot;,&quot;&gt; Build | Ben&quot;,&quot;&gt; QA | Cara&quot;],&quot;series&quot;:[{&quot;name&quot;:&quot;Start&quot;,&quot;values&quot;:[null,0,3,null,5,11]},{&quot;name&quot;:&quot;End&quot;,&quot;values&quot;:[null,3,5,null,11,14]},{&quot;name&quot;:&quot;Column Cost k€&quot;,&quot;values&quot;:[120,45,75,260,190.5,69.5]},{&quot;name&quot;:&quot;Column FTE&quot;,&quot;values&quot;:[2,1,1,3,2,1]}]},&quot;decorations&quot;:{&quot;summaryBars&quot;:true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40,&quot;title&quot;:&quot;Working-day timeline — weekends carry no width&quot;,&quot;data&quot;:{&quot;categories&quot;:[&quot;Spec&quot;,&quot;Build&quot;,&quot;Review&quot;,&quot;Ship&quot;],&quot;series&quot;:[{&quot;name&quot;:&quot;Start&quot;,&quot;values&quot;:[20458,20461,20468,20473]},{&quot;name&quot;:&quot;End&quot;,&quot;values&quot;:[20461,20468,20473,20475]},{&quot;name&quot;:&quot;Holiday&quot;,&quot;values&quot;:[20466,null,null,null]},{&quot;name&quot;:&quot;After&quot;,&quot;values&quot;:[null,1,2,3]}],&quot;dates&quot;:true},&quot;gantt&quot;:{&quot;workdays&quot;:true}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20,&quot;title&quot;:&quot;Marginal histograms — distribution beside the relationship&quot;,&quot;data&quot;:{&quot;categories&quot;:[&quot;A1&quot;,&quot;A2&quot;,&quot;A3&quot;,&quot;A4&quot;,&quot;A5&quot;,&quot;A6&quot;,&quot;A7&quot;,&quot;A8&quot;,&quot;A9&quot;,&quot;A10&quot;,&quot;A11&quot;,&quot;A12&quot;,&quot;A13&quot;,&quot;A14&quot;,&quot;A15&quot;,&quot;A16&quot;,&quot;A17&quot;,&quot;A18&quot;,&quot;A19&quot;,&quot;A20&quot;,&quot;A21&quot;,&quot;A22&quot;,&quot;A23&quot;,&quot;A24&quot;,&quot;A25&quot;,&quot;A26&quot;,&quot;A27&quot;,&quot;A28&quot;,&quot;A29&quot;,&quot;A30&quot;,&quot;A31&quot;,&quot;A32&quot;,&quot;A33&quot;,&quot;A34&quot;,&quot;A35&quot;,&quot;A36&quot;,&quot;A37&quot;,&quot;A38&quot;,&quot;A39&quot;,&quot;A40&quot;],&quot;series&quot;:[{&quot;name&quot;:&quot;X&quot;,&quot;values&quot;:[18,25,32,39,24,31,38,23,30,37,22,29,36,21,28,35,20,27,34,19,26,33,75,80,55,60,65,70,75,80,55,60,65,70,75,80,55,60,65,70]},{&quot;name&quot;:&quot;Y&quot;,&quot;values&quot;:[22,33,44,29,40,25,36,47,32,43,28,39,24,35,46,31,42,27,38,23,34,45,84,53,56,59,62,65,68,71,74,77,80,83,52,55,58,61,64,67]}]},&quot;decorations&quot;:{&quot;marginals&quot;:&quot;both&quot;,&quot;segmentLabels&quot;:false}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520,&quot;height&quot;:300,&quot;title&quot;:&quot;Overlap relief — markers nudged along Y only, by a disclosed cap&quot;,&quot;data&quot;:{&quot;categories&quot;:[&quot;Alfa&quot;,&quot;Bravo&quot;,&quot;Charlie&quot;,&quot;Delta&quot;,&quot;Echo&quot;,&quot;Foxtrot&quot;,&quot;Golf&quot;,&quot;Hotel&quot;],&quot;series&quot;:[{&quot;name&quot;:&quot;X&quot;,&quot;values&quot;:[30,31,32,30.5,68,69,70,68.5]},{&quot;name&quot;:&quot;Y&quot;,&quot;values&quot;:[40,41,39,40.5,62,61,63,62.5]},{&quot;name&quot;:&quot;Size&quot;,&quot;values&quot;:[70,55,60,45,80,50,65,40]}]},&quot;scatter&quot;:{&quot;spread&quot;:&quot;y&quot;,&quot;spreadLimit&quot;:6}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00,&quot;title&quot;:&quot;Shape per group — the split survives greyscale and color blindness&quot;,&quot;data&quot;:{&quot;categories&quot;:[&quot;Northwind&quot;,&quot;Acme&quot;,&quot;Globex&quot;,&quot;Initech&quot;,&quot;Umbra&quot;,&quot;Soylent&quot;,&quot;Vandelay&quot;,&quot;Hooli&quot;,&quot;Stark&quot;,&quot;Wayne&quot;,&quot;Tyrell&quot;,&quot;Cyberdyne&quot;],&quot;series&quot;:[{&quot;name&quot;:&quot;X&quot;,&quot;values&quot;:[12,18,22,15,44,51,47,55,74,81,78,85]},{&quot;name&quot;:&quot;Y&quot;,&quot;values&quot;:[30,41,25,36,55,48,62,51,72,66,80,74]},{&quot;name&quot;:&quot;Group&quot;,&quot;values&quot;:[1,1,1,1,2,2,2,2,3,3,3,3]}]},&quot;footnote&quot;:&quot;Groups: challengers, contenders, leaders.&quot;,&quot;scatter&quot;:{&quot;markers&quot;:[&quot;circle&quot;,&quot;diamond&quot;,&quot;triangle&quot;]}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00,&quot;height&quot;:300,&quot;title&quot;:&quot;Benchmark markers — consensus per quarter, on the columns' own scale&quot;,&quot;data&quot;:{&quot;categories&quot;:[&quot;Q1&quot;,&quot;Q2&quot;,&quot;Q3&quot;,&quot;Q4&quot;],&quot;series&quot;:[{&quot;name&quot;:&quot;Licenses&quot;,&quot;values&quot;:[28,31,30,36]},{&quot;name&quot;:&quot;Services&quot;,&quot;values&quot;:[12,14,17,15]},{&quot;name&quot;:&quot;Consensus&quot;,&quot;type&quot;:&quot;marker&quot;,&quot;values&quot;:[42,44,50,49]}]},&quot;decorations&quot;:{&quot;totals&quot;:true}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560,&quot;height&quot;:300,&quot;title&quot;:&quot;Bridge with “of which” detail columns — the walk steps over them&quot;,&quot;data&quot;:{&quot;categories&quot;:[&quot;FY23&quot;,&quot;Volume&quot;,&quot;Cost&quot;,&quot;&gt; Labour&quot;,&quot;&gt; Freight&quot;,&quot;&gt; Energy&quot;,&quot;FX&quot;,&quot;FY24&quot;],&quot;series&quot;:[{&quot;name&quot;:&quot;Delta&quot;,&quot;values&quot;:[86,14,-12,-7,-3,-2,-4,0]}]},&quot;waterfall&quot;:{&quot;totalIndices&quot;:[7],&quot;detailGroups&quot;:[{&quot;of&quot;:2,&quot;indices&quot;:[3,4,5]}]},&quot;decorations&quot;:{&quot;categoryAxis&quot;:true}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80,&quot;title&quot;:&quot;Plan grouped into owner lanes — dependencies follow their rows&quot;,&quot;data&quot;:{&quot;categories&quot;:[&quot;Spec | Ana&quot;,&quot;Build | Ben&quot;,&quot;Review | Ana&quot;,&quot;Ship | Ben&quot;,&quot;Handover&quot;],&quot;series&quot;:[{&quot;name&quot;:&quot;Start&quot;,&quot;values&quot;:[20458,20465,20472,20479,20486]},{&quot;name&quot;:&quot;End&quot;,&quot;values&quot;:[20465,20472,20479,20486,20489]},{&quot;name&quot;:&quot;After&quot;,&quot;values&quot;:[null,1,2,3,4]}],&quot;dates&quot;:true},&quot;gantt&quot;:{&quot;lanes&quot;:&quot;owner&quot;},&quot;decorations&quot;:{&quot;summaryBars&quot;:true}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render&quot;:&quot;image&quot;,&quot;width&quot;:480,&quot;height&quot;:300,&quot;title&quot;:&quot;Latency distribution (as one picture)&quot;,&quot;data&quot;:{&quot;categories&quot;:[&quot;API&quot;,&quot;Web&quot;,&quot;Batch&quot;],&quot;series&quot;:[{&quot;name&quot;:&quot;s1&quot;,&quot;values&quot;:[95,150,310]},{&quot;name&quot;:&quot;s2&quot;,&quot;values&quot;:[100,158,330]},{&quot;name&quot;:&quot;s3&quot;,&quot;values&quot;:[105,166,350]},{&quot;name&quot;:&quot;s4&quot;,&quot;values&quot;:[110,174,370]},{&quot;name&quot;:&quot;s5&quot;,&quot;values&quot;:[115,182,390]},{&quot;name&quot;:&quot;s6&quot;,&quot;values&quot;:[120,190,410]},{&quot;name&quot;:&quot;s7&quot;,&quot;values&quot;:[125,198,430]},{&quot;name&quot;:&quot;s8&quot;,&quot;values&quot;:[130,206,450]},{&quot;name&quot;:&quot;s9&quot;,&quot;values&quot;:[135,214,470]},{&quot;name&quot;:&quot;s10&quot;,&quot;values&quot;:[140,222,490]}]},&quot;decorations&quot;:{&quot;categoryAxis&quot;:true,&quot;valueAxis&quot;:true}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horizontal&quot;:true,&quot;width&quot;:480,&quot;height&quot;:300,&quot;title&quot;:&quot;Bullet graph — actual vs target, the way one is usually drawn&quot;,&quot;decorations&quot;:{&quot;categoryAxis&quot;:true,&quot;valueAxis&quot;:true,&quot;bands&quot;:[{&quot;axis&quot;:&quot;y&quot;,&quot;from&quot;:0,&quot;to&quot;:55,&quot;label&quot;:&quot;poor&quot;},{&quot;axis&quot;:&quot;y&quot;,&quot;from&quot;:55,&quot;to&quot;:75,&quot;label&quot;:&quot;ok&quot;},{&quot;axis&quot;:&quot;y&quot;,&quot;from&quot;:75,&quot;to&quot;:100,&quot;label&quot;:&quot;good&quot;}]},&quot;data&quot;:{&quot;categories&quot;:[&quot;North&quot;,&quot;South&quot;,&quot;East&quot;],&quot;series&quot;:[{&quot;name&quot;:&quot;Actual&quot;,&quot;values&quot;:[70,55,90]},{&quot;name&quot;:&quot;Target&quot;,&quot;values&quot;:[80,60,85]}]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2026-08-11T15:56:55Z</dcterms:created>
  <dcterms:modified xsi:type="dcterms:W3CDTF">2026-08-11T15:56:55Z</dcterms:modified>
</cp:coreProperties>
</file>
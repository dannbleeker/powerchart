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slideMasters/slideMaster99.xml" ContentType="application/vnd.openxmlformats-officedocument.presentationml.slideMaster+xml"/>
  <Override PartName="/ppt/slides/slide99.xml" ContentType="application/vnd.openxmlformats-officedocument.presentationml.slide+xml"/>
  <Override PartName="/ppt/slideMasters/slideMaster100.xml" ContentType="application/vnd.openxmlformats-officedocument.presentationml.slideMaster+xml"/>
  <Override PartName="/ppt/slides/slide100.xml" ContentType="application/vnd.openxmlformats-officedocument.presentationml.slide+xml"/>
  <Override PartName="/ppt/slideMasters/slideMaster101.xml" ContentType="application/vnd.openxmlformats-officedocument.presentationml.slideMaster+xml"/>
  <Override PartName="/ppt/slides/slide101.xml" ContentType="application/vnd.openxmlformats-officedocument.presentationml.slide+xml"/>
  <Override PartName="/ppt/slideMasters/slideMaster102.xml" ContentType="application/vnd.openxmlformats-officedocument.presentationml.slideMaster+xml"/>
  <Override PartName="/ppt/slides/slide102.xml" ContentType="application/vnd.openxmlformats-officedocument.presentationml.slide+xml"/>
  <Override PartName="/ppt/slideMasters/slideMaster103.xml" ContentType="application/vnd.openxmlformats-officedocument.presentationml.slideMaster+xml"/>
  <Override PartName="/ppt/slides/slide103.xml" ContentType="application/vnd.openxmlformats-officedocument.presentationml.slide+xml"/>
  <Override PartName="/ppt/slideMasters/slideMaster104.xml" ContentType="application/vnd.openxmlformats-officedocument.presentationml.slideMaster+xml"/>
  <Override PartName="/ppt/slides/slide104.xml" ContentType="application/vnd.openxmlformats-officedocument.presentationml.slide+xml"/>
  <Override PartName="/ppt/slideMasters/slideMaster105.xml" ContentType="application/vnd.openxmlformats-officedocument.presentationml.slideMaster+xml"/>
  <Override PartName="/ppt/slides/slide105.xml" ContentType="application/vnd.openxmlformats-officedocument.presentationml.slide+xml"/>
  <Override PartName="/ppt/slideMasters/slideMaster106.xml" ContentType="application/vnd.openxmlformats-officedocument.presentationml.slideMaster+xml"/>
  <Override PartName="/ppt/slides/slide106.xml" ContentType="application/vnd.openxmlformats-officedocument.presentationml.slide+xml"/>
  <Override PartName="/ppt/slideMasters/slideMaster107.xml" ContentType="application/vnd.openxmlformats-officedocument.presentationml.slideMaster+xml"/>
  <Override PartName="/ppt/slides/slide107.xml" ContentType="application/vnd.openxmlformats-officedocument.presentationml.slide+xml"/>
  <Override PartName="/ppt/slideMasters/slideMaster108.xml" ContentType="application/vnd.openxmlformats-officedocument.presentationml.slideMaster+xml"/>
  <Override PartName="/ppt/slides/slide108.xml" ContentType="application/vnd.openxmlformats-officedocument.presentationml.slide+xml"/>
  <Override PartName="/ppt/slideMasters/slideMaster109.xml" ContentType="application/vnd.openxmlformats-officedocument.presentationml.slideMaster+xml"/>
  <Override PartName="/ppt/slides/slide109.xml" ContentType="application/vnd.openxmlformats-officedocument.presentationml.slide+xml"/>
  <Override PartName="/ppt/slideMasters/slideMaster110.xml" ContentType="application/vnd.openxmlformats-officedocument.presentationml.slideMaster+xml"/>
  <Override PartName="/ppt/slides/slide1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  <p:sldId id="360" r:id="rId106"/>
    <p:sldId id="361" r:id="rId107"/>
    <p:sldId id="362" r:id="rId108"/>
    <p:sldId id="363" r:id="rId109"/>
    <p:sldId id="364" r:id="rId110"/>
    <p:sldId id="365" r:id="rId111"/>
  </p:sldIdLst>
  <p:notesMasterIdLst>
    <p:notesMasterId r:id="rId112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slide" Target="slides/slide100.xml"/><Relationship Id="rId102" Type="http://schemas.openxmlformats.org/officeDocument/2006/relationships/slide" Target="slides/slide101.xml"/><Relationship Id="rId103" Type="http://schemas.openxmlformats.org/officeDocument/2006/relationships/slide" Target="slides/slide102.xml"/><Relationship Id="rId104" Type="http://schemas.openxmlformats.org/officeDocument/2006/relationships/slide" Target="slides/slide103.xml"/><Relationship Id="rId105" Type="http://schemas.openxmlformats.org/officeDocument/2006/relationships/slide" Target="slides/slide104.xml"/><Relationship Id="rId106" Type="http://schemas.openxmlformats.org/officeDocument/2006/relationships/slide" Target="slides/slide105.xml"/><Relationship Id="rId107" Type="http://schemas.openxmlformats.org/officeDocument/2006/relationships/slide" Target="slides/slide106.xml"/><Relationship Id="rId108" Type="http://schemas.openxmlformats.org/officeDocument/2006/relationships/slide" Target="slides/slide107.xml"/><Relationship Id="rId109" Type="http://schemas.openxmlformats.org/officeDocument/2006/relationships/slide" Target="slides/slide108.xml"/><Relationship Id="rId110" Type="http://schemas.openxmlformats.org/officeDocument/2006/relationships/slide" Target="slides/slide109.xml"/><Relationship Id="rId111" Type="http://schemas.openxmlformats.org/officeDocument/2006/relationships/slide" Target="slides/slide110.xml"/><Relationship Id="rId112" Type="http://schemas.openxmlformats.org/officeDocument/2006/relationships/notesMaster" Target="notesMasters/notesMaster1.xml"/><Relationship Id="rId113" Type="http://schemas.openxmlformats.org/officeDocument/2006/relationships/presProps" Target="presProps.xml"/><Relationship Id="rId114" Type="http://schemas.openxmlformats.org/officeDocument/2006/relationships/viewProps" Target="viewProps.xml"/><Relationship Id="rId115" Type="http://schemas.openxmlformats.org/officeDocument/2006/relationships/theme" Target="theme/theme1.xml"/><Relationship Id="rId1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_rels/notesSlide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9.xml"/>
		</Relationships>
</file>

<file path=ppt/notesSlides/_rels/notesSlide1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0.xml"/>
		</Relationships>
</file>

<file path=ppt/notesSlides/_rels/notesSlide1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1.xml"/>
		</Relationships>
</file>

<file path=ppt/notesSlides/_rels/notesSlide1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2.xml"/>
		</Relationships>
</file>

<file path=ppt/notesSlides/_rels/notesSlide1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3.xml"/>
		</Relationships>
</file>

<file path=ppt/notesSlides/_rels/notesSlide1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4.xml"/>
		</Relationships>
</file>

<file path=ppt/notesSlides/_rels/notesSlide1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5.xml"/>
		</Relationships>
</file>

<file path=ppt/notesSlides/_rels/notesSlide1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6.xml"/>
		</Relationships>
</file>

<file path=ppt/notesSlides/_rels/notesSlide1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7.xml"/>
		</Relationships>
</file>

<file path=ppt/notesSlides/_rels/notesSlide1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8.xml"/>
		</Relationships>
</file>

<file path=ppt/notesSlides/_rels/notesSlide1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9.xml"/>
		</Relationships>
</file>

<file path=ppt/notesSlides/_rels/notesSlide1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7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8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9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0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1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2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3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4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5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6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7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8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9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0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1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2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3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4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5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6.xml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7.xml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8.xml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9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Stacked — Revenue by segment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686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40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9594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89148" y="4411641"/>
            <a:ext cx="863600" cy="69375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38348" y="4663271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89148" y="3962739"/>
            <a:ext cx="863600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38348" y="40919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89148" y="3595455"/>
            <a:ext cx="863600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38348" y="368384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073248" y="3411305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84548" y="4289213"/>
            <a:ext cx="863600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33748" y="460205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84548" y="3758692"/>
            <a:ext cx="863600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33748" y="3928703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84548" y="3411813"/>
            <a:ext cx="863600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33748" y="349000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368648" y="322766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879948" y="4146381"/>
            <a:ext cx="863600" cy="95901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29148" y="45306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879948" y="3513836"/>
            <a:ext cx="863600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29148" y="3734858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879948" y="3126147"/>
            <a:ext cx="863600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829148" y="322474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664048" y="2941997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175348" y="3962739"/>
            <a:ext cx="863600" cy="1142661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124548" y="4438819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7175348" y="3248575"/>
            <a:ext cx="863600" cy="71416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124548" y="351040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175348" y="2799673"/>
            <a:ext cx="863600" cy="4489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124548" y="2928874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959448" y="261552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305648" y="2938399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305648" y="3519932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8305648" y="4448344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 flipV="1">
            <a:off x="3720948" y="2405973"/>
            <a:ext cx="3886200" cy="795782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 rot="4680000">
            <a:off x="7481438" y="2355211"/>
            <a:ext cx="127000" cy="127000"/>
          </a:xfrm>
          <a:prstGeom prst="triangle">
            <a:avLst/>
          </a:prstGeom>
          <a:solidFill>
            <a:srgbClr val="0B0B0B"/>
          </a:solidFill>
          <a:ln/>
        </p:spPr>
      </p:sp>
      <p:sp>
        <p:nvSpPr>
          <p:cNvPr id="41" name="Text 39"/>
          <p:cNvSpPr/>
          <p:nvPr/>
        </p:nvSpPr>
        <p:spPr>
          <a:xfrm>
            <a:off x="5092548" y="2202773"/>
            <a:ext cx="1143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+15.2% p.a.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Clustered — Sales by quarter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7151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86978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26805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312643" y="3425190"/>
            <a:ext cx="453390" cy="168021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Text 6"/>
          <p:cNvSpPr/>
          <p:nvPr/>
        </p:nvSpPr>
        <p:spPr>
          <a:xfrm>
            <a:off x="3261843" y="4170045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778733" y="3065145"/>
            <a:ext cx="453390" cy="204025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" name="Text 8"/>
          <p:cNvSpPr/>
          <p:nvPr/>
        </p:nvSpPr>
        <p:spPr>
          <a:xfrm>
            <a:off x="3727933" y="3990023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51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10913" y="3185160"/>
            <a:ext cx="453390" cy="192024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4660113" y="4050030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177003" y="2905125"/>
            <a:ext cx="453390" cy="220027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" name="Text 12"/>
          <p:cNvSpPr/>
          <p:nvPr/>
        </p:nvSpPr>
        <p:spPr>
          <a:xfrm>
            <a:off x="5126203" y="3910013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109183" y="3305175"/>
            <a:ext cx="453390" cy="180022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6058383" y="4110038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575273" y="2785110"/>
            <a:ext cx="453390" cy="232029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" name="Text 16"/>
          <p:cNvSpPr/>
          <p:nvPr/>
        </p:nvSpPr>
        <p:spPr>
          <a:xfrm>
            <a:off x="6524473" y="3850005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507453" y="2665095"/>
            <a:ext cx="453390" cy="244030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Text 18"/>
          <p:cNvSpPr/>
          <p:nvPr/>
        </p:nvSpPr>
        <p:spPr>
          <a:xfrm>
            <a:off x="7456653" y="3789998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7973543" y="2305050"/>
            <a:ext cx="453390" cy="280035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2" name="Text 20"/>
          <p:cNvSpPr/>
          <p:nvPr/>
        </p:nvSpPr>
        <p:spPr>
          <a:xfrm>
            <a:off x="7922743" y="3609975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073248" y="5105400"/>
            <a:ext cx="55930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717128" y="3619500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8717128" y="3799523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100% — Channel mix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1254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85793" y="5143500"/>
            <a:ext cx="131254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98338" y="5143500"/>
            <a:ext cx="131254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010883" y="5143500"/>
            <a:ext cx="131254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92005" y="3345180"/>
            <a:ext cx="875030" cy="17602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41205" y="4130040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92005" y="2385060"/>
            <a:ext cx="875030" cy="96012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41205" y="2769870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30%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92005" y="1905000"/>
            <a:ext cx="875030" cy="48006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41205" y="2049780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15%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604550" y="3537204"/>
            <a:ext cx="875030" cy="1568196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53750" y="4226052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49%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604550" y="2385060"/>
            <a:ext cx="875030" cy="115214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53750" y="2865882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36%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604550" y="1905000"/>
            <a:ext cx="875030" cy="48006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53750" y="2049780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15%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17095" y="3697224"/>
            <a:ext cx="875030" cy="1408176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866295" y="4306062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44%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917095" y="2385060"/>
            <a:ext cx="875030" cy="131216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66295" y="2945892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41%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917095" y="1905000"/>
            <a:ext cx="875030" cy="48006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66295" y="2049780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15%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7229640" y="3889248"/>
            <a:ext cx="875030" cy="1216152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178840" y="4402074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38%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7229640" y="2385060"/>
            <a:ext cx="875030" cy="1504188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178840" y="3041904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47%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7229640" y="1905000"/>
            <a:ext cx="875030" cy="48006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178840" y="2049780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15%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073248" y="5105400"/>
            <a:ext cx="52501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374228" y="2059305"/>
            <a:ext cx="7696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Wholesale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8374228" y="3051429"/>
            <a:ext cx="7696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Online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8374228" y="4411599"/>
            <a:ext cx="7696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Retail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Waterfall — EBITDA bridge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0765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0798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Price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0831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0864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FX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80897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40464" y="3270504"/>
            <a:ext cx="668867" cy="183489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Text 8"/>
          <p:cNvSpPr/>
          <p:nvPr/>
        </p:nvSpPr>
        <p:spPr>
          <a:xfrm>
            <a:off x="3164264" y="4092702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86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909331" y="3270504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2" name="Shape 10"/>
          <p:cNvSpPr/>
          <p:nvPr/>
        </p:nvSpPr>
        <p:spPr>
          <a:xfrm>
            <a:off x="4243764" y="2971800"/>
            <a:ext cx="668867" cy="29870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Text 11"/>
          <p:cNvSpPr/>
          <p:nvPr/>
        </p:nvSpPr>
        <p:spPr>
          <a:xfrm>
            <a:off x="4167564" y="3025902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912631" y="2971800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5" name="Shape 13"/>
          <p:cNvSpPr/>
          <p:nvPr/>
        </p:nvSpPr>
        <p:spPr>
          <a:xfrm>
            <a:off x="5247064" y="2779776"/>
            <a:ext cx="668867" cy="19202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5170864" y="2780538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+9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915931" y="2779776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6250364" y="2779776"/>
            <a:ext cx="668867" cy="256032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19" name="Text 17"/>
          <p:cNvSpPr/>
          <p:nvPr/>
        </p:nvSpPr>
        <p:spPr>
          <a:xfrm>
            <a:off x="6174164" y="2812542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-12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919231" y="3035808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7253664" y="3035808"/>
            <a:ext cx="668867" cy="85344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22" name="Text 20"/>
          <p:cNvSpPr/>
          <p:nvPr/>
        </p:nvSpPr>
        <p:spPr>
          <a:xfrm>
            <a:off x="7177464" y="2851658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-4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922531" y="3121152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8256964" y="3121152"/>
            <a:ext cx="668867" cy="1984248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25" name="Text 23"/>
          <p:cNvSpPr/>
          <p:nvPr/>
        </p:nvSpPr>
        <p:spPr>
          <a:xfrm>
            <a:off x="8180764" y="4018026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93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073248" y="5105400"/>
            <a:ext cx="6019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73248" y="3575050"/>
            <a:ext cx="1632527" cy="153035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047848" y="4244975"/>
            <a:ext cx="168332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3073248" y="2554817"/>
            <a:ext cx="1632527" cy="102023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047848" y="2969683"/>
            <a:ext cx="168332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28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073248" y="2044700"/>
            <a:ext cx="1632527" cy="510117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047848" y="2204508"/>
            <a:ext cx="168332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022448" y="1860550"/>
            <a:ext cx="17341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731175" y="3575050"/>
            <a:ext cx="2137833" cy="153035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705775" y="4244975"/>
            <a:ext cx="218863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31175" y="2740314"/>
            <a:ext cx="2137833" cy="834736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705775" y="3062432"/>
            <a:ext cx="218863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731175" y="2044700"/>
            <a:ext cx="2137833" cy="69561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705775" y="2297257"/>
            <a:ext cx="218863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680375" y="1860550"/>
            <a:ext cx="22394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894408" y="4318363"/>
            <a:ext cx="1360439" cy="78703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869008" y="4616631"/>
            <a:ext cx="141123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894408" y="3356429"/>
            <a:ext cx="1360439" cy="96193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869008" y="3742146"/>
            <a:ext cx="141123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894408" y="2044700"/>
            <a:ext cx="1360439" cy="131172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869008" y="2605314"/>
            <a:ext cx="141123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843608" y="1860550"/>
            <a:ext cx="1462039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Mekko — Revenue by region and segment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3022448" y="5143500"/>
            <a:ext cx="17341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 (32%)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680375" y="5143500"/>
            <a:ext cx="22394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 (42%)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843608" y="5143500"/>
            <a:ext cx="1462039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 (27%)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305648" y="2614839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305648" y="3751671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8305648" y="4626156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Line — Gross margin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43053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35052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27051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479648" y="19050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42164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3416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047848" y="26162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479648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475836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472024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468212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7464400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947262" y="315468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flipV="1">
            <a:off x="3977742" y="3025140"/>
            <a:ext cx="996188" cy="16002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943450" y="299466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flipV="1">
            <a:off x="4973930" y="2905125"/>
            <a:ext cx="996188" cy="12001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939638" y="2874645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flipV="1">
            <a:off x="5970118" y="2665095"/>
            <a:ext cx="996188" cy="24003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935826" y="2634615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flipV="1">
            <a:off x="6966306" y="2465070"/>
            <a:ext cx="996188" cy="20002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932014" y="243459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947262" y="347472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flipV="1">
            <a:off x="3977742" y="3425190"/>
            <a:ext cx="996188" cy="8001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43450" y="339471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973930" y="3425190"/>
            <a:ext cx="996188" cy="4000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39638" y="343471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flipV="1">
            <a:off x="5970118" y="3305175"/>
            <a:ext cx="996188" cy="16002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935826" y="327469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flipV="1">
            <a:off x="6966306" y="3145155"/>
            <a:ext cx="996188" cy="16002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932014" y="311467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479648" y="5105400"/>
            <a:ext cx="49809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511388" y="2379345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A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511388" y="3059430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B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Area — Active users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40386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29718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19050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479648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475836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472024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68212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464400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977742" y="4673346"/>
            <a:ext cx="47858" cy="43205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Shape 14"/>
          <p:cNvSpPr/>
          <p:nvPr/>
        </p:nvSpPr>
        <p:spPr>
          <a:xfrm>
            <a:off x="4019249" y="4662678"/>
            <a:ext cx="47858" cy="44272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7" name="Shape 15"/>
          <p:cNvSpPr/>
          <p:nvPr/>
        </p:nvSpPr>
        <p:spPr>
          <a:xfrm>
            <a:off x="4060757" y="4652010"/>
            <a:ext cx="47858" cy="45339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Shape 16"/>
          <p:cNvSpPr/>
          <p:nvPr/>
        </p:nvSpPr>
        <p:spPr>
          <a:xfrm>
            <a:off x="4102265" y="4641342"/>
            <a:ext cx="47858" cy="46405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Shape 17"/>
          <p:cNvSpPr/>
          <p:nvPr/>
        </p:nvSpPr>
        <p:spPr>
          <a:xfrm>
            <a:off x="4143773" y="4630674"/>
            <a:ext cx="47858" cy="47472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Shape 18"/>
          <p:cNvSpPr/>
          <p:nvPr/>
        </p:nvSpPr>
        <p:spPr>
          <a:xfrm>
            <a:off x="4185281" y="4620006"/>
            <a:ext cx="47858" cy="4853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Shape 19"/>
          <p:cNvSpPr/>
          <p:nvPr/>
        </p:nvSpPr>
        <p:spPr>
          <a:xfrm>
            <a:off x="4226789" y="4609338"/>
            <a:ext cx="47858" cy="4960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Shape 20"/>
          <p:cNvSpPr/>
          <p:nvPr/>
        </p:nvSpPr>
        <p:spPr>
          <a:xfrm>
            <a:off x="4268296" y="4598670"/>
            <a:ext cx="47858" cy="50673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Shape 21"/>
          <p:cNvSpPr/>
          <p:nvPr/>
        </p:nvSpPr>
        <p:spPr>
          <a:xfrm>
            <a:off x="4309804" y="4588002"/>
            <a:ext cx="47858" cy="51739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4" name="Shape 22"/>
          <p:cNvSpPr/>
          <p:nvPr/>
        </p:nvSpPr>
        <p:spPr>
          <a:xfrm>
            <a:off x="4351312" y="4577334"/>
            <a:ext cx="47858" cy="52806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Shape 23"/>
          <p:cNvSpPr/>
          <p:nvPr/>
        </p:nvSpPr>
        <p:spPr>
          <a:xfrm>
            <a:off x="4392820" y="4566666"/>
            <a:ext cx="47858" cy="53873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6" name="Shape 24"/>
          <p:cNvSpPr/>
          <p:nvPr/>
        </p:nvSpPr>
        <p:spPr>
          <a:xfrm>
            <a:off x="4434328" y="4555998"/>
            <a:ext cx="47858" cy="54940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Shape 25"/>
          <p:cNvSpPr/>
          <p:nvPr/>
        </p:nvSpPr>
        <p:spPr>
          <a:xfrm>
            <a:off x="4475836" y="4545330"/>
            <a:ext cx="47858" cy="56007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8" name="Shape 26"/>
          <p:cNvSpPr/>
          <p:nvPr/>
        </p:nvSpPr>
        <p:spPr>
          <a:xfrm>
            <a:off x="4517343" y="4534662"/>
            <a:ext cx="47858" cy="57073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9" name="Shape 27"/>
          <p:cNvSpPr/>
          <p:nvPr/>
        </p:nvSpPr>
        <p:spPr>
          <a:xfrm>
            <a:off x="4558851" y="4523994"/>
            <a:ext cx="47858" cy="58140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Shape 28"/>
          <p:cNvSpPr/>
          <p:nvPr/>
        </p:nvSpPr>
        <p:spPr>
          <a:xfrm>
            <a:off x="4600359" y="4513326"/>
            <a:ext cx="47858" cy="59207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Shape 29"/>
          <p:cNvSpPr/>
          <p:nvPr/>
        </p:nvSpPr>
        <p:spPr>
          <a:xfrm>
            <a:off x="4641867" y="4502658"/>
            <a:ext cx="47858" cy="60274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2" name="Shape 30"/>
          <p:cNvSpPr/>
          <p:nvPr/>
        </p:nvSpPr>
        <p:spPr>
          <a:xfrm>
            <a:off x="4683375" y="4491990"/>
            <a:ext cx="47858" cy="61341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Shape 31"/>
          <p:cNvSpPr/>
          <p:nvPr/>
        </p:nvSpPr>
        <p:spPr>
          <a:xfrm>
            <a:off x="4724883" y="4481322"/>
            <a:ext cx="47858" cy="62407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4" name="Shape 32"/>
          <p:cNvSpPr/>
          <p:nvPr/>
        </p:nvSpPr>
        <p:spPr>
          <a:xfrm>
            <a:off x="4766390" y="4470654"/>
            <a:ext cx="47858" cy="63474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Shape 33"/>
          <p:cNvSpPr/>
          <p:nvPr/>
        </p:nvSpPr>
        <p:spPr>
          <a:xfrm>
            <a:off x="4807898" y="4459986"/>
            <a:ext cx="47858" cy="64541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6" name="Shape 34"/>
          <p:cNvSpPr/>
          <p:nvPr/>
        </p:nvSpPr>
        <p:spPr>
          <a:xfrm>
            <a:off x="4849406" y="4449318"/>
            <a:ext cx="47858" cy="65608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7" name="Shape 35"/>
          <p:cNvSpPr/>
          <p:nvPr/>
        </p:nvSpPr>
        <p:spPr>
          <a:xfrm>
            <a:off x="4890914" y="4438650"/>
            <a:ext cx="47858" cy="66675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8" name="Shape 36"/>
          <p:cNvSpPr/>
          <p:nvPr/>
        </p:nvSpPr>
        <p:spPr>
          <a:xfrm>
            <a:off x="4932422" y="4427982"/>
            <a:ext cx="47858" cy="67741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9" name="Shape 37"/>
          <p:cNvSpPr/>
          <p:nvPr/>
        </p:nvSpPr>
        <p:spPr>
          <a:xfrm>
            <a:off x="4973930" y="4416870"/>
            <a:ext cx="47858" cy="68853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0" name="Shape 38"/>
          <p:cNvSpPr/>
          <p:nvPr/>
        </p:nvSpPr>
        <p:spPr>
          <a:xfrm>
            <a:off x="5015437" y="4405313"/>
            <a:ext cx="47858" cy="70008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1" name="Shape 39"/>
          <p:cNvSpPr/>
          <p:nvPr/>
        </p:nvSpPr>
        <p:spPr>
          <a:xfrm>
            <a:off x="5056945" y="4393756"/>
            <a:ext cx="47858" cy="71164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2" name="Shape 40"/>
          <p:cNvSpPr/>
          <p:nvPr/>
        </p:nvSpPr>
        <p:spPr>
          <a:xfrm>
            <a:off x="5098453" y="4382199"/>
            <a:ext cx="47858" cy="72320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3" name="Shape 41"/>
          <p:cNvSpPr/>
          <p:nvPr/>
        </p:nvSpPr>
        <p:spPr>
          <a:xfrm>
            <a:off x="5139961" y="4370642"/>
            <a:ext cx="47858" cy="73475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4" name="Shape 42"/>
          <p:cNvSpPr/>
          <p:nvPr/>
        </p:nvSpPr>
        <p:spPr>
          <a:xfrm>
            <a:off x="5181469" y="4359085"/>
            <a:ext cx="47858" cy="74631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5" name="Shape 43"/>
          <p:cNvSpPr/>
          <p:nvPr/>
        </p:nvSpPr>
        <p:spPr>
          <a:xfrm>
            <a:off x="5222977" y="4347528"/>
            <a:ext cx="47858" cy="75787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6" name="Shape 44"/>
          <p:cNvSpPr/>
          <p:nvPr/>
        </p:nvSpPr>
        <p:spPr>
          <a:xfrm>
            <a:off x="5264484" y="4335971"/>
            <a:ext cx="47858" cy="76942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7" name="Shape 45"/>
          <p:cNvSpPr/>
          <p:nvPr/>
        </p:nvSpPr>
        <p:spPr>
          <a:xfrm>
            <a:off x="5305992" y="4324414"/>
            <a:ext cx="47858" cy="78098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8" name="Shape 46"/>
          <p:cNvSpPr/>
          <p:nvPr/>
        </p:nvSpPr>
        <p:spPr>
          <a:xfrm>
            <a:off x="5347500" y="4312857"/>
            <a:ext cx="47858" cy="79254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5389008" y="4301300"/>
            <a:ext cx="47858" cy="8041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0" name="Shape 48"/>
          <p:cNvSpPr/>
          <p:nvPr/>
        </p:nvSpPr>
        <p:spPr>
          <a:xfrm>
            <a:off x="5430516" y="4289743"/>
            <a:ext cx="47858" cy="81565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1" name="Shape 49"/>
          <p:cNvSpPr/>
          <p:nvPr/>
        </p:nvSpPr>
        <p:spPr>
          <a:xfrm>
            <a:off x="5472024" y="4278186"/>
            <a:ext cx="47858" cy="82721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2" name="Shape 50"/>
          <p:cNvSpPr/>
          <p:nvPr/>
        </p:nvSpPr>
        <p:spPr>
          <a:xfrm>
            <a:off x="5513531" y="4266629"/>
            <a:ext cx="47858" cy="83877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3" name="Shape 51"/>
          <p:cNvSpPr/>
          <p:nvPr/>
        </p:nvSpPr>
        <p:spPr>
          <a:xfrm>
            <a:off x="5555039" y="4255072"/>
            <a:ext cx="47858" cy="85032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4" name="Shape 52"/>
          <p:cNvSpPr/>
          <p:nvPr/>
        </p:nvSpPr>
        <p:spPr>
          <a:xfrm>
            <a:off x="5596547" y="4243515"/>
            <a:ext cx="47858" cy="86188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5" name="Shape 53"/>
          <p:cNvSpPr/>
          <p:nvPr/>
        </p:nvSpPr>
        <p:spPr>
          <a:xfrm>
            <a:off x="5638055" y="4231958"/>
            <a:ext cx="47858" cy="87344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6" name="Shape 54"/>
          <p:cNvSpPr/>
          <p:nvPr/>
        </p:nvSpPr>
        <p:spPr>
          <a:xfrm>
            <a:off x="5679563" y="4220401"/>
            <a:ext cx="47858" cy="8850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7" name="Shape 55"/>
          <p:cNvSpPr/>
          <p:nvPr/>
        </p:nvSpPr>
        <p:spPr>
          <a:xfrm>
            <a:off x="5721071" y="4208844"/>
            <a:ext cx="47858" cy="89655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8" name="Shape 56"/>
          <p:cNvSpPr/>
          <p:nvPr/>
        </p:nvSpPr>
        <p:spPr>
          <a:xfrm>
            <a:off x="5762578" y="4197287"/>
            <a:ext cx="47858" cy="90811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9" name="Shape 57"/>
          <p:cNvSpPr/>
          <p:nvPr/>
        </p:nvSpPr>
        <p:spPr>
          <a:xfrm>
            <a:off x="5804086" y="4185730"/>
            <a:ext cx="47858" cy="91967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0" name="Shape 58"/>
          <p:cNvSpPr/>
          <p:nvPr/>
        </p:nvSpPr>
        <p:spPr>
          <a:xfrm>
            <a:off x="5845594" y="4174173"/>
            <a:ext cx="47858" cy="93122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1" name="Shape 59"/>
          <p:cNvSpPr/>
          <p:nvPr/>
        </p:nvSpPr>
        <p:spPr>
          <a:xfrm>
            <a:off x="5887102" y="4162616"/>
            <a:ext cx="47858" cy="94278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2" name="Shape 60"/>
          <p:cNvSpPr/>
          <p:nvPr/>
        </p:nvSpPr>
        <p:spPr>
          <a:xfrm>
            <a:off x="5928610" y="4151059"/>
            <a:ext cx="47858" cy="95434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3" name="Shape 61"/>
          <p:cNvSpPr/>
          <p:nvPr/>
        </p:nvSpPr>
        <p:spPr>
          <a:xfrm>
            <a:off x="5970118" y="4138613"/>
            <a:ext cx="47858" cy="96678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4" name="Shape 62"/>
          <p:cNvSpPr/>
          <p:nvPr/>
        </p:nvSpPr>
        <p:spPr>
          <a:xfrm>
            <a:off x="6011625" y="4125278"/>
            <a:ext cx="47858" cy="98012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5" name="Shape 63"/>
          <p:cNvSpPr/>
          <p:nvPr/>
        </p:nvSpPr>
        <p:spPr>
          <a:xfrm>
            <a:off x="6053133" y="4111943"/>
            <a:ext cx="47858" cy="99345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6" name="Shape 64"/>
          <p:cNvSpPr/>
          <p:nvPr/>
        </p:nvSpPr>
        <p:spPr>
          <a:xfrm>
            <a:off x="6094641" y="4098608"/>
            <a:ext cx="47858" cy="10067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7" name="Shape 65"/>
          <p:cNvSpPr/>
          <p:nvPr/>
        </p:nvSpPr>
        <p:spPr>
          <a:xfrm>
            <a:off x="6136149" y="4085273"/>
            <a:ext cx="47858" cy="102012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8" name="Shape 66"/>
          <p:cNvSpPr/>
          <p:nvPr/>
        </p:nvSpPr>
        <p:spPr>
          <a:xfrm>
            <a:off x="6177657" y="4071938"/>
            <a:ext cx="47858" cy="10334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9" name="Shape 67"/>
          <p:cNvSpPr/>
          <p:nvPr/>
        </p:nvSpPr>
        <p:spPr>
          <a:xfrm>
            <a:off x="6219165" y="4058603"/>
            <a:ext cx="47858" cy="104679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0" name="Shape 68"/>
          <p:cNvSpPr/>
          <p:nvPr/>
        </p:nvSpPr>
        <p:spPr>
          <a:xfrm>
            <a:off x="6260672" y="4045268"/>
            <a:ext cx="47858" cy="106013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1" name="Shape 69"/>
          <p:cNvSpPr/>
          <p:nvPr/>
        </p:nvSpPr>
        <p:spPr>
          <a:xfrm>
            <a:off x="6302180" y="4031933"/>
            <a:ext cx="47858" cy="107346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2" name="Shape 70"/>
          <p:cNvSpPr/>
          <p:nvPr/>
        </p:nvSpPr>
        <p:spPr>
          <a:xfrm>
            <a:off x="6343688" y="4018598"/>
            <a:ext cx="47858" cy="108680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3" name="Shape 71"/>
          <p:cNvSpPr/>
          <p:nvPr/>
        </p:nvSpPr>
        <p:spPr>
          <a:xfrm>
            <a:off x="6385196" y="4005263"/>
            <a:ext cx="47858" cy="110013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4" name="Shape 72"/>
          <p:cNvSpPr/>
          <p:nvPr/>
        </p:nvSpPr>
        <p:spPr>
          <a:xfrm>
            <a:off x="6426704" y="3991927"/>
            <a:ext cx="47858" cy="111347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5" name="Shape 73"/>
          <p:cNvSpPr/>
          <p:nvPr/>
        </p:nvSpPr>
        <p:spPr>
          <a:xfrm>
            <a:off x="6468212" y="3978593"/>
            <a:ext cx="47858" cy="112680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6" name="Shape 74"/>
          <p:cNvSpPr/>
          <p:nvPr/>
        </p:nvSpPr>
        <p:spPr>
          <a:xfrm>
            <a:off x="6509719" y="3965257"/>
            <a:ext cx="47858" cy="114014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7" name="Shape 75"/>
          <p:cNvSpPr/>
          <p:nvPr/>
        </p:nvSpPr>
        <p:spPr>
          <a:xfrm>
            <a:off x="6551227" y="3951923"/>
            <a:ext cx="47858" cy="115347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8" name="Shape 76"/>
          <p:cNvSpPr/>
          <p:nvPr/>
        </p:nvSpPr>
        <p:spPr>
          <a:xfrm>
            <a:off x="6592735" y="3938588"/>
            <a:ext cx="47858" cy="116681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9" name="Shape 77"/>
          <p:cNvSpPr/>
          <p:nvPr/>
        </p:nvSpPr>
        <p:spPr>
          <a:xfrm>
            <a:off x="6634243" y="3925253"/>
            <a:ext cx="47858" cy="118014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0" name="Shape 78"/>
          <p:cNvSpPr/>
          <p:nvPr/>
        </p:nvSpPr>
        <p:spPr>
          <a:xfrm>
            <a:off x="6675751" y="3911918"/>
            <a:ext cx="47858" cy="119348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1" name="Shape 79"/>
          <p:cNvSpPr/>
          <p:nvPr/>
        </p:nvSpPr>
        <p:spPr>
          <a:xfrm>
            <a:off x="6717259" y="3898583"/>
            <a:ext cx="47858" cy="120681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2" name="Shape 80"/>
          <p:cNvSpPr/>
          <p:nvPr/>
        </p:nvSpPr>
        <p:spPr>
          <a:xfrm>
            <a:off x="6758766" y="3885248"/>
            <a:ext cx="47858" cy="122015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3" name="Shape 81"/>
          <p:cNvSpPr/>
          <p:nvPr/>
        </p:nvSpPr>
        <p:spPr>
          <a:xfrm>
            <a:off x="6800274" y="3871913"/>
            <a:ext cx="47858" cy="123348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4" name="Shape 82"/>
          <p:cNvSpPr/>
          <p:nvPr/>
        </p:nvSpPr>
        <p:spPr>
          <a:xfrm>
            <a:off x="6841782" y="3858578"/>
            <a:ext cx="47858" cy="124682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5" name="Shape 83"/>
          <p:cNvSpPr/>
          <p:nvPr/>
        </p:nvSpPr>
        <p:spPr>
          <a:xfrm>
            <a:off x="6883290" y="3845243"/>
            <a:ext cx="47858" cy="126015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6" name="Shape 84"/>
          <p:cNvSpPr/>
          <p:nvPr/>
        </p:nvSpPr>
        <p:spPr>
          <a:xfrm>
            <a:off x="6924798" y="3831908"/>
            <a:ext cx="47858" cy="127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7" name="Shape 85"/>
          <p:cNvSpPr/>
          <p:nvPr/>
        </p:nvSpPr>
        <p:spPr>
          <a:xfrm>
            <a:off x="6966306" y="3819017"/>
            <a:ext cx="47858" cy="128638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8" name="Shape 86"/>
          <p:cNvSpPr/>
          <p:nvPr/>
        </p:nvSpPr>
        <p:spPr>
          <a:xfrm>
            <a:off x="7007813" y="3806571"/>
            <a:ext cx="47858" cy="129882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9" name="Shape 87"/>
          <p:cNvSpPr/>
          <p:nvPr/>
        </p:nvSpPr>
        <p:spPr>
          <a:xfrm>
            <a:off x="7049321" y="3794125"/>
            <a:ext cx="47858" cy="131127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0" name="Shape 88"/>
          <p:cNvSpPr/>
          <p:nvPr/>
        </p:nvSpPr>
        <p:spPr>
          <a:xfrm>
            <a:off x="7090829" y="3781679"/>
            <a:ext cx="47858" cy="132372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1" name="Shape 89"/>
          <p:cNvSpPr/>
          <p:nvPr/>
        </p:nvSpPr>
        <p:spPr>
          <a:xfrm>
            <a:off x="7132337" y="3769233"/>
            <a:ext cx="47858" cy="133616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2" name="Shape 90"/>
          <p:cNvSpPr/>
          <p:nvPr/>
        </p:nvSpPr>
        <p:spPr>
          <a:xfrm>
            <a:off x="7173845" y="3756787"/>
            <a:ext cx="47858" cy="134861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3" name="Shape 91"/>
          <p:cNvSpPr/>
          <p:nvPr/>
        </p:nvSpPr>
        <p:spPr>
          <a:xfrm>
            <a:off x="7215353" y="3744341"/>
            <a:ext cx="47858" cy="136105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4" name="Shape 92"/>
          <p:cNvSpPr/>
          <p:nvPr/>
        </p:nvSpPr>
        <p:spPr>
          <a:xfrm>
            <a:off x="7256860" y="3731895"/>
            <a:ext cx="47858" cy="137350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5" name="Shape 93"/>
          <p:cNvSpPr/>
          <p:nvPr/>
        </p:nvSpPr>
        <p:spPr>
          <a:xfrm>
            <a:off x="7298368" y="3719449"/>
            <a:ext cx="47858" cy="138595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6" name="Shape 94"/>
          <p:cNvSpPr/>
          <p:nvPr/>
        </p:nvSpPr>
        <p:spPr>
          <a:xfrm>
            <a:off x="7339876" y="3707003"/>
            <a:ext cx="47858" cy="139839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7" name="Shape 95"/>
          <p:cNvSpPr/>
          <p:nvPr/>
        </p:nvSpPr>
        <p:spPr>
          <a:xfrm>
            <a:off x="7381384" y="3694557"/>
            <a:ext cx="47858" cy="141084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8" name="Shape 96"/>
          <p:cNvSpPr/>
          <p:nvPr/>
        </p:nvSpPr>
        <p:spPr>
          <a:xfrm>
            <a:off x="7422892" y="3682111"/>
            <a:ext cx="47858" cy="142328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9" name="Shape 97"/>
          <p:cNvSpPr/>
          <p:nvPr/>
        </p:nvSpPr>
        <p:spPr>
          <a:xfrm>
            <a:off x="7464400" y="3669665"/>
            <a:ext cx="47858" cy="143573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0" name="Shape 98"/>
          <p:cNvSpPr/>
          <p:nvPr/>
        </p:nvSpPr>
        <p:spPr>
          <a:xfrm>
            <a:off x="7505907" y="3657219"/>
            <a:ext cx="47858" cy="144818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1" name="Shape 99"/>
          <p:cNvSpPr/>
          <p:nvPr/>
        </p:nvSpPr>
        <p:spPr>
          <a:xfrm>
            <a:off x="7547415" y="3644773"/>
            <a:ext cx="47858" cy="146062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2" name="Shape 100"/>
          <p:cNvSpPr/>
          <p:nvPr/>
        </p:nvSpPr>
        <p:spPr>
          <a:xfrm>
            <a:off x="7588923" y="3632327"/>
            <a:ext cx="47858" cy="147307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3" name="Shape 101"/>
          <p:cNvSpPr/>
          <p:nvPr/>
        </p:nvSpPr>
        <p:spPr>
          <a:xfrm>
            <a:off x="7630431" y="3619881"/>
            <a:ext cx="47858" cy="148551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4" name="Shape 102"/>
          <p:cNvSpPr/>
          <p:nvPr/>
        </p:nvSpPr>
        <p:spPr>
          <a:xfrm>
            <a:off x="7671939" y="3607435"/>
            <a:ext cx="47858" cy="149796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5" name="Shape 103"/>
          <p:cNvSpPr/>
          <p:nvPr/>
        </p:nvSpPr>
        <p:spPr>
          <a:xfrm>
            <a:off x="7713447" y="3594989"/>
            <a:ext cx="47858" cy="151041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6" name="Shape 104"/>
          <p:cNvSpPr/>
          <p:nvPr/>
        </p:nvSpPr>
        <p:spPr>
          <a:xfrm>
            <a:off x="7754954" y="3582543"/>
            <a:ext cx="47858" cy="152285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7" name="Shape 105"/>
          <p:cNvSpPr/>
          <p:nvPr/>
        </p:nvSpPr>
        <p:spPr>
          <a:xfrm>
            <a:off x="7796462" y="3570097"/>
            <a:ext cx="47858" cy="153530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8" name="Shape 106"/>
          <p:cNvSpPr/>
          <p:nvPr/>
        </p:nvSpPr>
        <p:spPr>
          <a:xfrm>
            <a:off x="7837970" y="3557651"/>
            <a:ext cx="47858" cy="154774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9" name="Shape 107"/>
          <p:cNvSpPr/>
          <p:nvPr/>
        </p:nvSpPr>
        <p:spPr>
          <a:xfrm>
            <a:off x="7879478" y="3545205"/>
            <a:ext cx="47858" cy="156019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0" name="Shape 108"/>
          <p:cNvSpPr/>
          <p:nvPr/>
        </p:nvSpPr>
        <p:spPr>
          <a:xfrm>
            <a:off x="7920986" y="3532759"/>
            <a:ext cx="47858" cy="157264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1" name="Shape 109"/>
          <p:cNvSpPr/>
          <p:nvPr/>
        </p:nvSpPr>
        <p:spPr>
          <a:xfrm>
            <a:off x="3977742" y="3925697"/>
            <a:ext cx="47858" cy="74764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2" name="Shape 110"/>
          <p:cNvSpPr/>
          <p:nvPr/>
        </p:nvSpPr>
        <p:spPr>
          <a:xfrm>
            <a:off x="4019249" y="3913251"/>
            <a:ext cx="47858" cy="74942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3" name="Shape 111"/>
          <p:cNvSpPr/>
          <p:nvPr/>
        </p:nvSpPr>
        <p:spPr>
          <a:xfrm>
            <a:off x="4060757" y="3900805"/>
            <a:ext cx="47858" cy="75120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4" name="Shape 112"/>
          <p:cNvSpPr/>
          <p:nvPr/>
        </p:nvSpPr>
        <p:spPr>
          <a:xfrm>
            <a:off x="4102265" y="3888359"/>
            <a:ext cx="47858" cy="75298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5" name="Shape 113"/>
          <p:cNvSpPr/>
          <p:nvPr/>
        </p:nvSpPr>
        <p:spPr>
          <a:xfrm>
            <a:off x="4143773" y="3875913"/>
            <a:ext cx="47858" cy="75476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6" name="Shape 114"/>
          <p:cNvSpPr/>
          <p:nvPr/>
        </p:nvSpPr>
        <p:spPr>
          <a:xfrm>
            <a:off x="4185281" y="3863467"/>
            <a:ext cx="47858" cy="75653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7" name="Shape 115"/>
          <p:cNvSpPr/>
          <p:nvPr/>
        </p:nvSpPr>
        <p:spPr>
          <a:xfrm>
            <a:off x="4226789" y="3851021"/>
            <a:ext cx="47858" cy="75831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8" name="Shape 116"/>
          <p:cNvSpPr/>
          <p:nvPr/>
        </p:nvSpPr>
        <p:spPr>
          <a:xfrm>
            <a:off x="4268296" y="3838575"/>
            <a:ext cx="47858" cy="76009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9" name="Shape 117"/>
          <p:cNvSpPr/>
          <p:nvPr/>
        </p:nvSpPr>
        <p:spPr>
          <a:xfrm>
            <a:off x="4309804" y="3826129"/>
            <a:ext cx="47858" cy="76187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0" name="Shape 118"/>
          <p:cNvSpPr/>
          <p:nvPr/>
        </p:nvSpPr>
        <p:spPr>
          <a:xfrm>
            <a:off x="4351312" y="3813683"/>
            <a:ext cx="47858" cy="76365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1" name="Shape 119"/>
          <p:cNvSpPr/>
          <p:nvPr/>
        </p:nvSpPr>
        <p:spPr>
          <a:xfrm>
            <a:off x="4392820" y="3801237"/>
            <a:ext cx="47858" cy="76542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2" name="Shape 120"/>
          <p:cNvSpPr/>
          <p:nvPr/>
        </p:nvSpPr>
        <p:spPr>
          <a:xfrm>
            <a:off x="4434328" y="3788791"/>
            <a:ext cx="47858" cy="76720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3" name="Shape 121"/>
          <p:cNvSpPr/>
          <p:nvPr/>
        </p:nvSpPr>
        <p:spPr>
          <a:xfrm>
            <a:off x="4475836" y="3776345"/>
            <a:ext cx="47858" cy="76898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4" name="Shape 122"/>
          <p:cNvSpPr/>
          <p:nvPr/>
        </p:nvSpPr>
        <p:spPr>
          <a:xfrm>
            <a:off x="4517343" y="3763899"/>
            <a:ext cx="47858" cy="77076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5" name="Shape 123"/>
          <p:cNvSpPr/>
          <p:nvPr/>
        </p:nvSpPr>
        <p:spPr>
          <a:xfrm>
            <a:off x="4558851" y="3751453"/>
            <a:ext cx="47858" cy="77254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6" name="Shape 124"/>
          <p:cNvSpPr/>
          <p:nvPr/>
        </p:nvSpPr>
        <p:spPr>
          <a:xfrm>
            <a:off x="4600359" y="3739007"/>
            <a:ext cx="47858" cy="77431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7" name="Shape 125"/>
          <p:cNvSpPr/>
          <p:nvPr/>
        </p:nvSpPr>
        <p:spPr>
          <a:xfrm>
            <a:off x="4641867" y="3726561"/>
            <a:ext cx="47858" cy="77609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8" name="Shape 126"/>
          <p:cNvSpPr/>
          <p:nvPr/>
        </p:nvSpPr>
        <p:spPr>
          <a:xfrm>
            <a:off x="4683375" y="3714115"/>
            <a:ext cx="47858" cy="77787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9" name="Shape 127"/>
          <p:cNvSpPr/>
          <p:nvPr/>
        </p:nvSpPr>
        <p:spPr>
          <a:xfrm>
            <a:off x="4724883" y="3701669"/>
            <a:ext cx="47858" cy="77965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0" name="Shape 128"/>
          <p:cNvSpPr/>
          <p:nvPr/>
        </p:nvSpPr>
        <p:spPr>
          <a:xfrm>
            <a:off x="4766390" y="3689223"/>
            <a:ext cx="47858" cy="78143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1" name="Shape 129"/>
          <p:cNvSpPr/>
          <p:nvPr/>
        </p:nvSpPr>
        <p:spPr>
          <a:xfrm>
            <a:off x="4807898" y="3676777"/>
            <a:ext cx="47858" cy="78320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2" name="Shape 130"/>
          <p:cNvSpPr/>
          <p:nvPr/>
        </p:nvSpPr>
        <p:spPr>
          <a:xfrm>
            <a:off x="4849406" y="3664331"/>
            <a:ext cx="47858" cy="78498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3" name="Shape 131"/>
          <p:cNvSpPr/>
          <p:nvPr/>
        </p:nvSpPr>
        <p:spPr>
          <a:xfrm>
            <a:off x="4890914" y="3651885"/>
            <a:ext cx="47858" cy="78676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4" name="Shape 132"/>
          <p:cNvSpPr/>
          <p:nvPr/>
        </p:nvSpPr>
        <p:spPr>
          <a:xfrm>
            <a:off x="4932422" y="3639439"/>
            <a:ext cx="47858" cy="78854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5" name="Shape 133"/>
          <p:cNvSpPr/>
          <p:nvPr/>
        </p:nvSpPr>
        <p:spPr>
          <a:xfrm>
            <a:off x="4973930" y="3627882"/>
            <a:ext cx="47858" cy="78898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6" name="Shape 134"/>
          <p:cNvSpPr/>
          <p:nvPr/>
        </p:nvSpPr>
        <p:spPr>
          <a:xfrm>
            <a:off x="5015437" y="3617214"/>
            <a:ext cx="47858" cy="78809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7" name="Shape 135"/>
          <p:cNvSpPr/>
          <p:nvPr/>
        </p:nvSpPr>
        <p:spPr>
          <a:xfrm>
            <a:off x="5056945" y="3606546"/>
            <a:ext cx="47858" cy="78721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8" name="Shape 136"/>
          <p:cNvSpPr/>
          <p:nvPr/>
        </p:nvSpPr>
        <p:spPr>
          <a:xfrm>
            <a:off x="5098453" y="3595878"/>
            <a:ext cx="47858" cy="78632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9" name="Shape 137"/>
          <p:cNvSpPr/>
          <p:nvPr/>
        </p:nvSpPr>
        <p:spPr>
          <a:xfrm>
            <a:off x="5139961" y="3585210"/>
            <a:ext cx="47858" cy="785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0" name="Shape 138"/>
          <p:cNvSpPr/>
          <p:nvPr/>
        </p:nvSpPr>
        <p:spPr>
          <a:xfrm>
            <a:off x="5181469" y="3574542"/>
            <a:ext cx="47858" cy="78454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1" name="Shape 139"/>
          <p:cNvSpPr/>
          <p:nvPr/>
        </p:nvSpPr>
        <p:spPr>
          <a:xfrm>
            <a:off x="5222977" y="3563874"/>
            <a:ext cx="47858" cy="78365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2" name="Shape 140"/>
          <p:cNvSpPr/>
          <p:nvPr/>
        </p:nvSpPr>
        <p:spPr>
          <a:xfrm>
            <a:off x="5264484" y="3553206"/>
            <a:ext cx="47858" cy="78276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3" name="Shape 141"/>
          <p:cNvSpPr/>
          <p:nvPr/>
        </p:nvSpPr>
        <p:spPr>
          <a:xfrm>
            <a:off x="5305992" y="3542538"/>
            <a:ext cx="47858" cy="78187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4" name="Shape 142"/>
          <p:cNvSpPr/>
          <p:nvPr/>
        </p:nvSpPr>
        <p:spPr>
          <a:xfrm>
            <a:off x="5347500" y="3531870"/>
            <a:ext cx="47858" cy="78098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5" name="Shape 143"/>
          <p:cNvSpPr/>
          <p:nvPr/>
        </p:nvSpPr>
        <p:spPr>
          <a:xfrm>
            <a:off x="5389008" y="3521202"/>
            <a:ext cx="47858" cy="78009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6" name="Shape 144"/>
          <p:cNvSpPr/>
          <p:nvPr/>
        </p:nvSpPr>
        <p:spPr>
          <a:xfrm>
            <a:off x="5430516" y="3510534"/>
            <a:ext cx="47858" cy="77920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7" name="Shape 145"/>
          <p:cNvSpPr/>
          <p:nvPr/>
        </p:nvSpPr>
        <p:spPr>
          <a:xfrm>
            <a:off x="5472024" y="3499866"/>
            <a:ext cx="47858" cy="77832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8" name="Shape 146"/>
          <p:cNvSpPr/>
          <p:nvPr/>
        </p:nvSpPr>
        <p:spPr>
          <a:xfrm>
            <a:off x="5513531" y="3489198"/>
            <a:ext cx="47858" cy="77743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9" name="Shape 147"/>
          <p:cNvSpPr/>
          <p:nvPr/>
        </p:nvSpPr>
        <p:spPr>
          <a:xfrm>
            <a:off x="5555039" y="3478530"/>
            <a:ext cx="47858" cy="77654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0" name="Shape 148"/>
          <p:cNvSpPr/>
          <p:nvPr/>
        </p:nvSpPr>
        <p:spPr>
          <a:xfrm>
            <a:off x="5596547" y="3467862"/>
            <a:ext cx="47858" cy="77565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1" name="Shape 149"/>
          <p:cNvSpPr/>
          <p:nvPr/>
        </p:nvSpPr>
        <p:spPr>
          <a:xfrm>
            <a:off x="5638055" y="3457194"/>
            <a:ext cx="47858" cy="77476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2" name="Shape 150"/>
          <p:cNvSpPr/>
          <p:nvPr/>
        </p:nvSpPr>
        <p:spPr>
          <a:xfrm>
            <a:off x="5679563" y="3446526"/>
            <a:ext cx="47858" cy="77387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3" name="Shape 151"/>
          <p:cNvSpPr/>
          <p:nvPr/>
        </p:nvSpPr>
        <p:spPr>
          <a:xfrm>
            <a:off x="5721071" y="3435858"/>
            <a:ext cx="47858" cy="77298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4" name="Shape 152"/>
          <p:cNvSpPr/>
          <p:nvPr/>
        </p:nvSpPr>
        <p:spPr>
          <a:xfrm>
            <a:off x="5762578" y="3425190"/>
            <a:ext cx="47858" cy="77209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5" name="Shape 153"/>
          <p:cNvSpPr/>
          <p:nvPr/>
        </p:nvSpPr>
        <p:spPr>
          <a:xfrm>
            <a:off x="5804086" y="3414522"/>
            <a:ext cx="47858" cy="77120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6" name="Shape 154"/>
          <p:cNvSpPr/>
          <p:nvPr/>
        </p:nvSpPr>
        <p:spPr>
          <a:xfrm>
            <a:off x="5845594" y="3403854"/>
            <a:ext cx="47858" cy="77031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7" name="Shape 155"/>
          <p:cNvSpPr/>
          <p:nvPr/>
        </p:nvSpPr>
        <p:spPr>
          <a:xfrm>
            <a:off x="5887102" y="3393186"/>
            <a:ext cx="47858" cy="76943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8" name="Shape 156"/>
          <p:cNvSpPr/>
          <p:nvPr/>
        </p:nvSpPr>
        <p:spPr>
          <a:xfrm>
            <a:off x="5928610" y="3382518"/>
            <a:ext cx="47858" cy="76854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9" name="Shape 157"/>
          <p:cNvSpPr/>
          <p:nvPr/>
        </p:nvSpPr>
        <p:spPr>
          <a:xfrm>
            <a:off x="5970118" y="3371405"/>
            <a:ext cx="47858" cy="76720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0" name="Shape 158"/>
          <p:cNvSpPr/>
          <p:nvPr/>
        </p:nvSpPr>
        <p:spPr>
          <a:xfrm>
            <a:off x="6011625" y="3359849"/>
            <a:ext cx="47858" cy="76542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1" name="Shape 159"/>
          <p:cNvSpPr/>
          <p:nvPr/>
        </p:nvSpPr>
        <p:spPr>
          <a:xfrm>
            <a:off x="6053133" y="3348292"/>
            <a:ext cx="47858" cy="76365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2" name="Shape 160"/>
          <p:cNvSpPr/>
          <p:nvPr/>
        </p:nvSpPr>
        <p:spPr>
          <a:xfrm>
            <a:off x="6094641" y="3336735"/>
            <a:ext cx="47858" cy="76187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3" name="Shape 161"/>
          <p:cNvSpPr/>
          <p:nvPr/>
        </p:nvSpPr>
        <p:spPr>
          <a:xfrm>
            <a:off x="6136149" y="3325178"/>
            <a:ext cx="47858" cy="76009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4" name="Shape 162"/>
          <p:cNvSpPr/>
          <p:nvPr/>
        </p:nvSpPr>
        <p:spPr>
          <a:xfrm>
            <a:off x="6177657" y="3313621"/>
            <a:ext cx="47858" cy="75831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5" name="Shape 163"/>
          <p:cNvSpPr/>
          <p:nvPr/>
        </p:nvSpPr>
        <p:spPr>
          <a:xfrm>
            <a:off x="6219165" y="3302064"/>
            <a:ext cx="47858" cy="75653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6" name="Shape 164"/>
          <p:cNvSpPr/>
          <p:nvPr/>
        </p:nvSpPr>
        <p:spPr>
          <a:xfrm>
            <a:off x="6260672" y="3290507"/>
            <a:ext cx="47858" cy="75476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7" name="Shape 165"/>
          <p:cNvSpPr/>
          <p:nvPr/>
        </p:nvSpPr>
        <p:spPr>
          <a:xfrm>
            <a:off x="6302180" y="3278950"/>
            <a:ext cx="47858" cy="75298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8" name="Shape 166"/>
          <p:cNvSpPr/>
          <p:nvPr/>
        </p:nvSpPr>
        <p:spPr>
          <a:xfrm>
            <a:off x="6343688" y="3267392"/>
            <a:ext cx="47858" cy="75120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9" name="Shape 167"/>
          <p:cNvSpPr/>
          <p:nvPr/>
        </p:nvSpPr>
        <p:spPr>
          <a:xfrm>
            <a:off x="6385196" y="3255836"/>
            <a:ext cx="47858" cy="74942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0" name="Shape 168"/>
          <p:cNvSpPr/>
          <p:nvPr/>
        </p:nvSpPr>
        <p:spPr>
          <a:xfrm>
            <a:off x="6426704" y="3244279"/>
            <a:ext cx="47858" cy="74764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1" name="Shape 169"/>
          <p:cNvSpPr/>
          <p:nvPr/>
        </p:nvSpPr>
        <p:spPr>
          <a:xfrm>
            <a:off x="6468212" y="3232722"/>
            <a:ext cx="47858" cy="74587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2" name="Shape 170"/>
          <p:cNvSpPr/>
          <p:nvPr/>
        </p:nvSpPr>
        <p:spPr>
          <a:xfrm>
            <a:off x="6509719" y="3221165"/>
            <a:ext cx="47858" cy="7440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3" name="Shape 171"/>
          <p:cNvSpPr/>
          <p:nvPr/>
        </p:nvSpPr>
        <p:spPr>
          <a:xfrm>
            <a:off x="6551227" y="3209608"/>
            <a:ext cx="47858" cy="74231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4" name="Shape 172"/>
          <p:cNvSpPr/>
          <p:nvPr/>
        </p:nvSpPr>
        <p:spPr>
          <a:xfrm>
            <a:off x="6592735" y="3198051"/>
            <a:ext cx="47858" cy="74053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5" name="Shape 173"/>
          <p:cNvSpPr/>
          <p:nvPr/>
        </p:nvSpPr>
        <p:spPr>
          <a:xfrm>
            <a:off x="6634243" y="3186493"/>
            <a:ext cx="47858" cy="73875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6" name="Shape 174"/>
          <p:cNvSpPr/>
          <p:nvPr/>
        </p:nvSpPr>
        <p:spPr>
          <a:xfrm>
            <a:off x="6675751" y="3174937"/>
            <a:ext cx="47858" cy="73698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7" name="Shape 175"/>
          <p:cNvSpPr/>
          <p:nvPr/>
        </p:nvSpPr>
        <p:spPr>
          <a:xfrm>
            <a:off x="6717259" y="3163380"/>
            <a:ext cx="47858" cy="73520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8" name="Shape 176"/>
          <p:cNvSpPr/>
          <p:nvPr/>
        </p:nvSpPr>
        <p:spPr>
          <a:xfrm>
            <a:off x="6758766" y="3151823"/>
            <a:ext cx="47858" cy="73342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9" name="Shape 177"/>
          <p:cNvSpPr/>
          <p:nvPr/>
        </p:nvSpPr>
        <p:spPr>
          <a:xfrm>
            <a:off x="6800274" y="3140265"/>
            <a:ext cx="47858" cy="73164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0" name="Shape 178"/>
          <p:cNvSpPr/>
          <p:nvPr/>
        </p:nvSpPr>
        <p:spPr>
          <a:xfrm>
            <a:off x="6841782" y="3128709"/>
            <a:ext cx="47858" cy="72986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1" name="Shape 179"/>
          <p:cNvSpPr/>
          <p:nvPr/>
        </p:nvSpPr>
        <p:spPr>
          <a:xfrm>
            <a:off x="6883290" y="3117152"/>
            <a:ext cx="47858" cy="72809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2" name="Shape 180"/>
          <p:cNvSpPr/>
          <p:nvPr/>
        </p:nvSpPr>
        <p:spPr>
          <a:xfrm>
            <a:off x="6924798" y="3105595"/>
            <a:ext cx="47858" cy="72631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3" name="Shape 181"/>
          <p:cNvSpPr/>
          <p:nvPr/>
        </p:nvSpPr>
        <p:spPr>
          <a:xfrm>
            <a:off x="6966306" y="3095371"/>
            <a:ext cx="47858" cy="72364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4" name="Shape 182"/>
          <p:cNvSpPr/>
          <p:nvPr/>
        </p:nvSpPr>
        <p:spPr>
          <a:xfrm>
            <a:off x="7007813" y="3086481"/>
            <a:ext cx="47858" cy="72009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5" name="Shape 183"/>
          <p:cNvSpPr/>
          <p:nvPr/>
        </p:nvSpPr>
        <p:spPr>
          <a:xfrm>
            <a:off x="7049321" y="3077591"/>
            <a:ext cx="47858" cy="71653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6" name="Shape 184"/>
          <p:cNvSpPr/>
          <p:nvPr/>
        </p:nvSpPr>
        <p:spPr>
          <a:xfrm>
            <a:off x="7090829" y="3068701"/>
            <a:ext cx="47858" cy="71297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7" name="Shape 185"/>
          <p:cNvSpPr/>
          <p:nvPr/>
        </p:nvSpPr>
        <p:spPr>
          <a:xfrm>
            <a:off x="7132337" y="3059811"/>
            <a:ext cx="47858" cy="70942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8" name="Shape 186"/>
          <p:cNvSpPr/>
          <p:nvPr/>
        </p:nvSpPr>
        <p:spPr>
          <a:xfrm>
            <a:off x="7173845" y="3050921"/>
            <a:ext cx="47858" cy="70586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9" name="Shape 187"/>
          <p:cNvSpPr/>
          <p:nvPr/>
        </p:nvSpPr>
        <p:spPr>
          <a:xfrm>
            <a:off x="7215353" y="3042031"/>
            <a:ext cx="47858" cy="70231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0" name="Shape 188"/>
          <p:cNvSpPr/>
          <p:nvPr/>
        </p:nvSpPr>
        <p:spPr>
          <a:xfrm>
            <a:off x="7256860" y="3033141"/>
            <a:ext cx="47858" cy="69875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1" name="Shape 189"/>
          <p:cNvSpPr/>
          <p:nvPr/>
        </p:nvSpPr>
        <p:spPr>
          <a:xfrm>
            <a:off x="7298368" y="3024251"/>
            <a:ext cx="47858" cy="69519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2" name="Shape 190"/>
          <p:cNvSpPr/>
          <p:nvPr/>
        </p:nvSpPr>
        <p:spPr>
          <a:xfrm>
            <a:off x="7339876" y="3015361"/>
            <a:ext cx="47858" cy="69164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3" name="Shape 191"/>
          <p:cNvSpPr/>
          <p:nvPr/>
        </p:nvSpPr>
        <p:spPr>
          <a:xfrm>
            <a:off x="7381384" y="3006471"/>
            <a:ext cx="47858" cy="68808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4" name="Shape 192"/>
          <p:cNvSpPr/>
          <p:nvPr/>
        </p:nvSpPr>
        <p:spPr>
          <a:xfrm>
            <a:off x="7422892" y="2997581"/>
            <a:ext cx="47858" cy="68453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5" name="Shape 193"/>
          <p:cNvSpPr/>
          <p:nvPr/>
        </p:nvSpPr>
        <p:spPr>
          <a:xfrm>
            <a:off x="7464400" y="2988691"/>
            <a:ext cx="47858" cy="68097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6" name="Shape 194"/>
          <p:cNvSpPr/>
          <p:nvPr/>
        </p:nvSpPr>
        <p:spPr>
          <a:xfrm>
            <a:off x="7505907" y="2979801"/>
            <a:ext cx="47858" cy="67741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7" name="Shape 195"/>
          <p:cNvSpPr/>
          <p:nvPr/>
        </p:nvSpPr>
        <p:spPr>
          <a:xfrm>
            <a:off x="7547415" y="2970911"/>
            <a:ext cx="47858" cy="6738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8" name="Shape 196"/>
          <p:cNvSpPr/>
          <p:nvPr/>
        </p:nvSpPr>
        <p:spPr>
          <a:xfrm>
            <a:off x="7588923" y="2962021"/>
            <a:ext cx="47858" cy="67030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9" name="Shape 197"/>
          <p:cNvSpPr/>
          <p:nvPr/>
        </p:nvSpPr>
        <p:spPr>
          <a:xfrm>
            <a:off x="7630431" y="2953131"/>
            <a:ext cx="47858" cy="66675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0" name="Shape 198"/>
          <p:cNvSpPr/>
          <p:nvPr/>
        </p:nvSpPr>
        <p:spPr>
          <a:xfrm>
            <a:off x="7671939" y="2944241"/>
            <a:ext cx="47858" cy="6631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1" name="Shape 199"/>
          <p:cNvSpPr/>
          <p:nvPr/>
        </p:nvSpPr>
        <p:spPr>
          <a:xfrm>
            <a:off x="7713447" y="2935351"/>
            <a:ext cx="47858" cy="65963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2" name="Shape 200"/>
          <p:cNvSpPr/>
          <p:nvPr/>
        </p:nvSpPr>
        <p:spPr>
          <a:xfrm>
            <a:off x="7754954" y="2926461"/>
            <a:ext cx="47858" cy="65608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3" name="Shape 201"/>
          <p:cNvSpPr/>
          <p:nvPr/>
        </p:nvSpPr>
        <p:spPr>
          <a:xfrm>
            <a:off x="7796462" y="2917571"/>
            <a:ext cx="47858" cy="65252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4" name="Shape 202"/>
          <p:cNvSpPr/>
          <p:nvPr/>
        </p:nvSpPr>
        <p:spPr>
          <a:xfrm>
            <a:off x="7837970" y="2908681"/>
            <a:ext cx="47858" cy="64897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5" name="Shape 203"/>
          <p:cNvSpPr/>
          <p:nvPr/>
        </p:nvSpPr>
        <p:spPr>
          <a:xfrm>
            <a:off x="7879478" y="2899791"/>
            <a:ext cx="47858" cy="64541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6" name="Shape 204"/>
          <p:cNvSpPr/>
          <p:nvPr/>
        </p:nvSpPr>
        <p:spPr>
          <a:xfrm>
            <a:off x="7920986" y="2890901"/>
            <a:ext cx="47858" cy="64185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7" name="Shape 205"/>
          <p:cNvSpPr/>
          <p:nvPr/>
        </p:nvSpPr>
        <p:spPr>
          <a:xfrm>
            <a:off x="3479648" y="5105400"/>
            <a:ext cx="49809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08" name="Text 206"/>
          <p:cNvSpPr/>
          <p:nvPr/>
        </p:nvSpPr>
        <p:spPr>
          <a:xfrm>
            <a:off x="8511388" y="3120771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Desktop</a:t>
            </a:r>
            <a:endParaRPr lang="en-US" sz="1000" dirty="0"/>
          </a:p>
        </p:txBody>
      </p:sp>
      <p:sp>
        <p:nvSpPr>
          <p:cNvPr id="209" name="Text 207"/>
          <p:cNvSpPr/>
          <p:nvPr/>
        </p:nvSpPr>
        <p:spPr>
          <a:xfrm>
            <a:off x="8511388" y="4230243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Mobile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Butterfly — Headcount by age band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479648" y="1803400"/>
            <a:ext cx="236855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A78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Women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343498" y="1803400"/>
            <a:ext cx="236855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Men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848198" y="226187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&lt;30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604709" y="2140373"/>
            <a:ext cx="1243489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" name="Text 5"/>
          <p:cNvSpPr/>
          <p:nvPr/>
        </p:nvSpPr>
        <p:spPr>
          <a:xfrm>
            <a:off x="4604709" y="2261870"/>
            <a:ext cx="124348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420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343498" y="2140373"/>
            <a:ext cx="1125061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9" name="Text 7"/>
          <p:cNvSpPr/>
          <p:nvPr/>
        </p:nvSpPr>
        <p:spPr>
          <a:xfrm>
            <a:off x="6343498" y="2261870"/>
            <a:ext cx="112506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380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848198" y="291211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30–39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042178" y="2790613"/>
            <a:ext cx="1806019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4042178" y="2912110"/>
            <a:ext cx="180601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610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343498" y="2790613"/>
            <a:ext cx="1924447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" name="Text 12"/>
          <p:cNvSpPr/>
          <p:nvPr/>
        </p:nvSpPr>
        <p:spPr>
          <a:xfrm>
            <a:off x="6343498" y="2912110"/>
            <a:ext cx="192444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650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848198" y="356235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40–49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249426" y="3440853"/>
            <a:ext cx="1598771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7" name="Text 15"/>
          <p:cNvSpPr/>
          <p:nvPr/>
        </p:nvSpPr>
        <p:spPr>
          <a:xfrm>
            <a:off x="4249426" y="3562350"/>
            <a:ext cx="159877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540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343498" y="3440853"/>
            <a:ext cx="1776413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" name="Text 17"/>
          <p:cNvSpPr/>
          <p:nvPr/>
        </p:nvSpPr>
        <p:spPr>
          <a:xfrm>
            <a:off x="6343498" y="3562350"/>
            <a:ext cx="17764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600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5848198" y="421259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50–59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900778" y="4091093"/>
            <a:ext cx="947420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Text 20"/>
          <p:cNvSpPr/>
          <p:nvPr/>
        </p:nvSpPr>
        <p:spPr>
          <a:xfrm>
            <a:off x="4900778" y="4212590"/>
            <a:ext cx="9474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320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343498" y="4091093"/>
            <a:ext cx="1213882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4" name="Text 22"/>
          <p:cNvSpPr/>
          <p:nvPr/>
        </p:nvSpPr>
        <p:spPr>
          <a:xfrm>
            <a:off x="6343498" y="4212590"/>
            <a:ext cx="121388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410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5848198" y="486283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60+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5492915" y="4741333"/>
            <a:ext cx="355282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Text 25"/>
          <p:cNvSpPr/>
          <p:nvPr/>
        </p:nvSpPr>
        <p:spPr>
          <a:xfrm>
            <a:off x="5492915" y="4862830"/>
            <a:ext cx="35528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343498" y="4741333"/>
            <a:ext cx="473710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9" name="Text 27"/>
          <p:cNvSpPr/>
          <p:nvPr/>
        </p:nvSpPr>
        <p:spPr>
          <a:xfrm>
            <a:off x="6343498" y="4862830"/>
            <a:ext cx="47371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160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5848198" y="20320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343498" y="20320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Scatter — Price vs. margin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79648" y="437515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42862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36195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35306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9648" y="286385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27749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479648" y="21082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47848" y="2019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5654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9561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73467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479648" y="2108200"/>
            <a:ext cx="0" cy="30226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479648" y="195580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Text 19"/>
          <p:cNvSpPr/>
          <p:nvPr/>
        </p:nvSpPr>
        <p:spPr>
          <a:xfrm>
            <a:off x="360664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1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264508" y="195580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3" name="Text 21"/>
          <p:cNvSpPr/>
          <p:nvPr/>
        </p:nvSpPr>
        <p:spPr>
          <a:xfrm>
            <a:off x="439150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2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049368" y="195580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" name="Text 23"/>
          <p:cNvSpPr/>
          <p:nvPr/>
        </p:nvSpPr>
        <p:spPr>
          <a:xfrm>
            <a:off x="517636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3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275938" y="395922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179860" y="3014663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222848" y="3505835"/>
            <a:ext cx="76200" cy="762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265835" y="2447925"/>
            <a:ext cx="76200" cy="762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752563" y="3770313"/>
            <a:ext cx="76200" cy="76200"/>
          </a:xfrm>
          <a:prstGeom prst="ellips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586953" y="2825750"/>
            <a:ext cx="76200" cy="76200"/>
          </a:xfrm>
          <a:prstGeom prst="ellips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527523" y="426148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779108" y="3203575"/>
            <a:ext cx="76200" cy="762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377538" y="391477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Alpha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5281460" y="2970213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Bravo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324448" y="3461385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Core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7367435" y="240347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Delta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7854163" y="3725863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Echo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8056093" y="2781300"/>
            <a:ext cx="5054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Foxtrot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5629123" y="4217035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Golf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6880708" y="315912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Hotel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Bubble — Market map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79648" y="437515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42862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36195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35306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9648" y="286385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27749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479648" y="21082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47848" y="2019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5654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9561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73467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479648" y="2108200"/>
            <a:ext cx="0" cy="30226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479648" y="195580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Text 19"/>
          <p:cNvSpPr/>
          <p:nvPr/>
        </p:nvSpPr>
        <p:spPr>
          <a:xfrm>
            <a:off x="360664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1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264508" y="195580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3" name="Text 21"/>
          <p:cNvSpPr/>
          <p:nvPr/>
        </p:nvSpPr>
        <p:spPr>
          <a:xfrm>
            <a:off x="439150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2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049368" y="195580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" name="Text 23"/>
          <p:cNvSpPr/>
          <p:nvPr/>
        </p:nvSpPr>
        <p:spPr>
          <a:xfrm>
            <a:off x="517636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3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417950" y="2120688"/>
            <a:ext cx="573498" cy="573498"/>
          </a:xfrm>
          <a:prstGeom prst="ellipse">
            <a:avLst/>
          </a:prstGeom>
          <a:ln w="12700">
            <a:solidFill>
              <a:srgbClr val="52514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417950" y="1949238"/>
            <a:ext cx="573498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7910825" y="2288662"/>
            <a:ext cx="405524" cy="405524"/>
          </a:xfrm>
          <a:prstGeom prst="ellipse">
            <a:avLst/>
          </a:prstGeom>
          <a:ln w="12700">
            <a:solidFill>
              <a:srgbClr val="52514E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910825" y="2033225"/>
            <a:ext cx="40552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5988914" y="3271901"/>
            <a:ext cx="544068" cy="544068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385141" y="2623939"/>
            <a:ext cx="479823" cy="479823"/>
          </a:xfrm>
          <a:prstGeom prst="ellips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578004" y="3595754"/>
            <a:ext cx="425318" cy="425318"/>
          </a:xfrm>
          <a:prstGeom prst="ellips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036604" y="2871407"/>
            <a:ext cx="362712" cy="362712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647565" y="3072032"/>
            <a:ext cx="339286" cy="339286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7160561" y="2342650"/>
            <a:ext cx="286749" cy="286749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454565" y="4188528"/>
            <a:ext cx="222115" cy="222115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223360" y="3906647"/>
            <a:ext cx="181356" cy="181356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558382" y="3461385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Core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7854281" y="2781300"/>
            <a:ext cx="5054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Foxtrot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8028721" y="3725863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Echo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5424716" y="2970213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Bravo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7012251" y="315912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Hotel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7472710" y="240347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Delta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5702080" y="4217035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Golf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4430116" y="391477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Alpha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Gantt — Programme plan (weeks)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654908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350108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459154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154354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7263401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58601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9067648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762848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047848" y="223647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Scoping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015757" y="2242820"/>
            <a:ext cx="721699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Text 11"/>
          <p:cNvSpPr/>
          <p:nvPr/>
        </p:nvSpPr>
        <p:spPr>
          <a:xfrm>
            <a:off x="4015757" y="2242820"/>
            <a:ext cx="721699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1–3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047848" y="288671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Design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654908" y="2656840"/>
            <a:ext cx="541274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737456" y="2893060"/>
            <a:ext cx="1082548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7" name="Text 15"/>
          <p:cNvSpPr/>
          <p:nvPr/>
        </p:nvSpPr>
        <p:spPr>
          <a:xfrm>
            <a:off x="4737456" y="2893060"/>
            <a:ext cx="108254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3–6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739994" y="2901950"/>
            <a:ext cx="160020" cy="160020"/>
          </a:xfrm>
          <a:prstGeom prst="ellipse">
            <a:avLst/>
          </a:prstGeom>
          <a:solidFill>
            <a:srgbClr val="0B0B0B"/>
          </a:solidFill>
          <a:ln/>
        </p:spPr>
      </p:sp>
      <p:sp>
        <p:nvSpPr>
          <p:cNvPr id="19" name="Text 17"/>
          <p:cNvSpPr/>
          <p:nvPr/>
        </p:nvSpPr>
        <p:spPr>
          <a:xfrm>
            <a:off x="3047848" y="353695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654908" y="3307080"/>
            <a:ext cx="541274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459154" y="3543300"/>
            <a:ext cx="2165096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Text 20"/>
          <p:cNvSpPr/>
          <p:nvPr/>
        </p:nvSpPr>
        <p:spPr>
          <a:xfrm>
            <a:off x="5459154" y="3543300"/>
            <a:ext cx="216509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5–11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047848" y="418719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Test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3654908" y="3957320"/>
            <a:ext cx="541274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263401" y="4193540"/>
            <a:ext cx="1082548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6" name="Text 24"/>
          <p:cNvSpPr/>
          <p:nvPr/>
        </p:nvSpPr>
        <p:spPr>
          <a:xfrm>
            <a:off x="7263401" y="4193540"/>
            <a:ext cx="108254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10–13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8265939" y="4202430"/>
            <a:ext cx="160020" cy="160020"/>
          </a:xfrm>
          <a:prstGeom prst="ellipse">
            <a:avLst/>
          </a:prstGeom>
          <a:solidFill>
            <a:srgbClr val="0B0B0B"/>
          </a:solidFill>
          <a:ln/>
        </p:spPr>
      </p:sp>
      <p:sp>
        <p:nvSpPr>
          <p:cNvPr id="28" name="Text 26"/>
          <p:cNvSpPr/>
          <p:nvPr/>
        </p:nvSpPr>
        <p:spPr>
          <a:xfrm>
            <a:off x="3047848" y="483743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Rollout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3654908" y="4607560"/>
            <a:ext cx="541274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345949" y="4843780"/>
            <a:ext cx="721699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Text 29"/>
          <p:cNvSpPr/>
          <p:nvPr/>
        </p:nvSpPr>
        <p:spPr>
          <a:xfrm>
            <a:off x="8345949" y="4843780"/>
            <a:ext cx="721699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13–15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8987638" y="4852670"/>
            <a:ext cx="160020" cy="160020"/>
          </a:xfrm>
          <a:prstGeom prst="ellipse">
            <a:avLst/>
          </a:prstGeom>
          <a:solidFill>
            <a:srgbClr val="0B0B0B"/>
          </a:solidFill>
          <a:ln/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Combo — Revenue and margin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0293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73262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06231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94863" y="3881120"/>
            <a:ext cx="886460" cy="122428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44063" y="4398010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94863" y="3330194"/>
            <a:ext cx="886460" cy="550926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44063" y="3510407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3073248" y="3146044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624553" y="3697478"/>
            <a:ext cx="886460" cy="1407922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3753" y="4306189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46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24553" y="3024124"/>
            <a:ext cx="886460" cy="67335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3753" y="3265551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402938" y="2839974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68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954243" y="3513836"/>
            <a:ext cx="886460" cy="1591564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903443" y="4214368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54243" y="2687447"/>
            <a:ext cx="886460" cy="826389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03443" y="3005392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27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732628" y="2503297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79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283933" y="3268980"/>
            <a:ext cx="886460" cy="18364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233133" y="4091940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283933" y="2258949"/>
            <a:ext cx="886460" cy="101003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233133" y="2668715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062318" y="2074799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93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073248" y="5105400"/>
            <a:ext cx="531876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442808" y="2678240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Services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442808" y="4101465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Product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707613" y="4126103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357093" y="3947033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 flipV="1">
            <a:off x="3738093" y="4064762"/>
            <a:ext cx="1329690" cy="91821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037303" y="4034282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686783" y="3855212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 flipV="1">
            <a:off x="5067783" y="3942334"/>
            <a:ext cx="1329690" cy="122428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366993" y="3911854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016473" y="3732784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 flipV="1">
            <a:off x="6397473" y="3728085"/>
            <a:ext cx="1329690" cy="214249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7696683" y="3697605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346163" y="3518535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8442808" y="3524885"/>
            <a:ext cx="7010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Margin %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Pie — Revenue split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609948" y="2082800"/>
            <a:ext cx="2971800" cy="2971800"/>
          </a:xfrm>
          <a:prstGeom prst="pie">
            <a:avLst>
              <a:gd name="adj1" fmla="val 16200000"/>
              <a:gd name="adj2" fmla="val 944056"/>
            </a:avLst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530589" y="2917318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 29%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609948" y="2082800"/>
            <a:ext cx="2971800" cy="2971800"/>
          </a:xfrm>
          <a:prstGeom prst="pie">
            <a:avLst>
              <a:gd name="adj1" fmla="val 944056"/>
              <a:gd name="adj2" fmla="val 9251748"/>
            </a:avLst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739821" y="4391153"/>
            <a:ext cx="8737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 38%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609948" y="2082800"/>
            <a:ext cx="2971800" cy="2971800"/>
          </a:xfrm>
          <a:prstGeom prst="pie">
            <a:avLst>
              <a:gd name="adj1" fmla="val 9251748"/>
              <a:gd name="adj2" fmla="val 14538462"/>
            </a:avLst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921218" y="3184919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 24%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609948" y="2082800"/>
            <a:ext cx="2971800" cy="2971800"/>
          </a:xfrm>
          <a:prstGeom prst="pie">
            <a:avLst>
              <a:gd name="adj1" fmla="val 14538462"/>
              <a:gd name="adj2" fmla="val 16200000"/>
            </a:avLst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720493" y="2045826"/>
            <a:ext cx="16716" cy="6782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116494" y="1932080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8%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Doughnut — Revenue split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609948" y="2082800"/>
            <a:ext cx="2971800" cy="2971800"/>
          </a:xfrm>
          <a:prstGeom prst="pie">
            <a:avLst>
              <a:gd name="adj1" fmla="val 16200000"/>
              <a:gd name="adj2" fmla="val 944056"/>
            </a:avLst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7290588" y="2621881"/>
            <a:ext cx="55687" cy="42166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61463" y="2515131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 29%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609948" y="2082800"/>
            <a:ext cx="2971800" cy="2971800"/>
          </a:xfrm>
          <a:prstGeom prst="pie">
            <a:avLst>
              <a:gd name="adj1" fmla="val 944056"/>
              <a:gd name="adj2" fmla="val 9251748"/>
            </a:avLst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227370" y="5061517"/>
            <a:ext cx="6130" cy="6958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235172" y="5054824"/>
            <a:ext cx="8737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 38%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609948" y="2082800"/>
            <a:ext cx="2971800" cy="2971800"/>
          </a:xfrm>
          <a:prstGeom prst="pie">
            <a:avLst>
              <a:gd name="adj1" fmla="val 9251748"/>
              <a:gd name="adj2" fmla="val 14538462"/>
            </a:avLst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606307" y="3077473"/>
            <a:ext cx="66336" cy="21877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988775" y="2976256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 24%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609948" y="2082800"/>
            <a:ext cx="2971800" cy="2971800"/>
          </a:xfrm>
          <a:prstGeom prst="pie">
            <a:avLst>
              <a:gd name="adj1" fmla="val 14538462"/>
              <a:gd name="adj2" fmla="val 16200000"/>
            </a:avLst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720493" y="2045826"/>
            <a:ext cx="16716" cy="6782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116494" y="1932080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8%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278603" y="2751455"/>
            <a:ext cx="1634490" cy="163449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6" name="Text 14"/>
          <p:cNvSpPr/>
          <p:nvPr/>
        </p:nvSpPr>
        <p:spPr>
          <a:xfrm>
            <a:off x="5352898" y="3454400"/>
            <a:ext cx="14859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286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Boxplot — Delivery days by region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4796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8829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2863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6896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West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181323" y="339852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181323" y="446532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007658" y="339852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007658" y="467868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795401" y="3825240"/>
            <a:ext cx="771843" cy="64008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795401" y="4251960"/>
            <a:ext cx="77184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795401" y="4061460"/>
            <a:ext cx="77184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584673" y="2545080"/>
            <a:ext cx="0" cy="6400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584673" y="403860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411008" y="254508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411008" y="446532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198751" y="3185160"/>
            <a:ext cx="771843" cy="85344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198751" y="3611880"/>
            <a:ext cx="771842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198751" y="3421380"/>
            <a:ext cx="77184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6988023" y="361188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988023" y="467868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814358" y="361188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814358" y="489204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602101" y="4038600"/>
            <a:ext cx="771843" cy="64008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602101" y="4465320"/>
            <a:ext cx="771842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602101" y="4274820"/>
            <a:ext cx="77184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8391373" y="2971800"/>
            <a:ext cx="0" cy="6400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391373" y="425196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217708" y="297180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217708" y="467868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8005451" y="3611880"/>
            <a:ext cx="771843" cy="64008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8005451" y="4038600"/>
            <a:ext cx="771842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8005451" y="3848100"/>
            <a:ext cx="77184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Radar — Capability assessment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603114" y="3101340"/>
            <a:ext cx="985468" cy="1137920"/>
          </a:xfrm>
          <a:custGeom>
            <a:avLst/>
            <a:gdLst/>
            <a:ahLst/>
            <a:cxnLst/>
            <a:rect l="l" t="t" r="r" b="b"/>
            <a:pathLst>
              <a:path w="985468" h="1137920">
                <a:moveTo>
                  <a:pt x="492734" y="0"/>
                </a:moveTo>
                <a:lnTo>
                  <a:pt x="985468" y="284480"/>
                </a:lnTo>
                <a:lnTo>
                  <a:pt x="985468" y="853440"/>
                </a:lnTo>
                <a:lnTo>
                  <a:pt x="492734" y="1137920"/>
                </a:lnTo>
                <a:lnTo>
                  <a:pt x="0" y="853440"/>
                </a:lnTo>
                <a:lnTo>
                  <a:pt x="0" y="284480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133948" y="302514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2.0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5110380" y="2532380"/>
            <a:ext cx="1970935" cy="2275840"/>
          </a:xfrm>
          <a:custGeom>
            <a:avLst/>
            <a:gdLst/>
            <a:ahLst/>
            <a:cxnLst/>
            <a:rect l="l" t="t" r="r" b="b"/>
            <a:pathLst>
              <a:path w="1970935" h="2275840">
                <a:moveTo>
                  <a:pt x="985468" y="0"/>
                </a:moveTo>
                <a:lnTo>
                  <a:pt x="1970935" y="568960"/>
                </a:lnTo>
                <a:lnTo>
                  <a:pt x="1970935" y="1706880"/>
                </a:lnTo>
                <a:lnTo>
                  <a:pt x="985468" y="2275840"/>
                </a:lnTo>
                <a:lnTo>
                  <a:pt x="0" y="1706880"/>
                </a:lnTo>
                <a:lnTo>
                  <a:pt x="0" y="568960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133948" y="245618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4.0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4617646" y="1963420"/>
            <a:ext cx="2956403" cy="3413760"/>
          </a:xfrm>
          <a:custGeom>
            <a:avLst/>
            <a:gdLst/>
            <a:ahLst/>
            <a:cxnLst/>
            <a:rect l="l" t="t" r="r" b="b"/>
            <a:pathLst>
              <a:path w="2956403" h="3413760">
                <a:moveTo>
                  <a:pt x="1478201" y="0"/>
                </a:moveTo>
                <a:lnTo>
                  <a:pt x="2956403" y="853440"/>
                </a:lnTo>
                <a:lnTo>
                  <a:pt x="2956403" y="2560320"/>
                </a:lnTo>
                <a:lnTo>
                  <a:pt x="1478201" y="3413760"/>
                </a:lnTo>
                <a:lnTo>
                  <a:pt x="0" y="2560320"/>
                </a:lnTo>
                <a:lnTo>
                  <a:pt x="0" y="853440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133948" y="188722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6.0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6095848" y="2247900"/>
            <a:ext cx="0" cy="1422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796128" y="1993900"/>
            <a:ext cx="5994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Strategy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 flipV="1">
            <a:off x="6095848" y="29591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93673" y="2832100"/>
            <a:ext cx="3251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095848" y="36703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93673" y="4330700"/>
            <a:ext cx="4622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Talent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095848" y="3670300"/>
            <a:ext cx="0" cy="1422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830418" y="5168900"/>
            <a:ext cx="5308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Process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 flipV="1">
            <a:off x="4864013" y="36703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472902" y="4330700"/>
            <a:ext cx="3251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Tech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864013" y="29591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267162" y="2832100"/>
            <a:ext cx="5308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Culture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110380" y="2816860"/>
            <a:ext cx="1724568" cy="1422400"/>
          </a:xfrm>
          <a:custGeom>
            <a:avLst/>
            <a:gdLst/>
            <a:ahLst/>
            <a:cxnLst/>
            <a:rect l="l" t="t" r="r" b="b"/>
            <a:pathLst>
              <a:path w="1724568" h="1422400">
                <a:moveTo>
                  <a:pt x="985468" y="0"/>
                </a:moveTo>
                <a:lnTo>
                  <a:pt x="1478201" y="568960"/>
                </a:lnTo>
                <a:lnTo>
                  <a:pt x="1724568" y="1280160"/>
                </a:lnTo>
                <a:lnTo>
                  <a:pt x="985468" y="1422400"/>
                </a:lnTo>
                <a:lnTo>
                  <a:pt x="0" y="1422400"/>
                </a:lnTo>
                <a:lnTo>
                  <a:pt x="246367" y="426720"/>
                </a:lnTo>
                <a:close/>
              </a:path>
            </a:pathLst>
          </a:custGeom>
          <a:solidFill>
            <a:srgbClr val="2A78D6">
              <a:alpha val="18000"/>
            </a:srgbClr>
          </a:solidFill>
          <a:ln w="20320">
            <a:solidFill>
              <a:srgbClr val="2A78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065368" y="2786380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558101" y="3355340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804468" y="4066540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065368" y="4208780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079900" y="4208780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326267" y="3213100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864013" y="2532380"/>
            <a:ext cx="2217302" cy="1991360"/>
          </a:xfrm>
          <a:custGeom>
            <a:avLst/>
            <a:gdLst/>
            <a:ahLst/>
            <a:cxnLst/>
            <a:rect l="l" t="t" r="r" b="b"/>
            <a:pathLst>
              <a:path w="2217302" h="1991360">
                <a:moveTo>
                  <a:pt x="1231835" y="0"/>
                </a:moveTo>
                <a:lnTo>
                  <a:pt x="2217302" y="568960"/>
                </a:lnTo>
                <a:lnTo>
                  <a:pt x="2217302" y="1706880"/>
                </a:lnTo>
                <a:lnTo>
                  <a:pt x="1231835" y="1991360"/>
                </a:lnTo>
                <a:lnTo>
                  <a:pt x="0" y="1849120"/>
                </a:lnTo>
                <a:lnTo>
                  <a:pt x="246367" y="568960"/>
                </a:lnTo>
                <a:close/>
              </a:path>
            </a:pathLst>
          </a:custGeom>
          <a:solidFill>
            <a:srgbClr val="1BAF7A">
              <a:alpha val="18000"/>
            </a:srgbClr>
          </a:solidFill>
          <a:ln w="20320">
            <a:solidFill>
              <a:srgbClr val="1BAF7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065368" y="250190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050835" y="307086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050835" y="420878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065368" y="449326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833533" y="435102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079900" y="307086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047848" y="18478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6" name="Text 34"/>
          <p:cNvSpPr/>
          <p:nvPr/>
        </p:nvSpPr>
        <p:spPr>
          <a:xfrm>
            <a:off x="3174848" y="1803400"/>
            <a:ext cx="4191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Today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670148" y="18478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38" name="Text 36"/>
          <p:cNvSpPr/>
          <p:nvPr/>
        </p:nvSpPr>
        <p:spPr>
          <a:xfrm>
            <a:off x="3797148" y="1803400"/>
            <a:ext cx="4876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Target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Heatmap — Sales by region and quarter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492348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898873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305398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711923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047848" y="1993900"/>
            <a:ext cx="393700" cy="7397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492348" y="1993900"/>
            <a:ext cx="1393825" cy="727075"/>
          </a:xfrm>
          <a:prstGeom prst="rect">
            <a:avLst/>
          </a:prstGeom>
          <a:solidFill>
            <a:srgbClr val="A0B5E5"/>
          </a:solidFill>
          <a:ln/>
        </p:spPr>
      </p:sp>
      <p:sp>
        <p:nvSpPr>
          <p:cNvPr id="9" name="Text 7"/>
          <p:cNvSpPr/>
          <p:nvPr/>
        </p:nvSpPr>
        <p:spPr>
          <a:xfrm>
            <a:off x="3492348" y="199390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898873" y="1993900"/>
            <a:ext cx="1393825" cy="727075"/>
          </a:xfrm>
          <a:prstGeom prst="rect">
            <a:avLst/>
          </a:prstGeom>
          <a:solidFill>
            <a:srgbClr val="83A1E0"/>
          </a:solidFill>
          <a:ln/>
        </p:spPr>
      </p:sp>
      <p:sp>
        <p:nvSpPr>
          <p:cNvPr id="11" name="Text 9"/>
          <p:cNvSpPr/>
          <p:nvPr/>
        </p:nvSpPr>
        <p:spPr>
          <a:xfrm>
            <a:off x="4898873" y="199390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305398" y="1993900"/>
            <a:ext cx="1393825" cy="727075"/>
          </a:xfrm>
          <a:prstGeom prst="rect">
            <a:avLst/>
          </a:prstGeom>
          <a:solidFill>
            <a:srgbClr val="7197DD"/>
          </a:solidFill>
          <a:ln/>
        </p:spPr>
      </p:sp>
      <p:sp>
        <p:nvSpPr>
          <p:cNvPr id="13" name="Text 11"/>
          <p:cNvSpPr/>
          <p:nvPr/>
        </p:nvSpPr>
        <p:spPr>
          <a:xfrm>
            <a:off x="6305398" y="199390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51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711923" y="1993900"/>
            <a:ext cx="1393825" cy="72707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7711923" y="199390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047848" y="2733675"/>
            <a:ext cx="393700" cy="7397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492348" y="2733675"/>
            <a:ext cx="1393825" cy="727075"/>
          </a:xfrm>
          <a:prstGeom prst="rect">
            <a:avLst/>
          </a:prstGeom>
          <a:solidFill>
            <a:srgbClr val="CBD5F0"/>
          </a:solidFill>
          <a:ln/>
        </p:spPr>
      </p:sp>
      <p:sp>
        <p:nvSpPr>
          <p:cNvPr id="18" name="Text 16"/>
          <p:cNvSpPr/>
          <p:nvPr/>
        </p:nvSpPr>
        <p:spPr>
          <a:xfrm>
            <a:off x="3492348" y="273367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898873" y="2733675"/>
            <a:ext cx="1393825" cy="727075"/>
          </a:xfrm>
          <a:prstGeom prst="rect">
            <a:avLst/>
          </a:prstGeom>
          <a:solidFill>
            <a:srgbClr val="BECBEC"/>
          </a:solidFill>
          <a:ln/>
        </p:spPr>
      </p:sp>
      <p:sp>
        <p:nvSpPr>
          <p:cNvPr id="20" name="Text 18"/>
          <p:cNvSpPr/>
          <p:nvPr/>
        </p:nvSpPr>
        <p:spPr>
          <a:xfrm>
            <a:off x="4898873" y="273367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305398" y="2733675"/>
            <a:ext cx="1393825" cy="727075"/>
          </a:xfrm>
          <a:prstGeom prst="rect">
            <a:avLst/>
          </a:prstGeom>
          <a:solidFill>
            <a:srgbClr val="C7D3EF"/>
          </a:solidFill>
          <a:ln/>
        </p:spPr>
      </p:sp>
      <p:sp>
        <p:nvSpPr>
          <p:cNvPr id="22" name="Text 20"/>
          <p:cNvSpPr/>
          <p:nvPr/>
        </p:nvSpPr>
        <p:spPr>
          <a:xfrm>
            <a:off x="6305398" y="273367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711923" y="2733675"/>
            <a:ext cx="1393825" cy="727075"/>
          </a:xfrm>
          <a:prstGeom prst="rect">
            <a:avLst/>
          </a:prstGeom>
          <a:solidFill>
            <a:srgbClr val="B7C6EA"/>
          </a:solidFill>
          <a:ln/>
        </p:spPr>
      </p:sp>
      <p:sp>
        <p:nvSpPr>
          <p:cNvPr id="24" name="Text 22"/>
          <p:cNvSpPr/>
          <p:nvPr/>
        </p:nvSpPr>
        <p:spPr>
          <a:xfrm>
            <a:off x="7711923" y="273367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047848" y="3473450"/>
            <a:ext cx="393700" cy="7397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492348" y="3473450"/>
            <a:ext cx="1393825" cy="727075"/>
          </a:xfrm>
          <a:prstGeom prst="rect">
            <a:avLst/>
          </a:prstGeom>
          <a:solidFill>
            <a:srgbClr val="E2E7F6"/>
          </a:solidFill>
          <a:ln/>
        </p:spPr>
      </p:sp>
      <p:sp>
        <p:nvSpPr>
          <p:cNvPr id="27" name="Text 25"/>
          <p:cNvSpPr/>
          <p:nvPr/>
        </p:nvSpPr>
        <p:spPr>
          <a:xfrm>
            <a:off x="3492348" y="347345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898873" y="3473450"/>
            <a:ext cx="1393825" cy="727075"/>
          </a:xfrm>
          <a:prstGeom prst="rect">
            <a:avLst/>
          </a:prstGeom>
          <a:solidFill>
            <a:srgbClr val="D9E1F4"/>
          </a:solidFill>
          <a:ln/>
        </p:spPr>
      </p:sp>
      <p:sp>
        <p:nvSpPr>
          <p:cNvPr id="29" name="Text 27"/>
          <p:cNvSpPr/>
          <p:nvPr/>
        </p:nvSpPr>
        <p:spPr>
          <a:xfrm>
            <a:off x="4898873" y="347345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305398" y="3473450"/>
            <a:ext cx="1393825" cy="727075"/>
          </a:xfrm>
          <a:prstGeom prst="rect">
            <a:avLst/>
          </a:prstGeom>
          <a:solidFill>
            <a:srgbClr val="CED7F0"/>
          </a:solidFill>
          <a:ln/>
        </p:spPr>
      </p:sp>
      <p:sp>
        <p:nvSpPr>
          <p:cNvPr id="31" name="Text 29"/>
          <p:cNvSpPr/>
          <p:nvPr/>
        </p:nvSpPr>
        <p:spPr>
          <a:xfrm>
            <a:off x="6305398" y="347345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29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711923" y="3473450"/>
            <a:ext cx="1393825" cy="727075"/>
          </a:xfrm>
          <a:prstGeom prst="rect">
            <a:avLst/>
          </a:prstGeom>
          <a:solidFill>
            <a:srgbClr val="C1CEED"/>
          </a:solidFill>
          <a:ln/>
        </p:spPr>
      </p:sp>
      <p:sp>
        <p:nvSpPr>
          <p:cNvPr id="33" name="Text 31"/>
          <p:cNvSpPr/>
          <p:nvPr/>
        </p:nvSpPr>
        <p:spPr>
          <a:xfrm>
            <a:off x="7711923" y="347345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3047848" y="4213225"/>
            <a:ext cx="393700" cy="7397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West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492348" y="4213225"/>
            <a:ext cx="1393825" cy="727075"/>
          </a:xfrm>
          <a:prstGeom prst="rect">
            <a:avLst/>
          </a:prstGeom>
          <a:solidFill>
            <a:srgbClr val="ECF0F9"/>
          </a:solidFill>
          <a:ln/>
        </p:spPr>
      </p:sp>
      <p:sp>
        <p:nvSpPr>
          <p:cNvPr id="36" name="Text 34"/>
          <p:cNvSpPr/>
          <p:nvPr/>
        </p:nvSpPr>
        <p:spPr>
          <a:xfrm>
            <a:off x="3492348" y="421322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4898873" y="4213225"/>
            <a:ext cx="1393825" cy="727075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38" name="Text 36"/>
          <p:cNvSpPr/>
          <p:nvPr/>
        </p:nvSpPr>
        <p:spPr>
          <a:xfrm>
            <a:off x="4898873" y="421322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6305398" y="4213225"/>
            <a:ext cx="1393825" cy="727075"/>
          </a:xfrm>
          <a:prstGeom prst="rect">
            <a:avLst/>
          </a:prstGeom>
          <a:solidFill>
            <a:srgbClr val="E4EAF7"/>
          </a:solidFill>
          <a:ln/>
        </p:spPr>
      </p:sp>
      <p:sp>
        <p:nvSpPr>
          <p:cNvPr id="40" name="Text 38"/>
          <p:cNvSpPr/>
          <p:nvPr/>
        </p:nvSpPr>
        <p:spPr>
          <a:xfrm>
            <a:off x="6305398" y="421322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21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7711923" y="4213225"/>
            <a:ext cx="1393825" cy="727075"/>
          </a:xfrm>
          <a:prstGeom prst="rect">
            <a:avLst/>
          </a:prstGeom>
          <a:solidFill>
            <a:srgbClr val="DCE3F5"/>
          </a:solidFill>
          <a:ln/>
        </p:spPr>
      </p:sp>
      <p:sp>
        <p:nvSpPr>
          <p:cNvPr id="42" name="Text 40"/>
          <p:cNvSpPr/>
          <p:nvPr/>
        </p:nvSpPr>
        <p:spPr>
          <a:xfrm>
            <a:off x="7711923" y="421322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24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3492348" y="5029200"/>
            <a:ext cx="80433" cy="114300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44" name="Shape 42"/>
          <p:cNvSpPr/>
          <p:nvPr/>
        </p:nvSpPr>
        <p:spPr>
          <a:xfrm>
            <a:off x="3566431" y="5029200"/>
            <a:ext cx="80433" cy="114300"/>
          </a:xfrm>
          <a:prstGeom prst="rect">
            <a:avLst/>
          </a:prstGeom>
          <a:solidFill>
            <a:srgbClr val="ECF0FA"/>
          </a:solidFill>
          <a:ln/>
        </p:spPr>
      </p:sp>
      <p:sp>
        <p:nvSpPr>
          <p:cNvPr id="45" name="Shape 43"/>
          <p:cNvSpPr/>
          <p:nvPr/>
        </p:nvSpPr>
        <p:spPr>
          <a:xfrm>
            <a:off x="3640514" y="5029200"/>
            <a:ext cx="80433" cy="114300"/>
          </a:xfrm>
          <a:prstGeom prst="rect">
            <a:avLst/>
          </a:prstGeom>
          <a:solidFill>
            <a:srgbClr val="E8ECF8"/>
          </a:solidFill>
          <a:ln/>
        </p:spPr>
      </p:sp>
      <p:sp>
        <p:nvSpPr>
          <p:cNvPr id="46" name="Shape 44"/>
          <p:cNvSpPr/>
          <p:nvPr/>
        </p:nvSpPr>
        <p:spPr>
          <a:xfrm>
            <a:off x="3714598" y="5029200"/>
            <a:ext cx="80433" cy="114300"/>
          </a:xfrm>
          <a:prstGeom prst="rect">
            <a:avLst/>
          </a:prstGeom>
          <a:solidFill>
            <a:srgbClr val="E3E9F7"/>
          </a:solidFill>
          <a:ln/>
        </p:spPr>
      </p:sp>
      <p:sp>
        <p:nvSpPr>
          <p:cNvPr id="47" name="Shape 45"/>
          <p:cNvSpPr/>
          <p:nvPr/>
        </p:nvSpPr>
        <p:spPr>
          <a:xfrm>
            <a:off x="3788681" y="5029200"/>
            <a:ext cx="80433" cy="114300"/>
          </a:xfrm>
          <a:prstGeom prst="rect">
            <a:avLst/>
          </a:prstGeom>
          <a:solidFill>
            <a:srgbClr val="DEE5F5"/>
          </a:solidFill>
          <a:ln/>
        </p:spPr>
      </p:sp>
      <p:sp>
        <p:nvSpPr>
          <p:cNvPr id="48" name="Shape 46"/>
          <p:cNvSpPr/>
          <p:nvPr/>
        </p:nvSpPr>
        <p:spPr>
          <a:xfrm>
            <a:off x="3862764" y="5029200"/>
            <a:ext cx="80433" cy="114300"/>
          </a:xfrm>
          <a:prstGeom prst="rect">
            <a:avLst/>
          </a:prstGeom>
          <a:solidFill>
            <a:srgbClr val="D9E0F4"/>
          </a:solidFill>
          <a:ln/>
        </p:spPr>
      </p:sp>
      <p:sp>
        <p:nvSpPr>
          <p:cNvPr id="49" name="Shape 47"/>
          <p:cNvSpPr/>
          <p:nvPr/>
        </p:nvSpPr>
        <p:spPr>
          <a:xfrm>
            <a:off x="3936848" y="5029200"/>
            <a:ext cx="80433" cy="11430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50" name="Shape 48"/>
          <p:cNvSpPr/>
          <p:nvPr/>
        </p:nvSpPr>
        <p:spPr>
          <a:xfrm>
            <a:off x="4010931" y="5029200"/>
            <a:ext cx="80433" cy="114300"/>
          </a:xfrm>
          <a:prstGeom prst="rect">
            <a:avLst/>
          </a:prstGeom>
          <a:solidFill>
            <a:srgbClr val="CED8F1"/>
          </a:solidFill>
          <a:ln/>
        </p:spPr>
      </p:sp>
      <p:sp>
        <p:nvSpPr>
          <p:cNvPr id="51" name="Shape 49"/>
          <p:cNvSpPr/>
          <p:nvPr/>
        </p:nvSpPr>
        <p:spPr>
          <a:xfrm>
            <a:off x="4085014" y="5029200"/>
            <a:ext cx="80433" cy="114300"/>
          </a:xfrm>
          <a:prstGeom prst="rect">
            <a:avLst/>
          </a:prstGeom>
          <a:solidFill>
            <a:srgbClr val="C9D4EF"/>
          </a:solidFill>
          <a:ln/>
        </p:spPr>
      </p:sp>
      <p:sp>
        <p:nvSpPr>
          <p:cNvPr id="52" name="Shape 50"/>
          <p:cNvSpPr/>
          <p:nvPr/>
        </p:nvSpPr>
        <p:spPr>
          <a:xfrm>
            <a:off x="4159098" y="5029200"/>
            <a:ext cx="80433" cy="114300"/>
          </a:xfrm>
          <a:prstGeom prst="rect">
            <a:avLst/>
          </a:prstGeom>
          <a:solidFill>
            <a:srgbClr val="C3CFED"/>
          </a:solidFill>
          <a:ln/>
        </p:spPr>
      </p:sp>
      <p:sp>
        <p:nvSpPr>
          <p:cNvPr id="53" name="Shape 51"/>
          <p:cNvSpPr/>
          <p:nvPr/>
        </p:nvSpPr>
        <p:spPr>
          <a:xfrm>
            <a:off x="4233181" y="5029200"/>
            <a:ext cx="80433" cy="114300"/>
          </a:xfrm>
          <a:prstGeom prst="rect">
            <a:avLst/>
          </a:prstGeom>
          <a:solidFill>
            <a:srgbClr val="BDCAEC"/>
          </a:solidFill>
          <a:ln/>
        </p:spPr>
      </p:sp>
      <p:sp>
        <p:nvSpPr>
          <p:cNvPr id="54" name="Shape 52"/>
          <p:cNvSpPr/>
          <p:nvPr/>
        </p:nvSpPr>
        <p:spPr>
          <a:xfrm>
            <a:off x="4307264" y="5029200"/>
            <a:ext cx="80433" cy="114300"/>
          </a:xfrm>
          <a:prstGeom prst="rect">
            <a:avLst/>
          </a:prstGeom>
          <a:solidFill>
            <a:srgbClr val="B6C6EA"/>
          </a:solidFill>
          <a:ln/>
        </p:spPr>
      </p:sp>
      <p:sp>
        <p:nvSpPr>
          <p:cNvPr id="55" name="Shape 53"/>
          <p:cNvSpPr/>
          <p:nvPr/>
        </p:nvSpPr>
        <p:spPr>
          <a:xfrm>
            <a:off x="4381348" y="5029200"/>
            <a:ext cx="80433" cy="114300"/>
          </a:xfrm>
          <a:prstGeom prst="rect">
            <a:avLst/>
          </a:prstGeom>
          <a:solidFill>
            <a:srgbClr val="B0C1E9"/>
          </a:solidFill>
          <a:ln/>
        </p:spPr>
      </p:sp>
      <p:sp>
        <p:nvSpPr>
          <p:cNvPr id="56" name="Shape 54"/>
          <p:cNvSpPr/>
          <p:nvPr/>
        </p:nvSpPr>
        <p:spPr>
          <a:xfrm>
            <a:off x="4455431" y="5029200"/>
            <a:ext cx="80433" cy="114300"/>
          </a:xfrm>
          <a:prstGeom prst="rect">
            <a:avLst/>
          </a:prstGeom>
          <a:solidFill>
            <a:srgbClr val="A9BBE7"/>
          </a:solidFill>
          <a:ln/>
        </p:spPr>
      </p:sp>
      <p:sp>
        <p:nvSpPr>
          <p:cNvPr id="57" name="Shape 55"/>
          <p:cNvSpPr/>
          <p:nvPr/>
        </p:nvSpPr>
        <p:spPr>
          <a:xfrm>
            <a:off x="4529514" y="5029200"/>
            <a:ext cx="80433" cy="114300"/>
          </a:xfrm>
          <a:prstGeom prst="rect">
            <a:avLst/>
          </a:prstGeom>
          <a:solidFill>
            <a:srgbClr val="A1B6E5"/>
          </a:solidFill>
          <a:ln/>
        </p:spPr>
      </p:sp>
      <p:sp>
        <p:nvSpPr>
          <p:cNvPr id="58" name="Shape 56"/>
          <p:cNvSpPr/>
          <p:nvPr/>
        </p:nvSpPr>
        <p:spPr>
          <a:xfrm>
            <a:off x="4603598" y="5029200"/>
            <a:ext cx="80433" cy="114300"/>
          </a:xfrm>
          <a:prstGeom prst="rect">
            <a:avLst/>
          </a:prstGeom>
          <a:solidFill>
            <a:srgbClr val="9AB1E4"/>
          </a:solidFill>
          <a:ln/>
        </p:spPr>
      </p:sp>
      <p:sp>
        <p:nvSpPr>
          <p:cNvPr id="59" name="Shape 57"/>
          <p:cNvSpPr/>
          <p:nvPr/>
        </p:nvSpPr>
        <p:spPr>
          <a:xfrm>
            <a:off x="4677681" y="5029200"/>
            <a:ext cx="80433" cy="114300"/>
          </a:xfrm>
          <a:prstGeom prst="rect">
            <a:avLst/>
          </a:prstGeom>
          <a:solidFill>
            <a:srgbClr val="91ABE2"/>
          </a:solidFill>
          <a:ln/>
        </p:spPr>
      </p:sp>
      <p:sp>
        <p:nvSpPr>
          <p:cNvPr id="60" name="Shape 58"/>
          <p:cNvSpPr/>
          <p:nvPr/>
        </p:nvSpPr>
        <p:spPr>
          <a:xfrm>
            <a:off x="4751764" y="5029200"/>
            <a:ext cx="80433" cy="114300"/>
          </a:xfrm>
          <a:prstGeom prst="rect">
            <a:avLst/>
          </a:prstGeom>
          <a:solidFill>
            <a:srgbClr val="88A5E0"/>
          </a:solidFill>
          <a:ln/>
        </p:spPr>
      </p:sp>
      <p:sp>
        <p:nvSpPr>
          <p:cNvPr id="61" name="Shape 59"/>
          <p:cNvSpPr/>
          <p:nvPr/>
        </p:nvSpPr>
        <p:spPr>
          <a:xfrm>
            <a:off x="4825848" y="5029200"/>
            <a:ext cx="80433" cy="114300"/>
          </a:xfrm>
          <a:prstGeom prst="rect">
            <a:avLst/>
          </a:prstGeom>
          <a:solidFill>
            <a:srgbClr val="7E9EDF"/>
          </a:solidFill>
          <a:ln/>
        </p:spPr>
      </p:sp>
      <p:sp>
        <p:nvSpPr>
          <p:cNvPr id="62" name="Shape 60"/>
          <p:cNvSpPr/>
          <p:nvPr/>
        </p:nvSpPr>
        <p:spPr>
          <a:xfrm>
            <a:off x="4899931" y="5029200"/>
            <a:ext cx="80433" cy="114300"/>
          </a:xfrm>
          <a:prstGeom prst="rect">
            <a:avLst/>
          </a:prstGeom>
          <a:solidFill>
            <a:srgbClr val="7398DD"/>
          </a:solidFill>
          <a:ln/>
        </p:spPr>
      </p:sp>
      <p:sp>
        <p:nvSpPr>
          <p:cNvPr id="63" name="Shape 61"/>
          <p:cNvSpPr/>
          <p:nvPr/>
        </p:nvSpPr>
        <p:spPr>
          <a:xfrm>
            <a:off x="4974014" y="5029200"/>
            <a:ext cx="80433" cy="114300"/>
          </a:xfrm>
          <a:prstGeom prst="rect">
            <a:avLst/>
          </a:prstGeom>
          <a:solidFill>
            <a:srgbClr val="6791DB"/>
          </a:solidFill>
          <a:ln/>
        </p:spPr>
      </p:sp>
      <p:sp>
        <p:nvSpPr>
          <p:cNvPr id="64" name="Shape 62"/>
          <p:cNvSpPr/>
          <p:nvPr/>
        </p:nvSpPr>
        <p:spPr>
          <a:xfrm>
            <a:off x="5048098" y="5029200"/>
            <a:ext cx="80433" cy="114300"/>
          </a:xfrm>
          <a:prstGeom prst="rect">
            <a:avLst/>
          </a:prstGeom>
          <a:solidFill>
            <a:srgbClr val="5889DA"/>
          </a:solidFill>
          <a:ln/>
        </p:spPr>
      </p:sp>
      <p:sp>
        <p:nvSpPr>
          <p:cNvPr id="65" name="Shape 63"/>
          <p:cNvSpPr/>
          <p:nvPr/>
        </p:nvSpPr>
        <p:spPr>
          <a:xfrm>
            <a:off x="5122181" y="5029200"/>
            <a:ext cx="80433" cy="114300"/>
          </a:xfrm>
          <a:prstGeom prst="rect">
            <a:avLst/>
          </a:prstGeom>
          <a:solidFill>
            <a:srgbClr val="4681D8"/>
          </a:solidFill>
          <a:ln/>
        </p:spPr>
      </p:sp>
      <p:sp>
        <p:nvSpPr>
          <p:cNvPr id="66" name="Shape 64"/>
          <p:cNvSpPr/>
          <p:nvPr/>
        </p:nvSpPr>
        <p:spPr>
          <a:xfrm>
            <a:off x="5196264" y="5029200"/>
            <a:ext cx="80433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7" name="Text 65"/>
          <p:cNvSpPr/>
          <p:nvPr/>
        </p:nvSpPr>
        <p:spPr>
          <a:xfrm>
            <a:off x="3492348" y="5149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</a:t>
            </a:r>
            <a:endParaRPr lang="en-US" sz="850" dirty="0"/>
          </a:p>
        </p:txBody>
      </p:sp>
      <p:sp>
        <p:nvSpPr>
          <p:cNvPr id="68" name="Text 66"/>
          <p:cNvSpPr/>
          <p:nvPr/>
        </p:nvSpPr>
        <p:spPr>
          <a:xfrm>
            <a:off x="4381348" y="5149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Tile map — Revenue by market (€m)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107504" y="1828800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" name="Text 2"/>
          <p:cNvSpPr/>
          <p:nvPr/>
        </p:nvSpPr>
        <p:spPr>
          <a:xfrm>
            <a:off x="4107504" y="1828800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IS</a:t>
            </a:r>
            <a:endParaRPr lang="en-US" sz="988" dirty="0"/>
          </a:p>
        </p:txBody>
      </p:sp>
      <p:sp>
        <p:nvSpPr>
          <p:cNvPr id="5" name="Shape 3"/>
          <p:cNvSpPr/>
          <p:nvPr/>
        </p:nvSpPr>
        <p:spPr>
          <a:xfrm>
            <a:off x="5710879" y="1828800"/>
            <a:ext cx="369094" cy="369094"/>
          </a:xfrm>
          <a:prstGeom prst="rect">
            <a:avLst/>
          </a:prstGeom>
          <a:solidFill>
            <a:srgbClr val="E4E9F7"/>
          </a:solidFill>
          <a:ln/>
        </p:spPr>
      </p:sp>
      <p:sp>
        <p:nvSpPr>
          <p:cNvPr id="6" name="Text 4"/>
          <p:cNvSpPr/>
          <p:nvPr/>
        </p:nvSpPr>
        <p:spPr>
          <a:xfrm>
            <a:off x="5710879" y="1854597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</a:t>
            </a:r>
            <a:endParaRPr lang="en-US" sz="988" dirty="0"/>
          </a:p>
        </p:txBody>
      </p:sp>
      <p:sp>
        <p:nvSpPr>
          <p:cNvPr id="7" name="Text 5"/>
          <p:cNvSpPr/>
          <p:nvPr/>
        </p:nvSpPr>
        <p:spPr>
          <a:xfrm>
            <a:off x="5710879" y="201334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6111723" y="1828800"/>
            <a:ext cx="369094" cy="369094"/>
          </a:xfrm>
          <a:prstGeom prst="rect">
            <a:avLst/>
          </a:prstGeom>
          <a:solidFill>
            <a:srgbClr val="D3DCF2"/>
          </a:solidFill>
          <a:ln/>
        </p:spPr>
      </p:sp>
      <p:sp>
        <p:nvSpPr>
          <p:cNvPr id="9" name="Text 7"/>
          <p:cNvSpPr/>
          <p:nvPr/>
        </p:nvSpPr>
        <p:spPr>
          <a:xfrm>
            <a:off x="6111723" y="1854597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</a:t>
            </a:r>
            <a:endParaRPr lang="en-US" sz="988" dirty="0"/>
          </a:p>
        </p:txBody>
      </p:sp>
      <p:sp>
        <p:nvSpPr>
          <p:cNvPr id="10" name="Text 8"/>
          <p:cNvSpPr/>
          <p:nvPr/>
        </p:nvSpPr>
        <p:spPr>
          <a:xfrm>
            <a:off x="6111723" y="201334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6512566" y="1828800"/>
            <a:ext cx="369094" cy="369094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12" name="Text 10"/>
          <p:cNvSpPr/>
          <p:nvPr/>
        </p:nvSpPr>
        <p:spPr>
          <a:xfrm>
            <a:off x="6512566" y="1854597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</a:t>
            </a:r>
            <a:endParaRPr lang="en-US" sz="988" dirty="0"/>
          </a:p>
        </p:txBody>
      </p:sp>
      <p:sp>
        <p:nvSpPr>
          <p:cNvPr id="13" name="Text 11"/>
          <p:cNvSpPr/>
          <p:nvPr/>
        </p:nvSpPr>
        <p:spPr>
          <a:xfrm>
            <a:off x="6512566" y="201334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32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6913410" y="2229644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5" name="Text 13"/>
          <p:cNvSpPr/>
          <p:nvPr/>
        </p:nvSpPr>
        <p:spPr>
          <a:xfrm>
            <a:off x="6913410" y="2229644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EE</a:t>
            </a:r>
            <a:endParaRPr lang="en-US" sz="988" dirty="0"/>
          </a:p>
        </p:txBody>
      </p:sp>
      <p:sp>
        <p:nvSpPr>
          <p:cNvPr id="16" name="Shape 14"/>
          <p:cNvSpPr/>
          <p:nvPr/>
        </p:nvSpPr>
        <p:spPr>
          <a:xfrm>
            <a:off x="4107504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7" name="Text 15"/>
          <p:cNvSpPr/>
          <p:nvPr/>
        </p:nvSpPr>
        <p:spPr>
          <a:xfrm>
            <a:off x="4107504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IE</a:t>
            </a:r>
            <a:endParaRPr lang="en-US" sz="988" dirty="0"/>
          </a:p>
        </p:txBody>
      </p:sp>
      <p:sp>
        <p:nvSpPr>
          <p:cNvPr id="18" name="Shape 16"/>
          <p:cNvSpPr/>
          <p:nvPr/>
        </p:nvSpPr>
        <p:spPr>
          <a:xfrm>
            <a:off x="4508348" y="2630488"/>
            <a:ext cx="369094" cy="369094"/>
          </a:xfrm>
          <a:prstGeom prst="rect">
            <a:avLst/>
          </a:prstGeom>
          <a:solidFill>
            <a:srgbClr val="88A4E0"/>
          </a:solidFill>
          <a:ln/>
        </p:spPr>
      </p:sp>
      <p:sp>
        <p:nvSpPr>
          <p:cNvPr id="19" name="Text 17"/>
          <p:cNvSpPr/>
          <p:nvPr/>
        </p:nvSpPr>
        <p:spPr>
          <a:xfrm>
            <a:off x="4508348" y="2656284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GB</a:t>
            </a:r>
            <a:endParaRPr lang="en-US" sz="988" dirty="0"/>
          </a:p>
        </p:txBody>
      </p:sp>
      <p:sp>
        <p:nvSpPr>
          <p:cNvPr id="20" name="Text 18"/>
          <p:cNvSpPr/>
          <p:nvPr/>
        </p:nvSpPr>
        <p:spPr>
          <a:xfrm>
            <a:off x="4508348" y="281503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112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5310035" y="2630488"/>
            <a:ext cx="369094" cy="369094"/>
          </a:xfrm>
          <a:prstGeom prst="rect">
            <a:avLst/>
          </a:prstGeom>
          <a:solidFill>
            <a:srgbClr val="CDD7F0"/>
          </a:solidFill>
          <a:ln/>
        </p:spPr>
      </p:sp>
      <p:sp>
        <p:nvSpPr>
          <p:cNvPr id="22" name="Text 20"/>
          <p:cNvSpPr/>
          <p:nvPr/>
        </p:nvSpPr>
        <p:spPr>
          <a:xfrm>
            <a:off x="5310035" y="2656284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NL</a:t>
            </a:r>
            <a:endParaRPr lang="en-US" sz="988" dirty="0"/>
          </a:p>
        </p:txBody>
      </p:sp>
      <p:sp>
        <p:nvSpPr>
          <p:cNvPr id="23" name="Text 21"/>
          <p:cNvSpPr/>
          <p:nvPr/>
        </p:nvSpPr>
        <p:spPr>
          <a:xfrm>
            <a:off x="5310035" y="281503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66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5710879" y="2630488"/>
            <a:ext cx="369094" cy="369094"/>
          </a:xfrm>
          <a:prstGeom prst="rect">
            <a:avLst/>
          </a:prstGeom>
          <a:solidFill>
            <a:srgbClr val="B6C5EA"/>
          </a:solidFill>
          <a:ln/>
        </p:spPr>
      </p:sp>
      <p:sp>
        <p:nvSpPr>
          <p:cNvPr id="25" name="Text 23"/>
          <p:cNvSpPr/>
          <p:nvPr/>
        </p:nvSpPr>
        <p:spPr>
          <a:xfrm>
            <a:off x="5710879" y="2656284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DK</a:t>
            </a:r>
            <a:endParaRPr lang="en-US" sz="988" dirty="0"/>
          </a:p>
        </p:txBody>
      </p:sp>
      <p:sp>
        <p:nvSpPr>
          <p:cNvPr id="26" name="Text 24"/>
          <p:cNvSpPr/>
          <p:nvPr/>
        </p:nvSpPr>
        <p:spPr>
          <a:xfrm>
            <a:off x="5710879" y="281503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84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6913410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28" name="Text 26"/>
          <p:cNvSpPr/>
          <p:nvPr/>
        </p:nvSpPr>
        <p:spPr>
          <a:xfrm>
            <a:off x="6913410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LV</a:t>
            </a:r>
            <a:endParaRPr lang="en-US" sz="988" dirty="0"/>
          </a:p>
        </p:txBody>
      </p:sp>
      <p:sp>
        <p:nvSpPr>
          <p:cNvPr id="29" name="Shape 27"/>
          <p:cNvSpPr/>
          <p:nvPr/>
        </p:nvSpPr>
        <p:spPr>
          <a:xfrm>
            <a:off x="5310035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0" name="Text 28"/>
          <p:cNvSpPr/>
          <p:nvPr/>
        </p:nvSpPr>
        <p:spPr>
          <a:xfrm>
            <a:off x="5310035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</a:t>
            </a:r>
            <a:endParaRPr lang="en-US" sz="988" dirty="0"/>
          </a:p>
        </p:txBody>
      </p:sp>
      <p:sp>
        <p:nvSpPr>
          <p:cNvPr id="31" name="Shape 29"/>
          <p:cNvSpPr/>
          <p:nvPr/>
        </p:nvSpPr>
        <p:spPr>
          <a:xfrm>
            <a:off x="5710879" y="3031331"/>
            <a:ext cx="369094" cy="3690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2" name="Text 30"/>
          <p:cNvSpPr/>
          <p:nvPr/>
        </p:nvSpPr>
        <p:spPr>
          <a:xfrm>
            <a:off x="5710879" y="3057128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</a:t>
            </a:r>
            <a:endParaRPr lang="en-US" sz="988" dirty="0"/>
          </a:p>
        </p:txBody>
      </p:sp>
      <p:sp>
        <p:nvSpPr>
          <p:cNvPr id="33" name="Text 31"/>
          <p:cNvSpPr/>
          <p:nvPr/>
        </p:nvSpPr>
        <p:spPr>
          <a:xfrm>
            <a:off x="5710879" y="321587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140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6111723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5" name="Text 33"/>
          <p:cNvSpPr/>
          <p:nvPr/>
        </p:nvSpPr>
        <p:spPr>
          <a:xfrm>
            <a:off x="6111723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CZ</a:t>
            </a:r>
            <a:endParaRPr lang="en-US" sz="988" dirty="0"/>
          </a:p>
        </p:txBody>
      </p:sp>
      <p:sp>
        <p:nvSpPr>
          <p:cNvPr id="36" name="Shape 34"/>
          <p:cNvSpPr/>
          <p:nvPr/>
        </p:nvSpPr>
        <p:spPr>
          <a:xfrm>
            <a:off x="6512566" y="3031331"/>
            <a:ext cx="369094" cy="369094"/>
          </a:xfrm>
          <a:prstGeom prst="rect">
            <a:avLst/>
          </a:prstGeom>
          <a:solidFill>
            <a:srgbClr val="EBEFF9"/>
          </a:solidFill>
          <a:ln/>
        </p:spPr>
      </p:sp>
      <p:sp>
        <p:nvSpPr>
          <p:cNvPr id="37" name="Text 35"/>
          <p:cNvSpPr/>
          <p:nvPr/>
        </p:nvSpPr>
        <p:spPr>
          <a:xfrm>
            <a:off x="6512566" y="3057128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</a:t>
            </a:r>
            <a:endParaRPr lang="en-US" sz="988" dirty="0"/>
          </a:p>
        </p:txBody>
      </p:sp>
      <p:sp>
        <p:nvSpPr>
          <p:cNvPr id="38" name="Text 36"/>
          <p:cNvSpPr/>
          <p:nvPr/>
        </p:nvSpPr>
        <p:spPr>
          <a:xfrm>
            <a:off x="6512566" y="321587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6913410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0" name="Text 38"/>
          <p:cNvSpPr/>
          <p:nvPr/>
        </p:nvSpPr>
        <p:spPr>
          <a:xfrm>
            <a:off x="6913410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LT</a:t>
            </a:r>
            <a:endParaRPr lang="en-US" sz="988" dirty="0"/>
          </a:p>
        </p:txBody>
      </p:sp>
      <p:sp>
        <p:nvSpPr>
          <p:cNvPr id="41" name="Shape 39"/>
          <p:cNvSpPr/>
          <p:nvPr/>
        </p:nvSpPr>
        <p:spPr>
          <a:xfrm>
            <a:off x="7314254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2" name="Text 40"/>
          <p:cNvSpPr/>
          <p:nvPr/>
        </p:nvSpPr>
        <p:spPr>
          <a:xfrm>
            <a:off x="7314254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BY</a:t>
            </a:r>
            <a:endParaRPr lang="en-US" sz="988" dirty="0"/>
          </a:p>
        </p:txBody>
      </p:sp>
      <p:sp>
        <p:nvSpPr>
          <p:cNvPr id="43" name="Shape 41"/>
          <p:cNvSpPr/>
          <p:nvPr/>
        </p:nvSpPr>
        <p:spPr>
          <a:xfrm>
            <a:off x="7715098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4" name="Text 42"/>
          <p:cNvSpPr/>
          <p:nvPr/>
        </p:nvSpPr>
        <p:spPr>
          <a:xfrm>
            <a:off x="7715098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RU</a:t>
            </a:r>
            <a:endParaRPr lang="en-US" sz="988" dirty="0"/>
          </a:p>
        </p:txBody>
      </p:sp>
      <p:sp>
        <p:nvSpPr>
          <p:cNvPr id="45" name="Shape 43"/>
          <p:cNvSpPr/>
          <p:nvPr/>
        </p:nvSpPr>
        <p:spPr>
          <a:xfrm>
            <a:off x="4909191" y="3432175"/>
            <a:ext cx="369094" cy="369094"/>
          </a:xfrm>
          <a:prstGeom prst="rect">
            <a:avLst/>
          </a:prstGeom>
          <a:solidFill>
            <a:srgbClr val="A1B6E5"/>
          </a:solidFill>
          <a:ln/>
        </p:spPr>
      </p:sp>
      <p:sp>
        <p:nvSpPr>
          <p:cNvPr id="46" name="Text 44"/>
          <p:cNvSpPr/>
          <p:nvPr/>
        </p:nvSpPr>
        <p:spPr>
          <a:xfrm>
            <a:off x="4909191" y="3457972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</a:t>
            </a:r>
            <a:endParaRPr lang="en-US" sz="988" dirty="0"/>
          </a:p>
        </p:txBody>
      </p:sp>
      <p:sp>
        <p:nvSpPr>
          <p:cNvPr id="47" name="Text 45"/>
          <p:cNvSpPr/>
          <p:nvPr/>
        </p:nvSpPr>
        <p:spPr>
          <a:xfrm>
            <a:off x="4909191" y="3616722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98</a:t>
            </a:r>
            <a:endParaRPr lang="en-US" sz="800" dirty="0"/>
          </a:p>
        </p:txBody>
      </p:sp>
      <p:sp>
        <p:nvSpPr>
          <p:cNvPr id="48" name="Shape 46"/>
          <p:cNvSpPr/>
          <p:nvPr/>
        </p:nvSpPr>
        <p:spPr>
          <a:xfrm>
            <a:off x="5310035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9" name="Text 47"/>
          <p:cNvSpPr/>
          <p:nvPr/>
        </p:nvSpPr>
        <p:spPr>
          <a:xfrm>
            <a:off x="5310035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LU</a:t>
            </a:r>
            <a:endParaRPr lang="en-US" sz="988" dirty="0"/>
          </a:p>
        </p:txBody>
      </p:sp>
      <p:sp>
        <p:nvSpPr>
          <p:cNvPr id="50" name="Shape 48"/>
          <p:cNvSpPr/>
          <p:nvPr/>
        </p:nvSpPr>
        <p:spPr>
          <a:xfrm>
            <a:off x="5710879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1" name="Text 49"/>
          <p:cNvSpPr/>
          <p:nvPr/>
        </p:nvSpPr>
        <p:spPr>
          <a:xfrm>
            <a:off x="5710879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AT</a:t>
            </a:r>
            <a:endParaRPr lang="en-US" sz="988" dirty="0"/>
          </a:p>
        </p:txBody>
      </p:sp>
      <p:sp>
        <p:nvSpPr>
          <p:cNvPr id="52" name="Shape 50"/>
          <p:cNvSpPr/>
          <p:nvPr/>
        </p:nvSpPr>
        <p:spPr>
          <a:xfrm>
            <a:off x="6111723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3" name="Text 51"/>
          <p:cNvSpPr/>
          <p:nvPr/>
        </p:nvSpPr>
        <p:spPr>
          <a:xfrm>
            <a:off x="6111723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SK</a:t>
            </a:r>
            <a:endParaRPr lang="en-US" sz="988" dirty="0"/>
          </a:p>
        </p:txBody>
      </p:sp>
      <p:sp>
        <p:nvSpPr>
          <p:cNvPr id="54" name="Shape 52"/>
          <p:cNvSpPr/>
          <p:nvPr/>
        </p:nvSpPr>
        <p:spPr>
          <a:xfrm>
            <a:off x="6512566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5" name="Text 53"/>
          <p:cNvSpPr/>
          <p:nvPr/>
        </p:nvSpPr>
        <p:spPr>
          <a:xfrm>
            <a:off x="6512566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RS</a:t>
            </a:r>
            <a:endParaRPr lang="en-US" sz="988" dirty="0"/>
          </a:p>
        </p:txBody>
      </p:sp>
      <p:sp>
        <p:nvSpPr>
          <p:cNvPr id="56" name="Shape 54"/>
          <p:cNvSpPr/>
          <p:nvPr/>
        </p:nvSpPr>
        <p:spPr>
          <a:xfrm>
            <a:off x="6913410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7" name="Text 55"/>
          <p:cNvSpPr/>
          <p:nvPr/>
        </p:nvSpPr>
        <p:spPr>
          <a:xfrm>
            <a:off x="6913410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</a:t>
            </a:r>
            <a:endParaRPr lang="en-US" sz="988" dirty="0"/>
          </a:p>
        </p:txBody>
      </p:sp>
      <p:sp>
        <p:nvSpPr>
          <p:cNvPr id="58" name="Shape 56"/>
          <p:cNvSpPr/>
          <p:nvPr/>
        </p:nvSpPr>
        <p:spPr>
          <a:xfrm>
            <a:off x="7314254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9" name="Text 57"/>
          <p:cNvSpPr/>
          <p:nvPr/>
        </p:nvSpPr>
        <p:spPr>
          <a:xfrm>
            <a:off x="7314254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UA</a:t>
            </a:r>
            <a:endParaRPr lang="en-US" sz="988" dirty="0"/>
          </a:p>
        </p:txBody>
      </p:sp>
      <p:sp>
        <p:nvSpPr>
          <p:cNvPr id="60" name="Shape 58"/>
          <p:cNvSpPr/>
          <p:nvPr/>
        </p:nvSpPr>
        <p:spPr>
          <a:xfrm>
            <a:off x="4107504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1" name="Text 59"/>
          <p:cNvSpPr/>
          <p:nvPr/>
        </p:nvSpPr>
        <p:spPr>
          <a:xfrm>
            <a:off x="4107504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PT</a:t>
            </a:r>
            <a:endParaRPr lang="en-US" sz="988" dirty="0"/>
          </a:p>
        </p:txBody>
      </p:sp>
      <p:sp>
        <p:nvSpPr>
          <p:cNvPr id="62" name="Shape 60"/>
          <p:cNvSpPr/>
          <p:nvPr/>
        </p:nvSpPr>
        <p:spPr>
          <a:xfrm>
            <a:off x="4508348" y="3833019"/>
            <a:ext cx="369094" cy="369094"/>
          </a:xfrm>
          <a:prstGeom prst="rect">
            <a:avLst/>
          </a:prstGeom>
          <a:solidFill>
            <a:srgbClr val="DBE2F4"/>
          </a:solidFill>
          <a:ln/>
        </p:spPr>
      </p:sp>
      <p:sp>
        <p:nvSpPr>
          <p:cNvPr id="63" name="Text 61"/>
          <p:cNvSpPr/>
          <p:nvPr/>
        </p:nvSpPr>
        <p:spPr>
          <a:xfrm>
            <a:off x="4508348" y="3858816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ES</a:t>
            </a:r>
            <a:endParaRPr lang="en-US" sz="988" dirty="0"/>
          </a:p>
        </p:txBody>
      </p:sp>
      <p:sp>
        <p:nvSpPr>
          <p:cNvPr id="64" name="Text 62"/>
          <p:cNvSpPr/>
          <p:nvPr/>
        </p:nvSpPr>
        <p:spPr>
          <a:xfrm>
            <a:off x="4508348" y="4017566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54</a:t>
            </a:r>
            <a:endParaRPr lang="en-US" sz="800" dirty="0"/>
          </a:p>
        </p:txBody>
      </p:sp>
      <p:sp>
        <p:nvSpPr>
          <p:cNvPr id="65" name="Shape 63"/>
          <p:cNvSpPr/>
          <p:nvPr/>
        </p:nvSpPr>
        <p:spPr>
          <a:xfrm>
            <a:off x="5310035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6" name="Text 64"/>
          <p:cNvSpPr/>
          <p:nvPr/>
        </p:nvSpPr>
        <p:spPr>
          <a:xfrm>
            <a:off x="5310035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</a:t>
            </a:r>
            <a:endParaRPr lang="en-US" sz="988" dirty="0"/>
          </a:p>
        </p:txBody>
      </p:sp>
      <p:sp>
        <p:nvSpPr>
          <p:cNvPr id="67" name="Shape 65"/>
          <p:cNvSpPr/>
          <p:nvPr/>
        </p:nvSpPr>
        <p:spPr>
          <a:xfrm>
            <a:off x="5710879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8" name="Text 66"/>
          <p:cNvSpPr/>
          <p:nvPr/>
        </p:nvSpPr>
        <p:spPr>
          <a:xfrm>
            <a:off x="5710879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</a:t>
            </a:r>
            <a:endParaRPr lang="en-US" sz="988" dirty="0"/>
          </a:p>
        </p:txBody>
      </p:sp>
      <p:sp>
        <p:nvSpPr>
          <p:cNvPr id="69" name="Shape 67"/>
          <p:cNvSpPr/>
          <p:nvPr/>
        </p:nvSpPr>
        <p:spPr>
          <a:xfrm>
            <a:off x="6111723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0" name="Text 68"/>
          <p:cNvSpPr/>
          <p:nvPr/>
        </p:nvSpPr>
        <p:spPr>
          <a:xfrm>
            <a:off x="6111723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HU</a:t>
            </a:r>
            <a:endParaRPr lang="en-US" sz="988" dirty="0"/>
          </a:p>
        </p:txBody>
      </p:sp>
      <p:sp>
        <p:nvSpPr>
          <p:cNvPr id="71" name="Shape 69"/>
          <p:cNvSpPr/>
          <p:nvPr/>
        </p:nvSpPr>
        <p:spPr>
          <a:xfrm>
            <a:off x="6512566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2" name="Text 70"/>
          <p:cNvSpPr/>
          <p:nvPr/>
        </p:nvSpPr>
        <p:spPr>
          <a:xfrm>
            <a:off x="6512566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</a:t>
            </a:r>
            <a:endParaRPr lang="en-US" sz="988" dirty="0"/>
          </a:p>
        </p:txBody>
      </p:sp>
      <p:sp>
        <p:nvSpPr>
          <p:cNvPr id="73" name="Shape 71"/>
          <p:cNvSpPr/>
          <p:nvPr/>
        </p:nvSpPr>
        <p:spPr>
          <a:xfrm>
            <a:off x="6913410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4" name="Text 72"/>
          <p:cNvSpPr/>
          <p:nvPr/>
        </p:nvSpPr>
        <p:spPr>
          <a:xfrm>
            <a:off x="6913410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BG</a:t>
            </a:r>
            <a:endParaRPr lang="en-US" sz="988" dirty="0"/>
          </a:p>
        </p:txBody>
      </p:sp>
      <p:sp>
        <p:nvSpPr>
          <p:cNvPr id="75" name="Shape 73"/>
          <p:cNvSpPr/>
          <p:nvPr/>
        </p:nvSpPr>
        <p:spPr>
          <a:xfrm>
            <a:off x="7314254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6" name="Text 74"/>
          <p:cNvSpPr/>
          <p:nvPr/>
        </p:nvSpPr>
        <p:spPr>
          <a:xfrm>
            <a:off x="7314254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MD</a:t>
            </a:r>
            <a:endParaRPr lang="en-US" sz="988" dirty="0"/>
          </a:p>
        </p:txBody>
      </p:sp>
      <p:sp>
        <p:nvSpPr>
          <p:cNvPr id="77" name="Shape 75"/>
          <p:cNvSpPr/>
          <p:nvPr/>
        </p:nvSpPr>
        <p:spPr>
          <a:xfrm>
            <a:off x="5310035" y="4233863"/>
            <a:ext cx="369094" cy="369094"/>
          </a:xfrm>
          <a:prstGeom prst="rect">
            <a:avLst/>
          </a:prstGeom>
          <a:solidFill>
            <a:srgbClr val="C6D1EE"/>
          </a:solidFill>
          <a:ln/>
        </p:spPr>
      </p:sp>
      <p:sp>
        <p:nvSpPr>
          <p:cNvPr id="78" name="Text 76"/>
          <p:cNvSpPr/>
          <p:nvPr/>
        </p:nvSpPr>
        <p:spPr>
          <a:xfrm>
            <a:off x="5310035" y="4259659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IT</a:t>
            </a:r>
            <a:endParaRPr lang="en-US" sz="988" dirty="0"/>
          </a:p>
        </p:txBody>
      </p:sp>
      <p:sp>
        <p:nvSpPr>
          <p:cNvPr id="79" name="Text 77"/>
          <p:cNvSpPr/>
          <p:nvPr/>
        </p:nvSpPr>
        <p:spPr>
          <a:xfrm>
            <a:off x="5310035" y="4418409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72</a:t>
            </a:r>
            <a:endParaRPr lang="en-US" sz="800" dirty="0"/>
          </a:p>
        </p:txBody>
      </p:sp>
      <p:sp>
        <p:nvSpPr>
          <p:cNvPr id="80" name="Shape 78"/>
          <p:cNvSpPr/>
          <p:nvPr/>
        </p:nvSpPr>
        <p:spPr>
          <a:xfrm>
            <a:off x="6111723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1" name="Text 79"/>
          <p:cNvSpPr/>
          <p:nvPr/>
        </p:nvSpPr>
        <p:spPr>
          <a:xfrm>
            <a:off x="6111723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HR</a:t>
            </a:r>
            <a:endParaRPr lang="en-US" sz="988" dirty="0"/>
          </a:p>
        </p:txBody>
      </p:sp>
      <p:sp>
        <p:nvSpPr>
          <p:cNvPr id="82" name="Shape 80"/>
          <p:cNvSpPr/>
          <p:nvPr/>
        </p:nvSpPr>
        <p:spPr>
          <a:xfrm>
            <a:off x="6512566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3" name="Text 81"/>
          <p:cNvSpPr/>
          <p:nvPr/>
        </p:nvSpPr>
        <p:spPr>
          <a:xfrm>
            <a:off x="6512566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</a:t>
            </a:r>
            <a:endParaRPr lang="en-US" sz="988" dirty="0"/>
          </a:p>
        </p:txBody>
      </p:sp>
      <p:sp>
        <p:nvSpPr>
          <p:cNvPr id="84" name="Shape 82"/>
          <p:cNvSpPr/>
          <p:nvPr/>
        </p:nvSpPr>
        <p:spPr>
          <a:xfrm>
            <a:off x="6913410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5" name="Text 83"/>
          <p:cNvSpPr/>
          <p:nvPr/>
        </p:nvSpPr>
        <p:spPr>
          <a:xfrm>
            <a:off x="6913410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MK</a:t>
            </a:r>
            <a:endParaRPr lang="en-US" sz="988" dirty="0"/>
          </a:p>
        </p:txBody>
      </p:sp>
      <p:sp>
        <p:nvSpPr>
          <p:cNvPr id="86" name="Shape 84"/>
          <p:cNvSpPr/>
          <p:nvPr/>
        </p:nvSpPr>
        <p:spPr>
          <a:xfrm>
            <a:off x="7314254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7" name="Text 85"/>
          <p:cNvSpPr/>
          <p:nvPr/>
        </p:nvSpPr>
        <p:spPr>
          <a:xfrm>
            <a:off x="7314254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</a:t>
            </a:r>
            <a:endParaRPr lang="en-US" sz="988" dirty="0"/>
          </a:p>
        </p:txBody>
      </p:sp>
      <p:sp>
        <p:nvSpPr>
          <p:cNvPr id="88" name="Shape 86"/>
          <p:cNvSpPr/>
          <p:nvPr/>
        </p:nvSpPr>
        <p:spPr>
          <a:xfrm>
            <a:off x="4909191" y="4634706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9" name="Text 87"/>
          <p:cNvSpPr/>
          <p:nvPr/>
        </p:nvSpPr>
        <p:spPr>
          <a:xfrm>
            <a:off x="4909191" y="4634706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MT</a:t>
            </a:r>
            <a:endParaRPr lang="en-US" sz="988" dirty="0"/>
          </a:p>
        </p:txBody>
      </p:sp>
      <p:sp>
        <p:nvSpPr>
          <p:cNvPr id="90" name="Shape 88"/>
          <p:cNvSpPr/>
          <p:nvPr/>
        </p:nvSpPr>
        <p:spPr>
          <a:xfrm>
            <a:off x="6512566" y="4634706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1" name="Text 89"/>
          <p:cNvSpPr/>
          <p:nvPr/>
        </p:nvSpPr>
        <p:spPr>
          <a:xfrm>
            <a:off x="6512566" y="4634706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</a:t>
            </a:r>
            <a:endParaRPr lang="en-US" sz="988" dirty="0"/>
          </a:p>
        </p:txBody>
      </p:sp>
      <p:sp>
        <p:nvSpPr>
          <p:cNvPr id="92" name="Shape 90"/>
          <p:cNvSpPr/>
          <p:nvPr/>
        </p:nvSpPr>
        <p:spPr>
          <a:xfrm>
            <a:off x="6913410" y="4634706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3" name="Text 91"/>
          <p:cNvSpPr/>
          <p:nvPr/>
        </p:nvSpPr>
        <p:spPr>
          <a:xfrm>
            <a:off x="6913410" y="4634706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</a:t>
            </a:r>
            <a:endParaRPr lang="en-US" sz="988" dirty="0"/>
          </a:p>
        </p:txBody>
      </p:sp>
      <p:sp>
        <p:nvSpPr>
          <p:cNvPr id="94" name="Shape 92"/>
          <p:cNvSpPr/>
          <p:nvPr/>
        </p:nvSpPr>
        <p:spPr>
          <a:xfrm>
            <a:off x="7715098" y="4634706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5" name="Text 93"/>
          <p:cNvSpPr/>
          <p:nvPr/>
        </p:nvSpPr>
        <p:spPr>
          <a:xfrm>
            <a:off x="7715098" y="4634706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CY</a:t>
            </a:r>
            <a:endParaRPr lang="en-US" sz="988" dirty="0"/>
          </a:p>
        </p:txBody>
      </p:sp>
      <p:sp>
        <p:nvSpPr>
          <p:cNvPr id="96" name="Shape 94"/>
          <p:cNvSpPr/>
          <p:nvPr/>
        </p:nvSpPr>
        <p:spPr>
          <a:xfrm>
            <a:off x="4107504" y="5099050"/>
            <a:ext cx="69850" cy="114300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97" name="Shape 95"/>
          <p:cNvSpPr/>
          <p:nvPr/>
        </p:nvSpPr>
        <p:spPr>
          <a:xfrm>
            <a:off x="4171004" y="5099050"/>
            <a:ext cx="69850" cy="114300"/>
          </a:xfrm>
          <a:prstGeom prst="rect">
            <a:avLst/>
          </a:prstGeom>
          <a:solidFill>
            <a:srgbClr val="ECF0FA"/>
          </a:solidFill>
          <a:ln/>
        </p:spPr>
      </p:sp>
      <p:sp>
        <p:nvSpPr>
          <p:cNvPr id="98" name="Shape 96"/>
          <p:cNvSpPr/>
          <p:nvPr/>
        </p:nvSpPr>
        <p:spPr>
          <a:xfrm>
            <a:off x="4234504" y="5099050"/>
            <a:ext cx="69850" cy="114300"/>
          </a:xfrm>
          <a:prstGeom prst="rect">
            <a:avLst/>
          </a:prstGeom>
          <a:solidFill>
            <a:srgbClr val="E8ECF8"/>
          </a:solidFill>
          <a:ln/>
        </p:spPr>
      </p:sp>
      <p:sp>
        <p:nvSpPr>
          <p:cNvPr id="99" name="Shape 97"/>
          <p:cNvSpPr/>
          <p:nvPr/>
        </p:nvSpPr>
        <p:spPr>
          <a:xfrm>
            <a:off x="4298004" y="5099050"/>
            <a:ext cx="69850" cy="114300"/>
          </a:xfrm>
          <a:prstGeom prst="rect">
            <a:avLst/>
          </a:prstGeom>
          <a:solidFill>
            <a:srgbClr val="E3E9F7"/>
          </a:solidFill>
          <a:ln/>
        </p:spPr>
      </p:sp>
      <p:sp>
        <p:nvSpPr>
          <p:cNvPr id="100" name="Shape 98"/>
          <p:cNvSpPr/>
          <p:nvPr/>
        </p:nvSpPr>
        <p:spPr>
          <a:xfrm>
            <a:off x="4361504" y="5099050"/>
            <a:ext cx="69850" cy="114300"/>
          </a:xfrm>
          <a:prstGeom prst="rect">
            <a:avLst/>
          </a:prstGeom>
          <a:solidFill>
            <a:srgbClr val="DEE5F5"/>
          </a:solidFill>
          <a:ln/>
        </p:spPr>
      </p:sp>
      <p:sp>
        <p:nvSpPr>
          <p:cNvPr id="101" name="Shape 99"/>
          <p:cNvSpPr/>
          <p:nvPr/>
        </p:nvSpPr>
        <p:spPr>
          <a:xfrm>
            <a:off x="4425004" y="5099050"/>
            <a:ext cx="69850" cy="114300"/>
          </a:xfrm>
          <a:prstGeom prst="rect">
            <a:avLst/>
          </a:prstGeom>
          <a:solidFill>
            <a:srgbClr val="D9E0F4"/>
          </a:solidFill>
          <a:ln/>
        </p:spPr>
      </p:sp>
      <p:sp>
        <p:nvSpPr>
          <p:cNvPr id="102" name="Shape 100"/>
          <p:cNvSpPr/>
          <p:nvPr/>
        </p:nvSpPr>
        <p:spPr>
          <a:xfrm>
            <a:off x="4488504" y="5099050"/>
            <a:ext cx="69850" cy="11430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103" name="Shape 101"/>
          <p:cNvSpPr/>
          <p:nvPr/>
        </p:nvSpPr>
        <p:spPr>
          <a:xfrm>
            <a:off x="4552004" y="5099050"/>
            <a:ext cx="69850" cy="114300"/>
          </a:xfrm>
          <a:prstGeom prst="rect">
            <a:avLst/>
          </a:prstGeom>
          <a:solidFill>
            <a:srgbClr val="CED8F1"/>
          </a:solidFill>
          <a:ln/>
        </p:spPr>
      </p:sp>
      <p:sp>
        <p:nvSpPr>
          <p:cNvPr id="104" name="Shape 102"/>
          <p:cNvSpPr/>
          <p:nvPr/>
        </p:nvSpPr>
        <p:spPr>
          <a:xfrm>
            <a:off x="4615504" y="5099050"/>
            <a:ext cx="69850" cy="114300"/>
          </a:xfrm>
          <a:prstGeom prst="rect">
            <a:avLst/>
          </a:prstGeom>
          <a:solidFill>
            <a:srgbClr val="C9D4EF"/>
          </a:solidFill>
          <a:ln/>
        </p:spPr>
      </p:sp>
      <p:sp>
        <p:nvSpPr>
          <p:cNvPr id="105" name="Shape 103"/>
          <p:cNvSpPr/>
          <p:nvPr/>
        </p:nvSpPr>
        <p:spPr>
          <a:xfrm>
            <a:off x="4679004" y="5099050"/>
            <a:ext cx="69850" cy="114300"/>
          </a:xfrm>
          <a:prstGeom prst="rect">
            <a:avLst/>
          </a:prstGeom>
          <a:solidFill>
            <a:srgbClr val="C3CFED"/>
          </a:solidFill>
          <a:ln/>
        </p:spPr>
      </p:sp>
      <p:sp>
        <p:nvSpPr>
          <p:cNvPr id="106" name="Shape 104"/>
          <p:cNvSpPr/>
          <p:nvPr/>
        </p:nvSpPr>
        <p:spPr>
          <a:xfrm>
            <a:off x="4742504" y="5099050"/>
            <a:ext cx="69850" cy="114300"/>
          </a:xfrm>
          <a:prstGeom prst="rect">
            <a:avLst/>
          </a:prstGeom>
          <a:solidFill>
            <a:srgbClr val="BDCAEC"/>
          </a:solidFill>
          <a:ln/>
        </p:spPr>
      </p:sp>
      <p:sp>
        <p:nvSpPr>
          <p:cNvPr id="107" name="Shape 105"/>
          <p:cNvSpPr/>
          <p:nvPr/>
        </p:nvSpPr>
        <p:spPr>
          <a:xfrm>
            <a:off x="4806004" y="5099050"/>
            <a:ext cx="69850" cy="114300"/>
          </a:xfrm>
          <a:prstGeom prst="rect">
            <a:avLst/>
          </a:prstGeom>
          <a:solidFill>
            <a:srgbClr val="B6C6EA"/>
          </a:solidFill>
          <a:ln/>
        </p:spPr>
      </p:sp>
      <p:sp>
        <p:nvSpPr>
          <p:cNvPr id="108" name="Shape 106"/>
          <p:cNvSpPr/>
          <p:nvPr/>
        </p:nvSpPr>
        <p:spPr>
          <a:xfrm>
            <a:off x="4869504" y="5099050"/>
            <a:ext cx="69850" cy="114300"/>
          </a:xfrm>
          <a:prstGeom prst="rect">
            <a:avLst/>
          </a:prstGeom>
          <a:solidFill>
            <a:srgbClr val="B0C1E9"/>
          </a:solidFill>
          <a:ln/>
        </p:spPr>
      </p:sp>
      <p:sp>
        <p:nvSpPr>
          <p:cNvPr id="109" name="Shape 107"/>
          <p:cNvSpPr/>
          <p:nvPr/>
        </p:nvSpPr>
        <p:spPr>
          <a:xfrm>
            <a:off x="4933004" y="5099050"/>
            <a:ext cx="69850" cy="114300"/>
          </a:xfrm>
          <a:prstGeom prst="rect">
            <a:avLst/>
          </a:prstGeom>
          <a:solidFill>
            <a:srgbClr val="A9BBE7"/>
          </a:solidFill>
          <a:ln/>
        </p:spPr>
      </p:sp>
      <p:sp>
        <p:nvSpPr>
          <p:cNvPr id="110" name="Shape 108"/>
          <p:cNvSpPr/>
          <p:nvPr/>
        </p:nvSpPr>
        <p:spPr>
          <a:xfrm>
            <a:off x="4996504" y="5099050"/>
            <a:ext cx="69850" cy="114300"/>
          </a:xfrm>
          <a:prstGeom prst="rect">
            <a:avLst/>
          </a:prstGeom>
          <a:solidFill>
            <a:srgbClr val="A1B6E5"/>
          </a:solidFill>
          <a:ln/>
        </p:spPr>
      </p:sp>
      <p:sp>
        <p:nvSpPr>
          <p:cNvPr id="111" name="Shape 109"/>
          <p:cNvSpPr/>
          <p:nvPr/>
        </p:nvSpPr>
        <p:spPr>
          <a:xfrm>
            <a:off x="5060004" y="5099050"/>
            <a:ext cx="69850" cy="114300"/>
          </a:xfrm>
          <a:prstGeom prst="rect">
            <a:avLst/>
          </a:prstGeom>
          <a:solidFill>
            <a:srgbClr val="9AB1E4"/>
          </a:solidFill>
          <a:ln/>
        </p:spPr>
      </p:sp>
      <p:sp>
        <p:nvSpPr>
          <p:cNvPr id="112" name="Shape 110"/>
          <p:cNvSpPr/>
          <p:nvPr/>
        </p:nvSpPr>
        <p:spPr>
          <a:xfrm>
            <a:off x="5123504" y="5099050"/>
            <a:ext cx="69850" cy="114300"/>
          </a:xfrm>
          <a:prstGeom prst="rect">
            <a:avLst/>
          </a:prstGeom>
          <a:solidFill>
            <a:srgbClr val="91ABE2"/>
          </a:solidFill>
          <a:ln/>
        </p:spPr>
      </p:sp>
      <p:sp>
        <p:nvSpPr>
          <p:cNvPr id="113" name="Shape 111"/>
          <p:cNvSpPr/>
          <p:nvPr/>
        </p:nvSpPr>
        <p:spPr>
          <a:xfrm>
            <a:off x="5187004" y="5099050"/>
            <a:ext cx="69850" cy="114300"/>
          </a:xfrm>
          <a:prstGeom prst="rect">
            <a:avLst/>
          </a:prstGeom>
          <a:solidFill>
            <a:srgbClr val="88A5E0"/>
          </a:solidFill>
          <a:ln/>
        </p:spPr>
      </p:sp>
      <p:sp>
        <p:nvSpPr>
          <p:cNvPr id="114" name="Shape 112"/>
          <p:cNvSpPr/>
          <p:nvPr/>
        </p:nvSpPr>
        <p:spPr>
          <a:xfrm>
            <a:off x="5250504" y="5099050"/>
            <a:ext cx="69850" cy="114300"/>
          </a:xfrm>
          <a:prstGeom prst="rect">
            <a:avLst/>
          </a:prstGeom>
          <a:solidFill>
            <a:srgbClr val="7E9EDF"/>
          </a:solidFill>
          <a:ln/>
        </p:spPr>
      </p:sp>
      <p:sp>
        <p:nvSpPr>
          <p:cNvPr id="115" name="Shape 113"/>
          <p:cNvSpPr/>
          <p:nvPr/>
        </p:nvSpPr>
        <p:spPr>
          <a:xfrm>
            <a:off x="5314004" y="5099050"/>
            <a:ext cx="69850" cy="114300"/>
          </a:xfrm>
          <a:prstGeom prst="rect">
            <a:avLst/>
          </a:prstGeom>
          <a:solidFill>
            <a:srgbClr val="7398DD"/>
          </a:solidFill>
          <a:ln/>
        </p:spPr>
      </p:sp>
      <p:sp>
        <p:nvSpPr>
          <p:cNvPr id="116" name="Shape 114"/>
          <p:cNvSpPr/>
          <p:nvPr/>
        </p:nvSpPr>
        <p:spPr>
          <a:xfrm>
            <a:off x="5377504" y="5099050"/>
            <a:ext cx="69850" cy="114300"/>
          </a:xfrm>
          <a:prstGeom prst="rect">
            <a:avLst/>
          </a:prstGeom>
          <a:solidFill>
            <a:srgbClr val="6791DB"/>
          </a:solidFill>
          <a:ln/>
        </p:spPr>
      </p:sp>
      <p:sp>
        <p:nvSpPr>
          <p:cNvPr id="117" name="Shape 115"/>
          <p:cNvSpPr/>
          <p:nvPr/>
        </p:nvSpPr>
        <p:spPr>
          <a:xfrm>
            <a:off x="5441004" y="5099050"/>
            <a:ext cx="69850" cy="114300"/>
          </a:xfrm>
          <a:prstGeom prst="rect">
            <a:avLst/>
          </a:prstGeom>
          <a:solidFill>
            <a:srgbClr val="5889DA"/>
          </a:solidFill>
          <a:ln/>
        </p:spPr>
      </p:sp>
      <p:sp>
        <p:nvSpPr>
          <p:cNvPr id="118" name="Shape 116"/>
          <p:cNvSpPr/>
          <p:nvPr/>
        </p:nvSpPr>
        <p:spPr>
          <a:xfrm>
            <a:off x="5504504" y="5099050"/>
            <a:ext cx="69850" cy="114300"/>
          </a:xfrm>
          <a:prstGeom prst="rect">
            <a:avLst/>
          </a:prstGeom>
          <a:solidFill>
            <a:srgbClr val="4681D8"/>
          </a:solidFill>
          <a:ln/>
        </p:spPr>
      </p:sp>
      <p:sp>
        <p:nvSpPr>
          <p:cNvPr id="119" name="Shape 117"/>
          <p:cNvSpPr/>
          <p:nvPr/>
        </p:nvSpPr>
        <p:spPr>
          <a:xfrm>
            <a:off x="5568004" y="5099050"/>
            <a:ext cx="69850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0" name="Text 118"/>
          <p:cNvSpPr/>
          <p:nvPr/>
        </p:nvSpPr>
        <p:spPr>
          <a:xfrm>
            <a:off x="4107504" y="5219700"/>
            <a:ext cx="762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32</a:t>
            </a:r>
            <a:endParaRPr lang="en-US" sz="850" dirty="0"/>
          </a:p>
        </p:txBody>
      </p:sp>
      <p:sp>
        <p:nvSpPr>
          <p:cNvPr id="121" name="Text 119"/>
          <p:cNvSpPr/>
          <p:nvPr/>
        </p:nvSpPr>
        <p:spPr>
          <a:xfrm>
            <a:off x="4869504" y="5219700"/>
            <a:ext cx="762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140</a:t>
            </a:r>
            <a:endParaRPr lang="en-US" sz="850" dirty="0"/>
          </a:p>
        </p:txBody>
      </p:sp>
      <p:sp>
        <p:nvSpPr>
          <p:cNvPr id="122" name="Shape 120"/>
          <p:cNvSpPr/>
          <p:nvPr/>
        </p:nvSpPr>
        <p:spPr>
          <a:xfrm>
            <a:off x="5758504" y="5099050"/>
            <a:ext cx="114300" cy="114300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23" name="Text 121"/>
          <p:cNvSpPr/>
          <p:nvPr/>
        </p:nvSpPr>
        <p:spPr>
          <a:xfrm>
            <a:off x="5898204" y="507365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data</a:t>
            </a:r>
            <a:endParaRPr lang="en-US" sz="8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Cascade — Support volume breakdown — April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141256" y="1803400"/>
            <a:ext cx="2886583" cy="190500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4" name="Text 2"/>
          <p:cNvSpPr/>
          <p:nvPr/>
        </p:nvSpPr>
        <p:spPr>
          <a:xfrm>
            <a:off x="3141256" y="1803400"/>
            <a:ext cx="288658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Contacts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163856" y="1803400"/>
            <a:ext cx="2886583" cy="190500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6" name="Text 4"/>
          <p:cNvSpPr/>
          <p:nvPr/>
        </p:nvSpPr>
        <p:spPr>
          <a:xfrm>
            <a:off x="6163856" y="1803400"/>
            <a:ext cx="288658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Incidents &amp; Service Requests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141256" y="2070100"/>
            <a:ext cx="1375283" cy="30480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Text 6"/>
          <p:cNvSpPr/>
          <p:nvPr/>
        </p:nvSpPr>
        <p:spPr>
          <a:xfrm>
            <a:off x="3166656" y="2618740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Total contacts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166656" y="3498850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4,986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652556" y="2070100"/>
            <a:ext cx="1375283" cy="282181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" name="Text 9"/>
          <p:cNvSpPr/>
          <p:nvPr/>
        </p:nvSpPr>
        <p:spPr>
          <a:xfrm>
            <a:off x="4677956" y="2578027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Answered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677956" y="3385757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4,616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4677956" y="3569907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(92.6%)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52556" y="4891915"/>
            <a:ext cx="1375283" cy="226185"/>
          </a:xfrm>
          <a:prstGeom prst="rect">
            <a:avLst/>
          </a:prstGeom>
          <a:solidFill>
            <a:srgbClr val="89878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677956" y="4891915"/>
            <a:ext cx="1324483" cy="2261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370 (7.4%)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584548" y="5130800"/>
            <a:ext cx="15113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Dropped contacts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6163856" y="2070100"/>
            <a:ext cx="1375283" cy="208151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8" name="Text 16"/>
          <p:cNvSpPr/>
          <p:nvPr/>
        </p:nvSpPr>
        <p:spPr>
          <a:xfrm>
            <a:off x="6189256" y="2444773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With a case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189256" y="3015608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3,405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6189256" y="3199758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(73.8%)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163856" y="4151616"/>
            <a:ext cx="1375283" cy="740298"/>
          </a:xfrm>
          <a:prstGeom prst="rect">
            <a:avLst/>
          </a:prstGeom>
          <a:solidFill>
            <a:srgbClr val="89878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189256" y="4350315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Without a case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189256" y="4521765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1,211 (26.2%)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7675156" y="2070100"/>
            <a:ext cx="1375283" cy="1641372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25" name="Text 23"/>
          <p:cNvSpPr/>
          <p:nvPr/>
        </p:nvSpPr>
        <p:spPr>
          <a:xfrm>
            <a:off x="7700556" y="2365547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Solved in support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700556" y="2795536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2,685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7700556" y="2979686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(78.9%)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675156" y="3711472"/>
            <a:ext cx="1375283" cy="440144"/>
          </a:xfrm>
          <a:prstGeom prst="rect">
            <a:avLst/>
          </a:prstGeom>
          <a:solidFill>
            <a:srgbClr val="89878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700556" y="3760094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Not solved in support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7700556" y="3931544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720 (21.1%)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3073248" y="5187950"/>
            <a:ext cx="6045200" cy="1397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Source: service desk logs, Apr 2026</a:t>
            </a:r>
            <a:endParaRPr lang="en-US" sz="8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Funnel — Sales pipeline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929228" y="1828800"/>
            <a:ext cx="5163820" cy="53848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" name="Text 2"/>
          <p:cNvSpPr/>
          <p:nvPr/>
        </p:nvSpPr>
        <p:spPr>
          <a:xfrm>
            <a:off x="3047848" y="2002790"/>
            <a:ext cx="8305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Leads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929228" y="2002790"/>
            <a:ext cx="51638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1,200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961992" y="2557780"/>
            <a:ext cx="3098292" cy="5384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" name="Text 5"/>
          <p:cNvSpPr/>
          <p:nvPr/>
        </p:nvSpPr>
        <p:spPr>
          <a:xfrm>
            <a:off x="3047848" y="2731770"/>
            <a:ext cx="8305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Qualified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961992" y="2731770"/>
            <a:ext cx="309829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720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003138" y="2367280"/>
            <a:ext cx="101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▾ 60.0%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5693533" y="3286760"/>
            <a:ext cx="1635210" cy="53848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1" name="Text 9"/>
          <p:cNvSpPr/>
          <p:nvPr/>
        </p:nvSpPr>
        <p:spPr>
          <a:xfrm>
            <a:off x="3047848" y="3460750"/>
            <a:ext cx="8305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Proposal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693533" y="3460750"/>
            <a:ext cx="163521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380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003138" y="3096260"/>
            <a:ext cx="101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▾ 52.8%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6102335" y="4015740"/>
            <a:ext cx="817605" cy="538480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15" name="Text 13"/>
          <p:cNvSpPr/>
          <p:nvPr/>
        </p:nvSpPr>
        <p:spPr>
          <a:xfrm>
            <a:off x="3047848" y="4189730"/>
            <a:ext cx="8305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Negotiation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102335" y="4189730"/>
            <a:ext cx="81760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190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003138" y="3825240"/>
            <a:ext cx="101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▾ 50.0%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6252947" y="4744720"/>
            <a:ext cx="516382" cy="538480"/>
          </a:xfrm>
          <a:prstGeom prst="rect">
            <a:avLst/>
          </a:prstGeom>
          <a:solidFill>
            <a:srgbClr val="4A3AA7"/>
          </a:solidFill>
          <a:ln/>
        </p:spPr>
      </p:sp>
      <p:sp>
        <p:nvSpPr>
          <p:cNvPr id="19" name="Text 17"/>
          <p:cNvSpPr/>
          <p:nvPr/>
        </p:nvSpPr>
        <p:spPr>
          <a:xfrm>
            <a:off x="3047848" y="4918710"/>
            <a:ext cx="8305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Won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252947" y="4918710"/>
            <a:ext cx="51638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003138" y="4554220"/>
            <a:ext cx="101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▾ 63.2%</a:t>
            </a:r>
            <a:endParaRPr lang="en-US" sz="8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Waffle — Share of revenue under subscription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0732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" name="Shape 2"/>
          <p:cNvSpPr/>
          <p:nvPr/>
        </p:nvSpPr>
        <p:spPr>
          <a:xfrm>
            <a:off x="34161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" name="Shape 3"/>
          <p:cNvSpPr/>
          <p:nvPr/>
        </p:nvSpPr>
        <p:spPr>
          <a:xfrm>
            <a:off x="37590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" name="Shape 4"/>
          <p:cNvSpPr/>
          <p:nvPr/>
        </p:nvSpPr>
        <p:spPr>
          <a:xfrm>
            <a:off x="41019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" name="Shape 5"/>
          <p:cNvSpPr/>
          <p:nvPr/>
        </p:nvSpPr>
        <p:spPr>
          <a:xfrm>
            <a:off x="44448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Shape 6"/>
          <p:cNvSpPr/>
          <p:nvPr/>
        </p:nvSpPr>
        <p:spPr>
          <a:xfrm>
            <a:off x="47877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" name="Shape 7"/>
          <p:cNvSpPr/>
          <p:nvPr/>
        </p:nvSpPr>
        <p:spPr>
          <a:xfrm>
            <a:off x="51306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Shape 8"/>
          <p:cNvSpPr/>
          <p:nvPr/>
        </p:nvSpPr>
        <p:spPr>
          <a:xfrm>
            <a:off x="54735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" name="Shape 9"/>
          <p:cNvSpPr/>
          <p:nvPr/>
        </p:nvSpPr>
        <p:spPr>
          <a:xfrm>
            <a:off x="58164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Shape 10"/>
          <p:cNvSpPr/>
          <p:nvPr/>
        </p:nvSpPr>
        <p:spPr>
          <a:xfrm>
            <a:off x="61593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Shape 11"/>
          <p:cNvSpPr/>
          <p:nvPr/>
        </p:nvSpPr>
        <p:spPr>
          <a:xfrm>
            <a:off x="30732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" name="Shape 12"/>
          <p:cNvSpPr/>
          <p:nvPr/>
        </p:nvSpPr>
        <p:spPr>
          <a:xfrm>
            <a:off x="34161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Shape 13"/>
          <p:cNvSpPr/>
          <p:nvPr/>
        </p:nvSpPr>
        <p:spPr>
          <a:xfrm>
            <a:off x="37590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Shape 14"/>
          <p:cNvSpPr/>
          <p:nvPr/>
        </p:nvSpPr>
        <p:spPr>
          <a:xfrm>
            <a:off x="41019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7" name="Shape 15"/>
          <p:cNvSpPr/>
          <p:nvPr/>
        </p:nvSpPr>
        <p:spPr>
          <a:xfrm>
            <a:off x="44448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Shape 16"/>
          <p:cNvSpPr/>
          <p:nvPr/>
        </p:nvSpPr>
        <p:spPr>
          <a:xfrm>
            <a:off x="47877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Shape 17"/>
          <p:cNvSpPr/>
          <p:nvPr/>
        </p:nvSpPr>
        <p:spPr>
          <a:xfrm>
            <a:off x="51306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Shape 18"/>
          <p:cNvSpPr/>
          <p:nvPr/>
        </p:nvSpPr>
        <p:spPr>
          <a:xfrm>
            <a:off x="54735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Shape 19"/>
          <p:cNvSpPr/>
          <p:nvPr/>
        </p:nvSpPr>
        <p:spPr>
          <a:xfrm>
            <a:off x="58164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Shape 20"/>
          <p:cNvSpPr/>
          <p:nvPr/>
        </p:nvSpPr>
        <p:spPr>
          <a:xfrm>
            <a:off x="61593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Shape 21"/>
          <p:cNvSpPr/>
          <p:nvPr/>
        </p:nvSpPr>
        <p:spPr>
          <a:xfrm>
            <a:off x="30732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4" name="Shape 22"/>
          <p:cNvSpPr/>
          <p:nvPr/>
        </p:nvSpPr>
        <p:spPr>
          <a:xfrm>
            <a:off x="34161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Shape 23"/>
          <p:cNvSpPr/>
          <p:nvPr/>
        </p:nvSpPr>
        <p:spPr>
          <a:xfrm>
            <a:off x="37590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6" name="Shape 24"/>
          <p:cNvSpPr/>
          <p:nvPr/>
        </p:nvSpPr>
        <p:spPr>
          <a:xfrm>
            <a:off x="41019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Shape 25"/>
          <p:cNvSpPr/>
          <p:nvPr/>
        </p:nvSpPr>
        <p:spPr>
          <a:xfrm>
            <a:off x="44448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8" name="Shape 26"/>
          <p:cNvSpPr/>
          <p:nvPr/>
        </p:nvSpPr>
        <p:spPr>
          <a:xfrm>
            <a:off x="47877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9" name="Shape 27"/>
          <p:cNvSpPr/>
          <p:nvPr/>
        </p:nvSpPr>
        <p:spPr>
          <a:xfrm>
            <a:off x="51306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Shape 28"/>
          <p:cNvSpPr/>
          <p:nvPr/>
        </p:nvSpPr>
        <p:spPr>
          <a:xfrm>
            <a:off x="54735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Shape 29"/>
          <p:cNvSpPr/>
          <p:nvPr/>
        </p:nvSpPr>
        <p:spPr>
          <a:xfrm>
            <a:off x="58164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2" name="Shape 30"/>
          <p:cNvSpPr/>
          <p:nvPr/>
        </p:nvSpPr>
        <p:spPr>
          <a:xfrm>
            <a:off x="61593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Shape 31"/>
          <p:cNvSpPr/>
          <p:nvPr/>
        </p:nvSpPr>
        <p:spPr>
          <a:xfrm>
            <a:off x="30732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4" name="Shape 32"/>
          <p:cNvSpPr/>
          <p:nvPr/>
        </p:nvSpPr>
        <p:spPr>
          <a:xfrm>
            <a:off x="34161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Shape 33"/>
          <p:cNvSpPr/>
          <p:nvPr/>
        </p:nvSpPr>
        <p:spPr>
          <a:xfrm>
            <a:off x="37590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6" name="Shape 34"/>
          <p:cNvSpPr/>
          <p:nvPr/>
        </p:nvSpPr>
        <p:spPr>
          <a:xfrm>
            <a:off x="41019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7" name="Shape 35"/>
          <p:cNvSpPr/>
          <p:nvPr/>
        </p:nvSpPr>
        <p:spPr>
          <a:xfrm>
            <a:off x="44448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8" name="Shape 36"/>
          <p:cNvSpPr/>
          <p:nvPr/>
        </p:nvSpPr>
        <p:spPr>
          <a:xfrm>
            <a:off x="47877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9" name="Shape 37"/>
          <p:cNvSpPr/>
          <p:nvPr/>
        </p:nvSpPr>
        <p:spPr>
          <a:xfrm>
            <a:off x="51306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0" name="Shape 38"/>
          <p:cNvSpPr/>
          <p:nvPr/>
        </p:nvSpPr>
        <p:spPr>
          <a:xfrm>
            <a:off x="54735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1" name="Shape 39"/>
          <p:cNvSpPr/>
          <p:nvPr/>
        </p:nvSpPr>
        <p:spPr>
          <a:xfrm>
            <a:off x="58164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2" name="Shape 40"/>
          <p:cNvSpPr/>
          <p:nvPr/>
        </p:nvSpPr>
        <p:spPr>
          <a:xfrm>
            <a:off x="61593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3" name="Shape 41"/>
          <p:cNvSpPr/>
          <p:nvPr/>
        </p:nvSpPr>
        <p:spPr>
          <a:xfrm>
            <a:off x="30732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4" name="Shape 42"/>
          <p:cNvSpPr/>
          <p:nvPr/>
        </p:nvSpPr>
        <p:spPr>
          <a:xfrm>
            <a:off x="34161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5" name="Shape 43"/>
          <p:cNvSpPr/>
          <p:nvPr/>
        </p:nvSpPr>
        <p:spPr>
          <a:xfrm>
            <a:off x="37590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6" name="Shape 44"/>
          <p:cNvSpPr/>
          <p:nvPr/>
        </p:nvSpPr>
        <p:spPr>
          <a:xfrm>
            <a:off x="41019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7" name="Shape 45"/>
          <p:cNvSpPr/>
          <p:nvPr/>
        </p:nvSpPr>
        <p:spPr>
          <a:xfrm>
            <a:off x="44448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8" name="Shape 46"/>
          <p:cNvSpPr/>
          <p:nvPr/>
        </p:nvSpPr>
        <p:spPr>
          <a:xfrm>
            <a:off x="47877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51306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0" name="Shape 48"/>
          <p:cNvSpPr/>
          <p:nvPr/>
        </p:nvSpPr>
        <p:spPr>
          <a:xfrm>
            <a:off x="54735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1" name="Shape 49"/>
          <p:cNvSpPr/>
          <p:nvPr/>
        </p:nvSpPr>
        <p:spPr>
          <a:xfrm>
            <a:off x="58164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2" name="Shape 50"/>
          <p:cNvSpPr/>
          <p:nvPr/>
        </p:nvSpPr>
        <p:spPr>
          <a:xfrm>
            <a:off x="61593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3" name="Shape 51"/>
          <p:cNvSpPr/>
          <p:nvPr/>
        </p:nvSpPr>
        <p:spPr>
          <a:xfrm>
            <a:off x="30732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4" name="Shape 52"/>
          <p:cNvSpPr/>
          <p:nvPr/>
        </p:nvSpPr>
        <p:spPr>
          <a:xfrm>
            <a:off x="34161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5" name="Shape 53"/>
          <p:cNvSpPr/>
          <p:nvPr/>
        </p:nvSpPr>
        <p:spPr>
          <a:xfrm>
            <a:off x="37590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6" name="Shape 54"/>
          <p:cNvSpPr/>
          <p:nvPr/>
        </p:nvSpPr>
        <p:spPr>
          <a:xfrm>
            <a:off x="41019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7" name="Shape 55"/>
          <p:cNvSpPr/>
          <p:nvPr/>
        </p:nvSpPr>
        <p:spPr>
          <a:xfrm>
            <a:off x="44448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8" name="Shape 56"/>
          <p:cNvSpPr/>
          <p:nvPr/>
        </p:nvSpPr>
        <p:spPr>
          <a:xfrm>
            <a:off x="47877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9" name="Shape 57"/>
          <p:cNvSpPr/>
          <p:nvPr/>
        </p:nvSpPr>
        <p:spPr>
          <a:xfrm>
            <a:off x="51306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0" name="Shape 58"/>
          <p:cNvSpPr/>
          <p:nvPr/>
        </p:nvSpPr>
        <p:spPr>
          <a:xfrm>
            <a:off x="54735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1" name="Shape 59"/>
          <p:cNvSpPr/>
          <p:nvPr/>
        </p:nvSpPr>
        <p:spPr>
          <a:xfrm>
            <a:off x="58164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2" name="Shape 60"/>
          <p:cNvSpPr/>
          <p:nvPr/>
        </p:nvSpPr>
        <p:spPr>
          <a:xfrm>
            <a:off x="61593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3" name="Shape 61"/>
          <p:cNvSpPr/>
          <p:nvPr/>
        </p:nvSpPr>
        <p:spPr>
          <a:xfrm>
            <a:off x="30732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4" name="Shape 62"/>
          <p:cNvSpPr/>
          <p:nvPr/>
        </p:nvSpPr>
        <p:spPr>
          <a:xfrm>
            <a:off x="34161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5" name="Shape 63"/>
          <p:cNvSpPr/>
          <p:nvPr/>
        </p:nvSpPr>
        <p:spPr>
          <a:xfrm>
            <a:off x="37590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6" name="Shape 64"/>
          <p:cNvSpPr/>
          <p:nvPr/>
        </p:nvSpPr>
        <p:spPr>
          <a:xfrm>
            <a:off x="41019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7" name="Shape 65"/>
          <p:cNvSpPr/>
          <p:nvPr/>
        </p:nvSpPr>
        <p:spPr>
          <a:xfrm>
            <a:off x="44448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8" name="Shape 66"/>
          <p:cNvSpPr/>
          <p:nvPr/>
        </p:nvSpPr>
        <p:spPr>
          <a:xfrm>
            <a:off x="47877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9" name="Shape 67"/>
          <p:cNvSpPr/>
          <p:nvPr/>
        </p:nvSpPr>
        <p:spPr>
          <a:xfrm>
            <a:off x="51306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0" name="Shape 68"/>
          <p:cNvSpPr/>
          <p:nvPr/>
        </p:nvSpPr>
        <p:spPr>
          <a:xfrm>
            <a:off x="54735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1" name="Shape 69"/>
          <p:cNvSpPr/>
          <p:nvPr/>
        </p:nvSpPr>
        <p:spPr>
          <a:xfrm>
            <a:off x="5816448" y="28829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2" name="Shape 70"/>
          <p:cNvSpPr/>
          <p:nvPr/>
        </p:nvSpPr>
        <p:spPr>
          <a:xfrm>
            <a:off x="6159348" y="28829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3" name="Shape 71"/>
          <p:cNvSpPr/>
          <p:nvPr/>
        </p:nvSpPr>
        <p:spPr>
          <a:xfrm>
            <a:off x="30732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4" name="Shape 72"/>
          <p:cNvSpPr/>
          <p:nvPr/>
        </p:nvSpPr>
        <p:spPr>
          <a:xfrm>
            <a:off x="34161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5" name="Shape 73"/>
          <p:cNvSpPr/>
          <p:nvPr/>
        </p:nvSpPr>
        <p:spPr>
          <a:xfrm>
            <a:off x="37590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6" name="Shape 74"/>
          <p:cNvSpPr/>
          <p:nvPr/>
        </p:nvSpPr>
        <p:spPr>
          <a:xfrm>
            <a:off x="41019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7" name="Shape 75"/>
          <p:cNvSpPr/>
          <p:nvPr/>
        </p:nvSpPr>
        <p:spPr>
          <a:xfrm>
            <a:off x="44448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8" name="Shape 76"/>
          <p:cNvSpPr/>
          <p:nvPr/>
        </p:nvSpPr>
        <p:spPr>
          <a:xfrm>
            <a:off x="47877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9" name="Shape 77"/>
          <p:cNvSpPr/>
          <p:nvPr/>
        </p:nvSpPr>
        <p:spPr>
          <a:xfrm>
            <a:off x="51306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0" name="Shape 78"/>
          <p:cNvSpPr/>
          <p:nvPr/>
        </p:nvSpPr>
        <p:spPr>
          <a:xfrm>
            <a:off x="54735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1" name="Shape 79"/>
          <p:cNvSpPr/>
          <p:nvPr/>
        </p:nvSpPr>
        <p:spPr>
          <a:xfrm>
            <a:off x="58164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2" name="Shape 80"/>
          <p:cNvSpPr/>
          <p:nvPr/>
        </p:nvSpPr>
        <p:spPr>
          <a:xfrm>
            <a:off x="61593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3" name="Shape 81"/>
          <p:cNvSpPr/>
          <p:nvPr/>
        </p:nvSpPr>
        <p:spPr>
          <a:xfrm>
            <a:off x="30732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4" name="Shape 82"/>
          <p:cNvSpPr/>
          <p:nvPr/>
        </p:nvSpPr>
        <p:spPr>
          <a:xfrm>
            <a:off x="34161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5" name="Shape 83"/>
          <p:cNvSpPr/>
          <p:nvPr/>
        </p:nvSpPr>
        <p:spPr>
          <a:xfrm>
            <a:off x="37590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6" name="Shape 84"/>
          <p:cNvSpPr/>
          <p:nvPr/>
        </p:nvSpPr>
        <p:spPr>
          <a:xfrm>
            <a:off x="41019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7" name="Shape 85"/>
          <p:cNvSpPr/>
          <p:nvPr/>
        </p:nvSpPr>
        <p:spPr>
          <a:xfrm>
            <a:off x="44448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8" name="Shape 86"/>
          <p:cNvSpPr/>
          <p:nvPr/>
        </p:nvSpPr>
        <p:spPr>
          <a:xfrm>
            <a:off x="47877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9" name="Shape 87"/>
          <p:cNvSpPr/>
          <p:nvPr/>
        </p:nvSpPr>
        <p:spPr>
          <a:xfrm>
            <a:off x="51306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0" name="Shape 88"/>
          <p:cNvSpPr/>
          <p:nvPr/>
        </p:nvSpPr>
        <p:spPr>
          <a:xfrm>
            <a:off x="54735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1" name="Shape 89"/>
          <p:cNvSpPr/>
          <p:nvPr/>
        </p:nvSpPr>
        <p:spPr>
          <a:xfrm>
            <a:off x="58164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2" name="Shape 90"/>
          <p:cNvSpPr/>
          <p:nvPr/>
        </p:nvSpPr>
        <p:spPr>
          <a:xfrm>
            <a:off x="61593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3" name="Shape 91"/>
          <p:cNvSpPr/>
          <p:nvPr/>
        </p:nvSpPr>
        <p:spPr>
          <a:xfrm>
            <a:off x="30732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4" name="Shape 92"/>
          <p:cNvSpPr/>
          <p:nvPr/>
        </p:nvSpPr>
        <p:spPr>
          <a:xfrm>
            <a:off x="34161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5" name="Shape 93"/>
          <p:cNvSpPr/>
          <p:nvPr/>
        </p:nvSpPr>
        <p:spPr>
          <a:xfrm>
            <a:off x="37590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6" name="Shape 94"/>
          <p:cNvSpPr/>
          <p:nvPr/>
        </p:nvSpPr>
        <p:spPr>
          <a:xfrm>
            <a:off x="41019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7" name="Shape 95"/>
          <p:cNvSpPr/>
          <p:nvPr/>
        </p:nvSpPr>
        <p:spPr>
          <a:xfrm>
            <a:off x="44448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8" name="Shape 96"/>
          <p:cNvSpPr/>
          <p:nvPr/>
        </p:nvSpPr>
        <p:spPr>
          <a:xfrm>
            <a:off x="47877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9" name="Shape 97"/>
          <p:cNvSpPr/>
          <p:nvPr/>
        </p:nvSpPr>
        <p:spPr>
          <a:xfrm>
            <a:off x="51306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0" name="Shape 98"/>
          <p:cNvSpPr/>
          <p:nvPr/>
        </p:nvSpPr>
        <p:spPr>
          <a:xfrm>
            <a:off x="54735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1" name="Shape 99"/>
          <p:cNvSpPr/>
          <p:nvPr/>
        </p:nvSpPr>
        <p:spPr>
          <a:xfrm>
            <a:off x="58164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2" name="Shape 100"/>
          <p:cNvSpPr/>
          <p:nvPr/>
        </p:nvSpPr>
        <p:spPr>
          <a:xfrm>
            <a:off x="61593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3" name="Text 101"/>
          <p:cNvSpPr/>
          <p:nvPr/>
        </p:nvSpPr>
        <p:spPr>
          <a:xfrm>
            <a:off x="6629248" y="3263900"/>
            <a:ext cx="2489200" cy="406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2A78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68%</a:t>
            </a:r>
            <a:endParaRPr lang="en-US" sz="2600" dirty="0"/>
          </a:p>
        </p:txBody>
      </p:sp>
      <p:sp>
        <p:nvSpPr>
          <p:cNvPr id="104" name="Text 102"/>
          <p:cNvSpPr/>
          <p:nvPr/>
        </p:nvSpPr>
        <p:spPr>
          <a:xfrm>
            <a:off x="6629248" y="3683000"/>
            <a:ext cx="2489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Subscription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Treemap — Revenue by product line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073248" y="1828800"/>
            <a:ext cx="2120900" cy="346710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111348" y="1854200"/>
            <a:ext cx="20574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3111348" y="2006600"/>
            <a:ext cx="20574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5206848" y="1828800"/>
            <a:ext cx="2476500" cy="1975757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244948" y="1854200"/>
            <a:ext cx="2413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Licenses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244948" y="2006600"/>
            <a:ext cx="2413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5206848" y="3817257"/>
            <a:ext cx="2476500" cy="1478643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244948" y="3842657"/>
            <a:ext cx="2413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Services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5244948" y="3995057"/>
            <a:ext cx="2413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7696048" y="1828800"/>
            <a:ext cx="1409700" cy="1727200"/>
          </a:xfrm>
          <a:prstGeom prst="rect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734148" y="1854200"/>
            <a:ext cx="13462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Hardware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7734148" y="2006600"/>
            <a:ext cx="13462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7696048" y="3568700"/>
            <a:ext cx="1409700" cy="1074738"/>
          </a:xfrm>
          <a:prstGeom prst="rect">
            <a:avLst/>
          </a:prstGeom>
          <a:solidFill>
            <a:srgbClr val="4A3AA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734148" y="3594100"/>
            <a:ext cx="13462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Support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7734148" y="3746500"/>
            <a:ext cx="13462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7696048" y="4656138"/>
            <a:ext cx="1409700" cy="639763"/>
          </a:xfrm>
          <a:prstGeom prst="rect">
            <a:avLst/>
          </a:prstGeom>
          <a:solidFill>
            <a:srgbClr val="E3494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734148" y="4681538"/>
            <a:ext cx="13462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Training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7734148" y="4833938"/>
            <a:ext cx="13462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Sunburst — Revenue by region and product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074768" y="2547620"/>
            <a:ext cx="2042160" cy="2042160"/>
          </a:xfrm>
          <a:custGeom>
            <a:avLst/>
            <a:gdLst/>
            <a:ahLst/>
            <a:cxnLst/>
            <a:rect l="l" t="t" r="r" b="b"/>
            <a:pathLst>
              <a:path w="2042160" h="2042160">
                <a:moveTo>
                  <a:pt x="1021080" y="0"/>
                </a:moveTo>
                <a:lnTo>
                  <a:pt x="1126551" y="5462"/>
                </a:lnTo>
                <a:lnTo>
                  <a:pt x="1230893" y="21789"/>
                </a:lnTo>
                <a:lnTo>
                  <a:pt x="1332991" y="48807"/>
                </a:lnTo>
                <a:lnTo>
                  <a:pt x="1431752" y="86226"/>
                </a:lnTo>
                <a:lnTo>
                  <a:pt x="1526120" y="133646"/>
                </a:lnTo>
                <a:lnTo>
                  <a:pt x="1615085" y="190560"/>
                </a:lnTo>
                <a:lnTo>
                  <a:pt x="1697694" y="256360"/>
                </a:lnTo>
                <a:lnTo>
                  <a:pt x="1773066" y="330340"/>
                </a:lnTo>
                <a:lnTo>
                  <a:pt x="1840392" y="411710"/>
                </a:lnTo>
                <a:lnTo>
                  <a:pt x="1898954" y="499599"/>
                </a:lnTo>
                <a:lnTo>
                  <a:pt x="1948123" y="593067"/>
                </a:lnTo>
                <a:lnTo>
                  <a:pt x="1987375" y="691114"/>
                </a:lnTo>
                <a:lnTo>
                  <a:pt x="2016290" y="792691"/>
                </a:lnTo>
                <a:lnTo>
                  <a:pt x="2034558" y="896712"/>
                </a:lnTo>
                <a:lnTo>
                  <a:pt x="2041983" y="1002062"/>
                </a:lnTo>
                <a:lnTo>
                  <a:pt x="2038486" y="1107617"/>
                </a:lnTo>
                <a:lnTo>
                  <a:pt x="2024106" y="1212245"/>
                </a:lnTo>
                <a:lnTo>
                  <a:pt x="1998994" y="1314829"/>
                </a:lnTo>
                <a:lnTo>
                  <a:pt x="1963421" y="1414270"/>
                </a:lnTo>
                <a:lnTo>
                  <a:pt x="1917766" y="1509504"/>
                </a:lnTo>
                <a:lnTo>
                  <a:pt x="1862519" y="1599513"/>
                </a:lnTo>
                <a:lnTo>
                  <a:pt x="1798270" y="1683334"/>
                </a:lnTo>
                <a:lnTo>
                  <a:pt x="1725706" y="1760070"/>
                </a:lnTo>
                <a:lnTo>
                  <a:pt x="1396880" y="1415208"/>
                </a:lnTo>
                <a:lnTo>
                  <a:pt x="1435581" y="1374282"/>
                </a:lnTo>
                <a:lnTo>
                  <a:pt x="1469847" y="1329578"/>
                </a:lnTo>
                <a:lnTo>
                  <a:pt x="1499313" y="1281573"/>
                </a:lnTo>
                <a:lnTo>
                  <a:pt x="1523662" y="1230781"/>
                </a:lnTo>
                <a:lnTo>
                  <a:pt x="1542634" y="1177746"/>
                </a:lnTo>
                <a:lnTo>
                  <a:pt x="1556027" y="1123035"/>
                </a:lnTo>
                <a:lnTo>
                  <a:pt x="1563697" y="1067233"/>
                </a:lnTo>
                <a:lnTo>
                  <a:pt x="1565562" y="1010937"/>
                </a:lnTo>
                <a:lnTo>
                  <a:pt x="1561601" y="954750"/>
                </a:lnTo>
                <a:lnTo>
                  <a:pt x="1551859" y="899273"/>
                </a:lnTo>
                <a:lnTo>
                  <a:pt x="1536438" y="845098"/>
                </a:lnTo>
                <a:lnTo>
                  <a:pt x="1515503" y="792807"/>
                </a:lnTo>
                <a:lnTo>
                  <a:pt x="1489279" y="742957"/>
                </a:lnTo>
                <a:lnTo>
                  <a:pt x="1458047" y="696083"/>
                </a:lnTo>
                <a:lnTo>
                  <a:pt x="1422139" y="652685"/>
                </a:lnTo>
                <a:lnTo>
                  <a:pt x="1381941" y="613229"/>
                </a:lnTo>
                <a:lnTo>
                  <a:pt x="1337882" y="578136"/>
                </a:lnTo>
                <a:lnTo>
                  <a:pt x="1290435" y="547782"/>
                </a:lnTo>
                <a:lnTo>
                  <a:pt x="1240105" y="522491"/>
                </a:lnTo>
                <a:lnTo>
                  <a:pt x="1187433" y="502534"/>
                </a:lnTo>
                <a:lnTo>
                  <a:pt x="1132980" y="488125"/>
                </a:lnTo>
                <a:lnTo>
                  <a:pt x="1077331" y="479417"/>
                </a:lnTo>
                <a:lnTo>
                  <a:pt x="1021080" y="476504"/>
                </a:lnTo>
                <a:close/>
              </a:path>
            </a:pathLst>
          </a:cu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680614" y="3188852"/>
            <a:ext cx="283972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1701800" y="0"/>
                </a:moveTo>
                <a:lnTo>
                  <a:pt x="1878222" y="9169"/>
                </a:lnTo>
                <a:lnTo>
                  <a:pt x="2052742" y="36578"/>
                </a:lnTo>
                <a:lnTo>
                  <a:pt x="2223481" y="81932"/>
                </a:lnTo>
                <a:lnTo>
                  <a:pt x="2388598" y="144741"/>
                </a:lnTo>
                <a:lnTo>
                  <a:pt x="2546315" y="224330"/>
                </a:lnTo>
                <a:lnTo>
                  <a:pt x="2694930" y="319839"/>
                </a:lnTo>
                <a:lnTo>
                  <a:pt x="2832844" y="430241"/>
                </a:lnTo>
                <a:lnTo>
                  <a:pt x="2958570" y="554345"/>
                </a:lnTo>
                <a:lnTo>
                  <a:pt x="3070752" y="690814"/>
                </a:lnTo>
                <a:lnTo>
                  <a:pt x="3168183" y="838177"/>
                </a:lnTo>
                <a:lnTo>
                  <a:pt x="3249812" y="994847"/>
                </a:lnTo>
                <a:lnTo>
                  <a:pt x="2630607" y="1277628"/>
                </a:lnTo>
                <a:lnTo>
                  <a:pt x="2581630" y="1183626"/>
                </a:lnTo>
                <a:lnTo>
                  <a:pt x="2523171" y="1095208"/>
                </a:lnTo>
                <a:lnTo>
                  <a:pt x="2455862" y="1013327"/>
                </a:lnTo>
                <a:lnTo>
                  <a:pt x="2380426" y="938864"/>
                </a:lnTo>
                <a:lnTo>
                  <a:pt x="2297678" y="872624"/>
                </a:lnTo>
                <a:lnTo>
                  <a:pt x="2208509" y="815318"/>
                </a:lnTo>
                <a:lnTo>
                  <a:pt x="2113879" y="767565"/>
                </a:lnTo>
                <a:lnTo>
                  <a:pt x="2014809" y="729879"/>
                </a:lnTo>
                <a:lnTo>
                  <a:pt x="1912365" y="702667"/>
                </a:lnTo>
                <a:lnTo>
                  <a:pt x="1807653" y="686222"/>
                </a:lnTo>
                <a:lnTo>
                  <a:pt x="1701800" y="680720"/>
                </a:lnTo>
                <a:close/>
              </a:path>
            </a:pathLst>
          </a:custGeom>
          <a:solidFill>
            <a:srgbClr val="7599D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063973" y="1973367"/>
            <a:ext cx="34226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3249812" y="994847"/>
                </a:moveTo>
                <a:lnTo>
                  <a:pt x="3310002" y="1145196"/>
                </a:lnTo>
                <a:lnTo>
                  <a:pt x="3355629" y="1300585"/>
                </a:lnTo>
                <a:lnTo>
                  <a:pt x="3386278" y="1459609"/>
                </a:lnTo>
                <a:lnTo>
                  <a:pt x="3401672" y="1620825"/>
                </a:lnTo>
                <a:lnTo>
                  <a:pt x="3401672" y="1782775"/>
                </a:lnTo>
                <a:lnTo>
                  <a:pt x="3386278" y="1943991"/>
                </a:lnTo>
                <a:lnTo>
                  <a:pt x="3355629" y="2103015"/>
                </a:lnTo>
                <a:lnTo>
                  <a:pt x="3310002" y="2258404"/>
                </a:lnTo>
                <a:lnTo>
                  <a:pt x="2666721" y="2035763"/>
                </a:lnTo>
                <a:lnTo>
                  <a:pt x="2694097" y="1942529"/>
                </a:lnTo>
                <a:lnTo>
                  <a:pt x="2712487" y="1847115"/>
                </a:lnTo>
                <a:lnTo>
                  <a:pt x="2721723" y="1750385"/>
                </a:lnTo>
                <a:lnTo>
                  <a:pt x="2721723" y="1653215"/>
                </a:lnTo>
                <a:lnTo>
                  <a:pt x="2712487" y="1556485"/>
                </a:lnTo>
                <a:lnTo>
                  <a:pt x="2694097" y="1461071"/>
                </a:lnTo>
                <a:lnTo>
                  <a:pt x="2666721" y="1367837"/>
                </a:lnTo>
                <a:lnTo>
                  <a:pt x="2630607" y="1277628"/>
                </a:lnTo>
                <a:close/>
              </a:path>
            </a:pathLst>
          </a:custGeom>
          <a:solidFill>
            <a:srgbClr val="94ADE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884519" y="3394595"/>
            <a:ext cx="51714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Licenses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3310002" y="2258404"/>
                </a:moveTo>
                <a:lnTo>
                  <a:pt x="3249812" y="2408753"/>
                </a:lnTo>
                <a:lnTo>
                  <a:pt x="3175602" y="2552700"/>
                </a:lnTo>
                <a:lnTo>
                  <a:pt x="3088045" y="2688941"/>
                </a:lnTo>
                <a:lnTo>
                  <a:pt x="2987935" y="2816242"/>
                </a:lnTo>
                <a:lnTo>
                  <a:pt x="2876176" y="2933451"/>
                </a:lnTo>
                <a:lnTo>
                  <a:pt x="2406426" y="2440790"/>
                </a:lnTo>
                <a:lnTo>
                  <a:pt x="2473481" y="2370465"/>
                </a:lnTo>
                <a:lnTo>
                  <a:pt x="2533547" y="2294085"/>
                </a:lnTo>
                <a:lnTo>
                  <a:pt x="2586081" y="2212340"/>
                </a:lnTo>
                <a:lnTo>
                  <a:pt x="2630607" y="2125972"/>
                </a:lnTo>
                <a:lnTo>
                  <a:pt x="2666721" y="2035763"/>
                </a:lnTo>
                <a:close/>
              </a:path>
            </a:pathLst>
          </a:custGeom>
          <a:solidFill>
            <a:srgbClr val="ACBEE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602280" y="4447926"/>
            <a:ext cx="51714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Services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5074768" y="2547620"/>
            <a:ext cx="2042160" cy="2042160"/>
          </a:xfrm>
          <a:custGeom>
            <a:avLst/>
            <a:gdLst/>
            <a:ahLst/>
            <a:cxnLst/>
            <a:rect l="l" t="t" r="r" b="b"/>
            <a:pathLst>
              <a:path w="2042160" h="2042160">
                <a:moveTo>
                  <a:pt x="1725706" y="1760070"/>
                </a:moveTo>
                <a:lnTo>
                  <a:pt x="1645883" y="1828685"/>
                </a:lnTo>
                <a:lnTo>
                  <a:pt x="1559419" y="1888718"/>
                </a:lnTo>
                <a:lnTo>
                  <a:pt x="1467235" y="1939530"/>
                </a:lnTo>
                <a:lnTo>
                  <a:pt x="1370310" y="1980581"/>
                </a:lnTo>
                <a:lnTo>
                  <a:pt x="1269673" y="2011436"/>
                </a:lnTo>
                <a:lnTo>
                  <a:pt x="1166395" y="2031767"/>
                </a:lnTo>
                <a:lnTo>
                  <a:pt x="1061572" y="2041357"/>
                </a:lnTo>
                <a:lnTo>
                  <a:pt x="956319" y="2040104"/>
                </a:lnTo>
                <a:lnTo>
                  <a:pt x="851754" y="2028022"/>
                </a:lnTo>
                <a:lnTo>
                  <a:pt x="748989" y="2005240"/>
                </a:lnTo>
                <a:lnTo>
                  <a:pt x="649115" y="1971999"/>
                </a:lnTo>
                <a:lnTo>
                  <a:pt x="553194" y="1928652"/>
                </a:lnTo>
                <a:lnTo>
                  <a:pt x="462245" y="1875661"/>
                </a:lnTo>
                <a:lnTo>
                  <a:pt x="377235" y="1813588"/>
                </a:lnTo>
                <a:lnTo>
                  <a:pt x="299067" y="1743093"/>
                </a:lnTo>
                <a:lnTo>
                  <a:pt x="228572" y="1664925"/>
                </a:lnTo>
                <a:lnTo>
                  <a:pt x="166499" y="1579915"/>
                </a:lnTo>
                <a:lnTo>
                  <a:pt x="113508" y="1488966"/>
                </a:lnTo>
                <a:lnTo>
                  <a:pt x="70161" y="1393045"/>
                </a:lnTo>
                <a:lnTo>
                  <a:pt x="36920" y="1293171"/>
                </a:lnTo>
                <a:lnTo>
                  <a:pt x="14138" y="1190406"/>
                </a:lnTo>
                <a:lnTo>
                  <a:pt x="2056" y="1085841"/>
                </a:lnTo>
                <a:lnTo>
                  <a:pt x="803" y="980588"/>
                </a:lnTo>
                <a:lnTo>
                  <a:pt x="10393" y="875765"/>
                </a:lnTo>
                <a:lnTo>
                  <a:pt x="482047" y="943579"/>
                </a:lnTo>
                <a:lnTo>
                  <a:pt x="476932" y="999484"/>
                </a:lnTo>
                <a:lnTo>
                  <a:pt x="477600" y="1055619"/>
                </a:lnTo>
                <a:lnTo>
                  <a:pt x="484044" y="1111387"/>
                </a:lnTo>
                <a:lnTo>
                  <a:pt x="496195" y="1166195"/>
                </a:lnTo>
                <a:lnTo>
                  <a:pt x="513923" y="1219461"/>
                </a:lnTo>
                <a:lnTo>
                  <a:pt x="537042" y="1270619"/>
                </a:lnTo>
                <a:lnTo>
                  <a:pt x="565304" y="1319125"/>
                </a:lnTo>
                <a:lnTo>
                  <a:pt x="598409" y="1364464"/>
                </a:lnTo>
                <a:lnTo>
                  <a:pt x="636007" y="1406153"/>
                </a:lnTo>
                <a:lnTo>
                  <a:pt x="677696" y="1443751"/>
                </a:lnTo>
                <a:lnTo>
                  <a:pt x="723035" y="1476856"/>
                </a:lnTo>
                <a:lnTo>
                  <a:pt x="771541" y="1505118"/>
                </a:lnTo>
                <a:lnTo>
                  <a:pt x="822699" y="1528237"/>
                </a:lnTo>
                <a:lnTo>
                  <a:pt x="875965" y="1545965"/>
                </a:lnTo>
                <a:lnTo>
                  <a:pt x="930773" y="1558116"/>
                </a:lnTo>
                <a:lnTo>
                  <a:pt x="986541" y="1564560"/>
                </a:lnTo>
                <a:lnTo>
                  <a:pt x="1042676" y="1565228"/>
                </a:lnTo>
                <a:lnTo>
                  <a:pt x="1098581" y="1560113"/>
                </a:lnTo>
                <a:lnTo>
                  <a:pt x="1153663" y="1549270"/>
                </a:lnTo>
                <a:lnTo>
                  <a:pt x="1207336" y="1532814"/>
                </a:lnTo>
                <a:lnTo>
                  <a:pt x="1259029" y="1510920"/>
                </a:lnTo>
                <a:lnTo>
                  <a:pt x="1308194" y="1483820"/>
                </a:lnTo>
                <a:lnTo>
                  <a:pt x="1354308" y="1451803"/>
                </a:lnTo>
                <a:lnTo>
                  <a:pt x="1396880" y="1415208"/>
                </a:lnTo>
                <a:close/>
              </a:path>
            </a:pathLst>
          </a:cu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78563" y="4175605"/>
            <a:ext cx="51714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2876176" y="2933451"/>
                </a:moveTo>
                <a:lnTo>
                  <a:pt x="2745272" y="3046155"/>
                </a:lnTo>
                <a:lnTo>
                  <a:pt x="2603617" y="3145008"/>
                </a:lnTo>
                <a:lnTo>
                  <a:pt x="2452670" y="3228993"/>
                </a:lnTo>
                <a:lnTo>
                  <a:pt x="2293987" y="3297243"/>
                </a:lnTo>
                <a:lnTo>
                  <a:pt x="2129204" y="3349055"/>
                </a:lnTo>
                <a:lnTo>
                  <a:pt x="1960016" y="3383896"/>
                </a:lnTo>
                <a:lnTo>
                  <a:pt x="1788169" y="3401407"/>
                </a:lnTo>
                <a:lnTo>
                  <a:pt x="1615431" y="3401407"/>
                </a:lnTo>
                <a:lnTo>
                  <a:pt x="1443584" y="3383896"/>
                </a:lnTo>
                <a:lnTo>
                  <a:pt x="1274396" y="3349055"/>
                </a:lnTo>
                <a:lnTo>
                  <a:pt x="1109613" y="3297243"/>
                </a:lnTo>
                <a:lnTo>
                  <a:pt x="950930" y="3228993"/>
                </a:lnTo>
                <a:lnTo>
                  <a:pt x="799983" y="3145008"/>
                </a:lnTo>
                <a:lnTo>
                  <a:pt x="658328" y="3046155"/>
                </a:lnTo>
                <a:lnTo>
                  <a:pt x="527424" y="2933451"/>
                </a:lnTo>
                <a:lnTo>
                  <a:pt x="997174" y="2440790"/>
                </a:lnTo>
                <a:lnTo>
                  <a:pt x="1075717" y="2508413"/>
                </a:lnTo>
                <a:lnTo>
                  <a:pt x="1160710" y="2567725"/>
                </a:lnTo>
                <a:lnTo>
                  <a:pt x="1251278" y="2618116"/>
                </a:lnTo>
                <a:lnTo>
                  <a:pt x="1346488" y="2659066"/>
                </a:lnTo>
                <a:lnTo>
                  <a:pt x="1445358" y="2690153"/>
                </a:lnTo>
                <a:lnTo>
                  <a:pt x="1546870" y="2711058"/>
                </a:lnTo>
                <a:lnTo>
                  <a:pt x="1649979" y="2721564"/>
                </a:lnTo>
                <a:lnTo>
                  <a:pt x="1753621" y="2721564"/>
                </a:lnTo>
                <a:lnTo>
                  <a:pt x="1856730" y="2711058"/>
                </a:lnTo>
                <a:lnTo>
                  <a:pt x="1958242" y="2690153"/>
                </a:lnTo>
                <a:lnTo>
                  <a:pt x="2057112" y="2659066"/>
                </a:lnTo>
                <a:lnTo>
                  <a:pt x="2152322" y="2618116"/>
                </a:lnTo>
                <a:lnTo>
                  <a:pt x="2242890" y="2567725"/>
                </a:lnTo>
                <a:lnTo>
                  <a:pt x="2327883" y="2508413"/>
                </a:lnTo>
                <a:lnTo>
                  <a:pt x="2406426" y="2440790"/>
                </a:lnTo>
                <a:close/>
              </a:path>
            </a:pathLst>
          </a:custGeom>
          <a:solidFill>
            <a:srgbClr val="72BF9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753583" y="5270500"/>
            <a:ext cx="34226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527424" y="2933451"/>
                </a:moveTo>
                <a:lnTo>
                  <a:pt x="415665" y="2816242"/>
                </a:lnTo>
                <a:lnTo>
                  <a:pt x="315555" y="2688941"/>
                </a:lnTo>
                <a:lnTo>
                  <a:pt x="227998" y="2552700"/>
                </a:lnTo>
                <a:lnTo>
                  <a:pt x="153788" y="2408753"/>
                </a:lnTo>
                <a:lnTo>
                  <a:pt x="93598" y="2258404"/>
                </a:lnTo>
                <a:lnTo>
                  <a:pt x="47971" y="2103015"/>
                </a:lnTo>
                <a:lnTo>
                  <a:pt x="17322" y="1943991"/>
                </a:lnTo>
                <a:lnTo>
                  <a:pt x="1928" y="1782775"/>
                </a:lnTo>
                <a:lnTo>
                  <a:pt x="1928" y="1620825"/>
                </a:lnTo>
                <a:lnTo>
                  <a:pt x="17322" y="1459609"/>
                </a:lnTo>
                <a:lnTo>
                  <a:pt x="691113" y="1556485"/>
                </a:lnTo>
                <a:lnTo>
                  <a:pt x="681877" y="1653215"/>
                </a:lnTo>
                <a:lnTo>
                  <a:pt x="681877" y="1750385"/>
                </a:lnTo>
                <a:lnTo>
                  <a:pt x="691113" y="1847115"/>
                </a:lnTo>
                <a:lnTo>
                  <a:pt x="709503" y="1942529"/>
                </a:lnTo>
                <a:lnTo>
                  <a:pt x="736879" y="2035763"/>
                </a:lnTo>
                <a:lnTo>
                  <a:pt x="772993" y="2125972"/>
                </a:lnTo>
                <a:lnTo>
                  <a:pt x="817519" y="2212340"/>
                </a:lnTo>
                <a:lnTo>
                  <a:pt x="870053" y="2294085"/>
                </a:lnTo>
                <a:lnTo>
                  <a:pt x="930119" y="2370465"/>
                </a:lnTo>
                <a:lnTo>
                  <a:pt x="997174" y="2440790"/>
                </a:lnTo>
                <a:close/>
              </a:path>
            </a:pathLst>
          </a:custGeom>
          <a:solidFill>
            <a:srgbClr val="92CAA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886491" y="4065481"/>
            <a:ext cx="51714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Licenses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5074768" y="2547620"/>
            <a:ext cx="2042160" cy="2042160"/>
          </a:xfrm>
          <a:custGeom>
            <a:avLst/>
            <a:gdLst/>
            <a:ahLst/>
            <a:cxnLst/>
            <a:rect l="l" t="t" r="r" b="b"/>
            <a:pathLst>
              <a:path w="2042160" h="2042160">
                <a:moveTo>
                  <a:pt x="10393" y="875765"/>
                </a:moveTo>
                <a:lnTo>
                  <a:pt x="30443" y="773609"/>
                </a:lnTo>
                <a:lnTo>
                  <a:pt x="60790" y="674026"/>
                </a:lnTo>
                <a:lnTo>
                  <a:pt x="101119" y="578050"/>
                </a:lnTo>
                <a:lnTo>
                  <a:pt x="151011" y="486679"/>
                </a:lnTo>
                <a:lnTo>
                  <a:pt x="209947" y="400864"/>
                </a:lnTo>
                <a:lnTo>
                  <a:pt x="277315" y="321495"/>
                </a:lnTo>
                <a:lnTo>
                  <a:pt x="352415" y="249399"/>
                </a:lnTo>
                <a:lnTo>
                  <a:pt x="434465" y="185325"/>
                </a:lnTo>
                <a:lnTo>
                  <a:pt x="522613" y="129937"/>
                </a:lnTo>
                <a:lnTo>
                  <a:pt x="615943" y="83814"/>
                </a:lnTo>
                <a:lnTo>
                  <a:pt x="713484" y="47433"/>
                </a:lnTo>
                <a:lnTo>
                  <a:pt x="814222" y="21173"/>
                </a:lnTo>
                <a:lnTo>
                  <a:pt x="917111" y="5307"/>
                </a:lnTo>
                <a:lnTo>
                  <a:pt x="1021080" y="0"/>
                </a:lnTo>
                <a:lnTo>
                  <a:pt x="1021080" y="476504"/>
                </a:lnTo>
                <a:lnTo>
                  <a:pt x="965630" y="479334"/>
                </a:lnTo>
                <a:lnTo>
                  <a:pt x="910756" y="487796"/>
                </a:lnTo>
                <a:lnTo>
                  <a:pt x="857029" y="501802"/>
                </a:lnTo>
                <a:lnTo>
                  <a:pt x="805007" y="521205"/>
                </a:lnTo>
                <a:lnTo>
                  <a:pt x="755231" y="545804"/>
                </a:lnTo>
                <a:lnTo>
                  <a:pt x="708219" y="575344"/>
                </a:lnTo>
                <a:lnTo>
                  <a:pt x="664459" y="609517"/>
                </a:lnTo>
                <a:lnTo>
                  <a:pt x="624406" y="647968"/>
                </a:lnTo>
                <a:lnTo>
                  <a:pt x="588476" y="690298"/>
                </a:lnTo>
                <a:lnTo>
                  <a:pt x="557043" y="736066"/>
                </a:lnTo>
                <a:lnTo>
                  <a:pt x="530434" y="784797"/>
                </a:lnTo>
                <a:lnTo>
                  <a:pt x="508925" y="835984"/>
                </a:lnTo>
                <a:lnTo>
                  <a:pt x="492740" y="889096"/>
                </a:lnTo>
                <a:lnTo>
                  <a:pt x="482047" y="943579"/>
                </a:lnTo>
                <a:close/>
              </a:path>
            </a:pathLst>
          </a:cu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41218" y="2888178"/>
            <a:ext cx="283972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17322" y="1459609"/>
                </a:moveTo>
                <a:lnTo>
                  <a:pt x="47971" y="1300585"/>
                </a:lnTo>
                <a:lnTo>
                  <a:pt x="93598" y="1145196"/>
                </a:lnTo>
                <a:lnTo>
                  <a:pt x="153788" y="994847"/>
                </a:lnTo>
                <a:lnTo>
                  <a:pt x="227998" y="850900"/>
                </a:lnTo>
                <a:lnTo>
                  <a:pt x="315555" y="714659"/>
                </a:lnTo>
                <a:lnTo>
                  <a:pt x="415665" y="587358"/>
                </a:lnTo>
                <a:lnTo>
                  <a:pt x="527424" y="470149"/>
                </a:lnTo>
                <a:lnTo>
                  <a:pt x="649817" y="364095"/>
                </a:lnTo>
                <a:lnTo>
                  <a:pt x="781737" y="270155"/>
                </a:lnTo>
                <a:lnTo>
                  <a:pt x="1149762" y="842813"/>
                </a:lnTo>
                <a:lnTo>
                  <a:pt x="1070610" y="899177"/>
                </a:lnTo>
                <a:lnTo>
                  <a:pt x="997174" y="962810"/>
                </a:lnTo>
                <a:lnTo>
                  <a:pt x="930119" y="1033135"/>
                </a:lnTo>
                <a:lnTo>
                  <a:pt x="870053" y="1109515"/>
                </a:lnTo>
                <a:lnTo>
                  <a:pt x="817519" y="1191260"/>
                </a:lnTo>
                <a:lnTo>
                  <a:pt x="772993" y="1277628"/>
                </a:lnTo>
                <a:lnTo>
                  <a:pt x="736879" y="1367837"/>
                </a:lnTo>
                <a:lnTo>
                  <a:pt x="709503" y="1461071"/>
                </a:lnTo>
                <a:lnTo>
                  <a:pt x="691113" y="1556485"/>
                </a:lnTo>
                <a:close/>
              </a:path>
            </a:pathLst>
          </a:custGeom>
          <a:solidFill>
            <a:srgbClr val="F0B56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247150" y="2511674"/>
            <a:ext cx="34226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781737" y="270155"/>
                </a:moveTo>
                <a:lnTo>
                  <a:pt x="921990" y="189180"/>
                </a:lnTo>
                <a:lnTo>
                  <a:pt x="1069305" y="121903"/>
                </a:lnTo>
                <a:lnTo>
                  <a:pt x="1222348" y="68935"/>
                </a:lnTo>
                <a:lnTo>
                  <a:pt x="1379732" y="30754"/>
                </a:lnTo>
                <a:lnTo>
                  <a:pt x="1540034" y="7706"/>
                </a:lnTo>
                <a:lnTo>
                  <a:pt x="1701800" y="0"/>
                </a:lnTo>
                <a:lnTo>
                  <a:pt x="1701800" y="680720"/>
                </a:lnTo>
                <a:lnTo>
                  <a:pt x="1604740" y="685344"/>
                </a:lnTo>
                <a:lnTo>
                  <a:pt x="1508559" y="699172"/>
                </a:lnTo>
                <a:lnTo>
                  <a:pt x="1414129" y="722081"/>
                </a:lnTo>
                <a:lnTo>
                  <a:pt x="1322303" y="753862"/>
                </a:lnTo>
                <a:lnTo>
                  <a:pt x="1233914" y="794228"/>
                </a:lnTo>
                <a:lnTo>
                  <a:pt x="1149762" y="842813"/>
                </a:lnTo>
                <a:close/>
              </a:path>
            </a:pathLst>
          </a:custGeom>
          <a:solidFill>
            <a:srgbClr val="F2C29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074205" y="1761636"/>
            <a:ext cx="51714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Hardware</a:t>
            </a:r>
            <a:endParaRPr lang="en-US" sz="8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Violin — Response time distribution (ms)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2006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API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079848" y="5143500"/>
            <a:ext cx="2006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Web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086448" y="5143500"/>
            <a:ext cx="2006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Batch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233776" y="4411980"/>
            <a:ext cx="1685544" cy="266700"/>
          </a:xfrm>
          <a:custGeom>
            <a:avLst/>
            <a:gdLst/>
            <a:ahLst/>
            <a:cxnLst/>
            <a:rect l="l" t="t" r="r" b="b"/>
            <a:pathLst>
              <a:path w="1685544" h="266700">
                <a:moveTo>
                  <a:pt x="1033777" y="266700"/>
                </a:moveTo>
                <a:lnTo>
                  <a:pt x="1070442" y="260032"/>
                </a:lnTo>
                <a:lnTo>
                  <a:pt x="1110864" y="253365"/>
                </a:lnTo>
                <a:lnTo>
                  <a:pt x="1154707" y="246697"/>
                </a:lnTo>
                <a:lnTo>
                  <a:pt x="1201478" y="240030"/>
                </a:lnTo>
                <a:lnTo>
                  <a:pt x="1250533" y="233362"/>
                </a:lnTo>
                <a:lnTo>
                  <a:pt x="1301085" y="226695"/>
                </a:lnTo>
                <a:lnTo>
                  <a:pt x="1352233" y="220027"/>
                </a:lnTo>
                <a:lnTo>
                  <a:pt x="1402991" y="213360"/>
                </a:lnTo>
                <a:lnTo>
                  <a:pt x="1452321" y="206693"/>
                </a:lnTo>
                <a:lnTo>
                  <a:pt x="1499178" y="200025"/>
                </a:lnTo>
                <a:lnTo>
                  <a:pt x="1542545" y="193357"/>
                </a:lnTo>
                <a:lnTo>
                  <a:pt x="1581477" y="186690"/>
                </a:lnTo>
                <a:lnTo>
                  <a:pt x="1615135" y="180022"/>
                </a:lnTo>
                <a:lnTo>
                  <a:pt x="1642818" y="173355"/>
                </a:lnTo>
                <a:lnTo>
                  <a:pt x="1663980" y="166687"/>
                </a:lnTo>
                <a:lnTo>
                  <a:pt x="1678251" y="160020"/>
                </a:lnTo>
                <a:lnTo>
                  <a:pt x="1685443" y="153352"/>
                </a:lnTo>
                <a:lnTo>
                  <a:pt x="1685544" y="146685"/>
                </a:lnTo>
                <a:lnTo>
                  <a:pt x="1678717" y="140018"/>
                </a:lnTo>
                <a:lnTo>
                  <a:pt x="1665279" y="133350"/>
                </a:lnTo>
                <a:lnTo>
                  <a:pt x="1645686" y="126682"/>
                </a:lnTo>
                <a:lnTo>
                  <a:pt x="1620508" y="120015"/>
                </a:lnTo>
                <a:lnTo>
                  <a:pt x="1590404" y="113347"/>
                </a:lnTo>
                <a:lnTo>
                  <a:pt x="1556094" y="106680"/>
                </a:lnTo>
                <a:lnTo>
                  <a:pt x="1518338" y="100013"/>
                </a:lnTo>
                <a:lnTo>
                  <a:pt x="1477903" y="93345"/>
                </a:lnTo>
                <a:lnTo>
                  <a:pt x="1435549" y="86677"/>
                </a:lnTo>
                <a:lnTo>
                  <a:pt x="1392006" y="80010"/>
                </a:lnTo>
                <a:lnTo>
                  <a:pt x="1347960" y="73343"/>
                </a:lnTo>
                <a:lnTo>
                  <a:pt x="1304039" y="66675"/>
                </a:lnTo>
                <a:lnTo>
                  <a:pt x="1260809" y="60007"/>
                </a:lnTo>
                <a:lnTo>
                  <a:pt x="1218766" y="53340"/>
                </a:lnTo>
                <a:lnTo>
                  <a:pt x="1178333" y="46672"/>
                </a:lnTo>
                <a:lnTo>
                  <a:pt x="1139866" y="40005"/>
                </a:lnTo>
                <a:lnTo>
                  <a:pt x="1103650" y="33337"/>
                </a:lnTo>
                <a:lnTo>
                  <a:pt x="1069902" y="26670"/>
                </a:lnTo>
                <a:lnTo>
                  <a:pt x="1038777" y="20002"/>
                </a:lnTo>
                <a:lnTo>
                  <a:pt x="1010369" y="13335"/>
                </a:lnTo>
                <a:lnTo>
                  <a:pt x="984716" y="6668"/>
                </a:lnTo>
                <a:lnTo>
                  <a:pt x="961801" y="0"/>
                </a:lnTo>
                <a:lnTo>
                  <a:pt x="723743" y="0"/>
                </a:lnTo>
                <a:lnTo>
                  <a:pt x="700828" y="6668"/>
                </a:lnTo>
                <a:lnTo>
                  <a:pt x="675175" y="13335"/>
                </a:lnTo>
                <a:lnTo>
                  <a:pt x="646767" y="20002"/>
                </a:lnTo>
                <a:lnTo>
                  <a:pt x="615642" y="26670"/>
                </a:lnTo>
                <a:lnTo>
                  <a:pt x="581894" y="33337"/>
                </a:lnTo>
                <a:lnTo>
                  <a:pt x="545678" y="40005"/>
                </a:lnTo>
                <a:lnTo>
                  <a:pt x="507211" y="46672"/>
                </a:lnTo>
                <a:lnTo>
                  <a:pt x="466778" y="53340"/>
                </a:lnTo>
                <a:lnTo>
                  <a:pt x="424735" y="60007"/>
                </a:lnTo>
                <a:lnTo>
                  <a:pt x="381505" y="66675"/>
                </a:lnTo>
                <a:lnTo>
                  <a:pt x="337584" y="73343"/>
                </a:lnTo>
                <a:lnTo>
                  <a:pt x="293538" y="80010"/>
                </a:lnTo>
                <a:lnTo>
                  <a:pt x="249995" y="86677"/>
                </a:lnTo>
                <a:lnTo>
                  <a:pt x="207641" y="93345"/>
                </a:lnTo>
                <a:lnTo>
                  <a:pt x="167206" y="100013"/>
                </a:lnTo>
                <a:lnTo>
                  <a:pt x="129450" y="106680"/>
                </a:lnTo>
                <a:lnTo>
                  <a:pt x="95140" y="113347"/>
                </a:lnTo>
                <a:lnTo>
                  <a:pt x="65036" y="120015"/>
                </a:lnTo>
                <a:lnTo>
                  <a:pt x="39858" y="126682"/>
                </a:lnTo>
                <a:lnTo>
                  <a:pt x="20265" y="133350"/>
                </a:lnTo>
                <a:lnTo>
                  <a:pt x="6827" y="140018"/>
                </a:lnTo>
                <a:lnTo>
                  <a:pt x="0" y="146685"/>
                </a:lnTo>
                <a:lnTo>
                  <a:pt x="101" y="153352"/>
                </a:lnTo>
                <a:lnTo>
                  <a:pt x="7293" y="160020"/>
                </a:lnTo>
                <a:lnTo>
                  <a:pt x="21564" y="166687"/>
                </a:lnTo>
                <a:lnTo>
                  <a:pt x="42726" y="173355"/>
                </a:lnTo>
                <a:lnTo>
                  <a:pt x="70409" y="180022"/>
                </a:lnTo>
                <a:lnTo>
                  <a:pt x="104067" y="186690"/>
                </a:lnTo>
                <a:lnTo>
                  <a:pt x="142999" y="193357"/>
                </a:lnTo>
                <a:lnTo>
                  <a:pt x="186366" y="200025"/>
                </a:lnTo>
                <a:lnTo>
                  <a:pt x="233223" y="206693"/>
                </a:lnTo>
                <a:lnTo>
                  <a:pt x="282553" y="213360"/>
                </a:lnTo>
                <a:lnTo>
                  <a:pt x="333311" y="220027"/>
                </a:lnTo>
                <a:lnTo>
                  <a:pt x="384459" y="226695"/>
                </a:lnTo>
                <a:lnTo>
                  <a:pt x="435011" y="233362"/>
                </a:lnTo>
                <a:lnTo>
                  <a:pt x="484066" y="240030"/>
                </a:lnTo>
                <a:lnTo>
                  <a:pt x="530837" y="246697"/>
                </a:lnTo>
                <a:lnTo>
                  <a:pt x="574680" y="253365"/>
                </a:lnTo>
                <a:lnTo>
                  <a:pt x="615102" y="260032"/>
                </a:lnTo>
                <a:lnTo>
                  <a:pt x="651767" y="266700"/>
                </a:lnTo>
                <a:close/>
              </a:path>
            </a:pathLst>
          </a:custGeom>
          <a:solidFill>
            <a:srgbClr val="D8DFF3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781577" y="4559332"/>
            <a:ext cx="589940" cy="0"/>
          </a:xfrm>
          <a:prstGeom prst="line">
            <a:avLst/>
          </a:prstGeom>
          <a:noFill/>
          <a:ln w="22225">
            <a:solidFill>
              <a:srgbClr val="0B0B0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240376" y="4007187"/>
            <a:ext cx="1685544" cy="396200"/>
          </a:xfrm>
          <a:custGeom>
            <a:avLst/>
            <a:gdLst/>
            <a:ahLst/>
            <a:cxnLst/>
            <a:rect l="l" t="t" r="r" b="b"/>
            <a:pathLst>
              <a:path w="1685544" h="396200">
                <a:moveTo>
                  <a:pt x="1014916" y="396200"/>
                </a:moveTo>
                <a:lnTo>
                  <a:pt x="1059531" y="386295"/>
                </a:lnTo>
                <a:lnTo>
                  <a:pt x="1110209" y="376390"/>
                </a:lnTo>
                <a:lnTo>
                  <a:pt x="1166302" y="366485"/>
                </a:lnTo>
                <a:lnTo>
                  <a:pt x="1226780" y="356580"/>
                </a:lnTo>
                <a:lnTo>
                  <a:pt x="1290238" y="346675"/>
                </a:lnTo>
                <a:lnTo>
                  <a:pt x="1354950" y="336770"/>
                </a:lnTo>
                <a:lnTo>
                  <a:pt x="1418936" y="326865"/>
                </a:lnTo>
                <a:lnTo>
                  <a:pt x="1480073" y="316960"/>
                </a:lnTo>
                <a:lnTo>
                  <a:pt x="1536219" y="307055"/>
                </a:lnTo>
                <a:lnTo>
                  <a:pt x="1585373" y="297150"/>
                </a:lnTo>
                <a:lnTo>
                  <a:pt x="1625829" y="287245"/>
                </a:lnTo>
                <a:lnTo>
                  <a:pt x="1656339" y="277340"/>
                </a:lnTo>
                <a:lnTo>
                  <a:pt x="1676240" y="267435"/>
                </a:lnTo>
                <a:lnTo>
                  <a:pt x="1685544" y="257530"/>
                </a:lnTo>
                <a:lnTo>
                  <a:pt x="1684948" y="247625"/>
                </a:lnTo>
                <a:lnTo>
                  <a:pt x="1675779" y="237720"/>
                </a:lnTo>
                <a:lnTo>
                  <a:pt x="1659845" y="227815"/>
                </a:lnTo>
                <a:lnTo>
                  <a:pt x="1639236" y="217910"/>
                </a:lnTo>
                <a:lnTo>
                  <a:pt x="1616068" y="208005"/>
                </a:lnTo>
                <a:lnTo>
                  <a:pt x="1592246" y="198100"/>
                </a:lnTo>
                <a:lnTo>
                  <a:pt x="1569247" y="188195"/>
                </a:lnTo>
                <a:lnTo>
                  <a:pt x="1547981" y="178290"/>
                </a:lnTo>
                <a:lnTo>
                  <a:pt x="1528744" y="168385"/>
                </a:lnTo>
                <a:lnTo>
                  <a:pt x="1511249" y="158480"/>
                </a:lnTo>
                <a:lnTo>
                  <a:pt x="1494746" y="148575"/>
                </a:lnTo>
                <a:lnTo>
                  <a:pt x="1478184" y="138670"/>
                </a:lnTo>
                <a:lnTo>
                  <a:pt x="1460396" y="128765"/>
                </a:lnTo>
                <a:lnTo>
                  <a:pt x="1440269" y="118860"/>
                </a:lnTo>
                <a:lnTo>
                  <a:pt x="1416889" y="108955"/>
                </a:lnTo>
                <a:lnTo>
                  <a:pt x="1389639" y="99050"/>
                </a:lnTo>
                <a:lnTo>
                  <a:pt x="1358252" y="89145"/>
                </a:lnTo>
                <a:lnTo>
                  <a:pt x="1322833" y="79240"/>
                </a:lnTo>
                <a:lnTo>
                  <a:pt x="1283834" y="69335"/>
                </a:lnTo>
                <a:lnTo>
                  <a:pt x="1242014" y="59430"/>
                </a:lnTo>
                <a:lnTo>
                  <a:pt x="1198367" y="49525"/>
                </a:lnTo>
                <a:lnTo>
                  <a:pt x="1154046" y="39620"/>
                </a:lnTo>
                <a:lnTo>
                  <a:pt x="1110263" y="29715"/>
                </a:lnTo>
                <a:lnTo>
                  <a:pt x="1068192" y="19810"/>
                </a:lnTo>
                <a:lnTo>
                  <a:pt x="1028879" y="9905"/>
                </a:lnTo>
                <a:lnTo>
                  <a:pt x="993161" y="0"/>
                </a:lnTo>
                <a:lnTo>
                  <a:pt x="692383" y="0"/>
                </a:lnTo>
                <a:lnTo>
                  <a:pt x="656665" y="9905"/>
                </a:lnTo>
                <a:lnTo>
                  <a:pt x="617352" y="19810"/>
                </a:lnTo>
                <a:lnTo>
                  <a:pt x="575281" y="29715"/>
                </a:lnTo>
                <a:lnTo>
                  <a:pt x="531498" y="39620"/>
                </a:lnTo>
                <a:lnTo>
                  <a:pt x="487177" y="49525"/>
                </a:lnTo>
                <a:lnTo>
                  <a:pt x="443530" y="59430"/>
                </a:lnTo>
                <a:lnTo>
                  <a:pt x="401710" y="69335"/>
                </a:lnTo>
                <a:lnTo>
                  <a:pt x="362711" y="79240"/>
                </a:lnTo>
                <a:lnTo>
                  <a:pt x="327292" y="89145"/>
                </a:lnTo>
                <a:lnTo>
                  <a:pt x="295905" y="99050"/>
                </a:lnTo>
                <a:lnTo>
                  <a:pt x="268655" y="108955"/>
                </a:lnTo>
                <a:lnTo>
                  <a:pt x="245275" y="118860"/>
                </a:lnTo>
                <a:lnTo>
                  <a:pt x="225148" y="128765"/>
                </a:lnTo>
                <a:lnTo>
                  <a:pt x="207360" y="138670"/>
                </a:lnTo>
                <a:lnTo>
                  <a:pt x="190798" y="148575"/>
                </a:lnTo>
                <a:lnTo>
                  <a:pt x="174295" y="158480"/>
                </a:lnTo>
                <a:lnTo>
                  <a:pt x="156800" y="168385"/>
                </a:lnTo>
                <a:lnTo>
                  <a:pt x="137563" y="178290"/>
                </a:lnTo>
                <a:lnTo>
                  <a:pt x="116297" y="188195"/>
                </a:lnTo>
                <a:lnTo>
                  <a:pt x="93298" y="198100"/>
                </a:lnTo>
                <a:lnTo>
                  <a:pt x="69476" y="208005"/>
                </a:lnTo>
                <a:lnTo>
                  <a:pt x="46308" y="217910"/>
                </a:lnTo>
                <a:lnTo>
                  <a:pt x="25699" y="227815"/>
                </a:lnTo>
                <a:lnTo>
                  <a:pt x="9765" y="237720"/>
                </a:lnTo>
                <a:lnTo>
                  <a:pt x="596" y="247625"/>
                </a:lnTo>
                <a:lnTo>
                  <a:pt x="0" y="257530"/>
                </a:lnTo>
                <a:lnTo>
                  <a:pt x="9304" y="267435"/>
                </a:lnTo>
                <a:lnTo>
                  <a:pt x="29205" y="277340"/>
                </a:lnTo>
                <a:lnTo>
                  <a:pt x="59715" y="287245"/>
                </a:lnTo>
                <a:lnTo>
                  <a:pt x="100171" y="297150"/>
                </a:lnTo>
                <a:lnTo>
                  <a:pt x="149325" y="307055"/>
                </a:lnTo>
                <a:lnTo>
                  <a:pt x="205471" y="316960"/>
                </a:lnTo>
                <a:lnTo>
                  <a:pt x="266608" y="326865"/>
                </a:lnTo>
                <a:lnTo>
                  <a:pt x="330594" y="336770"/>
                </a:lnTo>
                <a:lnTo>
                  <a:pt x="395306" y="346675"/>
                </a:lnTo>
                <a:lnTo>
                  <a:pt x="458764" y="356580"/>
                </a:lnTo>
                <a:lnTo>
                  <a:pt x="519242" y="366485"/>
                </a:lnTo>
                <a:lnTo>
                  <a:pt x="575335" y="376390"/>
                </a:lnTo>
                <a:lnTo>
                  <a:pt x="626013" y="386295"/>
                </a:lnTo>
                <a:lnTo>
                  <a:pt x="670628" y="396200"/>
                </a:lnTo>
                <a:close/>
              </a:path>
            </a:pathLst>
          </a:custGeom>
          <a:solidFill>
            <a:srgbClr val="D8E9E0"/>
          </a:solidFill>
          <a:ln w="12700">
            <a:solidFill>
              <a:srgbClr val="1BAF7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788177" y="4235291"/>
            <a:ext cx="589940" cy="0"/>
          </a:xfrm>
          <a:prstGeom prst="line">
            <a:avLst/>
          </a:prstGeom>
          <a:noFill/>
          <a:ln w="22225">
            <a:solidFill>
              <a:srgbClr val="0B0B0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246976" y="2111998"/>
            <a:ext cx="1685544" cy="786154"/>
          </a:xfrm>
          <a:custGeom>
            <a:avLst/>
            <a:gdLst/>
            <a:ahLst/>
            <a:cxnLst/>
            <a:rect l="l" t="t" r="r" b="b"/>
            <a:pathLst>
              <a:path w="1685544" h="786154">
                <a:moveTo>
                  <a:pt x="965668" y="786154"/>
                </a:moveTo>
                <a:lnTo>
                  <a:pt x="993047" y="766500"/>
                </a:lnTo>
                <a:lnTo>
                  <a:pt x="1022653" y="746846"/>
                </a:lnTo>
                <a:lnTo>
                  <a:pt x="1053936" y="727192"/>
                </a:lnTo>
                <a:lnTo>
                  <a:pt x="1086385" y="707538"/>
                </a:lnTo>
                <a:lnTo>
                  <a:pt x="1119622" y="687884"/>
                </a:lnTo>
                <a:lnTo>
                  <a:pt x="1153474" y="668231"/>
                </a:lnTo>
                <a:lnTo>
                  <a:pt x="1188012" y="648577"/>
                </a:lnTo>
                <a:lnTo>
                  <a:pt x="1223519" y="628923"/>
                </a:lnTo>
                <a:lnTo>
                  <a:pt x="1260409" y="609269"/>
                </a:lnTo>
                <a:lnTo>
                  <a:pt x="1299095" y="589615"/>
                </a:lnTo>
                <a:lnTo>
                  <a:pt x="1339827" y="569961"/>
                </a:lnTo>
                <a:lnTo>
                  <a:pt x="1382533" y="550308"/>
                </a:lnTo>
                <a:lnTo>
                  <a:pt x="1426714" y="530654"/>
                </a:lnTo>
                <a:lnTo>
                  <a:pt x="1471401" y="511000"/>
                </a:lnTo>
                <a:lnTo>
                  <a:pt x="1515213" y="491346"/>
                </a:lnTo>
                <a:lnTo>
                  <a:pt x="1556508" y="471692"/>
                </a:lnTo>
                <a:lnTo>
                  <a:pt x="1593618" y="452038"/>
                </a:lnTo>
                <a:lnTo>
                  <a:pt x="1625100" y="432385"/>
                </a:lnTo>
                <a:lnTo>
                  <a:pt x="1649982" y="412731"/>
                </a:lnTo>
                <a:lnTo>
                  <a:pt x="1667910" y="393077"/>
                </a:lnTo>
                <a:lnTo>
                  <a:pt x="1679192" y="373423"/>
                </a:lnTo>
                <a:lnTo>
                  <a:pt x="1684681" y="353769"/>
                </a:lnTo>
                <a:lnTo>
                  <a:pt x="1685544" y="334115"/>
                </a:lnTo>
                <a:lnTo>
                  <a:pt x="1682958" y="314461"/>
                </a:lnTo>
                <a:lnTo>
                  <a:pt x="1677792" y="294808"/>
                </a:lnTo>
                <a:lnTo>
                  <a:pt x="1670364" y="275154"/>
                </a:lnTo>
                <a:lnTo>
                  <a:pt x="1660332" y="255500"/>
                </a:lnTo>
                <a:lnTo>
                  <a:pt x="1646737" y="235846"/>
                </a:lnTo>
                <a:lnTo>
                  <a:pt x="1628213" y="216192"/>
                </a:lnTo>
                <a:lnTo>
                  <a:pt x="1603290" y="196538"/>
                </a:lnTo>
                <a:lnTo>
                  <a:pt x="1570750" y="176885"/>
                </a:lnTo>
                <a:lnTo>
                  <a:pt x="1529935" y="157231"/>
                </a:lnTo>
                <a:lnTo>
                  <a:pt x="1480956" y="137577"/>
                </a:lnTo>
                <a:lnTo>
                  <a:pt x="1424765" y="117923"/>
                </a:lnTo>
                <a:lnTo>
                  <a:pt x="1363072" y="98269"/>
                </a:lnTo>
                <a:lnTo>
                  <a:pt x="1298140" y="78615"/>
                </a:lnTo>
                <a:lnTo>
                  <a:pt x="1232503" y="58962"/>
                </a:lnTo>
                <a:lnTo>
                  <a:pt x="1168667" y="39308"/>
                </a:lnTo>
                <a:lnTo>
                  <a:pt x="1108842" y="19654"/>
                </a:lnTo>
                <a:lnTo>
                  <a:pt x="1054739" y="0"/>
                </a:lnTo>
                <a:lnTo>
                  <a:pt x="630805" y="0"/>
                </a:lnTo>
                <a:lnTo>
                  <a:pt x="576702" y="19654"/>
                </a:lnTo>
                <a:lnTo>
                  <a:pt x="516877" y="39308"/>
                </a:lnTo>
                <a:lnTo>
                  <a:pt x="453041" y="58962"/>
                </a:lnTo>
                <a:lnTo>
                  <a:pt x="387404" y="78615"/>
                </a:lnTo>
                <a:lnTo>
                  <a:pt x="322472" y="98269"/>
                </a:lnTo>
                <a:lnTo>
                  <a:pt x="260779" y="117923"/>
                </a:lnTo>
                <a:lnTo>
                  <a:pt x="204588" y="137577"/>
                </a:lnTo>
                <a:lnTo>
                  <a:pt x="155609" y="157231"/>
                </a:lnTo>
                <a:lnTo>
                  <a:pt x="114794" y="176885"/>
                </a:lnTo>
                <a:lnTo>
                  <a:pt x="82254" y="196538"/>
                </a:lnTo>
                <a:lnTo>
                  <a:pt x="57331" y="216192"/>
                </a:lnTo>
                <a:lnTo>
                  <a:pt x="38807" y="235846"/>
                </a:lnTo>
                <a:lnTo>
                  <a:pt x="25212" y="255500"/>
                </a:lnTo>
                <a:lnTo>
                  <a:pt x="15180" y="275154"/>
                </a:lnTo>
                <a:lnTo>
                  <a:pt x="7752" y="294808"/>
                </a:lnTo>
                <a:lnTo>
                  <a:pt x="2586" y="314461"/>
                </a:lnTo>
                <a:lnTo>
                  <a:pt x="0" y="334115"/>
                </a:lnTo>
                <a:lnTo>
                  <a:pt x="863" y="353769"/>
                </a:lnTo>
                <a:lnTo>
                  <a:pt x="6352" y="373423"/>
                </a:lnTo>
                <a:lnTo>
                  <a:pt x="17634" y="393077"/>
                </a:lnTo>
                <a:lnTo>
                  <a:pt x="35562" y="412731"/>
                </a:lnTo>
                <a:lnTo>
                  <a:pt x="60444" y="432385"/>
                </a:lnTo>
                <a:lnTo>
                  <a:pt x="91926" y="452038"/>
                </a:lnTo>
                <a:lnTo>
                  <a:pt x="129036" y="471692"/>
                </a:lnTo>
                <a:lnTo>
                  <a:pt x="170331" y="491346"/>
                </a:lnTo>
                <a:lnTo>
                  <a:pt x="214143" y="511000"/>
                </a:lnTo>
                <a:lnTo>
                  <a:pt x="258830" y="530654"/>
                </a:lnTo>
                <a:lnTo>
                  <a:pt x="303011" y="550308"/>
                </a:lnTo>
                <a:lnTo>
                  <a:pt x="345717" y="569961"/>
                </a:lnTo>
                <a:lnTo>
                  <a:pt x="386449" y="589615"/>
                </a:lnTo>
                <a:lnTo>
                  <a:pt x="425135" y="609269"/>
                </a:lnTo>
                <a:lnTo>
                  <a:pt x="462025" y="628923"/>
                </a:lnTo>
                <a:lnTo>
                  <a:pt x="497532" y="648577"/>
                </a:lnTo>
                <a:lnTo>
                  <a:pt x="532070" y="668231"/>
                </a:lnTo>
                <a:lnTo>
                  <a:pt x="565922" y="687884"/>
                </a:lnTo>
                <a:lnTo>
                  <a:pt x="599159" y="707538"/>
                </a:lnTo>
                <a:lnTo>
                  <a:pt x="631608" y="727192"/>
                </a:lnTo>
                <a:lnTo>
                  <a:pt x="662891" y="746846"/>
                </a:lnTo>
                <a:lnTo>
                  <a:pt x="692497" y="766500"/>
                </a:lnTo>
                <a:lnTo>
                  <a:pt x="719876" y="786154"/>
                </a:lnTo>
                <a:close/>
              </a:path>
            </a:pathLst>
          </a:custGeom>
          <a:solidFill>
            <a:srgbClr val="F9E6D7"/>
          </a:solidFill>
          <a:ln w="12700">
            <a:solidFill>
              <a:srgbClr val="EDA10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794777" y="2475071"/>
            <a:ext cx="589940" cy="0"/>
          </a:xfrm>
          <a:prstGeom prst="line">
            <a:avLst/>
          </a:prstGeom>
          <a:noFill/>
          <a:ln w="22225">
            <a:solidFill>
              <a:srgbClr val="0B0B0B"/>
            </a:solidFill>
            <a:prstDash val="solid"/>
          </a:ln>
        </p:spPr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Candlestick — Share price — last two weeks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6019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75228" y="5143500"/>
            <a:ext cx="6019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277208" y="5143500"/>
            <a:ext cx="6019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Wed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879188" y="5143500"/>
            <a:ext cx="6019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Thu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481168" y="5143500"/>
            <a:ext cx="6019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Fri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083148" y="5143500"/>
            <a:ext cx="6019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Mon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685128" y="5143500"/>
            <a:ext cx="6019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Tue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287108" y="5143500"/>
            <a:ext cx="6019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Wed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889088" y="5143500"/>
            <a:ext cx="6019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Thu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8491068" y="5143500"/>
            <a:ext cx="6019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Fri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374238" y="270510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23743" y="2758440"/>
            <a:ext cx="300990" cy="106680"/>
          </a:xfrm>
          <a:prstGeom prst="rect">
            <a:avLst/>
          </a:prstGeom>
          <a:solidFill>
            <a:srgbClr val="1A9E6E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976218" y="265176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25723" y="2758440"/>
            <a:ext cx="300990" cy="53340"/>
          </a:xfrm>
          <a:prstGeom prst="rect">
            <a:avLst/>
          </a:prstGeom>
          <a:solidFill>
            <a:srgbClr val="E3494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578198" y="2598420"/>
            <a:ext cx="0" cy="26670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27703" y="2651760"/>
            <a:ext cx="300990" cy="160020"/>
          </a:xfrm>
          <a:prstGeom prst="rect">
            <a:avLst/>
          </a:prstGeom>
          <a:solidFill>
            <a:srgbClr val="1A9E6E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180178" y="2598420"/>
            <a:ext cx="0" cy="16002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29683" y="2651760"/>
            <a:ext cx="300990" cy="53340"/>
          </a:xfrm>
          <a:prstGeom prst="rect">
            <a:avLst/>
          </a:prstGeom>
          <a:solidFill>
            <a:srgbClr val="E3494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782158" y="254508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31663" y="2598420"/>
            <a:ext cx="300990" cy="106680"/>
          </a:xfrm>
          <a:prstGeom prst="rect">
            <a:avLst/>
          </a:prstGeom>
          <a:solidFill>
            <a:srgbClr val="1A9E6E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384138" y="243840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33643" y="2491740"/>
            <a:ext cx="300990" cy="106680"/>
          </a:xfrm>
          <a:prstGeom prst="rect">
            <a:avLst/>
          </a:prstGeom>
          <a:solidFill>
            <a:srgbClr val="1A9E6E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986118" y="238506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35623" y="2491740"/>
            <a:ext cx="300990" cy="53340"/>
          </a:xfrm>
          <a:prstGeom prst="rect">
            <a:avLst/>
          </a:prstGeom>
          <a:solidFill>
            <a:srgbClr val="E3494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588098" y="249174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37603" y="2545080"/>
            <a:ext cx="300990" cy="106680"/>
          </a:xfrm>
          <a:prstGeom prst="rect">
            <a:avLst/>
          </a:prstGeom>
          <a:solidFill>
            <a:srgbClr val="E3494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190078" y="254508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39583" y="2598420"/>
            <a:ext cx="300990" cy="53340"/>
          </a:xfrm>
          <a:prstGeom prst="rect">
            <a:avLst/>
          </a:prstGeom>
          <a:solidFill>
            <a:srgbClr val="1A9E6E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792058" y="243840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641563" y="2491740"/>
            <a:ext cx="300990" cy="106680"/>
          </a:xfrm>
          <a:prstGeom prst="rect">
            <a:avLst/>
          </a:prstGeom>
          <a:solidFill>
            <a:srgbClr val="1A9E6E"/>
          </a:solidFill>
          <a:ln w="6350">
            <a:solidFill>
              <a:srgbClr val="FFFFFF"/>
            </a:solidFill>
            <a:prstDash val="solid"/>
          </a:ln>
        </p:spPr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Decorations — totals, CAGR, difference, value line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686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40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9594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89148" y="4411641"/>
            <a:ext cx="863600" cy="69375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38348" y="4663271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89148" y="3962739"/>
            <a:ext cx="863600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38348" y="40919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89148" y="3595455"/>
            <a:ext cx="863600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38348" y="368384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073248" y="3411305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84548" y="4289213"/>
            <a:ext cx="863600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33748" y="460205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84548" y="3758692"/>
            <a:ext cx="863600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33748" y="3928703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84548" y="3411813"/>
            <a:ext cx="863600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33748" y="349000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368648" y="322766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879948" y="4146381"/>
            <a:ext cx="863600" cy="95901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29148" y="45306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879948" y="3513836"/>
            <a:ext cx="863600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29148" y="3734858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879948" y="3126147"/>
            <a:ext cx="863600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829148" y="322474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664048" y="2941997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175348" y="3962739"/>
            <a:ext cx="863600" cy="1142661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124548" y="4438819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7175348" y="3248575"/>
            <a:ext cx="863600" cy="71416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124548" y="351040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175348" y="2799673"/>
            <a:ext cx="863600" cy="4489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124548" y="2928874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959448" y="261552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305648" y="2938399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305648" y="3519932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8305648" y="4448344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 flipV="1">
            <a:off x="3720948" y="2253573"/>
            <a:ext cx="3886200" cy="795782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 rot="4680000">
            <a:off x="7481438" y="2202811"/>
            <a:ext cx="127000" cy="127000"/>
          </a:xfrm>
          <a:prstGeom prst="triangle">
            <a:avLst/>
          </a:prstGeom>
          <a:solidFill>
            <a:srgbClr val="0B0B0B"/>
          </a:solidFill>
          <a:ln/>
        </p:spPr>
      </p:sp>
      <p:sp>
        <p:nvSpPr>
          <p:cNvPr id="41" name="Text 39"/>
          <p:cNvSpPr/>
          <p:nvPr/>
        </p:nvSpPr>
        <p:spPr>
          <a:xfrm>
            <a:off x="5092548" y="2050373"/>
            <a:ext cx="1143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+15.2% p.a.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4178148" y="3595455"/>
            <a:ext cx="403860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43" name="Shape 41"/>
          <p:cNvSpPr/>
          <p:nvPr/>
        </p:nvSpPr>
        <p:spPr>
          <a:xfrm>
            <a:off x="8165948" y="2799673"/>
            <a:ext cx="0" cy="795782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8102448" y="2799673"/>
            <a:ext cx="127000" cy="127000"/>
          </a:xfrm>
          <a:prstGeom prst="triangle">
            <a:avLst/>
          </a:prstGeom>
          <a:solidFill>
            <a:srgbClr val="0B0B0B"/>
          </a:solidFill>
          <a:ln/>
        </p:spPr>
      </p:sp>
      <p:sp>
        <p:nvSpPr>
          <p:cNvPr id="45" name="Text 43"/>
          <p:cNvSpPr/>
          <p:nvPr/>
        </p:nvSpPr>
        <p:spPr>
          <a:xfrm>
            <a:off x="8204048" y="3102314"/>
            <a:ext cx="939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+53%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3073248" y="3233272"/>
            <a:ext cx="51816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dash"/>
          </a:ln>
        </p:spPr>
      </p:sp>
      <p:sp>
        <p:nvSpPr>
          <p:cNvPr id="47" name="Text 45"/>
          <p:cNvSpPr/>
          <p:nvPr/>
        </p:nvSpPr>
        <p:spPr>
          <a:xfrm>
            <a:off x="3098648" y="3042772"/>
            <a:ext cx="1270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Ø 92</a:t>
            </a:r>
            <a:endParaRPr lang="en-US" sz="9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Level difference (series) + label content Value+%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686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40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9594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89148" y="4411641"/>
            <a:ext cx="863600" cy="69375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38348" y="4663271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34 46%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89148" y="3962739"/>
            <a:ext cx="863600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38348" y="40919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22 30%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89148" y="3595455"/>
            <a:ext cx="863600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38348" y="368384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18 24%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584548" y="4289213"/>
            <a:ext cx="863600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33748" y="460205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40 48%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84548" y="3758692"/>
            <a:ext cx="863600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33748" y="3928703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26 31%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584548" y="3411813"/>
            <a:ext cx="863600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33748" y="349000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17 20%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879948" y="4146381"/>
            <a:ext cx="863600" cy="95901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829148" y="45306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47 48%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879948" y="3513836"/>
            <a:ext cx="863600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29148" y="3734858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31 32%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879948" y="3126147"/>
            <a:ext cx="863600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29148" y="322474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19 20%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7175348" y="3962739"/>
            <a:ext cx="863600" cy="1142661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124548" y="4438819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56 50%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7175348" y="3248575"/>
            <a:ext cx="863600" cy="71416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124548" y="351040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35 31%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7175348" y="2799673"/>
            <a:ext cx="863600" cy="4489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124548" y="2928874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22 19%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305648" y="2938399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8305648" y="3519932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8305648" y="4448344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4178148" y="4411641"/>
            <a:ext cx="403860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8165948" y="3962739"/>
            <a:ext cx="0" cy="448903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8102448" y="3962739"/>
            <a:ext cx="127000" cy="127000"/>
          </a:xfrm>
          <a:prstGeom prst="triangle">
            <a:avLst/>
          </a:prstGeom>
          <a:solidFill>
            <a:srgbClr val="0B0B0B"/>
          </a:solidFill>
          <a:ln/>
        </p:spPr>
      </p:sp>
      <p:sp>
        <p:nvSpPr>
          <p:cNvPr id="38" name="Text 36"/>
          <p:cNvSpPr/>
          <p:nvPr/>
        </p:nvSpPr>
        <p:spPr>
          <a:xfrm>
            <a:off x="8204048" y="4091940"/>
            <a:ext cx="939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+65%</a:t>
            </a:r>
            <a:endParaRPr lang="en-US" sz="1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Bar orientation + segment order descending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2365375"/>
            <a:ext cx="3251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047848" y="3171825"/>
            <a:ext cx="3251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047848" y="3978275"/>
            <a:ext cx="3251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3047848" y="4784725"/>
            <a:ext cx="3251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23768" y="18732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Text 6"/>
          <p:cNvSpPr/>
          <p:nvPr/>
        </p:nvSpPr>
        <p:spPr>
          <a:xfrm>
            <a:off x="3550768" y="182880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388968" y="18732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" name="Text 8"/>
          <p:cNvSpPr/>
          <p:nvPr/>
        </p:nvSpPr>
        <p:spPr>
          <a:xfrm>
            <a:off x="4515968" y="1828800"/>
            <a:ext cx="2819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874108" y="187325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2" name="Text 10"/>
          <p:cNvSpPr/>
          <p:nvPr/>
        </p:nvSpPr>
        <p:spPr>
          <a:xfrm>
            <a:off x="5001108" y="1828800"/>
            <a:ext cx="6248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423768" y="2191808"/>
            <a:ext cx="1175647" cy="53763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372968" y="2365375"/>
            <a:ext cx="127724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99415" y="2191808"/>
            <a:ext cx="760713" cy="53763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48615" y="2365375"/>
            <a:ext cx="8623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360128" y="2191808"/>
            <a:ext cx="622402" cy="53763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309328" y="2365375"/>
            <a:ext cx="72400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020630" y="2365375"/>
            <a:ext cx="312321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423768" y="2998258"/>
            <a:ext cx="1383115" cy="53763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372968" y="3171825"/>
            <a:ext cx="148471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806882" y="2998258"/>
            <a:ext cx="899025" cy="53763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756082" y="3171825"/>
            <a:ext cx="10006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705907" y="2998258"/>
            <a:ext cx="587824" cy="53763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655107" y="3171825"/>
            <a:ext cx="68942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331831" y="3171825"/>
            <a:ext cx="281201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423768" y="3804708"/>
            <a:ext cx="1625160" cy="53763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372968" y="3978275"/>
            <a:ext cx="17267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5048927" y="3804708"/>
            <a:ext cx="1071914" cy="53763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998127" y="3978275"/>
            <a:ext cx="117351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120841" y="3804708"/>
            <a:ext cx="656979" cy="53763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070041" y="3978275"/>
            <a:ext cx="75857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815921" y="3978275"/>
            <a:ext cx="232792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3423768" y="4611158"/>
            <a:ext cx="1936361" cy="53763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372968" y="4784725"/>
            <a:ext cx="203796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5360128" y="4611158"/>
            <a:ext cx="1210225" cy="53763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309328" y="4784725"/>
            <a:ext cx="13118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6570353" y="4611158"/>
            <a:ext cx="760713" cy="53763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519553" y="4784725"/>
            <a:ext cx="8623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7369167" y="4784725"/>
            <a:ext cx="177468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3423768" y="2057400"/>
            <a:ext cx="0" cy="32258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Category sort descending + pinned axis + de-DE locale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4085167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3064933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2044700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0,0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3996267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2976033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19558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479648" y="5143500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673448" y="5143500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867248" y="5143500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7061048" y="5143500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678614" y="3962739"/>
            <a:ext cx="795867" cy="1142661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27814" y="4438819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56,0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678614" y="3248575"/>
            <a:ext cx="795867" cy="71416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27814" y="3510407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35,0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678614" y="2799673"/>
            <a:ext cx="795867" cy="4489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27814" y="2928874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22,0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3479648" y="2615523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113,0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872414" y="4146381"/>
            <a:ext cx="795867" cy="95901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821614" y="4530640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47,0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872414" y="3513836"/>
            <a:ext cx="795867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821614" y="3734858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31,0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872414" y="3126147"/>
            <a:ext cx="795867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821614" y="3224742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19,0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673448" y="2941997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97,0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066214" y="4289213"/>
            <a:ext cx="795867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015414" y="4602057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40,0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066214" y="3758692"/>
            <a:ext cx="795867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015414" y="3928703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26,0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6066214" y="3411813"/>
            <a:ext cx="795867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015414" y="3490002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17,0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5867248" y="3227663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83,0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7260014" y="4411641"/>
            <a:ext cx="795867" cy="69375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209214" y="4663271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34,0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7260014" y="3962739"/>
            <a:ext cx="795867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209214" y="4091940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22,0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7260014" y="3595455"/>
            <a:ext cx="795867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209214" y="3683847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18,0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7061048" y="3411305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74,0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3479648" y="5105400"/>
            <a:ext cx="47752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8305648" y="3693372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8305648" y="4101465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8305648" y="4672796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Clustered-stacked (stack groups) 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255651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629758" y="5143500"/>
            <a:ext cx="255651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3505683" y="3575050"/>
            <a:ext cx="839470" cy="153035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454883" y="4244975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505683" y="2962910"/>
            <a:ext cx="839470" cy="61214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454883" y="3173730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357853" y="3779097"/>
            <a:ext cx="839470" cy="13263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307053" y="4346998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357853" y="3268980"/>
            <a:ext cx="839470" cy="510117"/>
          </a:xfrm>
          <a:prstGeom prst="rect">
            <a:avLst/>
          </a:prstGeom>
          <a:solidFill>
            <a:srgbClr val="0083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307053" y="3428788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448533" y="2778760"/>
            <a:ext cx="9537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4300703" y="3084830"/>
            <a:ext cx="9537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6062193" y="3268980"/>
            <a:ext cx="839470" cy="18364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011393" y="4091940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062193" y="2452793"/>
            <a:ext cx="839470" cy="816187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011393" y="2765637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914363" y="3422015"/>
            <a:ext cx="839470" cy="1683385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863563" y="4168458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914363" y="2707852"/>
            <a:ext cx="839470" cy="714163"/>
          </a:xfrm>
          <a:prstGeom prst="rect">
            <a:avLst/>
          </a:prstGeom>
          <a:solidFill>
            <a:srgbClr val="0083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863563" y="2969683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005043" y="2268643"/>
            <a:ext cx="9537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6857213" y="2523702"/>
            <a:ext cx="9537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3073248" y="5105400"/>
            <a:ext cx="511302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237068" y="2775162"/>
            <a:ext cx="9067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EU Services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8237068" y="2979208"/>
            <a:ext cx="9067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 Services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8237068" y="4101465"/>
            <a:ext cx="9067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EU Product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237068" y="4272915"/>
            <a:ext cx="9067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 Product</a:t>
            </a:r>
            <a:endParaRPr lang="en-US" sz="1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Axis break (620 outlier) + axis title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3910584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1905000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3821684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1714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€m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34796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8829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2863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6896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719889" y="4684227"/>
            <a:ext cx="922867" cy="42117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" name="Text 12"/>
          <p:cNvSpPr/>
          <p:nvPr/>
        </p:nvSpPr>
        <p:spPr>
          <a:xfrm>
            <a:off x="3669089" y="4799564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123239" y="4553864"/>
            <a:ext cx="922867" cy="55153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5072439" y="4734382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526589" y="3710026"/>
            <a:ext cx="922867" cy="139537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Text 16"/>
          <p:cNvSpPr/>
          <p:nvPr/>
        </p:nvSpPr>
        <p:spPr>
          <a:xfrm>
            <a:off x="6475789" y="4312463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620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929939" y="4493697"/>
            <a:ext cx="922867" cy="61170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Text 18"/>
          <p:cNvSpPr/>
          <p:nvPr/>
        </p:nvSpPr>
        <p:spPr>
          <a:xfrm>
            <a:off x="7879139" y="4704298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454248" y="4111142"/>
            <a:ext cx="5664200" cy="19202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Shape 20"/>
          <p:cNvSpPr/>
          <p:nvPr/>
        </p:nvSpPr>
        <p:spPr>
          <a:xfrm flipV="1">
            <a:off x="3428848" y="4271416"/>
            <a:ext cx="5715000" cy="6350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V="1">
            <a:off x="3428848" y="4079392"/>
            <a:ext cx="5715000" cy="6350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Log scale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4305300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3505200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479648" y="2705100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79648" y="1905000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42164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047848" y="3416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047848" y="26162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1,000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10,000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047848" y="1714500"/>
            <a:ext cx="5486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$m (log)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34796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Seed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8829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2863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76896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719889" y="4623692"/>
            <a:ext cx="922867" cy="48170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Text 17"/>
          <p:cNvSpPr/>
          <p:nvPr/>
        </p:nvSpPr>
        <p:spPr>
          <a:xfrm>
            <a:off x="3669089" y="4769296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123239" y="3823592"/>
            <a:ext cx="922867" cy="128180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Text 19"/>
          <p:cNvSpPr/>
          <p:nvPr/>
        </p:nvSpPr>
        <p:spPr>
          <a:xfrm>
            <a:off x="5072439" y="4369246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6526589" y="3231228"/>
            <a:ext cx="922867" cy="187417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Text 21"/>
          <p:cNvSpPr/>
          <p:nvPr/>
        </p:nvSpPr>
        <p:spPr>
          <a:xfrm>
            <a:off x="6475789" y="4073064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220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929939" y="2482069"/>
            <a:ext cx="922867" cy="262333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Text 23"/>
          <p:cNvSpPr/>
          <p:nvPr/>
        </p:nvSpPr>
        <p:spPr>
          <a:xfrm>
            <a:off x="7879139" y="3698485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1,900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100%= row (columns short of 100%)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864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937608" y="5143500"/>
            <a:ext cx="1864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01968" y="5143500"/>
            <a:ext cx="1864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383974" y="3825240"/>
            <a:ext cx="1242907" cy="128016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333174" y="437007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40%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383974" y="2865120"/>
            <a:ext cx="1242907" cy="96012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333174" y="324993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30%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248334" y="3345180"/>
            <a:ext cx="1242907" cy="17602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197534" y="413004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55%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248334" y="2545080"/>
            <a:ext cx="1242907" cy="80010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197534" y="284988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25%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112694" y="2865120"/>
            <a:ext cx="1242907" cy="224028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061894" y="389001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70%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7112694" y="2225040"/>
            <a:ext cx="1242907" cy="64008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061894" y="244983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20%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073248" y="5105400"/>
            <a:ext cx="55930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717128" y="2459355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Lost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8717128" y="3899535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Won</a:t>
            </a:r>
            <a:endParaRPr lang="en-US" sz="1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Stacked waterfall + value-line-anchored difference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1379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211168" y="5143500"/>
            <a:ext cx="11379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Organic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349088" y="5143500"/>
            <a:ext cx="11379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M&amp;A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487008" y="5143500"/>
            <a:ext cx="11379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624928" y="5143500"/>
            <a:ext cx="11379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FY24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262901" y="4085167"/>
            <a:ext cx="758613" cy="102023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186701" y="4500033"/>
            <a:ext cx="9110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262901" y="3350599"/>
            <a:ext cx="758613" cy="734568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186701" y="3622633"/>
            <a:ext cx="9110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021514" y="3350599"/>
            <a:ext cx="379307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3" name="Shape 11"/>
          <p:cNvSpPr/>
          <p:nvPr/>
        </p:nvSpPr>
        <p:spPr>
          <a:xfrm>
            <a:off x="4400821" y="3187361"/>
            <a:ext cx="758613" cy="16323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324621" y="3173730"/>
            <a:ext cx="9110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+8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400821" y="3064933"/>
            <a:ext cx="758613" cy="122428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159434" y="3064933"/>
            <a:ext cx="379307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7" name="Shape 15"/>
          <p:cNvSpPr/>
          <p:nvPr/>
        </p:nvSpPr>
        <p:spPr>
          <a:xfrm>
            <a:off x="5538741" y="2962910"/>
            <a:ext cx="758613" cy="10202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538741" y="2779268"/>
            <a:ext cx="758613" cy="183642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462541" y="2775839"/>
            <a:ext cx="9110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+9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297354" y="2779268"/>
            <a:ext cx="379307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6676661" y="2779268"/>
            <a:ext cx="758613" cy="122428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676661" y="2901696"/>
            <a:ext cx="758613" cy="122428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435274" y="3024124"/>
            <a:ext cx="379307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7814581" y="3024124"/>
            <a:ext cx="758613" cy="2081276"/>
          </a:xfrm>
          <a:prstGeom prst="rect">
            <a:avLst/>
          </a:prstGeom>
          <a:solidFill>
            <a:srgbClr val="89878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738381" y="3969512"/>
            <a:ext cx="9110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102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073248" y="5105400"/>
            <a:ext cx="5689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046914" y="3064933"/>
            <a:ext cx="470408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8" name="Shape 26"/>
          <p:cNvSpPr/>
          <p:nvPr/>
        </p:nvSpPr>
        <p:spPr>
          <a:xfrm>
            <a:off x="8700194" y="3024124"/>
            <a:ext cx="0" cy="40809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636694" y="3024124"/>
            <a:ext cx="127000" cy="127000"/>
          </a:xfrm>
          <a:prstGeom prst="triangle">
            <a:avLst/>
          </a:prstGeom>
          <a:solidFill>
            <a:srgbClr val="0B0B0B"/>
          </a:solidFill>
          <a:ln/>
        </p:spPr>
      </p:sp>
      <p:sp>
        <p:nvSpPr>
          <p:cNvPr id="30" name="Text 28"/>
          <p:cNvSpPr/>
          <p:nvPr/>
        </p:nvSpPr>
        <p:spPr>
          <a:xfrm>
            <a:off x="8738294" y="2949279"/>
            <a:ext cx="40555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+2.0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073248" y="3064933"/>
            <a:ext cx="56896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3098648" y="2874433"/>
            <a:ext cx="1270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5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Rotated waterfall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2067983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047848" y="2635250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047848" y="3202517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Price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3047848" y="3769783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047848" y="4337050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FX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047848" y="4904317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560928" y="1974144"/>
            <a:ext cx="3128061" cy="37817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Text 8"/>
          <p:cNvSpPr/>
          <p:nvPr/>
        </p:nvSpPr>
        <p:spPr>
          <a:xfrm>
            <a:off x="3484728" y="2067983"/>
            <a:ext cx="328046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86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688988" y="2352322"/>
            <a:ext cx="0" cy="189089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2" name="Shape 10"/>
          <p:cNvSpPr/>
          <p:nvPr/>
        </p:nvSpPr>
        <p:spPr>
          <a:xfrm>
            <a:off x="6688988" y="2541411"/>
            <a:ext cx="509219" cy="37817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Text 11"/>
          <p:cNvSpPr/>
          <p:nvPr/>
        </p:nvSpPr>
        <p:spPr>
          <a:xfrm>
            <a:off x="6612788" y="2635250"/>
            <a:ext cx="66161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198208" y="2919589"/>
            <a:ext cx="0" cy="189089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5" name="Shape 13"/>
          <p:cNvSpPr/>
          <p:nvPr/>
        </p:nvSpPr>
        <p:spPr>
          <a:xfrm>
            <a:off x="7198208" y="3108678"/>
            <a:ext cx="327355" cy="37817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7122008" y="3202517"/>
            <a:ext cx="47975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+9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7525563" y="3486856"/>
            <a:ext cx="0" cy="189089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7089089" y="3675944"/>
            <a:ext cx="436474" cy="378178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19" name="Text 17"/>
          <p:cNvSpPr/>
          <p:nvPr/>
        </p:nvSpPr>
        <p:spPr>
          <a:xfrm>
            <a:off x="7012889" y="3769783"/>
            <a:ext cx="58887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-12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089089" y="4054122"/>
            <a:ext cx="0" cy="189089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6943598" y="4243211"/>
            <a:ext cx="145491" cy="378178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22" name="Text 20"/>
          <p:cNvSpPr/>
          <p:nvPr/>
        </p:nvSpPr>
        <p:spPr>
          <a:xfrm>
            <a:off x="7114489" y="4337050"/>
            <a:ext cx="508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-4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943598" y="4621389"/>
            <a:ext cx="0" cy="189089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3560928" y="4810478"/>
            <a:ext cx="3382670" cy="378178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25" name="Text 23"/>
          <p:cNvSpPr/>
          <p:nvPr/>
        </p:nvSpPr>
        <p:spPr>
          <a:xfrm>
            <a:off x="3484728" y="4904317"/>
            <a:ext cx="3535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93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560928" y="1879600"/>
            <a:ext cx="0" cy="34036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98088" y="2057400"/>
            <a:ext cx="1875628" cy="158750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72688" y="2755900"/>
            <a:ext cx="192642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573716" y="2057400"/>
            <a:ext cx="1250419" cy="158750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548316" y="2755900"/>
            <a:ext cx="130121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28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6824135" y="2057400"/>
            <a:ext cx="625209" cy="158750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798735" y="2755900"/>
            <a:ext cx="67600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487444" y="2755900"/>
            <a:ext cx="165640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698088" y="3670300"/>
            <a:ext cx="2456180" cy="95250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72688" y="4051300"/>
            <a:ext cx="25069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154268" y="3670300"/>
            <a:ext cx="1339735" cy="95250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128868" y="4051300"/>
            <a:ext cx="139053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7494002" y="3670300"/>
            <a:ext cx="1116445" cy="95250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468602" y="4051300"/>
            <a:ext cx="116724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8648548" y="405130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698088" y="4648200"/>
            <a:ext cx="803841" cy="63500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72688" y="4870450"/>
            <a:ext cx="85464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01928" y="4648200"/>
            <a:ext cx="982472" cy="63500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476528" y="4870450"/>
            <a:ext cx="103327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484400" y="4648200"/>
            <a:ext cx="1339735" cy="63500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459000" y="4870450"/>
            <a:ext cx="139053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862235" y="4870450"/>
            <a:ext cx="22816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Mekko with units (X extent) — rotated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3047848" y="2755900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047848" y="4051300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3047848" y="4870450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698088" y="2057400"/>
            <a:ext cx="0" cy="32258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698088" y="18732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9" name="Text 27"/>
          <p:cNvSpPr/>
          <p:nvPr/>
        </p:nvSpPr>
        <p:spPr>
          <a:xfrm>
            <a:off x="3825088" y="182880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663288" y="18732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31" name="Text 29"/>
          <p:cNvSpPr/>
          <p:nvPr/>
        </p:nvSpPr>
        <p:spPr>
          <a:xfrm>
            <a:off x="4790288" y="1828800"/>
            <a:ext cx="2819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5148428" y="187325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3" name="Text 31"/>
          <p:cNvSpPr/>
          <p:nvPr/>
        </p:nvSpPr>
        <p:spPr>
          <a:xfrm>
            <a:off x="5275428" y="1828800"/>
            <a:ext cx="6248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Combo + secondary axis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0293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73262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06231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94863" y="3881120"/>
            <a:ext cx="886460" cy="122428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44063" y="4398010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94863" y="3330194"/>
            <a:ext cx="886460" cy="550926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44063" y="3510407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3073248" y="2796794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624553" y="3697478"/>
            <a:ext cx="886460" cy="1407922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3753" y="4306189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46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24553" y="3024124"/>
            <a:ext cx="886460" cy="67335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3753" y="3265551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402938" y="2630424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68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954243" y="3513836"/>
            <a:ext cx="886460" cy="1591564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903443" y="4214368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54243" y="2687447"/>
            <a:ext cx="886460" cy="826389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03443" y="3005392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27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732628" y="2363597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79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283933" y="3268980"/>
            <a:ext cx="886460" cy="18364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233133" y="4091940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283933" y="2258949"/>
            <a:ext cx="886460" cy="101003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233133" y="2668715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062318" y="1935099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93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073248" y="5105400"/>
            <a:ext cx="531876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442808" y="2398840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Services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442808" y="4101465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Product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8417408" y="50165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8417408" y="440436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8417408" y="379222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8417408" y="318008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8417408" y="256794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8417408" y="19558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3707613" y="3177286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357093" y="2998216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 flipV="1">
            <a:off x="3738093" y="3024124"/>
            <a:ext cx="1329690" cy="183642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037303" y="2993644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686783" y="2814574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 flipV="1">
            <a:off x="5067783" y="2779268"/>
            <a:ext cx="1329690" cy="244856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366993" y="2748788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016473" y="2569718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 flipV="1">
            <a:off x="6397473" y="2350770"/>
            <a:ext cx="1329690" cy="428498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7696683" y="2320290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346163" y="214122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8442808" y="2147570"/>
            <a:ext cx="7010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Margin %</a:t>
            </a:r>
            <a:endParaRPr lang="en-US" sz="1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Scatter — partition lines, trend, groups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79648" y="437515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42862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36195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35306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9648" y="286385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27749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479648" y="21082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47848" y="2019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5654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9561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73467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479648" y="2108200"/>
            <a:ext cx="0" cy="30226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608610" y="2108200"/>
            <a:ext cx="0" cy="3022600"/>
          </a:xfrm>
          <a:prstGeom prst="line">
            <a:avLst/>
          </a:prstGeom>
          <a:noFill/>
          <a:ln w="12700">
            <a:solidFill>
              <a:srgbClr val="52514E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3479648" y="3619500"/>
            <a:ext cx="55626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 flipV="1">
            <a:off x="3479648" y="2450745"/>
            <a:ext cx="5562600" cy="2346830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23" name="Text 21"/>
          <p:cNvSpPr/>
          <p:nvPr/>
        </p:nvSpPr>
        <p:spPr>
          <a:xfrm>
            <a:off x="7757008" y="2501545"/>
            <a:ext cx="128524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3494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R² = 0.99, p &lt; 0.001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3479648" y="195580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Text 23"/>
          <p:cNvSpPr/>
          <p:nvPr/>
        </p:nvSpPr>
        <p:spPr>
          <a:xfrm>
            <a:off x="360664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1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264508" y="195580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7" name="Text 25"/>
          <p:cNvSpPr/>
          <p:nvPr/>
        </p:nvSpPr>
        <p:spPr>
          <a:xfrm>
            <a:off x="439150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2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5049368" y="195580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" name="Text 27"/>
          <p:cNvSpPr/>
          <p:nvPr/>
        </p:nvSpPr>
        <p:spPr>
          <a:xfrm>
            <a:off x="517636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3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275938" y="441261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179860" y="395922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222848" y="3656965"/>
            <a:ext cx="76200" cy="762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265835" y="3128010"/>
            <a:ext cx="76200" cy="762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752563" y="3014663"/>
            <a:ext cx="76200" cy="76200"/>
          </a:xfrm>
          <a:prstGeom prst="ellips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586953" y="2523490"/>
            <a:ext cx="76200" cy="76200"/>
          </a:xfrm>
          <a:prstGeom prst="ellips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377538" y="436816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Alpha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5281460" y="391477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Bravo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6324448" y="3612515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Core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7367435" y="308356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Delta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7854163" y="2970213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Echo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8056093" y="2479040"/>
            <a:ext cx="5054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Foxtrot</a:t>
            </a:r>
            <a:endParaRPr lang="en-US" sz="1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Gantt — sections, owners, remarks, deps, today, holiday, bracket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925193" y="1993900"/>
            <a:ext cx="894651" cy="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925193" y="1993900"/>
            <a:ext cx="0" cy="4445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819845" y="1993900"/>
            <a:ext cx="0" cy="4445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925193" y="1822450"/>
            <a:ext cx="894651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Sprint 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564230" y="2247900"/>
            <a:ext cx="63904" cy="2882900"/>
          </a:xfrm>
          <a:prstGeom prst="rect">
            <a:avLst/>
          </a:prstGeom>
          <a:solidFill>
            <a:srgbClr val="EFE7E7"/>
          </a:solidFill>
          <a:ln/>
        </p:spPr>
      </p:sp>
      <p:sp>
        <p:nvSpPr>
          <p:cNvPr id="8" name="Shape 6"/>
          <p:cNvSpPr/>
          <p:nvPr/>
        </p:nvSpPr>
        <p:spPr>
          <a:xfrm>
            <a:off x="4797386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9" name="Shape 7"/>
          <p:cNvSpPr/>
          <p:nvPr/>
        </p:nvSpPr>
        <p:spPr>
          <a:xfrm>
            <a:off x="5244712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0" name="Shape 8"/>
          <p:cNvSpPr/>
          <p:nvPr/>
        </p:nvSpPr>
        <p:spPr>
          <a:xfrm>
            <a:off x="5692037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1" name="Shape 9"/>
          <p:cNvSpPr/>
          <p:nvPr/>
        </p:nvSpPr>
        <p:spPr>
          <a:xfrm>
            <a:off x="6139363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2" name="Shape 10"/>
          <p:cNvSpPr/>
          <p:nvPr/>
        </p:nvSpPr>
        <p:spPr>
          <a:xfrm>
            <a:off x="6586689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3" name="Shape 11"/>
          <p:cNvSpPr/>
          <p:nvPr/>
        </p:nvSpPr>
        <p:spPr>
          <a:xfrm>
            <a:off x="7034015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4" name="Shape 12"/>
          <p:cNvSpPr/>
          <p:nvPr/>
        </p:nvSpPr>
        <p:spPr>
          <a:xfrm>
            <a:off x="7481340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5" name="Shape 13"/>
          <p:cNvSpPr/>
          <p:nvPr/>
        </p:nvSpPr>
        <p:spPr>
          <a:xfrm>
            <a:off x="7928666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6" name="Shape 14"/>
          <p:cNvSpPr/>
          <p:nvPr/>
        </p:nvSpPr>
        <p:spPr>
          <a:xfrm>
            <a:off x="4477868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173068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29 Dec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925193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620393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 Jan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5372519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067719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 Jan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819845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515045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 Jan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6267171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962371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 Jan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6714496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9696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 Feb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7161822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857022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 Feb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7609148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304348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 Feb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8056474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751674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23 Feb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3047848" y="2260600"/>
            <a:ext cx="6096000" cy="551180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35" name="Text 33"/>
          <p:cNvSpPr/>
          <p:nvPr/>
        </p:nvSpPr>
        <p:spPr>
          <a:xfrm>
            <a:off x="3047848" y="2440940"/>
            <a:ext cx="609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Phase 1 — Discovery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3174848" y="3017520"/>
            <a:ext cx="12268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Interviews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132674" y="3017520"/>
            <a:ext cx="3505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Anna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8533994" y="3023870"/>
            <a:ext cx="53365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 done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477868" y="2824480"/>
            <a:ext cx="3578606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4925193" y="3210560"/>
            <a:ext cx="958555" cy="71120"/>
          </a:xfrm>
          <a:prstGeom prst="rect">
            <a:avLst/>
          </a:prstGeom>
          <a:solidFill>
            <a:srgbClr val="CFCDC5"/>
          </a:solidFill>
          <a:ln/>
        </p:spPr>
      </p:sp>
      <p:sp>
        <p:nvSpPr>
          <p:cNvPr id="41" name="Shape 39"/>
          <p:cNvSpPr/>
          <p:nvPr/>
        </p:nvSpPr>
        <p:spPr>
          <a:xfrm>
            <a:off x="4925193" y="3023870"/>
            <a:ext cx="1150266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2" name="Shape 40"/>
          <p:cNvSpPr/>
          <p:nvPr/>
        </p:nvSpPr>
        <p:spPr>
          <a:xfrm>
            <a:off x="4925193" y="3023870"/>
            <a:ext cx="1150266" cy="177800"/>
          </a:xfrm>
          <a:prstGeom prst="rect">
            <a:avLst/>
          </a:prstGeom>
          <a:solidFill>
            <a:srgbClr val="1B4E8A"/>
          </a:solidFill>
          <a:ln/>
        </p:spPr>
      </p:sp>
      <p:sp>
        <p:nvSpPr>
          <p:cNvPr id="43" name="Text 41"/>
          <p:cNvSpPr/>
          <p:nvPr/>
        </p:nvSpPr>
        <p:spPr>
          <a:xfrm>
            <a:off x="4925193" y="3023870"/>
            <a:ext cx="115026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 Jan–23 Jan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3174848" y="3594100"/>
            <a:ext cx="12268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Synthesis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8132674" y="3594100"/>
            <a:ext cx="3505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Ben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4477868" y="3401060"/>
            <a:ext cx="3578606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5564230" y="3787140"/>
            <a:ext cx="766844" cy="71120"/>
          </a:xfrm>
          <a:prstGeom prst="rect">
            <a:avLst/>
          </a:prstGeom>
          <a:solidFill>
            <a:srgbClr val="CFCDC5"/>
          </a:solidFill>
          <a:ln/>
        </p:spPr>
      </p:sp>
      <p:sp>
        <p:nvSpPr>
          <p:cNvPr id="48" name="Shape 46"/>
          <p:cNvSpPr/>
          <p:nvPr/>
        </p:nvSpPr>
        <p:spPr>
          <a:xfrm>
            <a:off x="5819845" y="3600450"/>
            <a:ext cx="702940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5819845" y="3600450"/>
            <a:ext cx="421764" cy="177800"/>
          </a:xfrm>
          <a:prstGeom prst="rect">
            <a:avLst/>
          </a:prstGeom>
          <a:solidFill>
            <a:srgbClr val="1B4E8A"/>
          </a:solidFill>
          <a:ln/>
        </p:spPr>
      </p:sp>
      <p:sp>
        <p:nvSpPr>
          <p:cNvPr id="50" name="Shape 48"/>
          <p:cNvSpPr/>
          <p:nvPr/>
        </p:nvSpPr>
        <p:spPr>
          <a:xfrm>
            <a:off x="6442775" y="3609340"/>
            <a:ext cx="160020" cy="160020"/>
          </a:xfrm>
          <a:prstGeom prst="ellipse">
            <a:avLst/>
          </a:prstGeom>
          <a:solidFill>
            <a:srgbClr val="0B0B0B"/>
          </a:solidFill>
          <a:ln/>
        </p:spPr>
      </p:sp>
      <p:sp>
        <p:nvSpPr>
          <p:cNvPr id="51" name="Shape 49"/>
          <p:cNvSpPr/>
          <p:nvPr/>
        </p:nvSpPr>
        <p:spPr>
          <a:xfrm>
            <a:off x="3047848" y="3990340"/>
            <a:ext cx="6096000" cy="551180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52" name="Text 50"/>
          <p:cNvSpPr/>
          <p:nvPr/>
        </p:nvSpPr>
        <p:spPr>
          <a:xfrm>
            <a:off x="3047848" y="4170680"/>
            <a:ext cx="609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Phase 2 — Delivery</a:t>
            </a:r>
            <a:endParaRPr lang="en-US" sz="1000" dirty="0"/>
          </a:p>
        </p:txBody>
      </p:sp>
      <p:sp>
        <p:nvSpPr>
          <p:cNvPr id="53" name="Text 51"/>
          <p:cNvSpPr/>
          <p:nvPr/>
        </p:nvSpPr>
        <p:spPr>
          <a:xfrm>
            <a:off x="3174848" y="4747260"/>
            <a:ext cx="12268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8132674" y="4747260"/>
            <a:ext cx="3505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Cato</a:t>
            </a:r>
            <a:endParaRPr lang="en-US" sz="1000" dirty="0"/>
          </a:p>
        </p:txBody>
      </p:sp>
      <p:sp>
        <p:nvSpPr>
          <p:cNvPr id="55" name="Text 53"/>
          <p:cNvSpPr/>
          <p:nvPr/>
        </p:nvSpPr>
        <p:spPr>
          <a:xfrm>
            <a:off x="8533994" y="4753610"/>
            <a:ext cx="53365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at risk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4477868" y="4554220"/>
            <a:ext cx="3578606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6011556" y="4940300"/>
            <a:ext cx="1341977" cy="71120"/>
          </a:xfrm>
          <a:prstGeom prst="rect">
            <a:avLst/>
          </a:prstGeom>
          <a:solidFill>
            <a:srgbClr val="CFCDC5"/>
          </a:solidFill>
          <a:ln/>
        </p:spPr>
      </p:sp>
      <p:sp>
        <p:nvSpPr>
          <p:cNvPr id="58" name="Shape 56"/>
          <p:cNvSpPr/>
          <p:nvPr/>
        </p:nvSpPr>
        <p:spPr>
          <a:xfrm>
            <a:off x="6267171" y="4753610"/>
            <a:ext cx="1597592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9" name="Shape 57"/>
          <p:cNvSpPr/>
          <p:nvPr/>
        </p:nvSpPr>
        <p:spPr>
          <a:xfrm>
            <a:off x="6267171" y="4753610"/>
            <a:ext cx="319518" cy="177800"/>
          </a:xfrm>
          <a:prstGeom prst="rect">
            <a:avLst/>
          </a:prstGeom>
          <a:solidFill>
            <a:srgbClr val="1B4E8A"/>
          </a:solidFill>
          <a:ln/>
        </p:spPr>
      </p:sp>
      <p:sp>
        <p:nvSpPr>
          <p:cNvPr id="60" name="Text 58"/>
          <p:cNvSpPr/>
          <p:nvPr/>
        </p:nvSpPr>
        <p:spPr>
          <a:xfrm>
            <a:off x="6267171" y="4753610"/>
            <a:ext cx="1597592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 Jan–20 Feb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7784753" y="4762500"/>
            <a:ext cx="160020" cy="160020"/>
          </a:xfrm>
          <a:prstGeom prst="ellipse">
            <a:avLst/>
          </a:prstGeom>
          <a:solidFill>
            <a:srgbClr val="0B0B0B"/>
          </a:solidFill>
          <a:ln/>
        </p:spPr>
      </p:sp>
      <p:sp>
        <p:nvSpPr>
          <p:cNvPr id="62" name="Shape 60"/>
          <p:cNvSpPr/>
          <p:nvPr/>
        </p:nvSpPr>
        <p:spPr>
          <a:xfrm>
            <a:off x="6075460" y="3112770"/>
            <a:ext cx="0" cy="57658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5794445" y="3689350"/>
            <a:ext cx="281015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 rot="16200000">
            <a:off x="5807145" y="3644900"/>
            <a:ext cx="88900" cy="889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65" name="Shape 63"/>
          <p:cNvSpPr/>
          <p:nvPr/>
        </p:nvSpPr>
        <p:spPr>
          <a:xfrm>
            <a:off x="6522785" y="3689350"/>
            <a:ext cx="0" cy="115316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6241771" y="4842510"/>
            <a:ext cx="281015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 rot="16200000">
            <a:off x="6254471" y="4798060"/>
            <a:ext cx="88900" cy="889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68" name="Shape 66"/>
          <p:cNvSpPr/>
          <p:nvPr/>
        </p:nvSpPr>
        <p:spPr>
          <a:xfrm>
            <a:off x="6714496" y="2247900"/>
            <a:ext cx="0" cy="2882900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69" name="Text 67"/>
          <p:cNvSpPr/>
          <p:nvPr/>
        </p:nvSpPr>
        <p:spPr>
          <a:xfrm>
            <a:off x="6409696" y="5143500"/>
            <a:ext cx="6096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E3494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Today</a:t>
            </a:r>
            <a:endParaRPr lang="en-US" sz="85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Manual label nudge (labelOffsets)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686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40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9594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89148" y="4411641"/>
            <a:ext cx="863600" cy="69375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38348" y="4663271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89148" y="3962739"/>
            <a:ext cx="863600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38348" y="40919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89148" y="3595455"/>
            <a:ext cx="863600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38348" y="368384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073248" y="3411305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84548" y="4289213"/>
            <a:ext cx="863600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33748" y="460205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84548" y="3758692"/>
            <a:ext cx="863600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33748" y="3928703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84548" y="3411813"/>
            <a:ext cx="863600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33748" y="349000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368648" y="322766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879948" y="4146381"/>
            <a:ext cx="863600" cy="95901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29148" y="45306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879948" y="3513836"/>
            <a:ext cx="863600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29148" y="3734858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879948" y="3126147"/>
            <a:ext cx="863600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829148" y="322474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664048" y="2941997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175348" y="3962739"/>
            <a:ext cx="863600" cy="1142661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124548" y="4438819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7175348" y="3248575"/>
            <a:ext cx="863600" cy="71416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124548" y="351040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175348" y="2799673"/>
            <a:ext cx="863600" cy="4489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124548" y="2928874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959448" y="253932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305648" y="2938399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305648" y="3519932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8305648" y="4448344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Connector lines + footnote (source line)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49784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68648" y="49784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4048" y="49784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959448" y="49784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89148" y="4283964"/>
            <a:ext cx="863600" cy="656336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38348" y="451688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89148" y="3859276"/>
            <a:ext cx="863600" cy="424688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38348" y="397637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89148" y="3511804"/>
            <a:ext cx="863600" cy="347472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38348" y="359029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073248" y="3327654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84548" y="4168140"/>
            <a:ext cx="863600" cy="77216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33748" y="445897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84548" y="3666236"/>
            <a:ext cx="863600" cy="50190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33748" y="3821938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84548" y="3338068"/>
            <a:ext cx="863600" cy="328168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33748" y="340690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368648" y="3153918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879948" y="4033012"/>
            <a:ext cx="863600" cy="907288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29148" y="4391406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879948" y="3434588"/>
            <a:ext cx="863600" cy="59842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29148" y="363855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879948" y="3067812"/>
            <a:ext cx="863600" cy="366776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829148" y="315595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664048" y="2883662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175348" y="3859276"/>
            <a:ext cx="863600" cy="1081024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124548" y="4304538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7175348" y="3183636"/>
            <a:ext cx="863600" cy="67564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124548" y="3426206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175348" y="2758948"/>
            <a:ext cx="863600" cy="424688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124548" y="287604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959448" y="2574798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 flipV="1">
            <a:off x="4152748" y="4168140"/>
            <a:ext cx="431800" cy="115824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 flipV="1">
            <a:off x="4152748" y="3666236"/>
            <a:ext cx="431800" cy="19304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 flipV="1">
            <a:off x="4152748" y="3338068"/>
            <a:ext cx="431800" cy="173736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 flipV="1">
            <a:off x="5448148" y="4033012"/>
            <a:ext cx="431800" cy="135128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 flipV="1">
            <a:off x="5448148" y="3434588"/>
            <a:ext cx="431800" cy="231648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 flipV="1">
            <a:off x="5448148" y="3067812"/>
            <a:ext cx="431800" cy="270256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 flipV="1">
            <a:off x="6743548" y="3859276"/>
            <a:ext cx="431800" cy="173736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 flipV="1">
            <a:off x="6743548" y="3183636"/>
            <a:ext cx="431800" cy="250952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 flipV="1">
            <a:off x="6743548" y="2758948"/>
            <a:ext cx="431800" cy="308864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3073248" y="49403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8305648" y="2885567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8305648" y="3435731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8305648" y="4314063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3073248" y="5187950"/>
            <a:ext cx="6045200" cy="1397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Source: Statistics Denmark, 2024</a:t>
            </a:r>
            <a:endParaRPr lang="en-US" sz="85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Point highlight + speech-bubble callout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7151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86978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26805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306293" y="3505200"/>
            <a:ext cx="932180" cy="160020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55493" y="4210050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306293" y="3185160"/>
            <a:ext cx="932180" cy="32004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55493" y="3249930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04563" y="3345180"/>
            <a:ext cx="932180" cy="17602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53763" y="4130040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704563" y="2945130"/>
            <a:ext cx="932180" cy="40005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653763" y="3049905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102833" y="3225165"/>
            <a:ext cx="932180" cy="1880235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052033" y="4070033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102833" y="2385060"/>
            <a:ext cx="932180" cy="840105"/>
          </a:xfrm>
          <a:prstGeom prst="rect">
            <a:avLst/>
          </a:prstGeom>
          <a:solidFill>
            <a:srgbClr val="E34948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052033" y="2709863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21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501103" y="3025140"/>
            <a:ext cx="932180" cy="208026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450303" y="3970020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7501103" y="2465070"/>
            <a:ext cx="932180" cy="56007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450303" y="2649855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 flipV="1">
            <a:off x="4238473" y="3345180"/>
            <a:ext cx="466090" cy="16002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flipV="1">
            <a:off x="4238473" y="2945130"/>
            <a:ext cx="466090" cy="24003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V="1">
            <a:off x="5636743" y="3225165"/>
            <a:ext cx="466090" cy="120015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V="1">
            <a:off x="5636743" y="2385060"/>
            <a:ext cx="466090" cy="56007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flipV="1">
            <a:off x="7035013" y="3025140"/>
            <a:ext cx="466090" cy="200025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035013" y="2385060"/>
            <a:ext cx="466090" cy="8001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073248" y="5105400"/>
            <a:ext cx="55930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717128" y="2659380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New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8717128" y="3979545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Base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 flipV="1">
            <a:off x="6568923" y="1959610"/>
            <a:ext cx="381000" cy="400050"/>
          </a:xfrm>
          <a:prstGeom prst="line">
            <a:avLst/>
          </a:prstGeom>
          <a:noFill/>
          <a:ln w="9525">
            <a:solidFill>
              <a:srgbClr val="0B0B0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427953" y="1731010"/>
            <a:ext cx="1043940" cy="241300"/>
          </a:xfrm>
          <a:prstGeom prst="rect">
            <a:avLst/>
          </a:prstGeom>
          <a:solidFill>
            <a:srgbClr val="FFFFFF"/>
          </a:solidFill>
          <a:ln w="12700">
            <a:solidFill>
              <a:srgbClr val="0B0B0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27953" y="1731010"/>
            <a:ext cx="1043940" cy="2413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One-off boost</a:t>
            </a:r>
            <a:endParaRPr lang="en-US" sz="10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479648" y="2438400"/>
            <a:ext cx="5613400" cy="533400"/>
          </a:xfrm>
          <a:prstGeom prst="rect">
            <a:avLst/>
          </a:prstGeom>
          <a:solidFill>
            <a:srgbClr val="F2F1EC"/>
          </a:solidFill>
          <a:ln/>
        </p:spPr>
      </p:sp>
      <p:sp>
        <p:nvSpPr>
          <p:cNvPr id="3" name="Text 1"/>
          <p:cNvSpPr/>
          <p:nvPr/>
        </p:nvSpPr>
        <p:spPr>
          <a:xfrm>
            <a:off x="3517748" y="2451100"/>
            <a:ext cx="55372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Target range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Background band (target range) + line highlight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4796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8829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2863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6896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719889" y="3078480"/>
            <a:ext cx="922867" cy="20269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" name="Text 12"/>
          <p:cNvSpPr/>
          <p:nvPr/>
        </p:nvSpPr>
        <p:spPr>
          <a:xfrm>
            <a:off x="3669089" y="3996690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123239" y="2705100"/>
            <a:ext cx="922867" cy="2400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5072439" y="3810000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526589" y="2331720"/>
            <a:ext cx="922867" cy="277368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Text 16"/>
          <p:cNvSpPr/>
          <p:nvPr/>
        </p:nvSpPr>
        <p:spPr>
          <a:xfrm>
            <a:off x="6475789" y="3623310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929939" y="2491740"/>
            <a:ext cx="922867" cy="26136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Text 18"/>
          <p:cNvSpPr/>
          <p:nvPr/>
        </p:nvSpPr>
        <p:spPr>
          <a:xfrm>
            <a:off x="7879139" y="3703320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49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Scatter background bands (quadrant regions)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6956273" y="1879600"/>
            <a:ext cx="2085975" cy="3251200"/>
          </a:xfrm>
          <a:prstGeom prst="rect">
            <a:avLst/>
          </a:prstGeom>
          <a:solidFill>
            <a:srgbClr val="E8F0E4"/>
          </a:solidFill>
          <a:ln/>
        </p:spPr>
      </p:sp>
      <p:sp>
        <p:nvSpPr>
          <p:cNvPr id="4" name="Text 2"/>
          <p:cNvSpPr/>
          <p:nvPr/>
        </p:nvSpPr>
        <p:spPr>
          <a:xfrm>
            <a:off x="6994373" y="1892300"/>
            <a:ext cx="2009775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Focus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43180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4229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9648" y="35052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3416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479648" y="26924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47848" y="2603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479648" y="18796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047848" y="1790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5654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59561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73467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479648" y="18796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484535" y="427990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527523" y="326390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570510" y="367030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613498" y="265430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656485" y="224790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586135" y="4235450"/>
            <a:ext cx="939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5629123" y="3219450"/>
            <a:ext cx="939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6672110" y="3625850"/>
            <a:ext cx="939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7715098" y="2609850"/>
            <a:ext cx="939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8758085" y="2203450"/>
            <a:ext cx="939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</a:t>
            </a:r>
            <a:endParaRPr lang="en-US" sz="10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Exploding slice + slice color + 100% = note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692498" y="2082800"/>
            <a:ext cx="2806700" cy="2806700"/>
          </a:xfrm>
          <a:prstGeom prst="pie">
            <a:avLst>
              <a:gd name="adj1" fmla="val 16200000"/>
              <a:gd name="adj2" fmla="val 4536000"/>
            </a:avLst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590764" y="3281850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Retail 46%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626508" y="2173627"/>
            <a:ext cx="2806700" cy="2806700"/>
          </a:xfrm>
          <a:prstGeom prst="pie">
            <a:avLst>
              <a:gd name="adj1" fmla="val 4536000"/>
              <a:gd name="adj2" fmla="val 10584000"/>
            </a:avLst>
          </a:prstGeom>
          <a:solidFill>
            <a:srgbClr val="E3494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150140" y="4185634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Online 28%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692498" y="2082800"/>
            <a:ext cx="2806700" cy="2806700"/>
          </a:xfrm>
          <a:prstGeom prst="pie">
            <a:avLst>
              <a:gd name="adj1" fmla="val 10584000"/>
              <a:gd name="adj2" fmla="val 14472000"/>
            </a:avLst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862223" y="2971737"/>
            <a:ext cx="9423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Wholesale 18%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692498" y="2082800"/>
            <a:ext cx="2806700" cy="2806700"/>
          </a:xfrm>
          <a:prstGeom prst="pie">
            <a:avLst>
              <a:gd name="adj1" fmla="val 14472000"/>
              <a:gd name="adj2" fmla="val 16200000"/>
            </a:avLst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726319" y="2046932"/>
            <a:ext cx="17371" cy="67656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122142" y="1933231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8%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073248" y="5187950"/>
            <a:ext cx="6045200" cy="1397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100% = 100   ·   Source: annual report FY24</a:t>
            </a:r>
            <a:endParaRPr lang="en-US" sz="85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Pattern fills (SVG/preview; solid in PPT)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864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937608" y="5143500"/>
            <a:ext cx="1864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01968" y="5143500"/>
            <a:ext cx="1864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383974" y="3505200"/>
            <a:ext cx="1242907" cy="160020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333174" y="421005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383974" y="3105150"/>
            <a:ext cx="1242907" cy="40005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333174" y="3209925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383974" y="2865120"/>
            <a:ext cx="1242907" cy="24003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333174" y="2889885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248334" y="3345180"/>
            <a:ext cx="1242907" cy="17602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197534" y="413004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248334" y="2785110"/>
            <a:ext cx="1242907" cy="56007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197534" y="2969895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248334" y="2465070"/>
            <a:ext cx="1242907" cy="32004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197534" y="252984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7112694" y="3105150"/>
            <a:ext cx="1242907" cy="200025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061894" y="4010025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112694" y="2465070"/>
            <a:ext cx="1242907" cy="64008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061894" y="268986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112694" y="2105025"/>
            <a:ext cx="1242907" cy="360045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061894" y="2189798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 flipV="1">
            <a:off x="4626881" y="3345180"/>
            <a:ext cx="621453" cy="16002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V="1">
            <a:off x="4626881" y="2785110"/>
            <a:ext cx="621453" cy="32004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V="1">
            <a:off x="4626881" y="2465070"/>
            <a:ext cx="621453" cy="40005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flipV="1">
            <a:off x="6491241" y="3105150"/>
            <a:ext cx="621453" cy="24003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flipV="1">
            <a:off x="6491241" y="2465070"/>
            <a:ext cx="621453" cy="32004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flipV="1">
            <a:off x="6491241" y="2105025"/>
            <a:ext cx="621453" cy="360045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073248" y="5105400"/>
            <a:ext cx="55930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717128" y="2199323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Risk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8717128" y="2699385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8717128" y="4019550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Base</a:t>
            </a:r>
            <a:endParaRPr lang="en-US" sz="10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Boxplot from raw samples (Tukey whiskers, outliers)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479648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350781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221914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415214" y="3398520"/>
            <a:ext cx="0" cy="1066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415214" y="403860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183662" y="339852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183662" y="425196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900653" y="3505200"/>
            <a:ext cx="1029123" cy="53340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900653" y="3825240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339014" y="3522980"/>
            <a:ext cx="152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9878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387274" y="1877060"/>
            <a:ext cx="55880" cy="55880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18" name="Text 16"/>
          <p:cNvSpPr/>
          <p:nvPr/>
        </p:nvSpPr>
        <p:spPr>
          <a:xfrm>
            <a:off x="3900653" y="3634740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286348" y="2545080"/>
            <a:ext cx="0" cy="1066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286348" y="3291840"/>
            <a:ext cx="0" cy="32004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054795" y="254508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054795" y="361188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771786" y="2651760"/>
            <a:ext cx="1029123" cy="64008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771786" y="2971800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210148" y="2906607"/>
            <a:ext cx="152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9878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5771786" y="2781300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8157481" y="3611880"/>
            <a:ext cx="0" cy="1066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157481" y="425196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925928" y="361188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925928" y="446532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642919" y="3718560"/>
            <a:ext cx="1029123" cy="53340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642919" y="4038600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081281" y="3736340"/>
            <a:ext cx="152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9878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8129541" y="2090420"/>
            <a:ext cx="55880" cy="55880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35" name="Text 33"/>
          <p:cNvSpPr/>
          <p:nvPr/>
        </p:nvSpPr>
        <p:spPr>
          <a:xfrm>
            <a:off x="7642919" y="3848100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Horizontal boxplot (same shared axis, rotated)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1875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0290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68705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7120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2190750"/>
            <a:ext cx="3937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047848" y="3003550"/>
            <a:ext cx="3937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047848" y="3816350"/>
            <a:ext cx="3937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3047848" y="4629150"/>
            <a:ext cx="3937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West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702148" y="2286000"/>
            <a:ext cx="7366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228948" y="2286000"/>
            <a:ext cx="3683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438748" y="21854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228948" y="21854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597248" y="2062480"/>
            <a:ext cx="1104900" cy="44704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965548" y="2062480"/>
            <a:ext cx="0" cy="44704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84548" y="189103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6807048" y="3098800"/>
            <a:ext cx="11049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597248" y="3098800"/>
            <a:ext cx="7366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911948" y="29982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597248" y="29982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333848" y="2875280"/>
            <a:ext cx="1473200" cy="44704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070448" y="2875280"/>
            <a:ext cx="0" cy="44704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689448" y="270383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5333848" y="3911600"/>
            <a:ext cx="7366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860648" y="3911600"/>
            <a:ext cx="3683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070448" y="38110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860648" y="38110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228948" y="3688080"/>
            <a:ext cx="1104900" cy="44704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597248" y="3688080"/>
            <a:ext cx="0" cy="44704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216248" y="351663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6070448" y="4724400"/>
            <a:ext cx="11049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228948" y="4724400"/>
            <a:ext cx="7366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175348" y="46238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228948" y="46238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965548" y="4500880"/>
            <a:ext cx="1104900" cy="44704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333848" y="4500880"/>
            <a:ext cx="0" cy="44704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952848" y="432943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3492348" y="18796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Grouped boxplots (2024 vs 2025)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479648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350781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221914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479648" y="184150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" name="Text 9"/>
          <p:cNvSpPr/>
          <p:nvPr/>
        </p:nvSpPr>
        <p:spPr>
          <a:xfrm>
            <a:off x="3606648" y="1803400"/>
            <a:ext cx="3505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033368" y="184150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" name="Text 11"/>
          <p:cNvSpPr/>
          <p:nvPr/>
        </p:nvSpPr>
        <p:spPr>
          <a:xfrm>
            <a:off x="4160368" y="1803400"/>
            <a:ext cx="3505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087766" y="339852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087766" y="446532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948987" y="3398520"/>
            <a:ext cx="277558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948987" y="4678680"/>
            <a:ext cx="277558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779368" y="3825240"/>
            <a:ext cx="616797" cy="64008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779368" y="4251960"/>
            <a:ext cx="616797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958899" y="2545080"/>
            <a:ext cx="0" cy="6400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958899" y="403860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820120" y="254508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820120" y="446532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650501" y="3185160"/>
            <a:ext cx="616797" cy="85344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650501" y="3611880"/>
            <a:ext cx="616797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830033" y="361188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830033" y="467868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691253" y="361188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691253" y="489204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521634" y="4038600"/>
            <a:ext cx="616797" cy="64008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521634" y="4465320"/>
            <a:ext cx="616797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742663" y="318516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742663" y="425196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603883" y="318516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603883" y="446532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434264" y="3611880"/>
            <a:ext cx="616797" cy="640080"/>
          </a:xfrm>
          <a:prstGeom prst="rect">
            <a:avLst/>
          </a:prstGeom>
          <a:solidFill>
            <a:srgbClr val="E5F0EA"/>
          </a:solidFill>
          <a:ln w="12700">
            <a:solidFill>
              <a:srgbClr val="1BAF7A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434264" y="4038600"/>
            <a:ext cx="616797" cy="0"/>
          </a:xfrm>
          <a:prstGeom prst="line">
            <a:avLst/>
          </a:prstGeom>
          <a:noFill/>
          <a:ln w="22225">
            <a:solidFill>
              <a:srgbClr val="1BAF7A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613796" y="2331720"/>
            <a:ext cx="0" cy="6400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613796" y="382524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475017" y="233172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6475017" y="425196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305398" y="2971800"/>
            <a:ext cx="616797" cy="853440"/>
          </a:xfrm>
          <a:prstGeom prst="rect">
            <a:avLst/>
          </a:prstGeom>
          <a:solidFill>
            <a:srgbClr val="E5F0EA"/>
          </a:solidFill>
          <a:ln w="12700">
            <a:solidFill>
              <a:srgbClr val="1BAF7A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6305398" y="3398520"/>
            <a:ext cx="616797" cy="0"/>
          </a:xfrm>
          <a:prstGeom prst="line">
            <a:avLst/>
          </a:prstGeom>
          <a:noFill/>
          <a:ln w="22225">
            <a:solidFill>
              <a:srgbClr val="1BAF7A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8484929" y="339852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8484929" y="446532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8346150" y="339852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8346150" y="467868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8176531" y="3825240"/>
            <a:ext cx="616797" cy="640080"/>
          </a:xfrm>
          <a:prstGeom prst="rect">
            <a:avLst/>
          </a:prstGeom>
          <a:solidFill>
            <a:srgbClr val="E5F0EA"/>
          </a:solidFill>
          <a:ln w="12700">
            <a:solidFill>
              <a:srgbClr val="1BAF7A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8176531" y="4251960"/>
            <a:ext cx="616797" cy="0"/>
          </a:xfrm>
          <a:prstGeom prst="line">
            <a:avLst/>
          </a:prstGeom>
          <a:noFill/>
          <a:ln w="22225">
            <a:solidFill>
              <a:srgbClr val="1BAF7A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Error bars (Error / Error+ / Error- rows)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437642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277622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4796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Trial 1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8829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Trial 2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2863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Trial 3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6896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Trial 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719889" y="3121152"/>
            <a:ext cx="922867" cy="134416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Text 8"/>
          <p:cNvSpPr/>
          <p:nvPr/>
        </p:nvSpPr>
        <p:spPr>
          <a:xfrm>
            <a:off x="3669089" y="3697986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3239" y="2705100"/>
            <a:ext cx="922867" cy="17602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5072439" y="3489960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526589" y="2929128"/>
            <a:ext cx="922867" cy="153619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" name="Text 12"/>
          <p:cNvSpPr/>
          <p:nvPr/>
        </p:nvSpPr>
        <p:spPr>
          <a:xfrm>
            <a:off x="6475789" y="3601974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7929939" y="2513076"/>
            <a:ext cx="922867" cy="195224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7879139" y="3393948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479648" y="446532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181323" y="2961132"/>
            <a:ext cx="0" cy="32004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117823" y="2961132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117823" y="3281172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584673" y="2481072"/>
            <a:ext cx="0" cy="448056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521173" y="2481072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521173" y="2929128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988023" y="2641092"/>
            <a:ext cx="0" cy="384048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924523" y="2641092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924523" y="3025140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391373" y="2385060"/>
            <a:ext cx="0" cy="384048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327873" y="2385060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327873" y="2769108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73248" y="3705225"/>
            <a:ext cx="6019800" cy="1400175"/>
          </a:xfrm>
          <a:prstGeom prst="rect">
            <a:avLst/>
          </a:prstGeom>
          <a:solidFill>
            <a:srgbClr val="E4E2DA"/>
          </a:solidFill>
          <a:ln/>
        </p:spPr>
      </p:sp>
      <p:sp>
        <p:nvSpPr>
          <p:cNvPr id="3" name="Shape 1"/>
          <p:cNvSpPr/>
          <p:nvPr/>
        </p:nvSpPr>
        <p:spPr>
          <a:xfrm>
            <a:off x="3073248" y="2905125"/>
            <a:ext cx="6019800" cy="800100"/>
          </a:xfrm>
          <a:prstGeom prst="rect">
            <a:avLst/>
          </a:prstGeom>
          <a:solidFill>
            <a:srgbClr val="EFEEE8"/>
          </a:solidFill>
          <a:ln/>
        </p:spPr>
      </p:sp>
      <p:sp>
        <p:nvSpPr>
          <p:cNvPr id="4" name="Text 2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Bullet chart (Target row + range bands)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3073248" y="5143500"/>
            <a:ext cx="15049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8198" y="5143500"/>
            <a:ext cx="15049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083148" y="5143500"/>
            <a:ext cx="15049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588098" y="5143500"/>
            <a:ext cx="15049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West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330423" y="3425190"/>
            <a:ext cx="990600" cy="168021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Text 8"/>
          <p:cNvSpPr/>
          <p:nvPr/>
        </p:nvSpPr>
        <p:spPr>
          <a:xfrm>
            <a:off x="3279623" y="4170045"/>
            <a:ext cx="1092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835373" y="2905125"/>
            <a:ext cx="990600" cy="220027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4784573" y="3910013"/>
            <a:ext cx="1092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340323" y="3185160"/>
            <a:ext cx="990600" cy="192024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" name="Text 12"/>
          <p:cNvSpPr/>
          <p:nvPr/>
        </p:nvSpPr>
        <p:spPr>
          <a:xfrm>
            <a:off x="6289523" y="4050030"/>
            <a:ext cx="1092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7845273" y="2665095"/>
            <a:ext cx="990600" cy="244030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7794473" y="3789998"/>
            <a:ext cx="1092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073248" y="5105400"/>
            <a:ext cx="6019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495523" y="3105150"/>
            <a:ext cx="660400" cy="0"/>
          </a:xfrm>
          <a:prstGeom prst="line">
            <a:avLst/>
          </a:prstGeom>
          <a:noFill/>
          <a:ln w="28575">
            <a:solidFill>
              <a:srgbClr val="0B0B0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000473" y="3105150"/>
            <a:ext cx="660400" cy="0"/>
          </a:xfrm>
          <a:prstGeom prst="line">
            <a:avLst/>
          </a:prstGeom>
          <a:noFill/>
          <a:ln w="28575">
            <a:solidFill>
              <a:srgbClr val="0B0B0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505423" y="2905125"/>
            <a:ext cx="660400" cy="0"/>
          </a:xfrm>
          <a:prstGeom prst="line">
            <a:avLst/>
          </a:prstGeom>
          <a:noFill/>
          <a:ln w="28575">
            <a:solidFill>
              <a:srgbClr val="0B0B0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010373" y="2785110"/>
            <a:ext cx="660400" cy="0"/>
          </a:xfrm>
          <a:prstGeom prst="line">
            <a:avLst/>
          </a:prstGeom>
          <a:noFill/>
          <a:ln w="28575">
            <a:solidFill>
              <a:srgbClr val="0B0B0B"/>
            </a:solidFill>
            <a:prstDash val="solid"/>
          </a:ln>
        </p:spPr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Combo: clustered columns + line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8186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891888" y="5143500"/>
            <a:ext cx="18186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710528" y="5143500"/>
            <a:ext cx="18186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382704" y="2971800"/>
            <a:ext cx="593513" cy="21336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" name="Text 5"/>
          <p:cNvSpPr/>
          <p:nvPr/>
        </p:nvSpPr>
        <p:spPr>
          <a:xfrm>
            <a:off x="3331904" y="3943350"/>
            <a:ext cx="6951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988918" y="3078480"/>
            <a:ext cx="593513" cy="202692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9" name="Text 7"/>
          <p:cNvSpPr/>
          <p:nvPr/>
        </p:nvSpPr>
        <p:spPr>
          <a:xfrm>
            <a:off x="3938118" y="3996690"/>
            <a:ext cx="6951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201344" y="2651760"/>
            <a:ext cx="593513" cy="245364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" name="Text 9"/>
          <p:cNvSpPr/>
          <p:nvPr/>
        </p:nvSpPr>
        <p:spPr>
          <a:xfrm>
            <a:off x="5150544" y="3783330"/>
            <a:ext cx="6951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46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807558" y="2545080"/>
            <a:ext cx="593513" cy="256032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" name="Text 11"/>
          <p:cNvSpPr/>
          <p:nvPr/>
        </p:nvSpPr>
        <p:spPr>
          <a:xfrm>
            <a:off x="5756758" y="3729990"/>
            <a:ext cx="6951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019984" y="2331720"/>
            <a:ext cx="593513" cy="277368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6969184" y="3623310"/>
            <a:ext cx="6951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7626198" y="2171700"/>
            <a:ext cx="593513" cy="29337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" name="Text 15"/>
          <p:cNvSpPr/>
          <p:nvPr/>
        </p:nvSpPr>
        <p:spPr>
          <a:xfrm>
            <a:off x="7575398" y="3543300"/>
            <a:ext cx="6951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073248" y="5105400"/>
            <a:ext cx="545592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579968" y="3203575"/>
            <a:ext cx="5638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8579968" y="3724275"/>
            <a:ext cx="5638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Actual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8554568" y="50165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8554568" y="42164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8554568" y="34163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8554568" y="26162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8554568" y="18161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3952088" y="2594610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01568" y="241554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 flipV="1">
            <a:off x="3982568" y="2385060"/>
            <a:ext cx="1818640" cy="240030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770728" y="2354580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420208" y="217551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 flipV="1">
            <a:off x="5801208" y="2065020"/>
            <a:ext cx="1818640" cy="320040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589368" y="2034540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238848" y="185547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8579968" y="1652270"/>
            <a:ext cx="5638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Margin %</a:t>
            </a:r>
            <a:endParaRPr lang="en-US" sz="10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Dumbbell range (before vs after)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7151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86978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26805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West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721583" y="3454400"/>
            <a:ext cx="101600" cy="1016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48583" y="3416300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772383" y="3025140"/>
            <a:ext cx="0" cy="480060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721583" y="2974340"/>
            <a:ext cx="101600" cy="1016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848583" y="2936240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119853" y="2854325"/>
            <a:ext cx="101600" cy="1016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246853" y="2816225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170653" y="2705100"/>
            <a:ext cx="0" cy="200025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119853" y="2654300"/>
            <a:ext cx="101600" cy="1016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246853" y="2616200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518123" y="3134360"/>
            <a:ext cx="101600" cy="1016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645123" y="3096260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568923" y="3185160"/>
            <a:ext cx="0" cy="120015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518123" y="3254375"/>
            <a:ext cx="101600" cy="1016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645123" y="3216275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916393" y="2614295"/>
            <a:ext cx="101600" cy="1016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043393" y="2576195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967193" y="2305050"/>
            <a:ext cx="0" cy="360045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916393" y="2254250"/>
            <a:ext cx="101600" cy="1016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043393" y="2216150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073248" y="5105400"/>
            <a:ext cx="55930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717128" y="2219325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717128" y="2579370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Forecast with confidence band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27720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116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68512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2026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88908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2027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083148" y="3431858"/>
            <a:ext cx="56515" cy="7334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9" name="Shape 7"/>
          <p:cNvSpPr/>
          <p:nvPr/>
        </p:nvSpPr>
        <p:spPr>
          <a:xfrm>
            <a:off x="6133313" y="3413189"/>
            <a:ext cx="56515" cy="22003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0" name="Shape 8"/>
          <p:cNvSpPr/>
          <p:nvPr/>
        </p:nvSpPr>
        <p:spPr>
          <a:xfrm>
            <a:off x="6183478" y="3394519"/>
            <a:ext cx="56515" cy="3667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1" name="Shape 9"/>
          <p:cNvSpPr/>
          <p:nvPr/>
        </p:nvSpPr>
        <p:spPr>
          <a:xfrm>
            <a:off x="6233643" y="3375851"/>
            <a:ext cx="56515" cy="51340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2" name="Shape 10"/>
          <p:cNvSpPr/>
          <p:nvPr/>
        </p:nvSpPr>
        <p:spPr>
          <a:xfrm>
            <a:off x="6283808" y="3357182"/>
            <a:ext cx="56515" cy="66008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3" name="Shape 11"/>
          <p:cNvSpPr/>
          <p:nvPr/>
        </p:nvSpPr>
        <p:spPr>
          <a:xfrm>
            <a:off x="6333973" y="3338513"/>
            <a:ext cx="56515" cy="80677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4" name="Shape 12"/>
          <p:cNvSpPr/>
          <p:nvPr/>
        </p:nvSpPr>
        <p:spPr>
          <a:xfrm>
            <a:off x="6384138" y="3319844"/>
            <a:ext cx="56515" cy="95345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5" name="Shape 13"/>
          <p:cNvSpPr/>
          <p:nvPr/>
        </p:nvSpPr>
        <p:spPr>
          <a:xfrm>
            <a:off x="6434303" y="3301175"/>
            <a:ext cx="56515" cy="110014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6" name="Shape 14"/>
          <p:cNvSpPr/>
          <p:nvPr/>
        </p:nvSpPr>
        <p:spPr>
          <a:xfrm>
            <a:off x="6484468" y="3282506"/>
            <a:ext cx="56515" cy="124682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7" name="Shape 15"/>
          <p:cNvSpPr/>
          <p:nvPr/>
        </p:nvSpPr>
        <p:spPr>
          <a:xfrm>
            <a:off x="6534633" y="3263837"/>
            <a:ext cx="56515" cy="13935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8" name="Shape 16"/>
          <p:cNvSpPr/>
          <p:nvPr/>
        </p:nvSpPr>
        <p:spPr>
          <a:xfrm>
            <a:off x="6584798" y="3245168"/>
            <a:ext cx="56515" cy="154019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9" name="Shape 17"/>
          <p:cNvSpPr/>
          <p:nvPr/>
        </p:nvSpPr>
        <p:spPr>
          <a:xfrm>
            <a:off x="6634963" y="3226499"/>
            <a:ext cx="56515" cy="168688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0" name="Shape 18"/>
          <p:cNvSpPr/>
          <p:nvPr/>
        </p:nvSpPr>
        <p:spPr>
          <a:xfrm>
            <a:off x="6685128" y="3207830"/>
            <a:ext cx="56515" cy="183356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1" name="Shape 19"/>
          <p:cNvSpPr/>
          <p:nvPr/>
        </p:nvSpPr>
        <p:spPr>
          <a:xfrm>
            <a:off x="6735293" y="3189161"/>
            <a:ext cx="56515" cy="198025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2" name="Shape 20"/>
          <p:cNvSpPr/>
          <p:nvPr/>
        </p:nvSpPr>
        <p:spPr>
          <a:xfrm>
            <a:off x="6785458" y="3170492"/>
            <a:ext cx="56515" cy="212693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3" name="Shape 21"/>
          <p:cNvSpPr/>
          <p:nvPr/>
        </p:nvSpPr>
        <p:spPr>
          <a:xfrm>
            <a:off x="6835623" y="3151823"/>
            <a:ext cx="56515" cy="227362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4" name="Shape 22"/>
          <p:cNvSpPr/>
          <p:nvPr/>
        </p:nvSpPr>
        <p:spPr>
          <a:xfrm>
            <a:off x="6885788" y="3133154"/>
            <a:ext cx="56515" cy="242030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5" name="Shape 23"/>
          <p:cNvSpPr/>
          <p:nvPr/>
        </p:nvSpPr>
        <p:spPr>
          <a:xfrm>
            <a:off x="6935953" y="3114485"/>
            <a:ext cx="56515" cy="256699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6" name="Shape 24"/>
          <p:cNvSpPr/>
          <p:nvPr/>
        </p:nvSpPr>
        <p:spPr>
          <a:xfrm>
            <a:off x="6986118" y="3095816"/>
            <a:ext cx="56515" cy="271367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7" name="Shape 25"/>
          <p:cNvSpPr/>
          <p:nvPr/>
        </p:nvSpPr>
        <p:spPr>
          <a:xfrm>
            <a:off x="7036283" y="3077147"/>
            <a:ext cx="56515" cy="286036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8" name="Shape 26"/>
          <p:cNvSpPr/>
          <p:nvPr/>
        </p:nvSpPr>
        <p:spPr>
          <a:xfrm>
            <a:off x="7086448" y="3058478"/>
            <a:ext cx="56515" cy="300704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9" name="Shape 27"/>
          <p:cNvSpPr/>
          <p:nvPr/>
        </p:nvSpPr>
        <p:spPr>
          <a:xfrm>
            <a:off x="7136613" y="3039809"/>
            <a:ext cx="56515" cy="315373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0" name="Shape 28"/>
          <p:cNvSpPr/>
          <p:nvPr/>
        </p:nvSpPr>
        <p:spPr>
          <a:xfrm>
            <a:off x="7186778" y="3021140"/>
            <a:ext cx="56515" cy="33004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1" name="Shape 29"/>
          <p:cNvSpPr/>
          <p:nvPr/>
        </p:nvSpPr>
        <p:spPr>
          <a:xfrm>
            <a:off x="7236943" y="3002471"/>
            <a:ext cx="56515" cy="344710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2" name="Shape 30"/>
          <p:cNvSpPr/>
          <p:nvPr/>
        </p:nvSpPr>
        <p:spPr>
          <a:xfrm>
            <a:off x="7287108" y="2982468"/>
            <a:ext cx="56515" cy="360045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3" name="Shape 31"/>
          <p:cNvSpPr/>
          <p:nvPr/>
        </p:nvSpPr>
        <p:spPr>
          <a:xfrm>
            <a:off x="7337273" y="2961132"/>
            <a:ext cx="56515" cy="376047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4" name="Shape 32"/>
          <p:cNvSpPr/>
          <p:nvPr/>
        </p:nvSpPr>
        <p:spPr>
          <a:xfrm>
            <a:off x="7387438" y="2939796"/>
            <a:ext cx="56515" cy="392049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5" name="Shape 33"/>
          <p:cNvSpPr/>
          <p:nvPr/>
        </p:nvSpPr>
        <p:spPr>
          <a:xfrm>
            <a:off x="7437603" y="2918460"/>
            <a:ext cx="56515" cy="40805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6" name="Shape 34"/>
          <p:cNvSpPr/>
          <p:nvPr/>
        </p:nvSpPr>
        <p:spPr>
          <a:xfrm>
            <a:off x="7487768" y="2897124"/>
            <a:ext cx="56515" cy="424053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7" name="Shape 35"/>
          <p:cNvSpPr/>
          <p:nvPr/>
        </p:nvSpPr>
        <p:spPr>
          <a:xfrm>
            <a:off x="7537933" y="2875788"/>
            <a:ext cx="56515" cy="440055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8" name="Shape 36"/>
          <p:cNvSpPr/>
          <p:nvPr/>
        </p:nvSpPr>
        <p:spPr>
          <a:xfrm>
            <a:off x="7588098" y="2854452"/>
            <a:ext cx="56515" cy="456057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9" name="Shape 37"/>
          <p:cNvSpPr/>
          <p:nvPr/>
        </p:nvSpPr>
        <p:spPr>
          <a:xfrm>
            <a:off x="7638263" y="2833116"/>
            <a:ext cx="56515" cy="472059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0" name="Shape 38"/>
          <p:cNvSpPr/>
          <p:nvPr/>
        </p:nvSpPr>
        <p:spPr>
          <a:xfrm>
            <a:off x="7688428" y="2811780"/>
            <a:ext cx="56515" cy="48806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1" name="Shape 39"/>
          <p:cNvSpPr/>
          <p:nvPr/>
        </p:nvSpPr>
        <p:spPr>
          <a:xfrm>
            <a:off x="7738593" y="2790444"/>
            <a:ext cx="56515" cy="504063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2" name="Shape 40"/>
          <p:cNvSpPr/>
          <p:nvPr/>
        </p:nvSpPr>
        <p:spPr>
          <a:xfrm>
            <a:off x="7788758" y="2769108"/>
            <a:ext cx="56515" cy="520065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3" name="Shape 41"/>
          <p:cNvSpPr/>
          <p:nvPr/>
        </p:nvSpPr>
        <p:spPr>
          <a:xfrm>
            <a:off x="7838923" y="2747772"/>
            <a:ext cx="56515" cy="536067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4" name="Shape 42"/>
          <p:cNvSpPr/>
          <p:nvPr/>
        </p:nvSpPr>
        <p:spPr>
          <a:xfrm>
            <a:off x="7889088" y="2726436"/>
            <a:ext cx="56515" cy="552069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5" name="Shape 43"/>
          <p:cNvSpPr/>
          <p:nvPr/>
        </p:nvSpPr>
        <p:spPr>
          <a:xfrm>
            <a:off x="7939253" y="2705100"/>
            <a:ext cx="56515" cy="56807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6" name="Shape 44"/>
          <p:cNvSpPr/>
          <p:nvPr/>
        </p:nvSpPr>
        <p:spPr>
          <a:xfrm>
            <a:off x="7989418" y="2683764"/>
            <a:ext cx="56515" cy="584073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7" name="Shape 45"/>
          <p:cNvSpPr/>
          <p:nvPr/>
        </p:nvSpPr>
        <p:spPr>
          <a:xfrm>
            <a:off x="8039583" y="2662428"/>
            <a:ext cx="56515" cy="600075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8" name="Shape 46"/>
          <p:cNvSpPr/>
          <p:nvPr/>
        </p:nvSpPr>
        <p:spPr>
          <a:xfrm>
            <a:off x="8089748" y="2641092"/>
            <a:ext cx="56515" cy="616077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9" name="Shape 47"/>
          <p:cNvSpPr/>
          <p:nvPr/>
        </p:nvSpPr>
        <p:spPr>
          <a:xfrm>
            <a:off x="8139913" y="2619756"/>
            <a:ext cx="56515" cy="632079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50" name="Shape 48"/>
          <p:cNvSpPr/>
          <p:nvPr/>
        </p:nvSpPr>
        <p:spPr>
          <a:xfrm>
            <a:off x="8190078" y="2598420"/>
            <a:ext cx="56515" cy="64808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51" name="Shape 49"/>
          <p:cNvSpPr/>
          <p:nvPr/>
        </p:nvSpPr>
        <p:spPr>
          <a:xfrm>
            <a:off x="8240243" y="2577084"/>
            <a:ext cx="56515" cy="664083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52" name="Shape 50"/>
          <p:cNvSpPr/>
          <p:nvPr/>
        </p:nvSpPr>
        <p:spPr>
          <a:xfrm>
            <a:off x="8290408" y="2555748"/>
            <a:ext cx="56515" cy="680085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53" name="Shape 51"/>
          <p:cNvSpPr/>
          <p:nvPr/>
        </p:nvSpPr>
        <p:spPr>
          <a:xfrm>
            <a:off x="8340573" y="2534412"/>
            <a:ext cx="56515" cy="696087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54" name="Shape 52"/>
          <p:cNvSpPr/>
          <p:nvPr/>
        </p:nvSpPr>
        <p:spPr>
          <a:xfrm>
            <a:off x="8390738" y="2513076"/>
            <a:ext cx="56515" cy="712089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55" name="Shape 53"/>
          <p:cNvSpPr/>
          <p:nvPr/>
        </p:nvSpPr>
        <p:spPr>
          <a:xfrm>
            <a:off x="8440903" y="2491740"/>
            <a:ext cx="56515" cy="72809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56" name="Shape 54"/>
          <p:cNvSpPr/>
          <p:nvPr/>
        </p:nvSpPr>
        <p:spPr>
          <a:xfrm>
            <a:off x="6685128" y="1905000"/>
            <a:ext cx="0" cy="3200400"/>
          </a:xfrm>
          <a:prstGeom prst="line">
            <a:avLst/>
          </a:prstGeom>
          <a:noFill/>
          <a:ln w="12700">
            <a:solidFill>
              <a:srgbClr val="E1E0D9"/>
            </a:solidFill>
            <a:prstDash val="dash"/>
          </a:ln>
        </p:spPr>
      </p:sp>
      <p:sp>
        <p:nvSpPr>
          <p:cNvPr id="57" name="Shape 55"/>
          <p:cNvSpPr/>
          <p:nvPr/>
        </p:nvSpPr>
        <p:spPr>
          <a:xfrm>
            <a:off x="3644748" y="379476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3294228" y="361569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 flipV="1">
            <a:off x="3675228" y="3633216"/>
            <a:ext cx="1203960" cy="19202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848708" y="3602736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4498188" y="3423666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46</a:t>
            </a:r>
            <a:endParaRPr lang="en-US" sz="1000" dirty="0"/>
          </a:p>
        </p:txBody>
      </p:sp>
      <p:sp>
        <p:nvSpPr>
          <p:cNvPr id="62" name="Shape 60"/>
          <p:cNvSpPr/>
          <p:nvPr/>
        </p:nvSpPr>
        <p:spPr>
          <a:xfrm flipV="1">
            <a:off x="4879188" y="3441192"/>
            <a:ext cx="1203960" cy="19202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6052668" y="3410712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5702148" y="3231642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 flipV="1">
            <a:off x="6083148" y="3185160"/>
            <a:ext cx="1203960" cy="256032"/>
          </a:xfrm>
          <a:prstGeom prst="line">
            <a:avLst/>
          </a:prstGeom>
          <a:noFill/>
          <a:ln w="25400">
            <a:solidFill>
              <a:srgbClr val="2A78D6"/>
            </a:solidFill>
            <a:prstDash val="dash"/>
          </a:ln>
        </p:spPr>
      </p:sp>
      <p:sp>
        <p:nvSpPr>
          <p:cNvPr id="66" name="Shape 64"/>
          <p:cNvSpPr/>
          <p:nvPr/>
        </p:nvSpPr>
        <p:spPr>
          <a:xfrm>
            <a:off x="7256628" y="3154680"/>
            <a:ext cx="60960" cy="60960"/>
          </a:xfrm>
          <a:prstGeom prst="rect">
            <a:avLst/>
          </a:prstGeom>
          <a:solidFill>
            <a:srgbClr val="FFFFFF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6906108" y="297561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1000" dirty="0"/>
          </a:p>
        </p:txBody>
      </p:sp>
      <p:sp>
        <p:nvSpPr>
          <p:cNvPr id="68" name="Shape 66"/>
          <p:cNvSpPr/>
          <p:nvPr/>
        </p:nvSpPr>
        <p:spPr>
          <a:xfrm flipV="1">
            <a:off x="7287108" y="2897124"/>
            <a:ext cx="1203960" cy="288036"/>
          </a:xfrm>
          <a:prstGeom prst="line">
            <a:avLst/>
          </a:prstGeom>
          <a:noFill/>
          <a:ln w="25400">
            <a:solidFill>
              <a:srgbClr val="2A78D6"/>
            </a:solidFill>
            <a:prstDash val="dash"/>
          </a:ln>
        </p:spPr>
      </p:sp>
      <p:sp>
        <p:nvSpPr>
          <p:cNvPr id="69" name="Shape 67"/>
          <p:cNvSpPr/>
          <p:nvPr/>
        </p:nvSpPr>
        <p:spPr>
          <a:xfrm>
            <a:off x="8460588" y="2866644"/>
            <a:ext cx="60960" cy="60960"/>
          </a:xfrm>
          <a:prstGeom prst="rect">
            <a:avLst/>
          </a:prstGeom>
          <a:solidFill>
            <a:srgbClr val="FFFFFF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8110068" y="2687574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69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3073248" y="5105400"/>
            <a:ext cx="6019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Budget-vs-actual bridge (gap to target)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27720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116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Price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68512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88908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FY24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273908" y="3270504"/>
            <a:ext cx="802640" cy="183489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" name="Text 7"/>
          <p:cNvSpPr/>
          <p:nvPr/>
        </p:nvSpPr>
        <p:spPr>
          <a:xfrm>
            <a:off x="3197708" y="4092702"/>
            <a:ext cx="9550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86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076548" y="3270504"/>
            <a:ext cx="40132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1" name="Shape 9"/>
          <p:cNvSpPr/>
          <p:nvPr/>
        </p:nvSpPr>
        <p:spPr>
          <a:xfrm>
            <a:off x="4477868" y="2971800"/>
            <a:ext cx="802640" cy="29870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4401668" y="3025902"/>
            <a:ext cx="9550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280508" y="2971800"/>
            <a:ext cx="40132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4" name="Shape 12"/>
          <p:cNvSpPr/>
          <p:nvPr/>
        </p:nvSpPr>
        <p:spPr>
          <a:xfrm>
            <a:off x="5681828" y="2779776"/>
            <a:ext cx="802640" cy="19202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5605628" y="2780538"/>
            <a:ext cx="9550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+9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484468" y="2779776"/>
            <a:ext cx="40132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7" name="Shape 15"/>
          <p:cNvSpPr/>
          <p:nvPr/>
        </p:nvSpPr>
        <p:spPr>
          <a:xfrm>
            <a:off x="6885788" y="2779776"/>
            <a:ext cx="802640" cy="256032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18" name="Text 16"/>
          <p:cNvSpPr/>
          <p:nvPr/>
        </p:nvSpPr>
        <p:spPr>
          <a:xfrm>
            <a:off x="6809588" y="2812542"/>
            <a:ext cx="9550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-12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688428" y="3035808"/>
            <a:ext cx="40132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>
            <a:off x="8089748" y="3035808"/>
            <a:ext cx="802640" cy="2069592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21" name="Text 19"/>
          <p:cNvSpPr/>
          <p:nvPr/>
        </p:nvSpPr>
        <p:spPr>
          <a:xfrm>
            <a:off x="8013548" y="3975354"/>
            <a:ext cx="9550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073248" y="5105400"/>
            <a:ext cx="6019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160868" y="2758440"/>
            <a:ext cx="660400" cy="0"/>
          </a:xfrm>
          <a:prstGeom prst="line">
            <a:avLst/>
          </a:prstGeom>
          <a:noFill/>
          <a:ln w="28575">
            <a:solidFill>
              <a:srgbClr val="0B0B0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089748" y="2758440"/>
            <a:ext cx="802640" cy="277368"/>
          </a:xfrm>
          <a:prstGeom prst="rect">
            <a:avLst/>
          </a:prstGeom>
          <a:solidFill>
            <a:srgbClr val="898781"/>
          </a:solidFill>
          <a:ln w="9525">
            <a:solidFill>
              <a:srgbClr val="52514E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038948" y="2567940"/>
            <a:ext cx="9042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Gap +13</a:t>
            </a:r>
            <a:endParaRPr lang="en-US" sz="95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Heatmap with marginal totals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492348" y="1803400"/>
            <a:ext cx="1279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771873" y="1803400"/>
            <a:ext cx="1279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051398" y="1803400"/>
            <a:ext cx="1279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30923" y="1803400"/>
            <a:ext cx="1279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047848" y="1993900"/>
            <a:ext cx="393700" cy="9059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492348" y="1993900"/>
            <a:ext cx="1266825" cy="893233"/>
          </a:xfrm>
          <a:prstGeom prst="rect">
            <a:avLst/>
          </a:prstGeom>
          <a:solidFill>
            <a:srgbClr val="AABDE7"/>
          </a:solidFill>
          <a:ln/>
        </p:spPr>
      </p:sp>
      <p:sp>
        <p:nvSpPr>
          <p:cNvPr id="9" name="Text 7"/>
          <p:cNvSpPr/>
          <p:nvPr/>
        </p:nvSpPr>
        <p:spPr>
          <a:xfrm>
            <a:off x="3492348" y="1993900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771873" y="1993900"/>
            <a:ext cx="1266825" cy="893233"/>
          </a:xfrm>
          <a:prstGeom prst="rect">
            <a:avLst/>
          </a:prstGeom>
          <a:solidFill>
            <a:srgbClr val="8CA7E1"/>
          </a:solidFill>
          <a:ln/>
        </p:spPr>
      </p:sp>
      <p:sp>
        <p:nvSpPr>
          <p:cNvPr id="11" name="Text 9"/>
          <p:cNvSpPr/>
          <p:nvPr/>
        </p:nvSpPr>
        <p:spPr>
          <a:xfrm>
            <a:off x="4771873" y="1993900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051398" y="1993900"/>
            <a:ext cx="1266825" cy="893233"/>
          </a:xfrm>
          <a:prstGeom prst="rect">
            <a:avLst/>
          </a:prstGeom>
          <a:solidFill>
            <a:srgbClr val="799BDE"/>
          </a:solidFill>
          <a:ln/>
        </p:spPr>
      </p:sp>
      <p:sp>
        <p:nvSpPr>
          <p:cNvPr id="13" name="Text 11"/>
          <p:cNvSpPr/>
          <p:nvPr/>
        </p:nvSpPr>
        <p:spPr>
          <a:xfrm>
            <a:off x="6051398" y="1993900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51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30923" y="1993900"/>
            <a:ext cx="1266825" cy="8932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7330923" y="1993900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047848" y="2899833"/>
            <a:ext cx="393700" cy="9059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492348" y="2899833"/>
            <a:ext cx="1266825" cy="893233"/>
          </a:xfrm>
          <a:prstGeom prst="rect">
            <a:avLst/>
          </a:prstGeom>
          <a:solidFill>
            <a:srgbClr val="D8E0F3"/>
          </a:solidFill>
          <a:ln/>
        </p:spPr>
      </p:sp>
      <p:sp>
        <p:nvSpPr>
          <p:cNvPr id="18" name="Text 16"/>
          <p:cNvSpPr/>
          <p:nvPr/>
        </p:nvSpPr>
        <p:spPr>
          <a:xfrm>
            <a:off x="3492348" y="2899833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771873" y="2899833"/>
            <a:ext cx="1266825" cy="893233"/>
          </a:xfrm>
          <a:prstGeom prst="rect">
            <a:avLst/>
          </a:prstGeom>
          <a:solidFill>
            <a:srgbClr val="CBD5F0"/>
          </a:solidFill>
          <a:ln/>
        </p:spPr>
      </p:sp>
      <p:sp>
        <p:nvSpPr>
          <p:cNvPr id="20" name="Text 18"/>
          <p:cNvSpPr/>
          <p:nvPr/>
        </p:nvSpPr>
        <p:spPr>
          <a:xfrm>
            <a:off x="4771873" y="2899833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051398" y="2899833"/>
            <a:ext cx="1266825" cy="893233"/>
          </a:xfrm>
          <a:prstGeom prst="rect">
            <a:avLst/>
          </a:prstGeom>
          <a:solidFill>
            <a:srgbClr val="D5DDF2"/>
          </a:solidFill>
          <a:ln/>
        </p:spPr>
      </p:sp>
      <p:sp>
        <p:nvSpPr>
          <p:cNvPr id="22" name="Text 20"/>
          <p:cNvSpPr/>
          <p:nvPr/>
        </p:nvSpPr>
        <p:spPr>
          <a:xfrm>
            <a:off x="6051398" y="2899833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330923" y="2899833"/>
            <a:ext cx="1266825" cy="893233"/>
          </a:xfrm>
          <a:prstGeom prst="rect">
            <a:avLst/>
          </a:prstGeom>
          <a:solidFill>
            <a:srgbClr val="C3CFEE"/>
          </a:solidFill>
          <a:ln/>
        </p:spPr>
      </p:sp>
      <p:sp>
        <p:nvSpPr>
          <p:cNvPr id="24" name="Text 22"/>
          <p:cNvSpPr/>
          <p:nvPr/>
        </p:nvSpPr>
        <p:spPr>
          <a:xfrm>
            <a:off x="7330923" y="2899833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047848" y="3805767"/>
            <a:ext cx="393700" cy="9059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492348" y="3805767"/>
            <a:ext cx="1266825" cy="893233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27" name="Text 25"/>
          <p:cNvSpPr/>
          <p:nvPr/>
        </p:nvSpPr>
        <p:spPr>
          <a:xfrm>
            <a:off x="3492348" y="3805767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771873" y="3805767"/>
            <a:ext cx="1266825" cy="893233"/>
          </a:xfrm>
          <a:prstGeom prst="rect">
            <a:avLst/>
          </a:prstGeom>
          <a:solidFill>
            <a:srgbClr val="E8EDF8"/>
          </a:solidFill>
          <a:ln/>
        </p:spPr>
      </p:sp>
      <p:sp>
        <p:nvSpPr>
          <p:cNvPr id="29" name="Text 27"/>
          <p:cNvSpPr/>
          <p:nvPr/>
        </p:nvSpPr>
        <p:spPr>
          <a:xfrm>
            <a:off x="4771873" y="3805767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051398" y="3805767"/>
            <a:ext cx="1266825" cy="893233"/>
          </a:xfrm>
          <a:prstGeom prst="rect">
            <a:avLst/>
          </a:prstGeom>
          <a:solidFill>
            <a:srgbClr val="DCE3F4"/>
          </a:solidFill>
          <a:ln/>
        </p:spPr>
      </p:sp>
      <p:sp>
        <p:nvSpPr>
          <p:cNvPr id="31" name="Text 29"/>
          <p:cNvSpPr/>
          <p:nvPr/>
        </p:nvSpPr>
        <p:spPr>
          <a:xfrm>
            <a:off x="6051398" y="3805767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29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330923" y="3805767"/>
            <a:ext cx="1266825" cy="893233"/>
          </a:xfrm>
          <a:prstGeom prst="rect">
            <a:avLst/>
          </a:prstGeom>
          <a:solidFill>
            <a:srgbClr val="CED8F0"/>
          </a:solidFill>
          <a:ln/>
        </p:spPr>
      </p:sp>
      <p:sp>
        <p:nvSpPr>
          <p:cNvPr id="33" name="Text 31"/>
          <p:cNvSpPr/>
          <p:nvPr/>
        </p:nvSpPr>
        <p:spPr>
          <a:xfrm>
            <a:off x="7330923" y="3805767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8635848" y="1993900"/>
            <a:ext cx="457200" cy="893233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35" name="Text 33"/>
          <p:cNvSpPr/>
          <p:nvPr/>
        </p:nvSpPr>
        <p:spPr>
          <a:xfrm>
            <a:off x="8635848" y="1993900"/>
            <a:ext cx="431800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199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8635848" y="2899833"/>
            <a:ext cx="457200" cy="893233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37" name="Text 35"/>
          <p:cNvSpPr/>
          <p:nvPr/>
        </p:nvSpPr>
        <p:spPr>
          <a:xfrm>
            <a:off x="8635848" y="2899833"/>
            <a:ext cx="431800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131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8635848" y="3805767"/>
            <a:ext cx="457200" cy="893233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39" name="Text 37"/>
          <p:cNvSpPr/>
          <p:nvPr/>
        </p:nvSpPr>
        <p:spPr>
          <a:xfrm>
            <a:off x="8635848" y="3805767"/>
            <a:ext cx="431800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109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3492348" y="4737100"/>
            <a:ext cx="1266825" cy="190500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41" name="Text 39"/>
          <p:cNvSpPr/>
          <p:nvPr/>
        </p:nvSpPr>
        <p:spPr>
          <a:xfrm>
            <a:off x="3492348" y="4737100"/>
            <a:ext cx="12668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94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4771873" y="4737100"/>
            <a:ext cx="1266825" cy="190500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43" name="Text 41"/>
          <p:cNvSpPr/>
          <p:nvPr/>
        </p:nvSpPr>
        <p:spPr>
          <a:xfrm>
            <a:off x="4771873" y="4737100"/>
            <a:ext cx="12668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107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6051398" y="4737100"/>
            <a:ext cx="1266825" cy="190500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45" name="Text 43"/>
          <p:cNvSpPr/>
          <p:nvPr/>
        </p:nvSpPr>
        <p:spPr>
          <a:xfrm>
            <a:off x="6051398" y="4737100"/>
            <a:ext cx="12668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111</a:t>
            </a:r>
            <a:endParaRPr lang="en-US" sz="950" dirty="0"/>
          </a:p>
        </p:txBody>
      </p:sp>
      <p:sp>
        <p:nvSpPr>
          <p:cNvPr id="46" name="Shape 44"/>
          <p:cNvSpPr/>
          <p:nvPr/>
        </p:nvSpPr>
        <p:spPr>
          <a:xfrm>
            <a:off x="7330923" y="4737100"/>
            <a:ext cx="1266825" cy="190500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47" name="Text 45"/>
          <p:cNvSpPr/>
          <p:nvPr/>
        </p:nvSpPr>
        <p:spPr>
          <a:xfrm>
            <a:off x="7330923" y="4737100"/>
            <a:ext cx="12668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127</a:t>
            </a:r>
            <a:endParaRPr lang="en-US" sz="950" dirty="0"/>
          </a:p>
        </p:txBody>
      </p:sp>
      <p:sp>
        <p:nvSpPr>
          <p:cNvPr id="48" name="Shape 46"/>
          <p:cNvSpPr/>
          <p:nvPr/>
        </p:nvSpPr>
        <p:spPr>
          <a:xfrm>
            <a:off x="3492348" y="5029200"/>
            <a:ext cx="80433" cy="114300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49" name="Shape 47"/>
          <p:cNvSpPr/>
          <p:nvPr/>
        </p:nvSpPr>
        <p:spPr>
          <a:xfrm>
            <a:off x="3566431" y="5029200"/>
            <a:ext cx="80433" cy="114300"/>
          </a:xfrm>
          <a:prstGeom prst="rect">
            <a:avLst/>
          </a:prstGeom>
          <a:solidFill>
            <a:srgbClr val="ECF0FA"/>
          </a:solidFill>
          <a:ln/>
        </p:spPr>
      </p:sp>
      <p:sp>
        <p:nvSpPr>
          <p:cNvPr id="50" name="Shape 48"/>
          <p:cNvSpPr/>
          <p:nvPr/>
        </p:nvSpPr>
        <p:spPr>
          <a:xfrm>
            <a:off x="3640514" y="5029200"/>
            <a:ext cx="80433" cy="114300"/>
          </a:xfrm>
          <a:prstGeom prst="rect">
            <a:avLst/>
          </a:prstGeom>
          <a:solidFill>
            <a:srgbClr val="E8ECF8"/>
          </a:solidFill>
          <a:ln/>
        </p:spPr>
      </p:sp>
      <p:sp>
        <p:nvSpPr>
          <p:cNvPr id="51" name="Shape 49"/>
          <p:cNvSpPr/>
          <p:nvPr/>
        </p:nvSpPr>
        <p:spPr>
          <a:xfrm>
            <a:off x="3714598" y="5029200"/>
            <a:ext cx="80433" cy="114300"/>
          </a:xfrm>
          <a:prstGeom prst="rect">
            <a:avLst/>
          </a:prstGeom>
          <a:solidFill>
            <a:srgbClr val="E3E9F7"/>
          </a:solidFill>
          <a:ln/>
        </p:spPr>
      </p:sp>
      <p:sp>
        <p:nvSpPr>
          <p:cNvPr id="52" name="Shape 50"/>
          <p:cNvSpPr/>
          <p:nvPr/>
        </p:nvSpPr>
        <p:spPr>
          <a:xfrm>
            <a:off x="3788681" y="5029200"/>
            <a:ext cx="80433" cy="114300"/>
          </a:xfrm>
          <a:prstGeom prst="rect">
            <a:avLst/>
          </a:prstGeom>
          <a:solidFill>
            <a:srgbClr val="DEE5F5"/>
          </a:solidFill>
          <a:ln/>
        </p:spPr>
      </p:sp>
      <p:sp>
        <p:nvSpPr>
          <p:cNvPr id="53" name="Shape 51"/>
          <p:cNvSpPr/>
          <p:nvPr/>
        </p:nvSpPr>
        <p:spPr>
          <a:xfrm>
            <a:off x="3862764" y="5029200"/>
            <a:ext cx="80433" cy="114300"/>
          </a:xfrm>
          <a:prstGeom prst="rect">
            <a:avLst/>
          </a:prstGeom>
          <a:solidFill>
            <a:srgbClr val="D9E0F4"/>
          </a:solidFill>
          <a:ln/>
        </p:spPr>
      </p:sp>
      <p:sp>
        <p:nvSpPr>
          <p:cNvPr id="54" name="Shape 52"/>
          <p:cNvSpPr/>
          <p:nvPr/>
        </p:nvSpPr>
        <p:spPr>
          <a:xfrm>
            <a:off x="3936848" y="5029200"/>
            <a:ext cx="80433" cy="11430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55" name="Shape 53"/>
          <p:cNvSpPr/>
          <p:nvPr/>
        </p:nvSpPr>
        <p:spPr>
          <a:xfrm>
            <a:off x="4010931" y="5029200"/>
            <a:ext cx="80433" cy="114300"/>
          </a:xfrm>
          <a:prstGeom prst="rect">
            <a:avLst/>
          </a:prstGeom>
          <a:solidFill>
            <a:srgbClr val="CED8F1"/>
          </a:solidFill>
          <a:ln/>
        </p:spPr>
      </p:sp>
      <p:sp>
        <p:nvSpPr>
          <p:cNvPr id="56" name="Shape 54"/>
          <p:cNvSpPr/>
          <p:nvPr/>
        </p:nvSpPr>
        <p:spPr>
          <a:xfrm>
            <a:off x="4085014" y="5029200"/>
            <a:ext cx="80433" cy="114300"/>
          </a:xfrm>
          <a:prstGeom prst="rect">
            <a:avLst/>
          </a:prstGeom>
          <a:solidFill>
            <a:srgbClr val="C9D4EF"/>
          </a:solidFill>
          <a:ln/>
        </p:spPr>
      </p:sp>
      <p:sp>
        <p:nvSpPr>
          <p:cNvPr id="57" name="Shape 55"/>
          <p:cNvSpPr/>
          <p:nvPr/>
        </p:nvSpPr>
        <p:spPr>
          <a:xfrm>
            <a:off x="4159098" y="5029200"/>
            <a:ext cx="80433" cy="114300"/>
          </a:xfrm>
          <a:prstGeom prst="rect">
            <a:avLst/>
          </a:prstGeom>
          <a:solidFill>
            <a:srgbClr val="C3CFED"/>
          </a:solidFill>
          <a:ln/>
        </p:spPr>
      </p:sp>
      <p:sp>
        <p:nvSpPr>
          <p:cNvPr id="58" name="Shape 56"/>
          <p:cNvSpPr/>
          <p:nvPr/>
        </p:nvSpPr>
        <p:spPr>
          <a:xfrm>
            <a:off x="4233181" y="5029200"/>
            <a:ext cx="80433" cy="114300"/>
          </a:xfrm>
          <a:prstGeom prst="rect">
            <a:avLst/>
          </a:prstGeom>
          <a:solidFill>
            <a:srgbClr val="BDCAEC"/>
          </a:solidFill>
          <a:ln/>
        </p:spPr>
      </p:sp>
      <p:sp>
        <p:nvSpPr>
          <p:cNvPr id="59" name="Shape 57"/>
          <p:cNvSpPr/>
          <p:nvPr/>
        </p:nvSpPr>
        <p:spPr>
          <a:xfrm>
            <a:off x="4307264" y="5029200"/>
            <a:ext cx="80433" cy="114300"/>
          </a:xfrm>
          <a:prstGeom prst="rect">
            <a:avLst/>
          </a:prstGeom>
          <a:solidFill>
            <a:srgbClr val="B6C6EA"/>
          </a:solidFill>
          <a:ln/>
        </p:spPr>
      </p:sp>
      <p:sp>
        <p:nvSpPr>
          <p:cNvPr id="60" name="Shape 58"/>
          <p:cNvSpPr/>
          <p:nvPr/>
        </p:nvSpPr>
        <p:spPr>
          <a:xfrm>
            <a:off x="4381348" y="5029200"/>
            <a:ext cx="80433" cy="114300"/>
          </a:xfrm>
          <a:prstGeom prst="rect">
            <a:avLst/>
          </a:prstGeom>
          <a:solidFill>
            <a:srgbClr val="B0C1E9"/>
          </a:solidFill>
          <a:ln/>
        </p:spPr>
      </p:sp>
      <p:sp>
        <p:nvSpPr>
          <p:cNvPr id="61" name="Shape 59"/>
          <p:cNvSpPr/>
          <p:nvPr/>
        </p:nvSpPr>
        <p:spPr>
          <a:xfrm>
            <a:off x="4455431" y="5029200"/>
            <a:ext cx="80433" cy="114300"/>
          </a:xfrm>
          <a:prstGeom prst="rect">
            <a:avLst/>
          </a:prstGeom>
          <a:solidFill>
            <a:srgbClr val="A9BBE7"/>
          </a:solidFill>
          <a:ln/>
        </p:spPr>
      </p:sp>
      <p:sp>
        <p:nvSpPr>
          <p:cNvPr id="62" name="Shape 60"/>
          <p:cNvSpPr/>
          <p:nvPr/>
        </p:nvSpPr>
        <p:spPr>
          <a:xfrm>
            <a:off x="4529514" y="5029200"/>
            <a:ext cx="80433" cy="114300"/>
          </a:xfrm>
          <a:prstGeom prst="rect">
            <a:avLst/>
          </a:prstGeom>
          <a:solidFill>
            <a:srgbClr val="A1B6E5"/>
          </a:solidFill>
          <a:ln/>
        </p:spPr>
      </p:sp>
      <p:sp>
        <p:nvSpPr>
          <p:cNvPr id="63" name="Shape 61"/>
          <p:cNvSpPr/>
          <p:nvPr/>
        </p:nvSpPr>
        <p:spPr>
          <a:xfrm>
            <a:off x="4603598" y="5029200"/>
            <a:ext cx="80433" cy="114300"/>
          </a:xfrm>
          <a:prstGeom prst="rect">
            <a:avLst/>
          </a:prstGeom>
          <a:solidFill>
            <a:srgbClr val="9AB1E4"/>
          </a:solidFill>
          <a:ln/>
        </p:spPr>
      </p:sp>
      <p:sp>
        <p:nvSpPr>
          <p:cNvPr id="64" name="Shape 62"/>
          <p:cNvSpPr/>
          <p:nvPr/>
        </p:nvSpPr>
        <p:spPr>
          <a:xfrm>
            <a:off x="4677681" y="5029200"/>
            <a:ext cx="80433" cy="114300"/>
          </a:xfrm>
          <a:prstGeom prst="rect">
            <a:avLst/>
          </a:prstGeom>
          <a:solidFill>
            <a:srgbClr val="91ABE2"/>
          </a:solidFill>
          <a:ln/>
        </p:spPr>
      </p:sp>
      <p:sp>
        <p:nvSpPr>
          <p:cNvPr id="65" name="Shape 63"/>
          <p:cNvSpPr/>
          <p:nvPr/>
        </p:nvSpPr>
        <p:spPr>
          <a:xfrm>
            <a:off x="4751764" y="5029200"/>
            <a:ext cx="80433" cy="114300"/>
          </a:xfrm>
          <a:prstGeom prst="rect">
            <a:avLst/>
          </a:prstGeom>
          <a:solidFill>
            <a:srgbClr val="88A5E0"/>
          </a:solidFill>
          <a:ln/>
        </p:spPr>
      </p:sp>
      <p:sp>
        <p:nvSpPr>
          <p:cNvPr id="66" name="Shape 64"/>
          <p:cNvSpPr/>
          <p:nvPr/>
        </p:nvSpPr>
        <p:spPr>
          <a:xfrm>
            <a:off x="4825848" y="5029200"/>
            <a:ext cx="80433" cy="114300"/>
          </a:xfrm>
          <a:prstGeom prst="rect">
            <a:avLst/>
          </a:prstGeom>
          <a:solidFill>
            <a:srgbClr val="7E9EDF"/>
          </a:solidFill>
          <a:ln/>
        </p:spPr>
      </p:sp>
      <p:sp>
        <p:nvSpPr>
          <p:cNvPr id="67" name="Shape 65"/>
          <p:cNvSpPr/>
          <p:nvPr/>
        </p:nvSpPr>
        <p:spPr>
          <a:xfrm>
            <a:off x="4899931" y="5029200"/>
            <a:ext cx="80433" cy="114300"/>
          </a:xfrm>
          <a:prstGeom prst="rect">
            <a:avLst/>
          </a:prstGeom>
          <a:solidFill>
            <a:srgbClr val="7398DD"/>
          </a:solidFill>
          <a:ln/>
        </p:spPr>
      </p:sp>
      <p:sp>
        <p:nvSpPr>
          <p:cNvPr id="68" name="Shape 66"/>
          <p:cNvSpPr/>
          <p:nvPr/>
        </p:nvSpPr>
        <p:spPr>
          <a:xfrm>
            <a:off x="4974014" y="5029200"/>
            <a:ext cx="80433" cy="114300"/>
          </a:xfrm>
          <a:prstGeom prst="rect">
            <a:avLst/>
          </a:prstGeom>
          <a:solidFill>
            <a:srgbClr val="6791DB"/>
          </a:solidFill>
          <a:ln/>
        </p:spPr>
      </p:sp>
      <p:sp>
        <p:nvSpPr>
          <p:cNvPr id="69" name="Shape 67"/>
          <p:cNvSpPr/>
          <p:nvPr/>
        </p:nvSpPr>
        <p:spPr>
          <a:xfrm>
            <a:off x="5048098" y="5029200"/>
            <a:ext cx="80433" cy="114300"/>
          </a:xfrm>
          <a:prstGeom prst="rect">
            <a:avLst/>
          </a:prstGeom>
          <a:solidFill>
            <a:srgbClr val="5889DA"/>
          </a:solidFill>
          <a:ln/>
        </p:spPr>
      </p:sp>
      <p:sp>
        <p:nvSpPr>
          <p:cNvPr id="70" name="Shape 68"/>
          <p:cNvSpPr/>
          <p:nvPr/>
        </p:nvSpPr>
        <p:spPr>
          <a:xfrm>
            <a:off x="5122181" y="5029200"/>
            <a:ext cx="80433" cy="114300"/>
          </a:xfrm>
          <a:prstGeom prst="rect">
            <a:avLst/>
          </a:prstGeom>
          <a:solidFill>
            <a:srgbClr val="4681D8"/>
          </a:solidFill>
          <a:ln/>
        </p:spPr>
      </p:sp>
      <p:sp>
        <p:nvSpPr>
          <p:cNvPr id="71" name="Shape 69"/>
          <p:cNvSpPr/>
          <p:nvPr/>
        </p:nvSpPr>
        <p:spPr>
          <a:xfrm>
            <a:off x="5196264" y="5029200"/>
            <a:ext cx="80433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2" name="Text 70"/>
          <p:cNvSpPr/>
          <p:nvPr/>
        </p:nvSpPr>
        <p:spPr>
          <a:xfrm>
            <a:off x="3492348" y="5149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850" dirty="0"/>
          </a:p>
        </p:txBody>
      </p:sp>
      <p:sp>
        <p:nvSpPr>
          <p:cNvPr id="73" name="Text 71"/>
          <p:cNvSpPr/>
          <p:nvPr/>
        </p:nvSpPr>
        <p:spPr>
          <a:xfrm>
            <a:off x="4381348" y="5149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85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Slope chart — market share, before vs after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272128" y="2044700"/>
            <a:ext cx="0" cy="30480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510128" y="1803400"/>
            <a:ext cx="1524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2020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7919568" y="2044700"/>
            <a:ext cx="0" cy="30480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157568" y="1803400"/>
            <a:ext cx="1524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241648" y="3201336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4272128" y="2288540"/>
            <a:ext cx="3647440" cy="94327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889088" y="225806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3136566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2A78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A 24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995768" y="2193290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2A78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A 31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241648" y="2662321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272128" y="2692801"/>
            <a:ext cx="3647440" cy="269507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889088" y="2931828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047848" y="2597551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B 28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7995768" y="2867058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B 26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241648" y="3875104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flipV="1">
            <a:off x="4272128" y="3501323"/>
            <a:ext cx="3647440" cy="404261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889088" y="3470843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047848" y="3810334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EDA1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C 19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7995768" y="3406073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EDA1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C 22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241648" y="4818380"/>
            <a:ext cx="60960" cy="60960"/>
          </a:xfrm>
          <a:prstGeom prst="rect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V="1">
            <a:off x="4272128" y="4040338"/>
            <a:ext cx="3647440" cy="808522"/>
          </a:xfrm>
          <a:prstGeom prst="line">
            <a:avLst/>
          </a:prstGeom>
          <a:noFill/>
          <a:ln w="25400">
            <a:solidFill>
              <a:srgbClr val="00830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889088" y="4009858"/>
            <a:ext cx="60960" cy="60960"/>
          </a:xfrm>
          <a:prstGeom prst="rect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047848" y="4753610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083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Private label 12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995768" y="3945088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083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Private label 18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3073248" y="5187950"/>
            <a:ext cx="6045200" cy="1397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Source: internal market model, 2026</a:t>
            </a:r>
            <a:endParaRPr lang="en-US" sz="85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Waffle — order mix by channel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0732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" name="Shape 2"/>
          <p:cNvSpPr/>
          <p:nvPr/>
        </p:nvSpPr>
        <p:spPr>
          <a:xfrm>
            <a:off x="34161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" name="Shape 3"/>
          <p:cNvSpPr/>
          <p:nvPr/>
        </p:nvSpPr>
        <p:spPr>
          <a:xfrm>
            <a:off x="37590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" name="Shape 4"/>
          <p:cNvSpPr/>
          <p:nvPr/>
        </p:nvSpPr>
        <p:spPr>
          <a:xfrm>
            <a:off x="41019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" name="Shape 5"/>
          <p:cNvSpPr/>
          <p:nvPr/>
        </p:nvSpPr>
        <p:spPr>
          <a:xfrm>
            <a:off x="44448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Shape 6"/>
          <p:cNvSpPr/>
          <p:nvPr/>
        </p:nvSpPr>
        <p:spPr>
          <a:xfrm>
            <a:off x="47877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" name="Shape 7"/>
          <p:cNvSpPr/>
          <p:nvPr/>
        </p:nvSpPr>
        <p:spPr>
          <a:xfrm>
            <a:off x="51306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Shape 8"/>
          <p:cNvSpPr/>
          <p:nvPr/>
        </p:nvSpPr>
        <p:spPr>
          <a:xfrm>
            <a:off x="54735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" name="Shape 9"/>
          <p:cNvSpPr/>
          <p:nvPr/>
        </p:nvSpPr>
        <p:spPr>
          <a:xfrm>
            <a:off x="58164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Shape 10"/>
          <p:cNvSpPr/>
          <p:nvPr/>
        </p:nvSpPr>
        <p:spPr>
          <a:xfrm>
            <a:off x="61593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Shape 11"/>
          <p:cNvSpPr/>
          <p:nvPr/>
        </p:nvSpPr>
        <p:spPr>
          <a:xfrm>
            <a:off x="30732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" name="Shape 12"/>
          <p:cNvSpPr/>
          <p:nvPr/>
        </p:nvSpPr>
        <p:spPr>
          <a:xfrm>
            <a:off x="34161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Shape 13"/>
          <p:cNvSpPr/>
          <p:nvPr/>
        </p:nvSpPr>
        <p:spPr>
          <a:xfrm>
            <a:off x="37590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Shape 14"/>
          <p:cNvSpPr/>
          <p:nvPr/>
        </p:nvSpPr>
        <p:spPr>
          <a:xfrm>
            <a:off x="41019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7" name="Shape 15"/>
          <p:cNvSpPr/>
          <p:nvPr/>
        </p:nvSpPr>
        <p:spPr>
          <a:xfrm>
            <a:off x="44448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Shape 16"/>
          <p:cNvSpPr/>
          <p:nvPr/>
        </p:nvSpPr>
        <p:spPr>
          <a:xfrm>
            <a:off x="47877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Shape 17"/>
          <p:cNvSpPr/>
          <p:nvPr/>
        </p:nvSpPr>
        <p:spPr>
          <a:xfrm>
            <a:off x="51306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Shape 18"/>
          <p:cNvSpPr/>
          <p:nvPr/>
        </p:nvSpPr>
        <p:spPr>
          <a:xfrm>
            <a:off x="54735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Shape 19"/>
          <p:cNvSpPr/>
          <p:nvPr/>
        </p:nvSpPr>
        <p:spPr>
          <a:xfrm>
            <a:off x="58164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Shape 20"/>
          <p:cNvSpPr/>
          <p:nvPr/>
        </p:nvSpPr>
        <p:spPr>
          <a:xfrm>
            <a:off x="61593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Shape 21"/>
          <p:cNvSpPr/>
          <p:nvPr/>
        </p:nvSpPr>
        <p:spPr>
          <a:xfrm>
            <a:off x="30732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4" name="Shape 22"/>
          <p:cNvSpPr/>
          <p:nvPr/>
        </p:nvSpPr>
        <p:spPr>
          <a:xfrm>
            <a:off x="34161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Shape 23"/>
          <p:cNvSpPr/>
          <p:nvPr/>
        </p:nvSpPr>
        <p:spPr>
          <a:xfrm>
            <a:off x="37590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6" name="Shape 24"/>
          <p:cNvSpPr/>
          <p:nvPr/>
        </p:nvSpPr>
        <p:spPr>
          <a:xfrm>
            <a:off x="41019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Shape 25"/>
          <p:cNvSpPr/>
          <p:nvPr/>
        </p:nvSpPr>
        <p:spPr>
          <a:xfrm>
            <a:off x="44448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8" name="Shape 26"/>
          <p:cNvSpPr/>
          <p:nvPr/>
        </p:nvSpPr>
        <p:spPr>
          <a:xfrm>
            <a:off x="47877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9" name="Shape 27"/>
          <p:cNvSpPr/>
          <p:nvPr/>
        </p:nvSpPr>
        <p:spPr>
          <a:xfrm>
            <a:off x="51306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Shape 28"/>
          <p:cNvSpPr/>
          <p:nvPr/>
        </p:nvSpPr>
        <p:spPr>
          <a:xfrm>
            <a:off x="54735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Shape 29"/>
          <p:cNvSpPr/>
          <p:nvPr/>
        </p:nvSpPr>
        <p:spPr>
          <a:xfrm>
            <a:off x="58164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2" name="Shape 30"/>
          <p:cNvSpPr/>
          <p:nvPr/>
        </p:nvSpPr>
        <p:spPr>
          <a:xfrm>
            <a:off x="61593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Shape 31"/>
          <p:cNvSpPr/>
          <p:nvPr/>
        </p:nvSpPr>
        <p:spPr>
          <a:xfrm>
            <a:off x="30732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4" name="Shape 32"/>
          <p:cNvSpPr/>
          <p:nvPr/>
        </p:nvSpPr>
        <p:spPr>
          <a:xfrm>
            <a:off x="34161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Shape 33"/>
          <p:cNvSpPr/>
          <p:nvPr/>
        </p:nvSpPr>
        <p:spPr>
          <a:xfrm>
            <a:off x="37590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6" name="Shape 34"/>
          <p:cNvSpPr/>
          <p:nvPr/>
        </p:nvSpPr>
        <p:spPr>
          <a:xfrm>
            <a:off x="41019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7" name="Shape 35"/>
          <p:cNvSpPr/>
          <p:nvPr/>
        </p:nvSpPr>
        <p:spPr>
          <a:xfrm>
            <a:off x="44448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8" name="Shape 36"/>
          <p:cNvSpPr/>
          <p:nvPr/>
        </p:nvSpPr>
        <p:spPr>
          <a:xfrm>
            <a:off x="47877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9" name="Shape 37"/>
          <p:cNvSpPr/>
          <p:nvPr/>
        </p:nvSpPr>
        <p:spPr>
          <a:xfrm>
            <a:off x="51306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0" name="Shape 38"/>
          <p:cNvSpPr/>
          <p:nvPr/>
        </p:nvSpPr>
        <p:spPr>
          <a:xfrm>
            <a:off x="54735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1" name="Shape 39"/>
          <p:cNvSpPr/>
          <p:nvPr/>
        </p:nvSpPr>
        <p:spPr>
          <a:xfrm>
            <a:off x="58164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2" name="Shape 40"/>
          <p:cNvSpPr/>
          <p:nvPr/>
        </p:nvSpPr>
        <p:spPr>
          <a:xfrm>
            <a:off x="61593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3" name="Shape 41"/>
          <p:cNvSpPr/>
          <p:nvPr/>
        </p:nvSpPr>
        <p:spPr>
          <a:xfrm>
            <a:off x="30732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4" name="Shape 42"/>
          <p:cNvSpPr/>
          <p:nvPr/>
        </p:nvSpPr>
        <p:spPr>
          <a:xfrm>
            <a:off x="34161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5" name="Shape 43"/>
          <p:cNvSpPr/>
          <p:nvPr/>
        </p:nvSpPr>
        <p:spPr>
          <a:xfrm>
            <a:off x="37590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6" name="Shape 44"/>
          <p:cNvSpPr/>
          <p:nvPr/>
        </p:nvSpPr>
        <p:spPr>
          <a:xfrm>
            <a:off x="41019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7" name="Shape 45"/>
          <p:cNvSpPr/>
          <p:nvPr/>
        </p:nvSpPr>
        <p:spPr>
          <a:xfrm>
            <a:off x="44448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8" name="Shape 46"/>
          <p:cNvSpPr/>
          <p:nvPr/>
        </p:nvSpPr>
        <p:spPr>
          <a:xfrm>
            <a:off x="47877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51306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0" name="Shape 48"/>
          <p:cNvSpPr/>
          <p:nvPr/>
        </p:nvSpPr>
        <p:spPr>
          <a:xfrm>
            <a:off x="54735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1" name="Shape 49"/>
          <p:cNvSpPr/>
          <p:nvPr/>
        </p:nvSpPr>
        <p:spPr>
          <a:xfrm>
            <a:off x="58164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2" name="Shape 50"/>
          <p:cNvSpPr/>
          <p:nvPr/>
        </p:nvSpPr>
        <p:spPr>
          <a:xfrm>
            <a:off x="61593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3" name="Shape 51"/>
          <p:cNvSpPr/>
          <p:nvPr/>
        </p:nvSpPr>
        <p:spPr>
          <a:xfrm>
            <a:off x="30732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4" name="Shape 52"/>
          <p:cNvSpPr/>
          <p:nvPr/>
        </p:nvSpPr>
        <p:spPr>
          <a:xfrm>
            <a:off x="34161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5" name="Shape 53"/>
          <p:cNvSpPr/>
          <p:nvPr/>
        </p:nvSpPr>
        <p:spPr>
          <a:xfrm>
            <a:off x="37590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56" name="Shape 54"/>
          <p:cNvSpPr/>
          <p:nvPr/>
        </p:nvSpPr>
        <p:spPr>
          <a:xfrm>
            <a:off x="41019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57" name="Shape 55"/>
          <p:cNvSpPr/>
          <p:nvPr/>
        </p:nvSpPr>
        <p:spPr>
          <a:xfrm>
            <a:off x="44448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58" name="Shape 56"/>
          <p:cNvSpPr/>
          <p:nvPr/>
        </p:nvSpPr>
        <p:spPr>
          <a:xfrm>
            <a:off x="47877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59" name="Shape 57"/>
          <p:cNvSpPr/>
          <p:nvPr/>
        </p:nvSpPr>
        <p:spPr>
          <a:xfrm>
            <a:off x="51306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0" name="Shape 58"/>
          <p:cNvSpPr/>
          <p:nvPr/>
        </p:nvSpPr>
        <p:spPr>
          <a:xfrm>
            <a:off x="54735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1" name="Shape 59"/>
          <p:cNvSpPr/>
          <p:nvPr/>
        </p:nvSpPr>
        <p:spPr>
          <a:xfrm>
            <a:off x="58164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2" name="Shape 60"/>
          <p:cNvSpPr/>
          <p:nvPr/>
        </p:nvSpPr>
        <p:spPr>
          <a:xfrm>
            <a:off x="61593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3" name="Shape 61"/>
          <p:cNvSpPr/>
          <p:nvPr/>
        </p:nvSpPr>
        <p:spPr>
          <a:xfrm>
            <a:off x="30732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4" name="Shape 62"/>
          <p:cNvSpPr/>
          <p:nvPr/>
        </p:nvSpPr>
        <p:spPr>
          <a:xfrm>
            <a:off x="34161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5" name="Shape 63"/>
          <p:cNvSpPr/>
          <p:nvPr/>
        </p:nvSpPr>
        <p:spPr>
          <a:xfrm>
            <a:off x="37590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6" name="Shape 64"/>
          <p:cNvSpPr/>
          <p:nvPr/>
        </p:nvSpPr>
        <p:spPr>
          <a:xfrm>
            <a:off x="41019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7" name="Shape 65"/>
          <p:cNvSpPr/>
          <p:nvPr/>
        </p:nvSpPr>
        <p:spPr>
          <a:xfrm>
            <a:off x="44448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8" name="Shape 66"/>
          <p:cNvSpPr/>
          <p:nvPr/>
        </p:nvSpPr>
        <p:spPr>
          <a:xfrm>
            <a:off x="47877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9" name="Shape 67"/>
          <p:cNvSpPr/>
          <p:nvPr/>
        </p:nvSpPr>
        <p:spPr>
          <a:xfrm>
            <a:off x="51306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0" name="Shape 68"/>
          <p:cNvSpPr/>
          <p:nvPr/>
        </p:nvSpPr>
        <p:spPr>
          <a:xfrm>
            <a:off x="54735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1" name="Shape 69"/>
          <p:cNvSpPr/>
          <p:nvPr/>
        </p:nvSpPr>
        <p:spPr>
          <a:xfrm>
            <a:off x="58164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2" name="Shape 70"/>
          <p:cNvSpPr/>
          <p:nvPr/>
        </p:nvSpPr>
        <p:spPr>
          <a:xfrm>
            <a:off x="61593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3" name="Shape 71"/>
          <p:cNvSpPr/>
          <p:nvPr/>
        </p:nvSpPr>
        <p:spPr>
          <a:xfrm>
            <a:off x="30732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4" name="Shape 72"/>
          <p:cNvSpPr/>
          <p:nvPr/>
        </p:nvSpPr>
        <p:spPr>
          <a:xfrm>
            <a:off x="34161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5" name="Shape 73"/>
          <p:cNvSpPr/>
          <p:nvPr/>
        </p:nvSpPr>
        <p:spPr>
          <a:xfrm>
            <a:off x="37590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6" name="Shape 74"/>
          <p:cNvSpPr/>
          <p:nvPr/>
        </p:nvSpPr>
        <p:spPr>
          <a:xfrm>
            <a:off x="41019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7" name="Shape 75"/>
          <p:cNvSpPr/>
          <p:nvPr/>
        </p:nvSpPr>
        <p:spPr>
          <a:xfrm>
            <a:off x="44448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8" name="Shape 76"/>
          <p:cNvSpPr/>
          <p:nvPr/>
        </p:nvSpPr>
        <p:spPr>
          <a:xfrm>
            <a:off x="47877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9" name="Shape 77"/>
          <p:cNvSpPr/>
          <p:nvPr/>
        </p:nvSpPr>
        <p:spPr>
          <a:xfrm>
            <a:off x="51306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0" name="Shape 78"/>
          <p:cNvSpPr/>
          <p:nvPr/>
        </p:nvSpPr>
        <p:spPr>
          <a:xfrm>
            <a:off x="54735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1" name="Shape 79"/>
          <p:cNvSpPr/>
          <p:nvPr/>
        </p:nvSpPr>
        <p:spPr>
          <a:xfrm>
            <a:off x="58164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2" name="Shape 80"/>
          <p:cNvSpPr/>
          <p:nvPr/>
        </p:nvSpPr>
        <p:spPr>
          <a:xfrm>
            <a:off x="61593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3" name="Shape 81"/>
          <p:cNvSpPr/>
          <p:nvPr/>
        </p:nvSpPr>
        <p:spPr>
          <a:xfrm>
            <a:off x="3073248" y="21971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4" name="Shape 82"/>
          <p:cNvSpPr/>
          <p:nvPr/>
        </p:nvSpPr>
        <p:spPr>
          <a:xfrm>
            <a:off x="3416148" y="21971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5" name="Shape 83"/>
          <p:cNvSpPr/>
          <p:nvPr/>
        </p:nvSpPr>
        <p:spPr>
          <a:xfrm>
            <a:off x="3759048" y="21971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6" name="Shape 84"/>
          <p:cNvSpPr/>
          <p:nvPr/>
        </p:nvSpPr>
        <p:spPr>
          <a:xfrm>
            <a:off x="4101948" y="21971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7" name="Shape 85"/>
          <p:cNvSpPr/>
          <p:nvPr/>
        </p:nvSpPr>
        <p:spPr>
          <a:xfrm>
            <a:off x="4444848" y="21971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8" name="Shape 86"/>
          <p:cNvSpPr/>
          <p:nvPr/>
        </p:nvSpPr>
        <p:spPr>
          <a:xfrm>
            <a:off x="4787748" y="21971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89" name="Shape 87"/>
          <p:cNvSpPr/>
          <p:nvPr/>
        </p:nvSpPr>
        <p:spPr>
          <a:xfrm>
            <a:off x="5130648" y="21971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0" name="Shape 88"/>
          <p:cNvSpPr/>
          <p:nvPr/>
        </p:nvSpPr>
        <p:spPr>
          <a:xfrm>
            <a:off x="5473548" y="21971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1" name="Shape 89"/>
          <p:cNvSpPr/>
          <p:nvPr/>
        </p:nvSpPr>
        <p:spPr>
          <a:xfrm>
            <a:off x="5816448" y="21971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2" name="Shape 90"/>
          <p:cNvSpPr/>
          <p:nvPr/>
        </p:nvSpPr>
        <p:spPr>
          <a:xfrm>
            <a:off x="6159348" y="21971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3" name="Shape 91"/>
          <p:cNvSpPr/>
          <p:nvPr/>
        </p:nvSpPr>
        <p:spPr>
          <a:xfrm>
            <a:off x="30732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4" name="Shape 92"/>
          <p:cNvSpPr/>
          <p:nvPr/>
        </p:nvSpPr>
        <p:spPr>
          <a:xfrm>
            <a:off x="34161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5" name="Shape 93"/>
          <p:cNvSpPr/>
          <p:nvPr/>
        </p:nvSpPr>
        <p:spPr>
          <a:xfrm>
            <a:off x="37590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6" name="Shape 94"/>
          <p:cNvSpPr/>
          <p:nvPr/>
        </p:nvSpPr>
        <p:spPr>
          <a:xfrm>
            <a:off x="41019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7" name="Shape 95"/>
          <p:cNvSpPr/>
          <p:nvPr/>
        </p:nvSpPr>
        <p:spPr>
          <a:xfrm>
            <a:off x="44448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8" name="Shape 96"/>
          <p:cNvSpPr/>
          <p:nvPr/>
        </p:nvSpPr>
        <p:spPr>
          <a:xfrm>
            <a:off x="47877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9" name="Shape 97"/>
          <p:cNvSpPr/>
          <p:nvPr/>
        </p:nvSpPr>
        <p:spPr>
          <a:xfrm>
            <a:off x="51306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00" name="Shape 98"/>
          <p:cNvSpPr/>
          <p:nvPr/>
        </p:nvSpPr>
        <p:spPr>
          <a:xfrm>
            <a:off x="54735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01" name="Shape 99"/>
          <p:cNvSpPr/>
          <p:nvPr/>
        </p:nvSpPr>
        <p:spPr>
          <a:xfrm>
            <a:off x="58164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02" name="Shape 100"/>
          <p:cNvSpPr/>
          <p:nvPr/>
        </p:nvSpPr>
        <p:spPr>
          <a:xfrm>
            <a:off x="61593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03" name="Shape 101"/>
          <p:cNvSpPr/>
          <p:nvPr/>
        </p:nvSpPr>
        <p:spPr>
          <a:xfrm>
            <a:off x="6629248" y="3295650"/>
            <a:ext cx="114300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4" name="Text 102"/>
          <p:cNvSpPr/>
          <p:nvPr/>
        </p:nvSpPr>
        <p:spPr>
          <a:xfrm>
            <a:off x="6794348" y="3244850"/>
            <a:ext cx="2324100" cy="215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Online  52%</a:t>
            </a:r>
            <a:endParaRPr lang="en-US" sz="1000" dirty="0"/>
          </a:p>
        </p:txBody>
      </p:sp>
      <p:sp>
        <p:nvSpPr>
          <p:cNvPr id="105" name="Shape 103"/>
          <p:cNvSpPr/>
          <p:nvPr/>
        </p:nvSpPr>
        <p:spPr>
          <a:xfrm>
            <a:off x="6629248" y="3511550"/>
            <a:ext cx="114300" cy="1143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6" name="Text 104"/>
          <p:cNvSpPr/>
          <p:nvPr/>
        </p:nvSpPr>
        <p:spPr>
          <a:xfrm>
            <a:off x="6794348" y="3460750"/>
            <a:ext cx="2324100" cy="215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Retail  33%</a:t>
            </a:r>
            <a:endParaRPr lang="en-US" sz="1000" dirty="0"/>
          </a:p>
        </p:txBody>
      </p:sp>
      <p:sp>
        <p:nvSpPr>
          <p:cNvPr id="107" name="Shape 105"/>
          <p:cNvSpPr/>
          <p:nvPr/>
        </p:nvSpPr>
        <p:spPr>
          <a:xfrm>
            <a:off x="6629248" y="3727450"/>
            <a:ext cx="114300" cy="1143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08" name="Text 106"/>
          <p:cNvSpPr/>
          <p:nvPr/>
        </p:nvSpPr>
        <p:spPr>
          <a:xfrm>
            <a:off x="6794348" y="3676650"/>
            <a:ext cx="2324100" cy="215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Wholesale  15%</a:t>
            </a:r>
            <a:endParaRPr lang="en-US" sz="100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Bar-of-pie — revenue with the long tail detailed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13608" y="2105660"/>
            <a:ext cx="2926080" cy="2926080"/>
          </a:xfrm>
          <a:prstGeom prst="pie">
            <a:avLst>
              <a:gd name="adj1" fmla="val 2160000"/>
              <a:gd name="adj2" fmla="val 7920000"/>
            </a:avLst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671744" y="4375566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 27%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3413608" y="2105660"/>
            <a:ext cx="2926080" cy="2926080"/>
          </a:xfrm>
          <a:prstGeom prst="pie">
            <a:avLst>
              <a:gd name="adj1" fmla="val 7920000"/>
              <a:gd name="adj2" fmla="val 15120000"/>
            </a:avLst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552505" y="3284856"/>
            <a:ext cx="8737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 33%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13608" y="2105660"/>
            <a:ext cx="2926080" cy="2926080"/>
          </a:xfrm>
          <a:prstGeom prst="pie">
            <a:avLst>
              <a:gd name="adj1" fmla="val 15120000"/>
              <a:gd name="adj2" fmla="val 19440000"/>
            </a:avLst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857232" y="2610761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 20%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413608" y="2105660"/>
            <a:ext cx="2926080" cy="2926080"/>
          </a:xfrm>
          <a:prstGeom prst="pie">
            <a:avLst>
              <a:gd name="adj1" fmla="val 19440000"/>
              <a:gd name="adj2" fmla="val 2160000"/>
            </a:avLst>
          </a:prstGeom>
          <a:solidFill>
            <a:srgbClr val="89878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49722" y="3473450"/>
            <a:ext cx="6680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20%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 flipV="1">
            <a:off x="6060272" y="2178812"/>
            <a:ext cx="889016" cy="529935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2" name="Shape 10"/>
          <p:cNvSpPr/>
          <p:nvPr/>
        </p:nvSpPr>
        <p:spPr>
          <a:xfrm>
            <a:off x="6060272" y="4428653"/>
            <a:ext cx="889016" cy="529935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3" name="Shape 11"/>
          <p:cNvSpPr/>
          <p:nvPr/>
        </p:nvSpPr>
        <p:spPr>
          <a:xfrm>
            <a:off x="6949288" y="2178812"/>
            <a:ext cx="355600" cy="926592"/>
          </a:xfrm>
          <a:prstGeom prst="rect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68388" y="2546858"/>
            <a:ext cx="1750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Nordics 7%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949288" y="3105404"/>
            <a:ext cx="355600" cy="694944"/>
          </a:xfrm>
          <a:prstGeom prst="rect">
            <a:avLst/>
          </a:prstGeom>
          <a:solidFill>
            <a:srgbClr val="4A3AA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368388" y="3357626"/>
            <a:ext cx="1750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Benelux 5%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949288" y="3800348"/>
            <a:ext cx="355600" cy="1158240"/>
          </a:xfrm>
          <a:prstGeom prst="rect">
            <a:avLst/>
          </a:prstGeom>
          <a:solidFill>
            <a:srgbClr val="E3494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368388" y="4284218"/>
            <a:ext cx="1750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DACH 8%</a:t>
            </a:r>
            <a:endParaRPr lang="en-US" sz="100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Small multiples — one panel per brand, shared scale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1803400"/>
            <a:ext cx="1947333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A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3479648" y="4220248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3335097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479648" y="2449945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4131348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3246197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047848" y="2361045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479648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845831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212014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8198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632259" y="3304617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 flipV="1">
            <a:off x="3662739" y="2981036"/>
            <a:ext cx="366183" cy="35406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998443" y="2950556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flipV="1">
            <a:off x="4028923" y="2671233"/>
            <a:ext cx="366183" cy="30980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364626" y="2640753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flipV="1">
            <a:off x="4395106" y="2184400"/>
            <a:ext cx="366183" cy="48683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730809" y="21539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479648" y="5105400"/>
            <a:ext cx="1464733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122181" y="1803400"/>
            <a:ext cx="1947333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B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553981" y="4220248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553981" y="3335097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553981" y="2449945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122181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5122181" y="4131348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5122181" y="3246197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5122181" y="2361045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5553981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920164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286348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652531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5706593" y="3747193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 flipV="1">
            <a:off x="5737073" y="3689158"/>
            <a:ext cx="366183" cy="8851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072776" y="3658678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103256" y="3689158"/>
            <a:ext cx="366183" cy="4425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438959" y="370293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 flipV="1">
            <a:off x="6469439" y="3556385"/>
            <a:ext cx="366183" cy="17703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6805143" y="352590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553981" y="5105400"/>
            <a:ext cx="1464733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196514" y="1803400"/>
            <a:ext cx="1947333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C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7628314" y="4220248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7628314" y="3335097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7628314" y="2449945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196514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7196514" y="4131348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7196514" y="3246197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7196514" y="2361045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7628314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52" name="Text 50"/>
          <p:cNvSpPr/>
          <p:nvPr/>
        </p:nvSpPr>
        <p:spPr>
          <a:xfrm>
            <a:off x="7994498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3" name="Text 51"/>
          <p:cNvSpPr/>
          <p:nvPr/>
        </p:nvSpPr>
        <p:spPr>
          <a:xfrm>
            <a:off x="8360681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8726864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7780926" y="4543829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 flipV="1">
            <a:off x="7811406" y="4308764"/>
            <a:ext cx="366183" cy="265545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8147109" y="4278284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 flipV="1">
            <a:off x="8177589" y="3954703"/>
            <a:ext cx="366183" cy="354061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8513293" y="3924223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 flipV="1">
            <a:off x="8543773" y="3290839"/>
            <a:ext cx="366183" cy="663864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8879476" y="3260359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7628314" y="5105400"/>
            <a:ext cx="1464733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Bubble size legend + quadrant matrix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1879600"/>
            <a:ext cx="2781300" cy="1219200"/>
          </a:xfrm>
          <a:prstGeom prst="rect">
            <a:avLst/>
          </a:prstGeom>
          <a:solidFill>
            <a:srgbClr val="F2F1EC"/>
          </a:solidFill>
          <a:ln/>
        </p:spPr>
      </p:sp>
      <p:sp>
        <p:nvSpPr>
          <p:cNvPr id="4" name="Text 2"/>
          <p:cNvSpPr/>
          <p:nvPr/>
        </p:nvSpPr>
        <p:spPr>
          <a:xfrm>
            <a:off x="3530448" y="1905000"/>
            <a:ext cx="26797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Question marks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260948" y="1879600"/>
            <a:ext cx="2781300" cy="1219200"/>
          </a:xfrm>
          <a:prstGeom prst="rect">
            <a:avLst/>
          </a:prstGeom>
          <a:solidFill>
            <a:srgbClr val="FAF9F6"/>
          </a:solidFill>
          <a:ln/>
        </p:spPr>
      </p:sp>
      <p:sp>
        <p:nvSpPr>
          <p:cNvPr id="6" name="Text 4"/>
          <p:cNvSpPr/>
          <p:nvPr/>
        </p:nvSpPr>
        <p:spPr>
          <a:xfrm>
            <a:off x="6311748" y="1905000"/>
            <a:ext cx="26797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Stars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3098800"/>
            <a:ext cx="2781300" cy="2032000"/>
          </a:xfrm>
          <a:prstGeom prst="rect">
            <a:avLst/>
          </a:prstGeom>
          <a:solidFill>
            <a:srgbClr val="FAF9F6"/>
          </a:solidFill>
          <a:ln/>
        </p:spPr>
      </p:sp>
      <p:sp>
        <p:nvSpPr>
          <p:cNvPr id="8" name="Text 6"/>
          <p:cNvSpPr/>
          <p:nvPr/>
        </p:nvSpPr>
        <p:spPr>
          <a:xfrm>
            <a:off x="3530448" y="3124200"/>
            <a:ext cx="26797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Dogs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6260948" y="3098800"/>
            <a:ext cx="2781300" cy="2032000"/>
          </a:xfrm>
          <a:prstGeom prst="rect">
            <a:avLst/>
          </a:prstGeom>
          <a:solidFill>
            <a:srgbClr val="F2F1EC"/>
          </a:solidFill>
          <a:ln/>
        </p:spPr>
      </p:sp>
      <p:sp>
        <p:nvSpPr>
          <p:cNvPr id="10" name="Text 8"/>
          <p:cNvSpPr/>
          <p:nvPr/>
        </p:nvSpPr>
        <p:spPr>
          <a:xfrm>
            <a:off x="6311748" y="3124200"/>
            <a:ext cx="26797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Cash cows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6260948" y="1879600"/>
            <a:ext cx="0" cy="3251200"/>
          </a:xfrm>
          <a:prstGeom prst="line">
            <a:avLst/>
          </a:prstGeom>
          <a:noFill/>
          <a:ln w="12700">
            <a:solidFill>
              <a:srgbClr val="52514E"/>
            </a:solidFill>
            <a:prstDash val="dash"/>
          </a:ln>
        </p:spPr>
      </p:sp>
      <p:sp>
        <p:nvSpPr>
          <p:cNvPr id="12" name="Shape 10"/>
          <p:cNvSpPr/>
          <p:nvPr/>
        </p:nvSpPr>
        <p:spPr>
          <a:xfrm>
            <a:off x="3479648" y="3098800"/>
            <a:ext cx="55626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dash"/>
          </a:ln>
        </p:spPr>
      </p:sp>
      <p:sp>
        <p:nvSpPr>
          <p:cNvPr id="13" name="Shape 11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3479648" y="43180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047848" y="4229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3479648" y="35052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047848" y="3416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479648" y="26924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047848" y="2603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3479648" y="18796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047848" y="1790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28736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539988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651240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762492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479648" y="18796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406232" y="1908861"/>
            <a:ext cx="585216" cy="585216"/>
          </a:xfrm>
          <a:prstGeom prst="ellipse">
            <a:avLst/>
          </a:prstGeom>
          <a:ln w="12700">
            <a:solidFill>
              <a:srgbClr val="52514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406232" y="1737411"/>
            <a:ext cx="585216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7890821" y="2080267"/>
            <a:ext cx="413810" cy="413810"/>
          </a:xfrm>
          <a:prstGeom prst="ellipse">
            <a:avLst/>
          </a:prstGeom>
          <a:ln w="12700">
            <a:solidFill>
              <a:srgbClr val="52514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890821" y="1823114"/>
            <a:ext cx="41381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800" dirty="0"/>
          </a:p>
        </p:txBody>
      </p:sp>
      <p:sp>
        <p:nvSpPr>
          <p:cNvPr id="35" name="Shape 33"/>
          <p:cNvSpPr/>
          <p:nvPr/>
        </p:nvSpPr>
        <p:spPr>
          <a:xfrm>
            <a:off x="7080860" y="1790192"/>
            <a:ext cx="585216" cy="585216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164841" y="2430683"/>
            <a:ext cx="523433" cy="523433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981204" y="2668947"/>
            <a:ext cx="453306" cy="453306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342790" y="3308913"/>
            <a:ext cx="392575" cy="392575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431900" y="3954532"/>
            <a:ext cx="320536" cy="320536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687160" y="200025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Delta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5713674" y="260985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Bravo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8459911" y="2813050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Echo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6760765" y="3422650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Core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4777836" y="403225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Alpha</a:t>
            </a:r>
            <a:endParaRPr lang="en-US" sz="1000"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Datamark axis (Tufte range frame)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28848" y="5105400"/>
            <a:ext cx="50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047848" y="5016500"/>
            <a:ext cx="355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28848" y="1905000"/>
            <a:ext cx="50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1816100"/>
            <a:ext cx="355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479648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475836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472024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468212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464400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947262" y="315468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3977742" y="3025140"/>
            <a:ext cx="996188" cy="16002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943450" y="299466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 flipV="1">
            <a:off x="4973930" y="2905125"/>
            <a:ext cx="996188" cy="12001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939638" y="2874645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 flipV="1">
            <a:off x="5970118" y="2665095"/>
            <a:ext cx="996188" cy="24003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935826" y="2634615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 flipV="1">
            <a:off x="6966306" y="2465070"/>
            <a:ext cx="996188" cy="20002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932014" y="243459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947262" y="347472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flipV="1">
            <a:off x="3977742" y="3425190"/>
            <a:ext cx="996188" cy="8001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943450" y="339471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973930" y="3425190"/>
            <a:ext cx="996188" cy="4000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39638" y="343471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V="1">
            <a:off x="5970118" y="3305175"/>
            <a:ext cx="996188" cy="16002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935826" y="327469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flipV="1">
            <a:off x="6966306" y="3145155"/>
            <a:ext cx="996188" cy="16002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932014" y="311467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479648" y="5105400"/>
            <a:ext cx="49809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511388" y="2379345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A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8511388" y="3059430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B</a:t>
            </a:r>
            <a:endParaRPr lang="en-US" sz="1000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Diverging heatmap (YoY change, %)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492348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898873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305398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711923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047848" y="1993900"/>
            <a:ext cx="393700" cy="9863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492348" y="1993900"/>
            <a:ext cx="1393825" cy="973667"/>
          </a:xfrm>
          <a:prstGeom prst="rect">
            <a:avLst/>
          </a:prstGeom>
          <a:solidFill>
            <a:srgbClr val="C6D1EE"/>
          </a:solidFill>
          <a:ln/>
        </p:spPr>
      </p:sp>
      <p:sp>
        <p:nvSpPr>
          <p:cNvPr id="9" name="Text 7"/>
          <p:cNvSpPr/>
          <p:nvPr/>
        </p:nvSpPr>
        <p:spPr>
          <a:xfrm>
            <a:off x="3492348" y="1993900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4.0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898873" y="1993900"/>
            <a:ext cx="1393825" cy="973667"/>
          </a:xfrm>
          <a:prstGeom prst="rect">
            <a:avLst/>
          </a:prstGeom>
          <a:solidFill>
            <a:srgbClr val="9FB4E5"/>
          </a:solidFill>
          <a:ln/>
        </p:spPr>
      </p:sp>
      <p:sp>
        <p:nvSpPr>
          <p:cNvPr id="11" name="Text 9"/>
          <p:cNvSpPr/>
          <p:nvPr/>
        </p:nvSpPr>
        <p:spPr>
          <a:xfrm>
            <a:off x="4898873" y="1993900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6.0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305398" y="1993900"/>
            <a:ext cx="1393825" cy="973667"/>
          </a:xfrm>
          <a:prstGeom prst="rect">
            <a:avLst/>
          </a:prstGeom>
          <a:solidFill>
            <a:srgbClr val="F9E6E6"/>
          </a:solidFill>
          <a:ln/>
        </p:spPr>
      </p:sp>
      <p:sp>
        <p:nvSpPr>
          <p:cNvPr id="13" name="Text 11"/>
          <p:cNvSpPr/>
          <p:nvPr/>
        </p:nvSpPr>
        <p:spPr>
          <a:xfrm>
            <a:off x="6305398" y="1993900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-2.0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711923" y="1993900"/>
            <a:ext cx="1393825" cy="973667"/>
          </a:xfrm>
          <a:prstGeom prst="rect">
            <a:avLst/>
          </a:prstGeom>
          <a:solidFill>
            <a:srgbClr val="6690DB"/>
          </a:solidFill>
          <a:ln/>
        </p:spPr>
      </p:sp>
      <p:sp>
        <p:nvSpPr>
          <p:cNvPr id="15" name="Text 13"/>
          <p:cNvSpPr/>
          <p:nvPr/>
        </p:nvSpPr>
        <p:spPr>
          <a:xfrm>
            <a:off x="7711923" y="1993900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8.0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047848" y="2980267"/>
            <a:ext cx="393700" cy="9863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492348" y="2980267"/>
            <a:ext cx="1393825" cy="973667"/>
          </a:xfrm>
          <a:prstGeom prst="rect">
            <a:avLst/>
          </a:prstGeom>
          <a:solidFill>
            <a:srgbClr val="F0B8B8"/>
          </a:solidFill>
          <a:ln/>
        </p:spPr>
      </p:sp>
      <p:sp>
        <p:nvSpPr>
          <p:cNvPr id="18" name="Text 16"/>
          <p:cNvSpPr/>
          <p:nvPr/>
        </p:nvSpPr>
        <p:spPr>
          <a:xfrm>
            <a:off x="3492348" y="2980267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-5.0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898873" y="2980267"/>
            <a:ext cx="1393825" cy="973667"/>
          </a:xfrm>
          <a:prstGeom prst="rect">
            <a:avLst/>
          </a:prstGeom>
          <a:solidFill>
            <a:srgbClr val="F6D8D8"/>
          </a:solidFill>
          <a:ln/>
        </p:spPr>
      </p:sp>
      <p:sp>
        <p:nvSpPr>
          <p:cNvPr id="20" name="Text 18"/>
          <p:cNvSpPr/>
          <p:nvPr/>
        </p:nvSpPr>
        <p:spPr>
          <a:xfrm>
            <a:off x="4898873" y="2980267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-3.0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305398" y="2980267"/>
            <a:ext cx="1393825" cy="973667"/>
          </a:xfrm>
          <a:prstGeom prst="rect">
            <a:avLst/>
          </a:prstGeom>
          <a:solidFill>
            <a:srgbClr val="E5EAF7"/>
          </a:solidFill>
          <a:ln/>
        </p:spPr>
      </p:sp>
      <p:sp>
        <p:nvSpPr>
          <p:cNvPr id="22" name="Text 20"/>
          <p:cNvSpPr/>
          <p:nvPr/>
        </p:nvSpPr>
        <p:spPr>
          <a:xfrm>
            <a:off x="6305398" y="2980267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711923" y="2980267"/>
            <a:ext cx="1393825" cy="973667"/>
          </a:xfrm>
          <a:prstGeom prst="rect">
            <a:avLst/>
          </a:prstGeom>
          <a:solidFill>
            <a:srgbClr val="F2F5FB"/>
          </a:solidFill>
          <a:ln/>
        </p:spPr>
      </p:sp>
      <p:sp>
        <p:nvSpPr>
          <p:cNvPr id="24" name="Text 22"/>
          <p:cNvSpPr/>
          <p:nvPr/>
        </p:nvSpPr>
        <p:spPr>
          <a:xfrm>
            <a:off x="7711923" y="2980267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1.0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047848" y="3966633"/>
            <a:ext cx="393700" cy="9863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492348" y="3966633"/>
            <a:ext cx="1393825" cy="973667"/>
          </a:xfrm>
          <a:prstGeom prst="rect">
            <a:avLst/>
          </a:prstGeom>
          <a:solidFill>
            <a:srgbClr val="F2F5FB"/>
          </a:solidFill>
          <a:ln/>
        </p:spPr>
      </p:sp>
      <p:sp>
        <p:nvSpPr>
          <p:cNvPr id="27" name="Text 25"/>
          <p:cNvSpPr/>
          <p:nvPr/>
        </p:nvSpPr>
        <p:spPr>
          <a:xfrm>
            <a:off x="3492348" y="3966633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1.0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898873" y="3966633"/>
            <a:ext cx="1393825" cy="973667"/>
          </a:xfrm>
          <a:prstGeom prst="rect">
            <a:avLst/>
          </a:prstGeom>
          <a:solidFill>
            <a:srgbClr val="D6DEF2"/>
          </a:solidFill>
          <a:ln/>
        </p:spPr>
      </p:sp>
      <p:sp>
        <p:nvSpPr>
          <p:cNvPr id="29" name="Text 27"/>
          <p:cNvSpPr/>
          <p:nvPr/>
        </p:nvSpPr>
        <p:spPr>
          <a:xfrm>
            <a:off x="4898873" y="3966633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3.0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305398" y="3966633"/>
            <a:ext cx="1393825" cy="973667"/>
          </a:xfrm>
          <a:prstGeom prst="rect">
            <a:avLst/>
          </a:prstGeom>
          <a:solidFill>
            <a:srgbClr val="B4C3E9"/>
          </a:solidFill>
          <a:ln/>
        </p:spPr>
      </p:sp>
      <p:sp>
        <p:nvSpPr>
          <p:cNvPr id="31" name="Text 29"/>
          <p:cNvSpPr/>
          <p:nvPr/>
        </p:nvSpPr>
        <p:spPr>
          <a:xfrm>
            <a:off x="6305398" y="3966633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5.0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711923" y="3966633"/>
            <a:ext cx="1393825" cy="97366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Text 31"/>
          <p:cNvSpPr/>
          <p:nvPr/>
        </p:nvSpPr>
        <p:spPr>
          <a:xfrm>
            <a:off x="7711923" y="3966633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9.0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3492348" y="5029200"/>
            <a:ext cx="80433" cy="114300"/>
          </a:xfrm>
          <a:prstGeom prst="rect">
            <a:avLst/>
          </a:prstGeom>
          <a:solidFill>
            <a:srgbClr val="F0B8B8"/>
          </a:solidFill>
          <a:ln/>
        </p:spPr>
      </p:sp>
      <p:sp>
        <p:nvSpPr>
          <p:cNvPr id="35" name="Shape 33"/>
          <p:cNvSpPr/>
          <p:nvPr/>
        </p:nvSpPr>
        <p:spPr>
          <a:xfrm>
            <a:off x="3566431" y="5029200"/>
            <a:ext cx="80433" cy="114300"/>
          </a:xfrm>
          <a:prstGeom prst="rect">
            <a:avLst/>
          </a:prstGeom>
          <a:solidFill>
            <a:srgbClr val="F2C3C3"/>
          </a:solidFill>
          <a:ln/>
        </p:spPr>
      </p:sp>
      <p:sp>
        <p:nvSpPr>
          <p:cNvPr id="36" name="Shape 34"/>
          <p:cNvSpPr/>
          <p:nvPr/>
        </p:nvSpPr>
        <p:spPr>
          <a:xfrm>
            <a:off x="3640514" y="5029200"/>
            <a:ext cx="80433" cy="114300"/>
          </a:xfrm>
          <a:prstGeom prst="rect">
            <a:avLst/>
          </a:prstGeom>
          <a:solidFill>
            <a:srgbClr val="F4CDCC"/>
          </a:solidFill>
          <a:ln/>
        </p:spPr>
      </p:sp>
      <p:sp>
        <p:nvSpPr>
          <p:cNvPr id="37" name="Shape 35"/>
          <p:cNvSpPr/>
          <p:nvPr/>
        </p:nvSpPr>
        <p:spPr>
          <a:xfrm>
            <a:off x="3714598" y="5029200"/>
            <a:ext cx="80433" cy="114300"/>
          </a:xfrm>
          <a:prstGeom prst="rect">
            <a:avLst/>
          </a:prstGeom>
          <a:solidFill>
            <a:srgbClr val="F6D6D6"/>
          </a:solidFill>
          <a:ln/>
        </p:spPr>
      </p:sp>
      <p:sp>
        <p:nvSpPr>
          <p:cNvPr id="38" name="Shape 36"/>
          <p:cNvSpPr/>
          <p:nvPr/>
        </p:nvSpPr>
        <p:spPr>
          <a:xfrm>
            <a:off x="3788681" y="5029200"/>
            <a:ext cx="80433" cy="114300"/>
          </a:xfrm>
          <a:prstGeom prst="rect">
            <a:avLst/>
          </a:prstGeom>
          <a:solidFill>
            <a:srgbClr val="F7DEDE"/>
          </a:solidFill>
          <a:ln/>
        </p:spPr>
      </p:sp>
      <p:sp>
        <p:nvSpPr>
          <p:cNvPr id="39" name="Shape 37"/>
          <p:cNvSpPr/>
          <p:nvPr/>
        </p:nvSpPr>
        <p:spPr>
          <a:xfrm>
            <a:off x="3862764" y="5029200"/>
            <a:ext cx="80433" cy="114300"/>
          </a:xfrm>
          <a:prstGeom prst="rect">
            <a:avLst/>
          </a:prstGeom>
          <a:solidFill>
            <a:srgbClr val="F9E7E7"/>
          </a:solidFill>
          <a:ln/>
        </p:spPr>
      </p:sp>
      <p:sp>
        <p:nvSpPr>
          <p:cNvPr id="40" name="Shape 38"/>
          <p:cNvSpPr/>
          <p:nvPr/>
        </p:nvSpPr>
        <p:spPr>
          <a:xfrm>
            <a:off x="3936848" y="5029200"/>
            <a:ext cx="80433" cy="114300"/>
          </a:xfrm>
          <a:prstGeom prst="rect">
            <a:avLst/>
          </a:prstGeom>
          <a:solidFill>
            <a:srgbClr val="FBEFEF"/>
          </a:solidFill>
          <a:ln/>
        </p:spPr>
      </p:sp>
      <p:sp>
        <p:nvSpPr>
          <p:cNvPr id="41" name="Shape 39"/>
          <p:cNvSpPr/>
          <p:nvPr/>
        </p:nvSpPr>
        <p:spPr>
          <a:xfrm>
            <a:off x="4010931" y="5029200"/>
            <a:ext cx="80433" cy="114300"/>
          </a:xfrm>
          <a:prstGeom prst="rect">
            <a:avLst/>
          </a:prstGeom>
          <a:solidFill>
            <a:srgbClr val="FDF6F6"/>
          </a:solidFill>
          <a:ln/>
        </p:spPr>
      </p:sp>
      <p:sp>
        <p:nvSpPr>
          <p:cNvPr id="42" name="Shape 40"/>
          <p:cNvSpPr/>
          <p:nvPr/>
        </p:nvSpPr>
        <p:spPr>
          <a:xfrm>
            <a:off x="4085014" y="5029200"/>
            <a:ext cx="80433" cy="114300"/>
          </a:xfrm>
          <a:prstGeom prst="rect">
            <a:avLst/>
          </a:prstGeom>
          <a:solidFill>
            <a:srgbClr val="FFFDFD"/>
          </a:solidFill>
          <a:ln/>
        </p:spPr>
      </p:sp>
      <p:sp>
        <p:nvSpPr>
          <p:cNvPr id="43" name="Shape 41"/>
          <p:cNvSpPr/>
          <p:nvPr/>
        </p:nvSpPr>
        <p:spPr>
          <a:xfrm>
            <a:off x="4159098" y="5029200"/>
            <a:ext cx="80433" cy="114300"/>
          </a:xfrm>
          <a:prstGeom prst="rect">
            <a:avLst/>
          </a:prstGeom>
          <a:solidFill>
            <a:srgbClr val="F9FAFD"/>
          </a:solidFill>
          <a:ln/>
        </p:spPr>
      </p:sp>
      <p:sp>
        <p:nvSpPr>
          <p:cNvPr id="44" name="Shape 42"/>
          <p:cNvSpPr/>
          <p:nvPr/>
        </p:nvSpPr>
        <p:spPr>
          <a:xfrm>
            <a:off x="4233181" y="5029200"/>
            <a:ext cx="80433" cy="114300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45" name="Shape 43"/>
          <p:cNvSpPr/>
          <p:nvPr/>
        </p:nvSpPr>
        <p:spPr>
          <a:xfrm>
            <a:off x="4307264" y="5029200"/>
            <a:ext cx="80433" cy="114300"/>
          </a:xfrm>
          <a:prstGeom prst="rect">
            <a:avLst/>
          </a:prstGeom>
          <a:solidFill>
            <a:srgbClr val="E9EDF8"/>
          </a:solidFill>
          <a:ln/>
        </p:spPr>
      </p:sp>
      <p:sp>
        <p:nvSpPr>
          <p:cNvPr id="46" name="Shape 44"/>
          <p:cNvSpPr/>
          <p:nvPr/>
        </p:nvSpPr>
        <p:spPr>
          <a:xfrm>
            <a:off x="4381348" y="5029200"/>
            <a:ext cx="80433" cy="114300"/>
          </a:xfrm>
          <a:prstGeom prst="rect">
            <a:avLst/>
          </a:prstGeom>
          <a:solidFill>
            <a:srgbClr val="E1E6F5"/>
          </a:solidFill>
          <a:ln/>
        </p:spPr>
      </p:sp>
      <p:sp>
        <p:nvSpPr>
          <p:cNvPr id="47" name="Shape 45"/>
          <p:cNvSpPr/>
          <p:nvPr/>
        </p:nvSpPr>
        <p:spPr>
          <a:xfrm>
            <a:off x="4455431" y="5029200"/>
            <a:ext cx="80433" cy="114300"/>
          </a:xfrm>
          <a:prstGeom prst="rect">
            <a:avLst/>
          </a:prstGeom>
          <a:solidFill>
            <a:srgbClr val="D8DFF3"/>
          </a:solidFill>
          <a:ln/>
        </p:spPr>
      </p:sp>
      <p:sp>
        <p:nvSpPr>
          <p:cNvPr id="48" name="Shape 46"/>
          <p:cNvSpPr/>
          <p:nvPr/>
        </p:nvSpPr>
        <p:spPr>
          <a:xfrm>
            <a:off x="4529514" y="5029200"/>
            <a:ext cx="80433" cy="114300"/>
          </a:xfrm>
          <a:prstGeom prst="rect">
            <a:avLst/>
          </a:prstGeom>
          <a:solidFill>
            <a:srgbClr val="CED7F0"/>
          </a:solidFill>
          <a:ln/>
        </p:spPr>
      </p:sp>
      <p:sp>
        <p:nvSpPr>
          <p:cNvPr id="49" name="Shape 47"/>
          <p:cNvSpPr/>
          <p:nvPr/>
        </p:nvSpPr>
        <p:spPr>
          <a:xfrm>
            <a:off x="4603598" y="5029200"/>
            <a:ext cx="80433" cy="114300"/>
          </a:xfrm>
          <a:prstGeom prst="rect">
            <a:avLst/>
          </a:prstGeom>
          <a:solidFill>
            <a:srgbClr val="C4CFED"/>
          </a:solidFill>
          <a:ln/>
        </p:spPr>
      </p:sp>
      <p:sp>
        <p:nvSpPr>
          <p:cNvPr id="50" name="Shape 48"/>
          <p:cNvSpPr/>
          <p:nvPr/>
        </p:nvSpPr>
        <p:spPr>
          <a:xfrm>
            <a:off x="4677681" y="5029200"/>
            <a:ext cx="80433" cy="114300"/>
          </a:xfrm>
          <a:prstGeom prst="rect">
            <a:avLst/>
          </a:prstGeom>
          <a:solidFill>
            <a:srgbClr val="B9C7EB"/>
          </a:solidFill>
          <a:ln/>
        </p:spPr>
      </p:sp>
      <p:sp>
        <p:nvSpPr>
          <p:cNvPr id="51" name="Shape 49"/>
          <p:cNvSpPr/>
          <p:nvPr/>
        </p:nvSpPr>
        <p:spPr>
          <a:xfrm>
            <a:off x="4751764" y="5029200"/>
            <a:ext cx="80433" cy="114300"/>
          </a:xfrm>
          <a:prstGeom prst="rect">
            <a:avLst/>
          </a:prstGeom>
          <a:solidFill>
            <a:srgbClr val="ADBEE8"/>
          </a:solidFill>
          <a:ln/>
        </p:spPr>
      </p:sp>
      <p:sp>
        <p:nvSpPr>
          <p:cNvPr id="52" name="Shape 50"/>
          <p:cNvSpPr/>
          <p:nvPr/>
        </p:nvSpPr>
        <p:spPr>
          <a:xfrm>
            <a:off x="4825848" y="5029200"/>
            <a:ext cx="80433" cy="114300"/>
          </a:xfrm>
          <a:prstGeom prst="rect">
            <a:avLst/>
          </a:prstGeom>
          <a:solidFill>
            <a:srgbClr val="A0B5E5"/>
          </a:solidFill>
          <a:ln/>
        </p:spPr>
      </p:sp>
      <p:sp>
        <p:nvSpPr>
          <p:cNvPr id="53" name="Shape 51"/>
          <p:cNvSpPr/>
          <p:nvPr/>
        </p:nvSpPr>
        <p:spPr>
          <a:xfrm>
            <a:off x="4899931" y="5029200"/>
            <a:ext cx="80433" cy="114300"/>
          </a:xfrm>
          <a:prstGeom prst="rect">
            <a:avLst/>
          </a:prstGeom>
          <a:solidFill>
            <a:srgbClr val="92ABE2"/>
          </a:solidFill>
          <a:ln/>
        </p:spPr>
      </p:sp>
      <p:sp>
        <p:nvSpPr>
          <p:cNvPr id="54" name="Shape 52"/>
          <p:cNvSpPr/>
          <p:nvPr/>
        </p:nvSpPr>
        <p:spPr>
          <a:xfrm>
            <a:off x="4974014" y="5029200"/>
            <a:ext cx="80433" cy="114300"/>
          </a:xfrm>
          <a:prstGeom prst="rect">
            <a:avLst/>
          </a:prstGeom>
          <a:solidFill>
            <a:srgbClr val="81A0DF"/>
          </a:solidFill>
          <a:ln/>
        </p:spPr>
      </p:sp>
      <p:sp>
        <p:nvSpPr>
          <p:cNvPr id="55" name="Shape 53"/>
          <p:cNvSpPr/>
          <p:nvPr/>
        </p:nvSpPr>
        <p:spPr>
          <a:xfrm>
            <a:off x="5048098" y="5029200"/>
            <a:ext cx="80433" cy="114300"/>
          </a:xfrm>
          <a:prstGeom prst="rect">
            <a:avLst/>
          </a:prstGeom>
          <a:solidFill>
            <a:srgbClr val="6E94DC"/>
          </a:solidFill>
          <a:ln/>
        </p:spPr>
      </p:sp>
      <p:sp>
        <p:nvSpPr>
          <p:cNvPr id="56" name="Shape 54"/>
          <p:cNvSpPr/>
          <p:nvPr/>
        </p:nvSpPr>
        <p:spPr>
          <a:xfrm>
            <a:off x="5122181" y="5029200"/>
            <a:ext cx="80433" cy="114300"/>
          </a:xfrm>
          <a:prstGeom prst="rect">
            <a:avLst/>
          </a:prstGeom>
          <a:solidFill>
            <a:srgbClr val="5487D9"/>
          </a:solidFill>
          <a:ln/>
        </p:spPr>
      </p:sp>
      <p:sp>
        <p:nvSpPr>
          <p:cNvPr id="57" name="Shape 55"/>
          <p:cNvSpPr/>
          <p:nvPr/>
        </p:nvSpPr>
        <p:spPr>
          <a:xfrm>
            <a:off x="5196264" y="5029200"/>
            <a:ext cx="80433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8" name="Text 56"/>
          <p:cNvSpPr/>
          <p:nvPr/>
        </p:nvSpPr>
        <p:spPr>
          <a:xfrm>
            <a:off x="3492348" y="5149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-5.0</a:t>
            </a:r>
            <a:endParaRPr lang="en-US" sz="850" dirty="0"/>
          </a:p>
        </p:txBody>
      </p:sp>
      <p:sp>
        <p:nvSpPr>
          <p:cNvPr id="59" name="Text 57"/>
          <p:cNvSpPr/>
          <p:nvPr/>
        </p:nvSpPr>
        <p:spPr>
          <a:xfrm>
            <a:off x="4381348" y="5149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9.0</a:t>
            </a:r>
            <a:endParaRPr lang="en-US" sz="850" dirty="0"/>
          </a:p>
        </p:txBody>
      </p:sp>
      <p:sp>
        <p:nvSpPr>
          <p:cNvPr id="60" name="Text 58"/>
          <p:cNvSpPr/>
          <p:nvPr/>
        </p:nvSpPr>
        <p:spPr>
          <a:xfrm>
            <a:off x="4000348" y="5149850"/>
            <a:ext cx="254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850" dirty="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 tile map (auto-detected layout)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706660" y="1828800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" name="Text 2"/>
          <p:cNvSpPr/>
          <p:nvPr/>
        </p:nvSpPr>
        <p:spPr>
          <a:xfrm>
            <a:off x="3706660" y="1828800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AK</a:t>
            </a:r>
            <a:endParaRPr lang="en-US" sz="988" dirty="0"/>
          </a:p>
        </p:txBody>
      </p:sp>
      <p:sp>
        <p:nvSpPr>
          <p:cNvPr id="5" name="Shape 3"/>
          <p:cNvSpPr/>
          <p:nvPr/>
        </p:nvSpPr>
        <p:spPr>
          <a:xfrm>
            <a:off x="8115941" y="1828800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" name="Text 4"/>
          <p:cNvSpPr/>
          <p:nvPr/>
        </p:nvSpPr>
        <p:spPr>
          <a:xfrm>
            <a:off x="8115941" y="1828800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</a:t>
            </a:r>
            <a:endParaRPr lang="en-US" sz="988" dirty="0"/>
          </a:p>
        </p:txBody>
      </p:sp>
      <p:sp>
        <p:nvSpPr>
          <p:cNvPr id="7" name="Shape 5"/>
          <p:cNvSpPr/>
          <p:nvPr/>
        </p:nvSpPr>
        <p:spPr>
          <a:xfrm>
            <a:off x="7314254" y="2229644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" name="Text 6"/>
          <p:cNvSpPr/>
          <p:nvPr/>
        </p:nvSpPr>
        <p:spPr>
          <a:xfrm>
            <a:off x="7314254" y="2229644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VT</a:t>
            </a:r>
            <a:endParaRPr lang="en-US" sz="988" dirty="0"/>
          </a:p>
        </p:txBody>
      </p:sp>
      <p:sp>
        <p:nvSpPr>
          <p:cNvPr id="9" name="Shape 7"/>
          <p:cNvSpPr/>
          <p:nvPr/>
        </p:nvSpPr>
        <p:spPr>
          <a:xfrm>
            <a:off x="7715098" y="2229644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" name="Text 8"/>
          <p:cNvSpPr/>
          <p:nvPr/>
        </p:nvSpPr>
        <p:spPr>
          <a:xfrm>
            <a:off x="7715098" y="2229644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NH</a:t>
            </a:r>
            <a:endParaRPr lang="en-US" sz="988" dirty="0"/>
          </a:p>
        </p:txBody>
      </p:sp>
      <p:sp>
        <p:nvSpPr>
          <p:cNvPr id="11" name="Shape 9"/>
          <p:cNvSpPr/>
          <p:nvPr/>
        </p:nvSpPr>
        <p:spPr>
          <a:xfrm>
            <a:off x="8115941" y="2229644"/>
            <a:ext cx="369094" cy="369094"/>
          </a:xfrm>
          <a:prstGeom prst="rect">
            <a:avLst/>
          </a:prstGeom>
          <a:solidFill>
            <a:srgbClr val="DFE6F5"/>
          </a:solidFill>
          <a:ln/>
        </p:spPr>
      </p:sp>
      <p:sp>
        <p:nvSpPr>
          <p:cNvPr id="12" name="Text 10"/>
          <p:cNvSpPr/>
          <p:nvPr/>
        </p:nvSpPr>
        <p:spPr>
          <a:xfrm>
            <a:off x="8115941" y="2255441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</a:t>
            </a:r>
            <a:endParaRPr lang="en-US" sz="988" dirty="0"/>
          </a:p>
        </p:txBody>
      </p:sp>
      <p:sp>
        <p:nvSpPr>
          <p:cNvPr id="13" name="Text 11"/>
          <p:cNvSpPr/>
          <p:nvPr/>
        </p:nvSpPr>
        <p:spPr>
          <a:xfrm>
            <a:off x="8115941" y="241419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4107504" y="2630488"/>
            <a:ext cx="369094" cy="369094"/>
          </a:xfrm>
          <a:prstGeom prst="rect">
            <a:avLst/>
          </a:prstGeom>
          <a:solidFill>
            <a:srgbClr val="D8E0F3"/>
          </a:solidFill>
          <a:ln/>
        </p:spPr>
      </p:sp>
      <p:sp>
        <p:nvSpPr>
          <p:cNvPr id="15" name="Text 13"/>
          <p:cNvSpPr/>
          <p:nvPr/>
        </p:nvSpPr>
        <p:spPr>
          <a:xfrm>
            <a:off x="4107504" y="2656284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</a:t>
            </a:r>
            <a:endParaRPr lang="en-US" sz="988" dirty="0"/>
          </a:p>
        </p:txBody>
      </p:sp>
      <p:sp>
        <p:nvSpPr>
          <p:cNvPr id="16" name="Text 14"/>
          <p:cNvSpPr/>
          <p:nvPr/>
        </p:nvSpPr>
        <p:spPr>
          <a:xfrm>
            <a:off x="4107504" y="281503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44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508348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8" name="Text 16"/>
          <p:cNvSpPr/>
          <p:nvPr/>
        </p:nvSpPr>
        <p:spPr>
          <a:xfrm>
            <a:off x="4508348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MT</a:t>
            </a:r>
            <a:endParaRPr lang="en-US" sz="988" dirty="0"/>
          </a:p>
        </p:txBody>
      </p:sp>
      <p:sp>
        <p:nvSpPr>
          <p:cNvPr id="19" name="Shape 17"/>
          <p:cNvSpPr/>
          <p:nvPr/>
        </p:nvSpPr>
        <p:spPr>
          <a:xfrm>
            <a:off x="4909191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20" name="Text 18"/>
          <p:cNvSpPr/>
          <p:nvPr/>
        </p:nvSpPr>
        <p:spPr>
          <a:xfrm>
            <a:off x="4909191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ND</a:t>
            </a:r>
            <a:endParaRPr lang="en-US" sz="988" dirty="0"/>
          </a:p>
        </p:txBody>
      </p:sp>
      <p:sp>
        <p:nvSpPr>
          <p:cNvPr id="21" name="Shape 19"/>
          <p:cNvSpPr/>
          <p:nvPr/>
        </p:nvSpPr>
        <p:spPr>
          <a:xfrm>
            <a:off x="5310035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22" name="Text 20"/>
          <p:cNvSpPr/>
          <p:nvPr/>
        </p:nvSpPr>
        <p:spPr>
          <a:xfrm>
            <a:off x="5310035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SD</a:t>
            </a:r>
            <a:endParaRPr lang="en-US" sz="988" dirty="0"/>
          </a:p>
        </p:txBody>
      </p:sp>
      <p:sp>
        <p:nvSpPr>
          <p:cNvPr id="23" name="Shape 21"/>
          <p:cNvSpPr/>
          <p:nvPr/>
        </p:nvSpPr>
        <p:spPr>
          <a:xfrm>
            <a:off x="5710879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24" name="Text 22"/>
          <p:cNvSpPr/>
          <p:nvPr/>
        </p:nvSpPr>
        <p:spPr>
          <a:xfrm>
            <a:off x="5710879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MN</a:t>
            </a:r>
            <a:endParaRPr lang="en-US" sz="988" dirty="0"/>
          </a:p>
        </p:txBody>
      </p:sp>
      <p:sp>
        <p:nvSpPr>
          <p:cNvPr id="25" name="Shape 23"/>
          <p:cNvSpPr/>
          <p:nvPr/>
        </p:nvSpPr>
        <p:spPr>
          <a:xfrm>
            <a:off x="6111723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26" name="Text 24"/>
          <p:cNvSpPr/>
          <p:nvPr/>
        </p:nvSpPr>
        <p:spPr>
          <a:xfrm>
            <a:off x="6111723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</a:t>
            </a:r>
            <a:endParaRPr lang="en-US" sz="988" dirty="0"/>
          </a:p>
        </p:txBody>
      </p:sp>
      <p:sp>
        <p:nvSpPr>
          <p:cNvPr id="27" name="Shape 25"/>
          <p:cNvSpPr/>
          <p:nvPr/>
        </p:nvSpPr>
        <p:spPr>
          <a:xfrm>
            <a:off x="6512566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28" name="Text 26"/>
          <p:cNvSpPr/>
          <p:nvPr/>
        </p:nvSpPr>
        <p:spPr>
          <a:xfrm>
            <a:off x="6512566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</a:t>
            </a:r>
            <a:endParaRPr lang="en-US" sz="988" dirty="0"/>
          </a:p>
        </p:txBody>
      </p:sp>
      <p:sp>
        <p:nvSpPr>
          <p:cNvPr id="29" name="Shape 27"/>
          <p:cNvSpPr/>
          <p:nvPr/>
        </p:nvSpPr>
        <p:spPr>
          <a:xfrm>
            <a:off x="7314254" y="2630488"/>
            <a:ext cx="369094" cy="369094"/>
          </a:xfrm>
          <a:prstGeom prst="rect">
            <a:avLst/>
          </a:prstGeom>
          <a:solidFill>
            <a:srgbClr val="96AEE3"/>
          </a:solidFill>
          <a:ln/>
        </p:spPr>
      </p:sp>
      <p:sp>
        <p:nvSpPr>
          <p:cNvPr id="30" name="Text 28"/>
          <p:cNvSpPr/>
          <p:nvPr/>
        </p:nvSpPr>
        <p:spPr>
          <a:xfrm>
            <a:off x="7314254" y="2656284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NY</a:t>
            </a:r>
            <a:endParaRPr lang="en-US" sz="988" dirty="0"/>
          </a:p>
        </p:txBody>
      </p:sp>
      <p:sp>
        <p:nvSpPr>
          <p:cNvPr id="31" name="Text 29"/>
          <p:cNvSpPr/>
          <p:nvPr/>
        </p:nvSpPr>
        <p:spPr>
          <a:xfrm>
            <a:off x="7314254" y="281503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88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7715098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3" name="Text 31"/>
          <p:cNvSpPr/>
          <p:nvPr/>
        </p:nvSpPr>
        <p:spPr>
          <a:xfrm>
            <a:off x="7715098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CT</a:t>
            </a:r>
            <a:endParaRPr lang="en-US" sz="988" dirty="0"/>
          </a:p>
        </p:txBody>
      </p:sp>
      <p:sp>
        <p:nvSpPr>
          <p:cNvPr id="34" name="Shape 32"/>
          <p:cNvSpPr/>
          <p:nvPr/>
        </p:nvSpPr>
        <p:spPr>
          <a:xfrm>
            <a:off x="8115941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5" name="Text 33"/>
          <p:cNvSpPr/>
          <p:nvPr/>
        </p:nvSpPr>
        <p:spPr>
          <a:xfrm>
            <a:off x="8115941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</a:t>
            </a:r>
            <a:endParaRPr lang="en-US" sz="988" dirty="0"/>
          </a:p>
        </p:txBody>
      </p:sp>
      <p:sp>
        <p:nvSpPr>
          <p:cNvPr id="36" name="Shape 34"/>
          <p:cNvSpPr/>
          <p:nvPr/>
        </p:nvSpPr>
        <p:spPr>
          <a:xfrm>
            <a:off x="4107504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7" name="Text 35"/>
          <p:cNvSpPr/>
          <p:nvPr/>
        </p:nvSpPr>
        <p:spPr>
          <a:xfrm>
            <a:off x="4107504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</a:t>
            </a:r>
            <a:endParaRPr lang="en-US" sz="988" dirty="0"/>
          </a:p>
        </p:txBody>
      </p:sp>
      <p:sp>
        <p:nvSpPr>
          <p:cNvPr id="38" name="Shape 36"/>
          <p:cNvSpPr/>
          <p:nvPr/>
        </p:nvSpPr>
        <p:spPr>
          <a:xfrm>
            <a:off x="4508348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9" name="Text 37"/>
          <p:cNvSpPr/>
          <p:nvPr/>
        </p:nvSpPr>
        <p:spPr>
          <a:xfrm>
            <a:off x="4508348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</a:t>
            </a:r>
            <a:endParaRPr lang="en-US" sz="988" dirty="0"/>
          </a:p>
        </p:txBody>
      </p:sp>
      <p:sp>
        <p:nvSpPr>
          <p:cNvPr id="40" name="Shape 38"/>
          <p:cNvSpPr/>
          <p:nvPr/>
        </p:nvSpPr>
        <p:spPr>
          <a:xfrm>
            <a:off x="4909191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1" name="Text 39"/>
          <p:cNvSpPr/>
          <p:nvPr/>
        </p:nvSpPr>
        <p:spPr>
          <a:xfrm>
            <a:off x="4909191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WY</a:t>
            </a:r>
            <a:endParaRPr lang="en-US" sz="988" dirty="0"/>
          </a:p>
        </p:txBody>
      </p:sp>
      <p:sp>
        <p:nvSpPr>
          <p:cNvPr id="42" name="Shape 40"/>
          <p:cNvSpPr/>
          <p:nvPr/>
        </p:nvSpPr>
        <p:spPr>
          <a:xfrm>
            <a:off x="5310035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3" name="Text 41"/>
          <p:cNvSpPr/>
          <p:nvPr/>
        </p:nvSpPr>
        <p:spPr>
          <a:xfrm>
            <a:off x="5310035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</a:t>
            </a:r>
            <a:endParaRPr lang="en-US" sz="988" dirty="0"/>
          </a:p>
        </p:txBody>
      </p:sp>
      <p:sp>
        <p:nvSpPr>
          <p:cNvPr id="44" name="Shape 42"/>
          <p:cNvSpPr/>
          <p:nvPr/>
        </p:nvSpPr>
        <p:spPr>
          <a:xfrm>
            <a:off x="5710879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5" name="Text 43"/>
          <p:cNvSpPr/>
          <p:nvPr/>
        </p:nvSpPr>
        <p:spPr>
          <a:xfrm>
            <a:off x="5710879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IA</a:t>
            </a:r>
            <a:endParaRPr lang="en-US" sz="988" dirty="0"/>
          </a:p>
        </p:txBody>
      </p:sp>
      <p:sp>
        <p:nvSpPr>
          <p:cNvPr id="46" name="Shape 44"/>
          <p:cNvSpPr/>
          <p:nvPr/>
        </p:nvSpPr>
        <p:spPr>
          <a:xfrm>
            <a:off x="6111723" y="3031331"/>
            <a:ext cx="369094" cy="369094"/>
          </a:xfrm>
          <a:prstGeom prst="rect">
            <a:avLst/>
          </a:prstGeom>
          <a:solidFill>
            <a:srgbClr val="CFD9F1"/>
          </a:solidFill>
          <a:ln/>
        </p:spPr>
      </p:sp>
      <p:sp>
        <p:nvSpPr>
          <p:cNvPr id="47" name="Text 45"/>
          <p:cNvSpPr/>
          <p:nvPr/>
        </p:nvSpPr>
        <p:spPr>
          <a:xfrm>
            <a:off x="6111723" y="3057128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IL</a:t>
            </a:r>
            <a:endParaRPr lang="en-US" sz="988" dirty="0"/>
          </a:p>
        </p:txBody>
      </p:sp>
      <p:sp>
        <p:nvSpPr>
          <p:cNvPr id="48" name="Text 46"/>
          <p:cNvSpPr/>
          <p:nvPr/>
        </p:nvSpPr>
        <p:spPr>
          <a:xfrm>
            <a:off x="6111723" y="321587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51</a:t>
            </a:r>
            <a:endParaRPr lang="en-US" sz="800" dirty="0"/>
          </a:p>
        </p:txBody>
      </p:sp>
      <p:sp>
        <p:nvSpPr>
          <p:cNvPr id="49" name="Shape 47"/>
          <p:cNvSpPr/>
          <p:nvPr/>
        </p:nvSpPr>
        <p:spPr>
          <a:xfrm>
            <a:off x="6512566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0" name="Text 48"/>
          <p:cNvSpPr/>
          <p:nvPr/>
        </p:nvSpPr>
        <p:spPr>
          <a:xfrm>
            <a:off x="6512566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</a:t>
            </a:r>
            <a:endParaRPr lang="en-US" sz="988" dirty="0"/>
          </a:p>
        </p:txBody>
      </p:sp>
      <p:sp>
        <p:nvSpPr>
          <p:cNvPr id="51" name="Shape 49"/>
          <p:cNvSpPr/>
          <p:nvPr/>
        </p:nvSpPr>
        <p:spPr>
          <a:xfrm>
            <a:off x="6913410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2" name="Text 50"/>
          <p:cNvSpPr/>
          <p:nvPr/>
        </p:nvSpPr>
        <p:spPr>
          <a:xfrm>
            <a:off x="6913410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OH</a:t>
            </a:r>
            <a:endParaRPr lang="en-US" sz="988" dirty="0"/>
          </a:p>
        </p:txBody>
      </p:sp>
      <p:sp>
        <p:nvSpPr>
          <p:cNvPr id="53" name="Shape 51"/>
          <p:cNvSpPr/>
          <p:nvPr/>
        </p:nvSpPr>
        <p:spPr>
          <a:xfrm>
            <a:off x="7314254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4" name="Text 52"/>
          <p:cNvSpPr/>
          <p:nvPr/>
        </p:nvSpPr>
        <p:spPr>
          <a:xfrm>
            <a:off x="7314254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</a:t>
            </a:r>
            <a:endParaRPr lang="en-US" sz="988" dirty="0"/>
          </a:p>
        </p:txBody>
      </p:sp>
      <p:sp>
        <p:nvSpPr>
          <p:cNvPr id="55" name="Shape 53"/>
          <p:cNvSpPr/>
          <p:nvPr/>
        </p:nvSpPr>
        <p:spPr>
          <a:xfrm>
            <a:off x="7715098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6" name="Text 54"/>
          <p:cNvSpPr/>
          <p:nvPr/>
        </p:nvSpPr>
        <p:spPr>
          <a:xfrm>
            <a:off x="7715098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NJ</a:t>
            </a:r>
            <a:endParaRPr lang="en-US" sz="988" dirty="0"/>
          </a:p>
        </p:txBody>
      </p:sp>
      <p:sp>
        <p:nvSpPr>
          <p:cNvPr id="57" name="Shape 55"/>
          <p:cNvSpPr/>
          <p:nvPr/>
        </p:nvSpPr>
        <p:spPr>
          <a:xfrm>
            <a:off x="3706660" y="3432175"/>
            <a:ext cx="369094" cy="3690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8" name="Text 56"/>
          <p:cNvSpPr/>
          <p:nvPr/>
        </p:nvSpPr>
        <p:spPr>
          <a:xfrm>
            <a:off x="3706660" y="3457972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</a:t>
            </a:r>
            <a:endParaRPr lang="en-US" sz="988" dirty="0"/>
          </a:p>
        </p:txBody>
      </p:sp>
      <p:sp>
        <p:nvSpPr>
          <p:cNvPr id="59" name="Text 57"/>
          <p:cNvSpPr/>
          <p:nvPr/>
        </p:nvSpPr>
        <p:spPr>
          <a:xfrm>
            <a:off x="3706660" y="3616722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800" dirty="0"/>
          </a:p>
        </p:txBody>
      </p:sp>
      <p:sp>
        <p:nvSpPr>
          <p:cNvPr id="60" name="Shape 58"/>
          <p:cNvSpPr/>
          <p:nvPr/>
        </p:nvSpPr>
        <p:spPr>
          <a:xfrm>
            <a:off x="4107504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1" name="Text 59"/>
          <p:cNvSpPr/>
          <p:nvPr/>
        </p:nvSpPr>
        <p:spPr>
          <a:xfrm>
            <a:off x="4107504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NV</a:t>
            </a:r>
            <a:endParaRPr lang="en-US" sz="988" dirty="0"/>
          </a:p>
        </p:txBody>
      </p:sp>
      <p:sp>
        <p:nvSpPr>
          <p:cNvPr id="62" name="Shape 60"/>
          <p:cNvSpPr/>
          <p:nvPr/>
        </p:nvSpPr>
        <p:spPr>
          <a:xfrm>
            <a:off x="4508348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3" name="Text 61"/>
          <p:cNvSpPr/>
          <p:nvPr/>
        </p:nvSpPr>
        <p:spPr>
          <a:xfrm>
            <a:off x="4508348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UT</a:t>
            </a:r>
            <a:endParaRPr lang="en-US" sz="988" dirty="0"/>
          </a:p>
        </p:txBody>
      </p:sp>
      <p:sp>
        <p:nvSpPr>
          <p:cNvPr id="64" name="Shape 62"/>
          <p:cNvSpPr/>
          <p:nvPr/>
        </p:nvSpPr>
        <p:spPr>
          <a:xfrm>
            <a:off x="4909191" y="3432175"/>
            <a:ext cx="369094" cy="369094"/>
          </a:xfrm>
          <a:prstGeom prst="rect">
            <a:avLst/>
          </a:prstGeom>
          <a:solidFill>
            <a:srgbClr val="E9EEF9"/>
          </a:solidFill>
          <a:ln/>
        </p:spPr>
      </p:sp>
      <p:sp>
        <p:nvSpPr>
          <p:cNvPr id="65" name="Text 63"/>
          <p:cNvSpPr/>
          <p:nvPr/>
        </p:nvSpPr>
        <p:spPr>
          <a:xfrm>
            <a:off x="4909191" y="3457972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</a:t>
            </a:r>
            <a:endParaRPr lang="en-US" sz="988" dirty="0"/>
          </a:p>
        </p:txBody>
      </p:sp>
      <p:sp>
        <p:nvSpPr>
          <p:cNvPr id="66" name="Text 64"/>
          <p:cNvSpPr/>
          <p:nvPr/>
        </p:nvSpPr>
        <p:spPr>
          <a:xfrm>
            <a:off x="4909191" y="3616722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29</a:t>
            </a:r>
            <a:endParaRPr lang="en-US" sz="800" dirty="0"/>
          </a:p>
        </p:txBody>
      </p:sp>
      <p:sp>
        <p:nvSpPr>
          <p:cNvPr id="67" name="Shape 65"/>
          <p:cNvSpPr/>
          <p:nvPr/>
        </p:nvSpPr>
        <p:spPr>
          <a:xfrm>
            <a:off x="5310035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8" name="Text 66"/>
          <p:cNvSpPr/>
          <p:nvPr/>
        </p:nvSpPr>
        <p:spPr>
          <a:xfrm>
            <a:off x="5310035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KS</a:t>
            </a:r>
            <a:endParaRPr lang="en-US" sz="988" dirty="0"/>
          </a:p>
        </p:txBody>
      </p:sp>
      <p:sp>
        <p:nvSpPr>
          <p:cNvPr id="69" name="Shape 67"/>
          <p:cNvSpPr/>
          <p:nvPr/>
        </p:nvSpPr>
        <p:spPr>
          <a:xfrm>
            <a:off x="5710879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0" name="Text 68"/>
          <p:cNvSpPr/>
          <p:nvPr/>
        </p:nvSpPr>
        <p:spPr>
          <a:xfrm>
            <a:off x="5710879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</a:t>
            </a:r>
            <a:endParaRPr lang="en-US" sz="988" dirty="0"/>
          </a:p>
        </p:txBody>
      </p:sp>
      <p:sp>
        <p:nvSpPr>
          <p:cNvPr id="71" name="Shape 69"/>
          <p:cNvSpPr/>
          <p:nvPr/>
        </p:nvSpPr>
        <p:spPr>
          <a:xfrm>
            <a:off x="6111723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2" name="Text 70"/>
          <p:cNvSpPr/>
          <p:nvPr/>
        </p:nvSpPr>
        <p:spPr>
          <a:xfrm>
            <a:off x="6111723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KY</a:t>
            </a:r>
            <a:endParaRPr lang="en-US" sz="988" dirty="0"/>
          </a:p>
        </p:txBody>
      </p:sp>
      <p:sp>
        <p:nvSpPr>
          <p:cNvPr id="73" name="Shape 71"/>
          <p:cNvSpPr/>
          <p:nvPr/>
        </p:nvSpPr>
        <p:spPr>
          <a:xfrm>
            <a:off x="6512566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4" name="Text 72"/>
          <p:cNvSpPr/>
          <p:nvPr/>
        </p:nvSpPr>
        <p:spPr>
          <a:xfrm>
            <a:off x="6512566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WV</a:t>
            </a:r>
            <a:endParaRPr lang="en-US" sz="988" dirty="0"/>
          </a:p>
        </p:txBody>
      </p:sp>
      <p:sp>
        <p:nvSpPr>
          <p:cNvPr id="75" name="Shape 73"/>
          <p:cNvSpPr/>
          <p:nvPr/>
        </p:nvSpPr>
        <p:spPr>
          <a:xfrm>
            <a:off x="6913410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6" name="Text 74"/>
          <p:cNvSpPr/>
          <p:nvPr/>
        </p:nvSpPr>
        <p:spPr>
          <a:xfrm>
            <a:off x="6913410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DC</a:t>
            </a:r>
            <a:endParaRPr lang="en-US" sz="988" dirty="0"/>
          </a:p>
        </p:txBody>
      </p:sp>
      <p:sp>
        <p:nvSpPr>
          <p:cNvPr id="77" name="Shape 75"/>
          <p:cNvSpPr/>
          <p:nvPr/>
        </p:nvSpPr>
        <p:spPr>
          <a:xfrm>
            <a:off x="7314254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8" name="Text 76"/>
          <p:cNvSpPr/>
          <p:nvPr/>
        </p:nvSpPr>
        <p:spPr>
          <a:xfrm>
            <a:off x="7314254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MD</a:t>
            </a:r>
            <a:endParaRPr lang="en-US" sz="988" dirty="0"/>
          </a:p>
        </p:txBody>
      </p:sp>
      <p:sp>
        <p:nvSpPr>
          <p:cNvPr id="79" name="Shape 77"/>
          <p:cNvSpPr/>
          <p:nvPr/>
        </p:nvSpPr>
        <p:spPr>
          <a:xfrm>
            <a:off x="7715098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0" name="Text 78"/>
          <p:cNvSpPr/>
          <p:nvPr/>
        </p:nvSpPr>
        <p:spPr>
          <a:xfrm>
            <a:off x="7715098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</a:t>
            </a:r>
            <a:endParaRPr lang="en-US" sz="988" dirty="0"/>
          </a:p>
        </p:txBody>
      </p:sp>
      <p:sp>
        <p:nvSpPr>
          <p:cNvPr id="81" name="Shape 79"/>
          <p:cNvSpPr/>
          <p:nvPr/>
        </p:nvSpPr>
        <p:spPr>
          <a:xfrm>
            <a:off x="4508348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2" name="Text 80"/>
          <p:cNvSpPr/>
          <p:nvPr/>
        </p:nvSpPr>
        <p:spPr>
          <a:xfrm>
            <a:off x="4508348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AZ</a:t>
            </a:r>
            <a:endParaRPr lang="en-US" sz="988" dirty="0"/>
          </a:p>
        </p:txBody>
      </p:sp>
      <p:sp>
        <p:nvSpPr>
          <p:cNvPr id="83" name="Shape 81"/>
          <p:cNvSpPr/>
          <p:nvPr/>
        </p:nvSpPr>
        <p:spPr>
          <a:xfrm>
            <a:off x="4909191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4" name="Text 82"/>
          <p:cNvSpPr/>
          <p:nvPr/>
        </p:nvSpPr>
        <p:spPr>
          <a:xfrm>
            <a:off x="4909191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NM</a:t>
            </a:r>
            <a:endParaRPr lang="en-US" sz="988" dirty="0"/>
          </a:p>
        </p:txBody>
      </p:sp>
      <p:sp>
        <p:nvSpPr>
          <p:cNvPr id="85" name="Shape 83"/>
          <p:cNvSpPr/>
          <p:nvPr/>
        </p:nvSpPr>
        <p:spPr>
          <a:xfrm>
            <a:off x="5310035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6" name="Text 84"/>
          <p:cNvSpPr/>
          <p:nvPr/>
        </p:nvSpPr>
        <p:spPr>
          <a:xfrm>
            <a:off x="5310035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OK</a:t>
            </a:r>
            <a:endParaRPr lang="en-US" sz="988" dirty="0"/>
          </a:p>
        </p:txBody>
      </p:sp>
      <p:sp>
        <p:nvSpPr>
          <p:cNvPr id="87" name="Shape 85"/>
          <p:cNvSpPr/>
          <p:nvPr/>
        </p:nvSpPr>
        <p:spPr>
          <a:xfrm>
            <a:off x="5710879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8" name="Text 86"/>
          <p:cNvSpPr/>
          <p:nvPr/>
        </p:nvSpPr>
        <p:spPr>
          <a:xfrm>
            <a:off x="5710879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</a:t>
            </a:r>
            <a:endParaRPr lang="en-US" sz="988" dirty="0"/>
          </a:p>
        </p:txBody>
      </p:sp>
      <p:sp>
        <p:nvSpPr>
          <p:cNvPr id="89" name="Shape 87"/>
          <p:cNvSpPr/>
          <p:nvPr/>
        </p:nvSpPr>
        <p:spPr>
          <a:xfrm>
            <a:off x="6111723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0" name="Text 88"/>
          <p:cNvSpPr/>
          <p:nvPr/>
        </p:nvSpPr>
        <p:spPr>
          <a:xfrm>
            <a:off x="6111723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TN</a:t>
            </a:r>
            <a:endParaRPr lang="en-US" sz="988" dirty="0"/>
          </a:p>
        </p:txBody>
      </p:sp>
      <p:sp>
        <p:nvSpPr>
          <p:cNvPr id="91" name="Shape 89"/>
          <p:cNvSpPr/>
          <p:nvPr/>
        </p:nvSpPr>
        <p:spPr>
          <a:xfrm>
            <a:off x="6512566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2" name="Text 90"/>
          <p:cNvSpPr/>
          <p:nvPr/>
        </p:nvSpPr>
        <p:spPr>
          <a:xfrm>
            <a:off x="6512566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</a:t>
            </a:r>
            <a:endParaRPr lang="en-US" sz="988" dirty="0"/>
          </a:p>
        </p:txBody>
      </p:sp>
      <p:sp>
        <p:nvSpPr>
          <p:cNvPr id="93" name="Shape 91"/>
          <p:cNvSpPr/>
          <p:nvPr/>
        </p:nvSpPr>
        <p:spPr>
          <a:xfrm>
            <a:off x="6913410" y="3833019"/>
            <a:ext cx="369094" cy="369094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94" name="Text 92"/>
          <p:cNvSpPr/>
          <p:nvPr/>
        </p:nvSpPr>
        <p:spPr>
          <a:xfrm>
            <a:off x="6913410" y="3858816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NC</a:t>
            </a:r>
            <a:endParaRPr lang="en-US" sz="988" dirty="0"/>
          </a:p>
        </p:txBody>
      </p:sp>
      <p:sp>
        <p:nvSpPr>
          <p:cNvPr id="95" name="Text 93"/>
          <p:cNvSpPr/>
          <p:nvPr/>
        </p:nvSpPr>
        <p:spPr>
          <a:xfrm>
            <a:off x="6913410" y="4017566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800" dirty="0"/>
          </a:p>
        </p:txBody>
      </p:sp>
      <p:sp>
        <p:nvSpPr>
          <p:cNvPr id="96" name="Shape 94"/>
          <p:cNvSpPr/>
          <p:nvPr/>
        </p:nvSpPr>
        <p:spPr>
          <a:xfrm>
            <a:off x="4909191" y="4233863"/>
            <a:ext cx="369094" cy="369094"/>
          </a:xfrm>
          <a:prstGeom prst="rect">
            <a:avLst/>
          </a:prstGeom>
          <a:solidFill>
            <a:srgbClr val="87A4E0"/>
          </a:solidFill>
          <a:ln/>
        </p:spPr>
      </p:sp>
      <p:sp>
        <p:nvSpPr>
          <p:cNvPr id="97" name="Text 95"/>
          <p:cNvSpPr/>
          <p:nvPr/>
        </p:nvSpPr>
        <p:spPr>
          <a:xfrm>
            <a:off x="4909191" y="4259659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TX</a:t>
            </a:r>
            <a:endParaRPr lang="en-US" sz="988" dirty="0"/>
          </a:p>
        </p:txBody>
      </p:sp>
      <p:sp>
        <p:nvSpPr>
          <p:cNvPr id="98" name="Text 96"/>
          <p:cNvSpPr/>
          <p:nvPr/>
        </p:nvSpPr>
        <p:spPr>
          <a:xfrm>
            <a:off x="4909191" y="4418409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95</a:t>
            </a:r>
            <a:endParaRPr lang="en-US" sz="800" dirty="0"/>
          </a:p>
        </p:txBody>
      </p:sp>
      <p:sp>
        <p:nvSpPr>
          <p:cNvPr id="99" name="Shape 97"/>
          <p:cNvSpPr/>
          <p:nvPr/>
        </p:nvSpPr>
        <p:spPr>
          <a:xfrm>
            <a:off x="5310035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0" name="Text 98"/>
          <p:cNvSpPr/>
          <p:nvPr/>
        </p:nvSpPr>
        <p:spPr>
          <a:xfrm>
            <a:off x="5310035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</a:t>
            </a:r>
            <a:endParaRPr lang="en-US" sz="988" dirty="0"/>
          </a:p>
        </p:txBody>
      </p:sp>
      <p:sp>
        <p:nvSpPr>
          <p:cNvPr id="101" name="Shape 99"/>
          <p:cNvSpPr/>
          <p:nvPr/>
        </p:nvSpPr>
        <p:spPr>
          <a:xfrm>
            <a:off x="5710879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2" name="Text 100"/>
          <p:cNvSpPr/>
          <p:nvPr/>
        </p:nvSpPr>
        <p:spPr>
          <a:xfrm>
            <a:off x="5710879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MS</a:t>
            </a:r>
            <a:endParaRPr lang="en-US" sz="988" dirty="0"/>
          </a:p>
        </p:txBody>
      </p:sp>
      <p:sp>
        <p:nvSpPr>
          <p:cNvPr id="103" name="Shape 101"/>
          <p:cNvSpPr/>
          <p:nvPr/>
        </p:nvSpPr>
        <p:spPr>
          <a:xfrm>
            <a:off x="6111723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4" name="Text 102"/>
          <p:cNvSpPr/>
          <p:nvPr/>
        </p:nvSpPr>
        <p:spPr>
          <a:xfrm>
            <a:off x="6111723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</a:t>
            </a:r>
            <a:endParaRPr lang="en-US" sz="988" dirty="0"/>
          </a:p>
        </p:txBody>
      </p:sp>
      <p:sp>
        <p:nvSpPr>
          <p:cNvPr id="105" name="Shape 103"/>
          <p:cNvSpPr/>
          <p:nvPr/>
        </p:nvSpPr>
        <p:spPr>
          <a:xfrm>
            <a:off x="6512566" y="4233863"/>
            <a:ext cx="369094" cy="369094"/>
          </a:xfrm>
          <a:prstGeom prst="rect">
            <a:avLst/>
          </a:prstGeom>
          <a:solidFill>
            <a:srgbClr val="ECF0F9"/>
          </a:solidFill>
          <a:ln/>
        </p:spPr>
      </p:sp>
      <p:sp>
        <p:nvSpPr>
          <p:cNvPr id="106" name="Text 104"/>
          <p:cNvSpPr/>
          <p:nvPr/>
        </p:nvSpPr>
        <p:spPr>
          <a:xfrm>
            <a:off x="6512566" y="4259659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</a:t>
            </a:r>
            <a:endParaRPr lang="en-US" sz="988" dirty="0"/>
          </a:p>
        </p:txBody>
      </p:sp>
      <p:sp>
        <p:nvSpPr>
          <p:cNvPr id="107" name="Text 105"/>
          <p:cNvSpPr/>
          <p:nvPr/>
        </p:nvSpPr>
        <p:spPr>
          <a:xfrm>
            <a:off x="6512566" y="4418409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27</a:t>
            </a:r>
            <a:endParaRPr lang="en-US" sz="800" dirty="0"/>
          </a:p>
        </p:txBody>
      </p:sp>
      <p:sp>
        <p:nvSpPr>
          <p:cNvPr id="108" name="Shape 106"/>
          <p:cNvSpPr/>
          <p:nvPr/>
        </p:nvSpPr>
        <p:spPr>
          <a:xfrm>
            <a:off x="6913410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9" name="Text 107"/>
          <p:cNvSpPr/>
          <p:nvPr/>
        </p:nvSpPr>
        <p:spPr>
          <a:xfrm>
            <a:off x="6913410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</a:t>
            </a:r>
            <a:endParaRPr lang="en-US" sz="988" dirty="0"/>
          </a:p>
        </p:txBody>
      </p:sp>
      <p:sp>
        <p:nvSpPr>
          <p:cNvPr id="110" name="Shape 108"/>
          <p:cNvSpPr/>
          <p:nvPr/>
        </p:nvSpPr>
        <p:spPr>
          <a:xfrm>
            <a:off x="3706660" y="4634706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11" name="Text 109"/>
          <p:cNvSpPr/>
          <p:nvPr/>
        </p:nvSpPr>
        <p:spPr>
          <a:xfrm>
            <a:off x="3706660" y="4634706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HI</a:t>
            </a:r>
            <a:endParaRPr lang="en-US" sz="988" dirty="0"/>
          </a:p>
        </p:txBody>
      </p:sp>
      <p:sp>
        <p:nvSpPr>
          <p:cNvPr id="112" name="Shape 110"/>
          <p:cNvSpPr/>
          <p:nvPr/>
        </p:nvSpPr>
        <p:spPr>
          <a:xfrm>
            <a:off x="6512566" y="4634706"/>
            <a:ext cx="369094" cy="369094"/>
          </a:xfrm>
          <a:prstGeom prst="rect">
            <a:avLst/>
          </a:prstGeom>
          <a:solidFill>
            <a:srgbClr val="AEC0E8"/>
          </a:solidFill>
          <a:ln/>
        </p:spPr>
      </p:sp>
      <p:sp>
        <p:nvSpPr>
          <p:cNvPr id="113" name="Text 111"/>
          <p:cNvSpPr/>
          <p:nvPr/>
        </p:nvSpPr>
        <p:spPr>
          <a:xfrm>
            <a:off x="6512566" y="4660503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FL</a:t>
            </a:r>
            <a:endParaRPr lang="en-US" sz="988" dirty="0"/>
          </a:p>
        </p:txBody>
      </p:sp>
      <p:sp>
        <p:nvSpPr>
          <p:cNvPr id="114" name="Text 112"/>
          <p:cNvSpPr/>
          <p:nvPr/>
        </p:nvSpPr>
        <p:spPr>
          <a:xfrm>
            <a:off x="6512566" y="481925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800" dirty="0"/>
          </a:p>
        </p:txBody>
      </p:sp>
      <p:sp>
        <p:nvSpPr>
          <p:cNvPr id="115" name="Shape 113"/>
          <p:cNvSpPr/>
          <p:nvPr/>
        </p:nvSpPr>
        <p:spPr>
          <a:xfrm>
            <a:off x="3706660" y="5099050"/>
            <a:ext cx="69850" cy="114300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116" name="Shape 114"/>
          <p:cNvSpPr/>
          <p:nvPr/>
        </p:nvSpPr>
        <p:spPr>
          <a:xfrm>
            <a:off x="3770160" y="5099050"/>
            <a:ext cx="69850" cy="114300"/>
          </a:xfrm>
          <a:prstGeom prst="rect">
            <a:avLst/>
          </a:prstGeom>
          <a:solidFill>
            <a:srgbClr val="ECF0FA"/>
          </a:solidFill>
          <a:ln/>
        </p:spPr>
      </p:sp>
      <p:sp>
        <p:nvSpPr>
          <p:cNvPr id="117" name="Shape 115"/>
          <p:cNvSpPr/>
          <p:nvPr/>
        </p:nvSpPr>
        <p:spPr>
          <a:xfrm>
            <a:off x="3833660" y="5099050"/>
            <a:ext cx="69850" cy="114300"/>
          </a:xfrm>
          <a:prstGeom prst="rect">
            <a:avLst/>
          </a:prstGeom>
          <a:solidFill>
            <a:srgbClr val="E8ECF8"/>
          </a:solidFill>
          <a:ln/>
        </p:spPr>
      </p:sp>
      <p:sp>
        <p:nvSpPr>
          <p:cNvPr id="118" name="Shape 116"/>
          <p:cNvSpPr/>
          <p:nvPr/>
        </p:nvSpPr>
        <p:spPr>
          <a:xfrm>
            <a:off x="3897160" y="5099050"/>
            <a:ext cx="69850" cy="114300"/>
          </a:xfrm>
          <a:prstGeom prst="rect">
            <a:avLst/>
          </a:prstGeom>
          <a:solidFill>
            <a:srgbClr val="E3E9F7"/>
          </a:solidFill>
          <a:ln/>
        </p:spPr>
      </p:sp>
      <p:sp>
        <p:nvSpPr>
          <p:cNvPr id="119" name="Shape 117"/>
          <p:cNvSpPr/>
          <p:nvPr/>
        </p:nvSpPr>
        <p:spPr>
          <a:xfrm>
            <a:off x="3960660" y="5099050"/>
            <a:ext cx="69850" cy="114300"/>
          </a:xfrm>
          <a:prstGeom prst="rect">
            <a:avLst/>
          </a:prstGeom>
          <a:solidFill>
            <a:srgbClr val="DEE5F5"/>
          </a:solidFill>
          <a:ln/>
        </p:spPr>
      </p:sp>
      <p:sp>
        <p:nvSpPr>
          <p:cNvPr id="120" name="Shape 118"/>
          <p:cNvSpPr/>
          <p:nvPr/>
        </p:nvSpPr>
        <p:spPr>
          <a:xfrm>
            <a:off x="4024160" y="5099050"/>
            <a:ext cx="69850" cy="114300"/>
          </a:xfrm>
          <a:prstGeom prst="rect">
            <a:avLst/>
          </a:prstGeom>
          <a:solidFill>
            <a:srgbClr val="D9E0F4"/>
          </a:solidFill>
          <a:ln/>
        </p:spPr>
      </p:sp>
      <p:sp>
        <p:nvSpPr>
          <p:cNvPr id="121" name="Shape 119"/>
          <p:cNvSpPr/>
          <p:nvPr/>
        </p:nvSpPr>
        <p:spPr>
          <a:xfrm>
            <a:off x="4087660" y="5099050"/>
            <a:ext cx="69850" cy="11430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122" name="Shape 120"/>
          <p:cNvSpPr/>
          <p:nvPr/>
        </p:nvSpPr>
        <p:spPr>
          <a:xfrm>
            <a:off x="4151160" y="5099050"/>
            <a:ext cx="69850" cy="114300"/>
          </a:xfrm>
          <a:prstGeom prst="rect">
            <a:avLst/>
          </a:prstGeom>
          <a:solidFill>
            <a:srgbClr val="CED8F1"/>
          </a:solidFill>
          <a:ln/>
        </p:spPr>
      </p:sp>
      <p:sp>
        <p:nvSpPr>
          <p:cNvPr id="123" name="Shape 121"/>
          <p:cNvSpPr/>
          <p:nvPr/>
        </p:nvSpPr>
        <p:spPr>
          <a:xfrm>
            <a:off x="4214660" y="5099050"/>
            <a:ext cx="69850" cy="114300"/>
          </a:xfrm>
          <a:prstGeom prst="rect">
            <a:avLst/>
          </a:prstGeom>
          <a:solidFill>
            <a:srgbClr val="C9D4EF"/>
          </a:solidFill>
          <a:ln/>
        </p:spPr>
      </p:sp>
      <p:sp>
        <p:nvSpPr>
          <p:cNvPr id="124" name="Shape 122"/>
          <p:cNvSpPr/>
          <p:nvPr/>
        </p:nvSpPr>
        <p:spPr>
          <a:xfrm>
            <a:off x="4278160" y="5099050"/>
            <a:ext cx="69850" cy="114300"/>
          </a:xfrm>
          <a:prstGeom prst="rect">
            <a:avLst/>
          </a:prstGeom>
          <a:solidFill>
            <a:srgbClr val="C3CFED"/>
          </a:solidFill>
          <a:ln/>
        </p:spPr>
      </p:sp>
      <p:sp>
        <p:nvSpPr>
          <p:cNvPr id="125" name="Shape 123"/>
          <p:cNvSpPr/>
          <p:nvPr/>
        </p:nvSpPr>
        <p:spPr>
          <a:xfrm>
            <a:off x="4341660" y="5099050"/>
            <a:ext cx="69850" cy="114300"/>
          </a:xfrm>
          <a:prstGeom prst="rect">
            <a:avLst/>
          </a:prstGeom>
          <a:solidFill>
            <a:srgbClr val="BDCAEC"/>
          </a:solidFill>
          <a:ln/>
        </p:spPr>
      </p:sp>
      <p:sp>
        <p:nvSpPr>
          <p:cNvPr id="126" name="Shape 124"/>
          <p:cNvSpPr/>
          <p:nvPr/>
        </p:nvSpPr>
        <p:spPr>
          <a:xfrm>
            <a:off x="4405160" y="5099050"/>
            <a:ext cx="69850" cy="114300"/>
          </a:xfrm>
          <a:prstGeom prst="rect">
            <a:avLst/>
          </a:prstGeom>
          <a:solidFill>
            <a:srgbClr val="B6C6EA"/>
          </a:solidFill>
          <a:ln/>
        </p:spPr>
      </p:sp>
      <p:sp>
        <p:nvSpPr>
          <p:cNvPr id="127" name="Shape 125"/>
          <p:cNvSpPr/>
          <p:nvPr/>
        </p:nvSpPr>
        <p:spPr>
          <a:xfrm>
            <a:off x="4468660" y="5099050"/>
            <a:ext cx="69850" cy="114300"/>
          </a:xfrm>
          <a:prstGeom prst="rect">
            <a:avLst/>
          </a:prstGeom>
          <a:solidFill>
            <a:srgbClr val="B0C1E9"/>
          </a:solidFill>
          <a:ln/>
        </p:spPr>
      </p:sp>
      <p:sp>
        <p:nvSpPr>
          <p:cNvPr id="128" name="Shape 126"/>
          <p:cNvSpPr/>
          <p:nvPr/>
        </p:nvSpPr>
        <p:spPr>
          <a:xfrm>
            <a:off x="4532160" y="5099050"/>
            <a:ext cx="69850" cy="114300"/>
          </a:xfrm>
          <a:prstGeom prst="rect">
            <a:avLst/>
          </a:prstGeom>
          <a:solidFill>
            <a:srgbClr val="A9BBE7"/>
          </a:solidFill>
          <a:ln/>
        </p:spPr>
      </p:sp>
      <p:sp>
        <p:nvSpPr>
          <p:cNvPr id="129" name="Shape 127"/>
          <p:cNvSpPr/>
          <p:nvPr/>
        </p:nvSpPr>
        <p:spPr>
          <a:xfrm>
            <a:off x="4595660" y="5099050"/>
            <a:ext cx="69850" cy="114300"/>
          </a:xfrm>
          <a:prstGeom prst="rect">
            <a:avLst/>
          </a:prstGeom>
          <a:solidFill>
            <a:srgbClr val="A1B6E5"/>
          </a:solidFill>
          <a:ln/>
        </p:spPr>
      </p:sp>
      <p:sp>
        <p:nvSpPr>
          <p:cNvPr id="130" name="Shape 128"/>
          <p:cNvSpPr/>
          <p:nvPr/>
        </p:nvSpPr>
        <p:spPr>
          <a:xfrm>
            <a:off x="4659160" y="5099050"/>
            <a:ext cx="69850" cy="114300"/>
          </a:xfrm>
          <a:prstGeom prst="rect">
            <a:avLst/>
          </a:prstGeom>
          <a:solidFill>
            <a:srgbClr val="9AB1E4"/>
          </a:solidFill>
          <a:ln/>
        </p:spPr>
      </p:sp>
      <p:sp>
        <p:nvSpPr>
          <p:cNvPr id="131" name="Shape 129"/>
          <p:cNvSpPr/>
          <p:nvPr/>
        </p:nvSpPr>
        <p:spPr>
          <a:xfrm>
            <a:off x="4722660" y="5099050"/>
            <a:ext cx="69850" cy="114300"/>
          </a:xfrm>
          <a:prstGeom prst="rect">
            <a:avLst/>
          </a:prstGeom>
          <a:solidFill>
            <a:srgbClr val="91ABE2"/>
          </a:solidFill>
          <a:ln/>
        </p:spPr>
      </p:sp>
      <p:sp>
        <p:nvSpPr>
          <p:cNvPr id="132" name="Shape 130"/>
          <p:cNvSpPr/>
          <p:nvPr/>
        </p:nvSpPr>
        <p:spPr>
          <a:xfrm>
            <a:off x="4786160" y="5099050"/>
            <a:ext cx="69850" cy="114300"/>
          </a:xfrm>
          <a:prstGeom prst="rect">
            <a:avLst/>
          </a:prstGeom>
          <a:solidFill>
            <a:srgbClr val="88A5E0"/>
          </a:solidFill>
          <a:ln/>
        </p:spPr>
      </p:sp>
      <p:sp>
        <p:nvSpPr>
          <p:cNvPr id="133" name="Shape 131"/>
          <p:cNvSpPr/>
          <p:nvPr/>
        </p:nvSpPr>
        <p:spPr>
          <a:xfrm>
            <a:off x="4849660" y="5099050"/>
            <a:ext cx="69850" cy="114300"/>
          </a:xfrm>
          <a:prstGeom prst="rect">
            <a:avLst/>
          </a:prstGeom>
          <a:solidFill>
            <a:srgbClr val="7E9EDF"/>
          </a:solidFill>
          <a:ln/>
        </p:spPr>
      </p:sp>
      <p:sp>
        <p:nvSpPr>
          <p:cNvPr id="134" name="Shape 132"/>
          <p:cNvSpPr/>
          <p:nvPr/>
        </p:nvSpPr>
        <p:spPr>
          <a:xfrm>
            <a:off x="4913160" y="5099050"/>
            <a:ext cx="69850" cy="114300"/>
          </a:xfrm>
          <a:prstGeom prst="rect">
            <a:avLst/>
          </a:prstGeom>
          <a:solidFill>
            <a:srgbClr val="7398DD"/>
          </a:solidFill>
          <a:ln/>
        </p:spPr>
      </p:sp>
      <p:sp>
        <p:nvSpPr>
          <p:cNvPr id="135" name="Shape 133"/>
          <p:cNvSpPr/>
          <p:nvPr/>
        </p:nvSpPr>
        <p:spPr>
          <a:xfrm>
            <a:off x="4976660" y="5099050"/>
            <a:ext cx="69850" cy="114300"/>
          </a:xfrm>
          <a:prstGeom prst="rect">
            <a:avLst/>
          </a:prstGeom>
          <a:solidFill>
            <a:srgbClr val="6791DB"/>
          </a:solidFill>
          <a:ln/>
        </p:spPr>
      </p:sp>
      <p:sp>
        <p:nvSpPr>
          <p:cNvPr id="136" name="Shape 134"/>
          <p:cNvSpPr/>
          <p:nvPr/>
        </p:nvSpPr>
        <p:spPr>
          <a:xfrm>
            <a:off x="5040160" y="5099050"/>
            <a:ext cx="69850" cy="114300"/>
          </a:xfrm>
          <a:prstGeom prst="rect">
            <a:avLst/>
          </a:prstGeom>
          <a:solidFill>
            <a:srgbClr val="5889DA"/>
          </a:solidFill>
          <a:ln/>
        </p:spPr>
      </p:sp>
      <p:sp>
        <p:nvSpPr>
          <p:cNvPr id="137" name="Shape 135"/>
          <p:cNvSpPr/>
          <p:nvPr/>
        </p:nvSpPr>
        <p:spPr>
          <a:xfrm>
            <a:off x="5103660" y="5099050"/>
            <a:ext cx="69850" cy="114300"/>
          </a:xfrm>
          <a:prstGeom prst="rect">
            <a:avLst/>
          </a:prstGeom>
          <a:solidFill>
            <a:srgbClr val="4681D8"/>
          </a:solidFill>
          <a:ln/>
        </p:spPr>
      </p:sp>
      <p:sp>
        <p:nvSpPr>
          <p:cNvPr id="138" name="Shape 136"/>
          <p:cNvSpPr/>
          <p:nvPr/>
        </p:nvSpPr>
        <p:spPr>
          <a:xfrm>
            <a:off x="5167160" y="5099050"/>
            <a:ext cx="69850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9" name="Text 137"/>
          <p:cNvSpPr/>
          <p:nvPr/>
        </p:nvSpPr>
        <p:spPr>
          <a:xfrm>
            <a:off x="3706660" y="5219700"/>
            <a:ext cx="762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850" dirty="0"/>
          </a:p>
        </p:txBody>
      </p:sp>
      <p:sp>
        <p:nvSpPr>
          <p:cNvPr id="140" name="Text 138"/>
          <p:cNvSpPr/>
          <p:nvPr/>
        </p:nvSpPr>
        <p:spPr>
          <a:xfrm>
            <a:off x="4468660" y="5219700"/>
            <a:ext cx="762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850" dirty="0"/>
          </a:p>
        </p:txBody>
      </p:sp>
      <p:sp>
        <p:nvSpPr>
          <p:cNvPr id="141" name="Shape 139"/>
          <p:cNvSpPr/>
          <p:nvPr/>
        </p:nvSpPr>
        <p:spPr>
          <a:xfrm>
            <a:off x="5357660" y="5099050"/>
            <a:ext cx="114300" cy="114300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42" name="Text 140"/>
          <p:cNvSpPr/>
          <p:nvPr/>
        </p:nvSpPr>
        <p:spPr>
          <a:xfrm>
            <a:off x="5497360" y="507365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data</a:t>
            </a:r>
            <a:endParaRPr lang="en-US" sz="850" dirty="0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Highlighted max point (per-cell color on line)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27720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Feb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116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68512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Apr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88908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May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644748" y="315468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294228" y="297561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 flipV="1">
            <a:off x="3675228" y="2945130"/>
            <a:ext cx="1203960" cy="24003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848708" y="291465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98188" y="273558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135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 flipV="1">
            <a:off x="4879188" y="2257044"/>
            <a:ext cx="1203960" cy="68808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039968" y="2213864"/>
            <a:ext cx="86360" cy="86360"/>
          </a:xfrm>
          <a:prstGeom prst="rect">
            <a:avLst/>
          </a:prstGeom>
          <a:solidFill>
            <a:srgbClr val="E3494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702148" y="2047494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3494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178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083148" y="2257044"/>
            <a:ext cx="1203960" cy="44805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256628" y="26746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906108" y="249555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 flipV="1">
            <a:off x="7287108" y="2513076"/>
            <a:ext cx="1203960" cy="19202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460588" y="2482596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110068" y="2303526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162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073248" y="5105400"/>
            <a:ext cx="6019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Stepped line (staircase)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4038600"/>
            <a:ext cx="484378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2971800"/>
            <a:ext cx="484378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1905000"/>
            <a:ext cx="484378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0.0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3.0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479648" y="5143500"/>
            <a:ext cx="80729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Jan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286944" y="5143500"/>
            <a:ext cx="80729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Feb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094241" y="5143500"/>
            <a:ext cx="80729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901538" y="5143500"/>
            <a:ext cx="80729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Apr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708834" y="5143500"/>
            <a:ext cx="80729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May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7516131" y="5143500"/>
            <a:ext cx="80729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Jun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852816" y="29413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883296" y="2971800"/>
            <a:ext cx="807297" cy="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690593" y="2971800"/>
            <a:ext cx="0" cy="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660113" y="29413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690593" y="2971800"/>
            <a:ext cx="807297" cy="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497889" y="2438400"/>
            <a:ext cx="0" cy="53340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467409" y="24079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97889" y="2438400"/>
            <a:ext cx="807297" cy="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05186" y="2438400"/>
            <a:ext cx="0" cy="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274706" y="24079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305186" y="2438400"/>
            <a:ext cx="807297" cy="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12483" y="1905000"/>
            <a:ext cx="0" cy="53340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082003" y="18745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112483" y="1905000"/>
            <a:ext cx="807297" cy="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919779" y="1905000"/>
            <a:ext cx="0" cy="26670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889299" y="21412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479648" y="5105400"/>
            <a:ext cx="48437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374228" y="2085975"/>
            <a:ext cx="7696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Base rate</a:t>
            </a:r>
            <a:endParaRPr lang="en-US" sz="1000" dirty="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Stepped area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40386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29718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19050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479648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475836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472024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68212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464400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977742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Shape 14"/>
          <p:cNvSpPr/>
          <p:nvPr/>
        </p:nvSpPr>
        <p:spPr>
          <a:xfrm>
            <a:off x="4019249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7" name="Shape 15"/>
          <p:cNvSpPr/>
          <p:nvPr/>
        </p:nvSpPr>
        <p:spPr>
          <a:xfrm>
            <a:off x="4060757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Shape 16"/>
          <p:cNvSpPr/>
          <p:nvPr/>
        </p:nvSpPr>
        <p:spPr>
          <a:xfrm>
            <a:off x="4102265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Shape 17"/>
          <p:cNvSpPr/>
          <p:nvPr/>
        </p:nvSpPr>
        <p:spPr>
          <a:xfrm>
            <a:off x="4143773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Shape 18"/>
          <p:cNvSpPr/>
          <p:nvPr/>
        </p:nvSpPr>
        <p:spPr>
          <a:xfrm>
            <a:off x="4185281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Shape 19"/>
          <p:cNvSpPr/>
          <p:nvPr/>
        </p:nvSpPr>
        <p:spPr>
          <a:xfrm>
            <a:off x="4226789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Shape 20"/>
          <p:cNvSpPr/>
          <p:nvPr/>
        </p:nvSpPr>
        <p:spPr>
          <a:xfrm>
            <a:off x="4268296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Shape 21"/>
          <p:cNvSpPr/>
          <p:nvPr/>
        </p:nvSpPr>
        <p:spPr>
          <a:xfrm>
            <a:off x="4309804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4" name="Shape 22"/>
          <p:cNvSpPr/>
          <p:nvPr/>
        </p:nvSpPr>
        <p:spPr>
          <a:xfrm>
            <a:off x="4351312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Shape 23"/>
          <p:cNvSpPr/>
          <p:nvPr/>
        </p:nvSpPr>
        <p:spPr>
          <a:xfrm>
            <a:off x="4392820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6" name="Shape 24"/>
          <p:cNvSpPr/>
          <p:nvPr/>
        </p:nvSpPr>
        <p:spPr>
          <a:xfrm>
            <a:off x="4434328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Shape 25"/>
          <p:cNvSpPr/>
          <p:nvPr/>
        </p:nvSpPr>
        <p:spPr>
          <a:xfrm>
            <a:off x="4475836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8" name="Shape 26"/>
          <p:cNvSpPr/>
          <p:nvPr/>
        </p:nvSpPr>
        <p:spPr>
          <a:xfrm>
            <a:off x="4517343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9" name="Shape 27"/>
          <p:cNvSpPr/>
          <p:nvPr/>
        </p:nvSpPr>
        <p:spPr>
          <a:xfrm>
            <a:off x="4558851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Shape 28"/>
          <p:cNvSpPr/>
          <p:nvPr/>
        </p:nvSpPr>
        <p:spPr>
          <a:xfrm>
            <a:off x="4600359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Shape 29"/>
          <p:cNvSpPr/>
          <p:nvPr/>
        </p:nvSpPr>
        <p:spPr>
          <a:xfrm>
            <a:off x="4641867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2" name="Shape 30"/>
          <p:cNvSpPr/>
          <p:nvPr/>
        </p:nvSpPr>
        <p:spPr>
          <a:xfrm>
            <a:off x="4683375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Shape 31"/>
          <p:cNvSpPr/>
          <p:nvPr/>
        </p:nvSpPr>
        <p:spPr>
          <a:xfrm>
            <a:off x="4724883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4" name="Shape 32"/>
          <p:cNvSpPr/>
          <p:nvPr/>
        </p:nvSpPr>
        <p:spPr>
          <a:xfrm>
            <a:off x="4766390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Shape 33"/>
          <p:cNvSpPr/>
          <p:nvPr/>
        </p:nvSpPr>
        <p:spPr>
          <a:xfrm>
            <a:off x="4807898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6" name="Shape 34"/>
          <p:cNvSpPr/>
          <p:nvPr/>
        </p:nvSpPr>
        <p:spPr>
          <a:xfrm>
            <a:off x="4849406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7" name="Shape 35"/>
          <p:cNvSpPr/>
          <p:nvPr/>
        </p:nvSpPr>
        <p:spPr>
          <a:xfrm>
            <a:off x="4890914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8" name="Shape 36"/>
          <p:cNvSpPr/>
          <p:nvPr/>
        </p:nvSpPr>
        <p:spPr>
          <a:xfrm>
            <a:off x="4932422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9" name="Shape 37"/>
          <p:cNvSpPr/>
          <p:nvPr/>
        </p:nvSpPr>
        <p:spPr>
          <a:xfrm>
            <a:off x="4973930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0" name="Shape 38"/>
          <p:cNvSpPr/>
          <p:nvPr/>
        </p:nvSpPr>
        <p:spPr>
          <a:xfrm>
            <a:off x="5015437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1" name="Shape 39"/>
          <p:cNvSpPr/>
          <p:nvPr/>
        </p:nvSpPr>
        <p:spPr>
          <a:xfrm>
            <a:off x="5056945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2" name="Shape 40"/>
          <p:cNvSpPr/>
          <p:nvPr/>
        </p:nvSpPr>
        <p:spPr>
          <a:xfrm>
            <a:off x="5098453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3" name="Shape 41"/>
          <p:cNvSpPr/>
          <p:nvPr/>
        </p:nvSpPr>
        <p:spPr>
          <a:xfrm>
            <a:off x="5139961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4" name="Shape 42"/>
          <p:cNvSpPr/>
          <p:nvPr/>
        </p:nvSpPr>
        <p:spPr>
          <a:xfrm>
            <a:off x="5181469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5" name="Shape 43"/>
          <p:cNvSpPr/>
          <p:nvPr/>
        </p:nvSpPr>
        <p:spPr>
          <a:xfrm>
            <a:off x="5222977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6" name="Shape 44"/>
          <p:cNvSpPr/>
          <p:nvPr/>
        </p:nvSpPr>
        <p:spPr>
          <a:xfrm>
            <a:off x="5264484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7" name="Shape 45"/>
          <p:cNvSpPr/>
          <p:nvPr/>
        </p:nvSpPr>
        <p:spPr>
          <a:xfrm>
            <a:off x="5305992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8" name="Shape 46"/>
          <p:cNvSpPr/>
          <p:nvPr/>
        </p:nvSpPr>
        <p:spPr>
          <a:xfrm>
            <a:off x="5347500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5389008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0" name="Shape 48"/>
          <p:cNvSpPr/>
          <p:nvPr/>
        </p:nvSpPr>
        <p:spPr>
          <a:xfrm>
            <a:off x="5430516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1" name="Shape 49"/>
          <p:cNvSpPr/>
          <p:nvPr/>
        </p:nvSpPr>
        <p:spPr>
          <a:xfrm>
            <a:off x="5472024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2" name="Shape 50"/>
          <p:cNvSpPr/>
          <p:nvPr/>
        </p:nvSpPr>
        <p:spPr>
          <a:xfrm>
            <a:off x="5513531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3" name="Shape 51"/>
          <p:cNvSpPr/>
          <p:nvPr/>
        </p:nvSpPr>
        <p:spPr>
          <a:xfrm>
            <a:off x="5555039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4" name="Shape 52"/>
          <p:cNvSpPr/>
          <p:nvPr/>
        </p:nvSpPr>
        <p:spPr>
          <a:xfrm>
            <a:off x="5596547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5" name="Shape 53"/>
          <p:cNvSpPr/>
          <p:nvPr/>
        </p:nvSpPr>
        <p:spPr>
          <a:xfrm>
            <a:off x="5638055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6" name="Shape 54"/>
          <p:cNvSpPr/>
          <p:nvPr/>
        </p:nvSpPr>
        <p:spPr>
          <a:xfrm>
            <a:off x="5679563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7" name="Shape 55"/>
          <p:cNvSpPr/>
          <p:nvPr/>
        </p:nvSpPr>
        <p:spPr>
          <a:xfrm>
            <a:off x="5721071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8" name="Shape 56"/>
          <p:cNvSpPr/>
          <p:nvPr/>
        </p:nvSpPr>
        <p:spPr>
          <a:xfrm>
            <a:off x="5762578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9" name="Shape 57"/>
          <p:cNvSpPr/>
          <p:nvPr/>
        </p:nvSpPr>
        <p:spPr>
          <a:xfrm>
            <a:off x="5804086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0" name="Shape 58"/>
          <p:cNvSpPr/>
          <p:nvPr/>
        </p:nvSpPr>
        <p:spPr>
          <a:xfrm>
            <a:off x="5845594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1" name="Shape 59"/>
          <p:cNvSpPr/>
          <p:nvPr/>
        </p:nvSpPr>
        <p:spPr>
          <a:xfrm>
            <a:off x="5887102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2" name="Shape 60"/>
          <p:cNvSpPr/>
          <p:nvPr/>
        </p:nvSpPr>
        <p:spPr>
          <a:xfrm>
            <a:off x="5928610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3" name="Shape 61"/>
          <p:cNvSpPr/>
          <p:nvPr/>
        </p:nvSpPr>
        <p:spPr>
          <a:xfrm>
            <a:off x="5970118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4" name="Shape 62"/>
          <p:cNvSpPr/>
          <p:nvPr/>
        </p:nvSpPr>
        <p:spPr>
          <a:xfrm>
            <a:off x="6011625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5" name="Shape 63"/>
          <p:cNvSpPr/>
          <p:nvPr/>
        </p:nvSpPr>
        <p:spPr>
          <a:xfrm>
            <a:off x="6053133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6" name="Shape 64"/>
          <p:cNvSpPr/>
          <p:nvPr/>
        </p:nvSpPr>
        <p:spPr>
          <a:xfrm>
            <a:off x="6094641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7" name="Shape 65"/>
          <p:cNvSpPr/>
          <p:nvPr/>
        </p:nvSpPr>
        <p:spPr>
          <a:xfrm>
            <a:off x="6136149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8" name="Shape 66"/>
          <p:cNvSpPr/>
          <p:nvPr/>
        </p:nvSpPr>
        <p:spPr>
          <a:xfrm>
            <a:off x="6177657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9" name="Shape 67"/>
          <p:cNvSpPr/>
          <p:nvPr/>
        </p:nvSpPr>
        <p:spPr>
          <a:xfrm>
            <a:off x="6219165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0" name="Shape 68"/>
          <p:cNvSpPr/>
          <p:nvPr/>
        </p:nvSpPr>
        <p:spPr>
          <a:xfrm>
            <a:off x="6260672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1" name="Shape 69"/>
          <p:cNvSpPr/>
          <p:nvPr/>
        </p:nvSpPr>
        <p:spPr>
          <a:xfrm>
            <a:off x="6302180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2" name="Shape 70"/>
          <p:cNvSpPr/>
          <p:nvPr/>
        </p:nvSpPr>
        <p:spPr>
          <a:xfrm>
            <a:off x="6343688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3" name="Shape 71"/>
          <p:cNvSpPr/>
          <p:nvPr/>
        </p:nvSpPr>
        <p:spPr>
          <a:xfrm>
            <a:off x="6385196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4" name="Shape 72"/>
          <p:cNvSpPr/>
          <p:nvPr/>
        </p:nvSpPr>
        <p:spPr>
          <a:xfrm>
            <a:off x="6426704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5" name="Shape 73"/>
          <p:cNvSpPr/>
          <p:nvPr/>
        </p:nvSpPr>
        <p:spPr>
          <a:xfrm>
            <a:off x="6468212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6" name="Shape 74"/>
          <p:cNvSpPr/>
          <p:nvPr/>
        </p:nvSpPr>
        <p:spPr>
          <a:xfrm>
            <a:off x="6509719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7" name="Shape 75"/>
          <p:cNvSpPr/>
          <p:nvPr/>
        </p:nvSpPr>
        <p:spPr>
          <a:xfrm>
            <a:off x="6551227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8" name="Shape 76"/>
          <p:cNvSpPr/>
          <p:nvPr/>
        </p:nvSpPr>
        <p:spPr>
          <a:xfrm>
            <a:off x="6592735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9" name="Shape 77"/>
          <p:cNvSpPr/>
          <p:nvPr/>
        </p:nvSpPr>
        <p:spPr>
          <a:xfrm>
            <a:off x="6634243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0" name="Shape 78"/>
          <p:cNvSpPr/>
          <p:nvPr/>
        </p:nvSpPr>
        <p:spPr>
          <a:xfrm>
            <a:off x="6675751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1" name="Shape 79"/>
          <p:cNvSpPr/>
          <p:nvPr/>
        </p:nvSpPr>
        <p:spPr>
          <a:xfrm>
            <a:off x="6717259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2" name="Shape 80"/>
          <p:cNvSpPr/>
          <p:nvPr/>
        </p:nvSpPr>
        <p:spPr>
          <a:xfrm>
            <a:off x="6758766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3" name="Shape 81"/>
          <p:cNvSpPr/>
          <p:nvPr/>
        </p:nvSpPr>
        <p:spPr>
          <a:xfrm>
            <a:off x="6800274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4" name="Shape 82"/>
          <p:cNvSpPr/>
          <p:nvPr/>
        </p:nvSpPr>
        <p:spPr>
          <a:xfrm>
            <a:off x="6841782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5" name="Shape 83"/>
          <p:cNvSpPr/>
          <p:nvPr/>
        </p:nvSpPr>
        <p:spPr>
          <a:xfrm>
            <a:off x="6883290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6" name="Shape 84"/>
          <p:cNvSpPr/>
          <p:nvPr/>
        </p:nvSpPr>
        <p:spPr>
          <a:xfrm>
            <a:off x="6924798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7" name="Shape 85"/>
          <p:cNvSpPr/>
          <p:nvPr/>
        </p:nvSpPr>
        <p:spPr>
          <a:xfrm>
            <a:off x="6966306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8" name="Shape 86"/>
          <p:cNvSpPr/>
          <p:nvPr/>
        </p:nvSpPr>
        <p:spPr>
          <a:xfrm>
            <a:off x="7007813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9" name="Shape 87"/>
          <p:cNvSpPr/>
          <p:nvPr/>
        </p:nvSpPr>
        <p:spPr>
          <a:xfrm>
            <a:off x="7049321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0" name="Shape 88"/>
          <p:cNvSpPr/>
          <p:nvPr/>
        </p:nvSpPr>
        <p:spPr>
          <a:xfrm>
            <a:off x="7090829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1" name="Shape 89"/>
          <p:cNvSpPr/>
          <p:nvPr/>
        </p:nvSpPr>
        <p:spPr>
          <a:xfrm>
            <a:off x="7132337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2" name="Shape 90"/>
          <p:cNvSpPr/>
          <p:nvPr/>
        </p:nvSpPr>
        <p:spPr>
          <a:xfrm>
            <a:off x="7173845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3" name="Shape 91"/>
          <p:cNvSpPr/>
          <p:nvPr/>
        </p:nvSpPr>
        <p:spPr>
          <a:xfrm>
            <a:off x="7215353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4" name="Shape 92"/>
          <p:cNvSpPr/>
          <p:nvPr/>
        </p:nvSpPr>
        <p:spPr>
          <a:xfrm>
            <a:off x="7256860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5" name="Shape 93"/>
          <p:cNvSpPr/>
          <p:nvPr/>
        </p:nvSpPr>
        <p:spPr>
          <a:xfrm>
            <a:off x="7298368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6" name="Shape 94"/>
          <p:cNvSpPr/>
          <p:nvPr/>
        </p:nvSpPr>
        <p:spPr>
          <a:xfrm>
            <a:off x="7339876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7" name="Shape 95"/>
          <p:cNvSpPr/>
          <p:nvPr/>
        </p:nvSpPr>
        <p:spPr>
          <a:xfrm>
            <a:off x="7381384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8" name="Shape 96"/>
          <p:cNvSpPr/>
          <p:nvPr/>
        </p:nvSpPr>
        <p:spPr>
          <a:xfrm>
            <a:off x="7422892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9" name="Shape 97"/>
          <p:cNvSpPr/>
          <p:nvPr/>
        </p:nvSpPr>
        <p:spPr>
          <a:xfrm>
            <a:off x="7464400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0" name="Shape 98"/>
          <p:cNvSpPr/>
          <p:nvPr/>
        </p:nvSpPr>
        <p:spPr>
          <a:xfrm>
            <a:off x="7505907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1" name="Shape 99"/>
          <p:cNvSpPr/>
          <p:nvPr/>
        </p:nvSpPr>
        <p:spPr>
          <a:xfrm>
            <a:off x="7547415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2" name="Shape 100"/>
          <p:cNvSpPr/>
          <p:nvPr/>
        </p:nvSpPr>
        <p:spPr>
          <a:xfrm>
            <a:off x="7588923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3" name="Shape 101"/>
          <p:cNvSpPr/>
          <p:nvPr/>
        </p:nvSpPr>
        <p:spPr>
          <a:xfrm>
            <a:off x="7630431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4" name="Shape 102"/>
          <p:cNvSpPr/>
          <p:nvPr/>
        </p:nvSpPr>
        <p:spPr>
          <a:xfrm>
            <a:off x="7671939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5" name="Shape 103"/>
          <p:cNvSpPr/>
          <p:nvPr/>
        </p:nvSpPr>
        <p:spPr>
          <a:xfrm>
            <a:off x="7713447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6" name="Shape 104"/>
          <p:cNvSpPr/>
          <p:nvPr/>
        </p:nvSpPr>
        <p:spPr>
          <a:xfrm>
            <a:off x="7754954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7" name="Shape 105"/>
          <p:cNvSpPr/>
          <p:nvPr/>
        </p:nvSpPr>
        <p:spPr>
          <a:xfrm>
            <a:off x="7796462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8" name="Shape 106"/>
          <p:cNvSpPr/>
          <p:nvPr/>
        </p:nvSpPr>
        <p:spPr>
          <a:xfrm>
            <a:off x="7837970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9" name="Shape 107"/>
          <p:cNvSpPr/>
          <p:nvPr/>
        </p:nvSpPr>
        <p:spPr>
          <a:xfrm>
            <a:off x="7879478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0" name="Shape 108"/>
          <p:cNvSpPr/>
          <p:nvPr/>
        </p:nvSpPr>
        <p:spPr>
          <a:xfrm>
            <a:off x="7920986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1" name="Shape 109"/>
          <p:cNvSpPr/>
          <p:nvPr/>
        </p:nvSpPr>
        <p:spPr>
          <a:xfrm>
            <a:off x="3977742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2" name="Shape 110"/>
          <p:cNvSpPr/>
          <p:nvPr/>
        </p:nvSpPr>
        <p:spPr>
          <a:xfrm>
            <a:off x="4019249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3" name="Shape 111"/>
          <p:cNvSpPr/>
          <p:nvPr/>
        </p:nvSpPr>
        <p:spPr>
          <a:xfrm>
            <a:off x="4060757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4" name="Shape 112"/>
          <p:cNvSpPr/>
          <p:nvPr/>
        </p:nvSpPr>
        <p:spPr>
          <a:xfrm>
            <a:off x="4102265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5" name="Shape 113"/>
          <p:cNvSpPr/>
          <p:nvPr/>
        </p:nvSpPr>
        <p:spPr>
          <a:xfrm>
            <a:off x="4143773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6" name="Shape 114"/>
          <p:cNvSpPr/>
          <p:nvPr/>
        </p:nvSpPr>
        <p:spPr>
          <a:xfrm>
            <a:off x="4185281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7" name="Shape 115"/>
          <p:cNvSpPr/>
          <p:nvPr/>
        </p:nvSpPr>
        <p:spPr>
          <a:xfrm>
            <a:off x="4226789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8" name="Shape 116"/>
          <p:cNvSpPr/>
          <p:nvPr/>
        </p:nvSpPr>
        <p:spPr>
          <a:xfrm>
            <a:off x="4268296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9" name="Shape 117"/>
          <p:cNvSpPr/>
          <p:nvPr/>
        </p:nvSpPr>
        <p:spPr>
          <a:xfrm>
            <a:off x="4309804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0" name="Shape 118"/>
          <p:cNvSpPr/>
          <p:nvPr/>
        </p:nvSpPr>
        <p:spPr>
          <a:xfrm>
            <a:off x="4351312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1" name="Shape 119"/>
          <p:cNvSpPr/>
          <p:nvPr/>
        </p:nvSpPr>
        <p:spPr>
          <a:xfrm>
            <a:off x="4392820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2" name="Shape 120"/>
          <p:cNvSpPr/>
          <p:nvPr/>
        </p:nvSpPr>
        <p:spPr>
          <a:xfrm>
            <a:off x="4434328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3" name="Shape 121"/>
          <p:cNvSpPr/>
          <p:nvPr/>
        </p:nvSpPr>
        <p:spPr>
          <a:xfrm>
            <a:off x="4475836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4" name="Shape 122"/>
          <p:cNvSpPr/>
          <p:nvPr/>
        </p:nvSpPr>
        <p:spPr>
          <a:xfrm>
            <a:off x="4517343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5" name="Shape 123"/>
          <p:cNvSpPr/>
          <p:nvPr/>
        </p:nvSpPr>
        <p:spPr>
          <a:xfrm>
            <a:off x="4558851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6" name="Shape 124"/>
          <p:cNvSpPr/>
          <p:nvPr/>
        </p:nvSpPr>
        <p:spPr>
          <a:xfrm>
            <a:off x="4600359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7" name="Shape 125"/>
          <p:cNvSpPr/>
          <p:nvPr/>
        </p:nvSpPr>
        <p:spPr>
          <a:xfrm>
            <a:off x="4641867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8" name="Shape 126"/>
          <p:cNvSpPr/>
          <p:nvPr/>
        </p:nvSpPr>
        <p:spPr>
          <a:xfrm>
            <a:off x="4683375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9" name="Shape 127"/>
          <p:cNvSpPr/>
          <p:nvPr/>
        </p:nvSpPr>
        <p:spPr>
          <a:xfrm>
            <a:off x="4724883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0" name="Shape 128"/>
          <p:cNvSpPr/>
          <p:nvPr/>
        </p:nvSpPr>
        <p:spPr>
          <a:xfrm>
            <a:off x="4766390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1" name="Shape 129"/>
          <p:cNvSpPr/>
          <p:nvPr/>
        </p:nvSpPr>
        <p:spPr>
          <a:xfrm>
            <a:off x="4807898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2" name="Shape 130"/>
          <p:cNvSpPr/>
          <p:nvPr/>
        </p:nvSpPr>
        <p:spPr>
          <a:xfrm>
            <a:off x="4849406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3" name="Shape 131"/>
          <p:cNvSpPr/>
          <p:nvPr/>
        </p:nvSpPr>
        <p:spPr>
          <a:xfrm>
            <a:off x="4890914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4" name="Shape 132"/>
          <p:cNvSpPr/>
          <p:nvPr/>
        </p:nvSpPr>
        <p:spPr>
          <a:xfrm>
            <a:off x="4932422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5" name="Shape 133"/>
          <p:cNvSpPr/>
          <p:nvPr/>
        </p:nvSpPr>
        <p:spPr>
          <a:xfrm>
            <a:off x="4973930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6" name="Shape 134"/>
          <p:cNvSpPr/>
          <p:nvPr/>
        </p:nvSpPr>
        <p:spPr>
          <a:xfrm>
            <a:off x="5015437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7" name="Shape 135"/>
          <p:cNvSpPr/>
          <p:nvPr/>
        </p:nvSpPr>
        <p:spPr>
          <a:xfrm>
            <a:off x="5056945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8" name="Shape 136"/>
          <p:cNvSpPr/>
          <p:nvPr/>
        </p:nvSpPr>
        <p:spPr>
          <a:xfrm>
            <a:off x="5098453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9" name="Shape 137"/>
          <p:cNvSpPr/>
          <p:nvPr/>
        </p:nvSpPr>
        <p:spPr>
          <a:xfrm>
            <a:off x="5139961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0" name="Shape 138"/>
          <p:cNvSpPr/>
          <p:nvPr/>
        </p:nvSpPr>
        <p:spPr>
          <a:xfrm>
            <a:off x="5181469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1" name="Shape 139"/>
          <p:cNvSpPr/>
          <p:nvPr/>
        </p:nvSpPr>
        <p:spPr>
          <a:xfrm>
            <a:off x="5222977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2" name="Shape 140"/>
          <p:cNvSpPr/>
          <p:nvPr/>
        </p:nvSpPr>
        <p:spPr>
          <a:xfrm>
            <a:off x="5264484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3" name="Shape 141"/>
          <p:cNvSpPr/>
          <p:nvPr/>
        </p:nvSpPr>
        <p:spPr>
          <a:xfrm>
            <a:off x="5305992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4" name="Shape 142"/>
          <p:cNvSpPr/>
          <p:nvPr/>
        </p:nvSpPr>
        <p:spPr>
          <a:xfrm>
            <a:off x="5347500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5" name="Shape 143"/>
          <p:cNvSpPr/>
          <p:nvPr/>
        </p:nvSpPr>
        <p:spPr>
          <a:xfrm>
            <a:off x="5389008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6" name="Shape 144"/>
          <p:cNvSpPr/>
          <p:nvPr/>
        </p:nvSpPr>
        <p:spPr>
          <a:xfrm>
            <a:off x="5430516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7" name="Shape 145"/>
          <p:cNvSpPr/>
          <p:nvPr/>
        </p:nvSpPr>
        <p:spPr>
          <a:xfrm>
            <a:off x="5472024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8" name="Shape 146"/>
          <p:cNvSpPr/>
          <p:nvPr/>
        </p:nvSpPr>
        <p:spPr>
          <a:xfrm>
            <a:off x="5513531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9" name="Shape 147"/>
          <p:cNvSpPr/>
          <p:nvPr/>
        </p:nvSpPr>
        <p:spPr>
          <a:xfrm>
            <a:off x="5555039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0" name="Shape 148"/>
          <p:cNvSpPr/>
          <p:nvPr/>
        </p:nvSpPr>
        <p:spPr>
          <a:xfrm>
            <a:off x="5596547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1" name="Shape 149"/>
          <p:cNvSpPr/>
          <p:nvPr/>
        </p:nvSpPr>
        <p:spPr>
          <a:xfrm>
            <a:off x="5638055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2" name="Shape 150"/>
          <p:cNvSpPr/>
          <p:nvPr/>
        </p:nvSpPr>
        <p:spPr>
          <a:xfrm>
            <a:off x="5679563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3" name="Shape 151"/>
          <p:cNvSpPr/>
          <p:nvPr/>
        </p:nvSpPr>
        <p:spPr>
          <a:xfrm>
            <a:off x="5721071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4" name="Shape 152"/>
          <p:cNvSpPr/>
          <p:nvPr/>
        </p:nvSpPr>
        <p:spPr>
          <a:xfrm>
            <a:off x="5762578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5" name="Shape 153"/>
          <p:cNvSpPr/>
          <p:nvPr/>
        </p:nvSpPr>
        <p:spPr>
          <a:xfrm>
            <a:off x="5804086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6" name="Shape 154"/>
          <p:cNvSpPr/>
          <p:nvPr/>
        </p:nvSpPr>
        <p:spPr>
          <a:xfrm>
            <a:off x="5845594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7" name="Shape 155"/>
          <p:cNvSpPr/>
          <p:nvPr/>
        </p:nvSpPr>
        <p:spPr>
          <a:xfrm>
            <a:off x="5887102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8" name="Shape 156"/>
          <p:cNvSpPr/>
          <p:nvPr/>
        </p:nvSpPr>
        <p:spPr>
          <a:xfrm>
            <a:off x="5928610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9" name="Shape 157"/>
          <p:cNvSpPr/>
          <p:nvPr/>
        </p:nvSpPr>
        <p:spPr>
          <a:xfrm>
            <a:off x="5970118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0" name="Shape 158"/>
          <p:cNvSpPr/>
          <p:nvPr/>
        </p:nvSpPr>
        <p:spPr>
          <a:xfrm>
            <a:off x="6011625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1" name="Shape 159"/>
          <p:cNvSpPr/>
          <p:nvPr/>
        </p:nvSpPr>
        <p:spPr>
          <a:xfrm>
            <a:off x="6053133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2" name="Shape 160"/>
          <p:cNvSpPr/>
          <p:nvPr/>
        </p:nvSpPr>
        <p:spPr>
          <a:xfrm>
            <a:off x="6094641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3" name="Shape 161"/>
          <p:cNvSpPr/>
          <p:nvPr/>
        </p:nvSpPr>
        <p:spPr>
          <a:xfrm>
            <a:off x="6136149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4" name="Shape 162"/>
          <p:cNvSpPr/>
          <p:nvPr/>
        </p:nvSpPr>
        <p:spPr>
          <a:xfrm>
            <a:off x="6177657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5" name="Shape 163"/>
          <p:cNvSpPr/>
          <p:nvPr/>
        </p:nvSpPr>
        <p:spPr>
          <a:xfrm>
            <a:off x="6219165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6" name="Shape 164"/>
          <p:cNvSpPr/>
          <p:nvPr/>
        </p:nvSpPr>
        <p:spPr>
          <a:xfrm>
            <a:off x="6260672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7" name="Shape 165"/>
          <p:cNvSpPr/>
          <p:nvPr/>
        </p:nvSpPr>
        <p:spPr>
          <a:xfrm>
            <a:off x="6302180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8" name="Shape 166"/>
          <p:cNvSpPr/>
          <p:nvPr/>
        </p:nvSpPr>
        <p:spPr>
          <a:xfrm>
            <a:off x="6343688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9" name="Shape 167"/>
          <p:cNvSpPr/>
          <p:nvPr/>
        </p:nvSpPr>
        <p:spPr>
          <a:xfrm>
            <a:off x="6385196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0" name="Shape 168"/>
          <p:cNvSpPr/>
          <p:nvPr/>
        </p:nvSpPr>
        <p:spPr>
          <a:xfrm>
            <a:off x="6426704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1" name="Shape 169"/>
          <p:cNvSpPr/>
          <p:nvPr/>
        </p:nvSpPr>
        <p:spPr>
          <a:xfrm>
            <a:off x="6468212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2" name="Shape 170"/>
          <p:cNvSpPr/>
          <p:nvPr/>
        </p:nvSpPr>
        <p:spPr>
          <a:xfrm>
            <a:off x="6509719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3" name="Shape 171"/>
          <p:cNvSpPr/>
          <p:nvPr/>
        </p:nvSpPr>
        <p:spPr>
          <a:xfrm>
            <a:off x="6551227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4" name="Shape 172"/>
          <p:cNvSpPr/>
          <p:nvPr/>
        </p:nvSpPr>
        <p:spPr>
          <a:xfrm>
            <a:off x="6592735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5" name="Shape 173"/>
          <p:cNvSpPr/>
          <p:nvPr/>
        </p:nvSpPr>
        <p:spPr>
          <a:xfrm>
            <a:off x="6634243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6" name="Shape 174"/>
          <p:cNvSpPr/>
          <p:nvPr/>
        </p:nvSpPr>
        <p:spPr>
          <a:xfrm>
            <a:off x="6675751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7" name="Shape 175"/>
          <p:cNvSpPr/>
          <p:nvPr/>
        </p:nvSpPr>
        <p:spPr>
          <a:xfrm>
            <a:off x="6717259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8" name="Shape 176"/>
          <p:cNvSpPr/>
          <p:nvPr/>
        </p:nvSpPr>
        <p:spPr>
          <a:xfrm>
            <a:off x="6758766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9" name="Shape 177"/>
          <p:cNvSpPr/>
          <p:nvPr/>
        </p:nvSpPr>
        <p:spPr>
          <a:xfrm>
            <a:off x="6800274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0" name="Shape 178"/>
          <p:cNvSpPr/>
          <p:nvPr/>
        </p:nvSpPr>
        <p:spPr>
          <a:xfrm>
            <a:off x="6841782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1" name="Shape 179"/>
          <p:cNvSpPr/>
          <p:nvPr/>
        </p:nvSpPr>
        <p:spPr>
          <a:xfrm>
            <a:off x="6883290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2" name="Shape 180"/>
          <p:cNvSpPr/>
          <p:nvPr/>
        </p:nvSpPr>
        <p:spPr>
          <a:xfrm>
            <a:off x="6924798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3" name="Shape 181"/>
          <p:cNvSpPr/>
          <p:nvPr/>
        </p:nvSpPr>
        <p:spPr>
          <a:xfrm>
            <a:off x="6966306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4" name="Shape 182"/>
          <p:cNvSpPr/>
          <p:nvPr/>
        </p:nvSpPr>
        <p:spPr>
          <a:xfrm>
            <a:off x="7007813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5" name="Shape 183"/>
          <p:cNvSpPr/>
          <p:nvPr/>
        </p:nvSpPr>
        <p:spPr>
          <a:xfrm>
            <a:off x="7049321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6" name="Shape 184"/>
          <p:cNvSpPr/>
          <p:nvPr/>
        </p:nvSpPr>
        <p:spPr>
          <a:xfrm>
            <a:off x="7090829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7" name="Shape 185"/>
          <p:cNvSpPr/>
          <p:nvPr/>
        </p:nvSpPr>
        <p:spPr>
          <a:xfrm>
            <a:off x="7132337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8" name="Shape 186"/>
          <p:cNvSpPr/>
          <p:nvPr/>
        </p:nvSpPr>
        <p:spPr>
          <a:xfrm>
            <a:off x="7173845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9" name="Shape 187"/>
          <p:cNvSpPr/>
          <p:nvPr/>
        </p:nvSpPr>
        <p:spPr>
          <a:xfrm>
            <a:off x="7215353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0" name="Shape 188"/>
          <p:cNvSpPr/>
          <p:nvPr/>
        </p:nvSpPr>
        <p:spPr>
          <a:xfrm>
            <a:off x="7256860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1" name="Shape 189"/>
          <p:cNvSpPr/>
          <p:nvPr/>
        </p:nvSpPr>
        <p:spPr>
          <a:xfrm>
            <a:off x="7298368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2" name="Shape 190"/>
          <p:cNvSpPr/>
          <p:nvPr/>
        </p:nvSpPr>
        <p:spPr>
          <a:xfrm>
            <a:off x="7339876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3" name="Shape 191"/>
          <p:cNvSpPr/>
          <p:nvPr/>
        </p:nvSpPr>
        <p:spPr>
          <a:xfrm>
            <a:off x="7381384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4" name="Shape 192"/>
          <p:cNvSpPr/>
          <p:nvPr/>
        </p:nvSpPr>
        <p:spPr>
          <a:xfrm>
            <a:off x="7422892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5" name="Shape 193"/>
          <p:cNvSpPr/>
          <p:nvPr/>
        </p:nvSpPr>
        <p:spPr>
          <a:xfrm>
            <a:off x="7464400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6" name="Shape 194"/>
          <p:cNvSpPr/>
          <p:nvPr/>
        </p:nvSpPr>
        <p:spPr>
          <a:xfrm>
            <a:off x="7505907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7" name="Shape 195"/>
          <p:cNvSpPr/>
          <p:nvPr/>
        </p:nvSpPr>
        <p:spPr>
          <a:xfrm>
            <a:off x="7547415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8" name="Shape 196"/>
          <p:cNvSpPr/>
          <p:nvPr/>
        </p:nvSpPr>
        <p:spPr>
          <a:xfrm>
            <a:off x="7588923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9" name="Shape 197"/>
          <p:cNvSpPr/>
          <p:nvPr/>
        </p:nvSpPr>
        <p:spPr>
          <a:xfrm>
            <a:off x="7630431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0" name="Shape 198"/>
          <p:cNvSpPr/>
          <p:nvPr/>
        </p:nvSpPr>
        <p:spPr>
          <a:xfrm>
            <a:off x="7671939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1" name="Shape 199"/>
          <p:cNvSpPr/>
          <p:nvPr/>
        </p:nvSpPr>
        <p:spPr>
          <a:xfrm>
            <a:off x="7713447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2" name="Shape 200"/>
          <p:cNvSpPr/>
          <p:nvPr/>
        </p:nvSpPr>
        <p:spPr>
          <a:xfrm>
            <a:off x="7754954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3" name="Shape 201"/>
          <p:cNvSpPr/>
          <p:nvPr/>
        </p:nvSpPr>
        <p:spPr>
          <a:xfrm>
            <a:off x="7796462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4" name="Shape 202"/>
          <p:cNvSpPr/>
          <p:nvPr/>
        </p:nvSpPr>
        <p:spPr>
          <a:xfrm>
            <a:off x="7837970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5" name="Shape 203"/>
          <p:cNvSpPr/>
          <p:nvPr/>
        </p:nvSpPr>
        <p:spPr>
          <a:xfrm>
            <a:off x="7879478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6" name="Shape 204"/>
          <p:cNvSpPr/>
          <p:nvPr/>
        </p:nvSpPr>
        <p:spPr>
          <a:xfrm>
            <a:off x="7920986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7" name="Shape 205"/>
          <p:cNvSpPr/>
          <p:nvPr/>
        </p:nvSpPr>
        <p:spPr>
          <a:xfrm>
            <a:off x="3479648" y="5105400"/>
            <a:ext cx="49809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08" name="Text 206"/>
          <p:cNvSpPr/>
          <p:nvPr/>
        </p:nvSpPr>
        <p:spPr>
          <a:xfrm>
            <a:off x="8511388" y="3120771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Desktop</a:t>
            </a:r>
            <a:endParaRPr lang="en-US" sz="1000" dirty="0"/>
          </a:p>
        </p:txBody>
      </p:sp>
      <p:sp>
        <p:nvSpPr>
          <p:cNvPr id="209" name="Text 207"/>
          <p:cNvSpPr/>
          <p:nvPr/>
        </p:nvSpPr>
        <p:spPr>
          <a:xfrm>
            <a:off x="8511388" y="4230243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Mobile</a:t>
            </a:r>
            <a:endParaRPr lang="en-US" sz="1000" dirty="0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Butterfly with value ticks on both flanks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479648" y="1803400"/>
            <a:ext cx="236855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A78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Women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343498" y="1803400"/>
            <a:ext cx="236855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Men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256060" y="2032000"/>
            <a:ext cx="0" cy="30607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935635" y="2032000"/>
            <a:ext cx="0" cy="30607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663923" y="2032000"/>
            <a:ext cx="0" cy="30607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527773" y="2032000"/>
            <a:ext cx="0" cy="30607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71785" y="2032000"/>
            <a:ext cx="0" cy="30607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119910" y="2032000"/>
            <a:ext cx="0" cy="30607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479648" y="2032000"/>
            <a:ext cx="0" cy="30607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712048" y="2032000"/>
            <a:ext cx="0" cy="30607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848198" y="224282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&lt;30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04709" y="2134023"/>
            <a:ext cx="1243489" cy="4080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4604709" y="2242820"/>
            <a:ext cx="124348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343498" y="2134023"/>
            <a:ext cx="1125061" cy="4080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" name="Text 15"/>
          <p:cNvSpPr/>
          <p:nvPr/>
        </p:nvSpPr>
        <p:spPr>
          <a:xfrm>
            <a:off x="6343498" y="2242820"/>
            <a:ext cx="112506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380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5848198" y="285496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30–39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042178" y="2746163"/>
            <a:ext cx="1806019" cy="4080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Text 18"/>
          <p:cNvSpPr/>
          <p:nvPr/>
        </p:nvSpPr>
        <p:spPr>
          <a:xfrm>
            <a:off x="4042178" y="2854960"/>
            <a:ext cx="180601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610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343498" y="2746163"/>
            <a:ext cx="1924447" cy="4080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2" name="Text 20"/>
          <p:cNvSpPr/>
          <p:nvPr/>
        </p:nvSpPr>
        <p:spPr>
          <a:xfrm>
            <a:off x="6343498" y="2854960"/>
            <a:ext cx="192444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650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5848198" y="346710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40–49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249426" y="3358303"/>
            <a:ext cx="1598771" cy="4080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Text 23"/>
          <p:cNvSpPr/>
          <p:nvPr/>
        </p:nvSpPr>
        <p:spPr>
          <a:xfrm>
            <a:off x="4249426" y="3467100"/>
            <a:ext cx="159877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540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6343498" y="3358303"/>
            <a:ext cx="1776413" cy="4080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7" name="Text 25"/>
          <p:cNvSpPr/>
          <p:nvPr/>
        </p:nvSpPr>
        <p:spPr>
          <a:xfrm>
            <a:off x="6343498" y="3467100"/>
            <a:ext cx="17764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600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5848198" y="407924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50–59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4900778" y="3970443"/>
            <a:ext cx="947420" cy="4080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Text 28"/>
          <p:cNvSpPr/>
          <p:nvPr/>
        </p:nvSpPr>
        <p:spPr>
          <a:xfrm>
            <a:off x="4900778" y="4079240"/>
            <a:ext cx="9474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320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343498" y="3970443"/>
            <a:ext cx="1213882" cy="4080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32" name="Text 30"/>
          <p:cNvSpPr/>
          <p:nvPr/>
        </p:nvSpPr>
        <p:spPr>
          <a:xfrm>
            <a:off x="6343498" y="4079240"/>
            <a:ext cx="121388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410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5848198" y="469138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60+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492915" y="4582583"/>
            <a:ext cx="355282" cy="4080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Text 33"/>
          <p:cNvSpPr/>
          <p:nvPr/>
        </p:nvSpPr>
        <p:spPr>
          <a:xfrm>
            <a:off x="5492915" y="4691380"/>
            <a:ext cx="35528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6343498" y="4582583"/>
            <a:ext cx="473710" cy="4080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37" name="Text 35"/>
          <p:cNvSpPr/>
          <p:nvPr/>
        </p:nvSpPr>
        <p:spPr>
          <a:xfrm>
            <a:off x="6343498" y="4691380"/>
            <a:ext cx="47371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160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5848198" y="2032000"/>
            <a:ext cx="0" cy="30607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343498" y="2032000"/>
            <a:ext cx="0" cy="30607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632298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850" dirty="0"/>
          </a:p>
        </p:txBody>
      </p:sp>
      <p:sp>
        <p:nvSpPr>
          <p:cNvPr id="41" name="Text 39"/>
          <p:cNvSpPr/>
          <p:nvPr/>
        </p:nvSpPr>
        <p:spPr>
          <a:xfrm>
            <a:off x="6127598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850" dirty="0"/>
          </a:p>
        </p:txBody>
      </p:sp>
      <p:sp>
        <p:nvSpPr>
          <p:cNvPr id="42" name="Text 40"/>
          <p:cNvSpPr/>
          <p:nvPr/>
        </p:nvSpPr>
        <p:spPr>
          <a:xfrm>
            <a:off x="5040160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</a:t>
            </a:r>
            <a:endParaRPr lang="en-US" sz="850" dirty="0"/>
          </a:p>
        </p:txBody>
      </p:sp>
      <p:sp>
        <p:nvSpPr>
          <p:cNvPr id="43" name="Text 41"/>
          <p:cNvSpPr/>
          <p:nvPr/>
        </p:nvSpPr>
        <p:spPr>
          <a:xfrm>
            <a:off x="6719735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</a:t>
            </a:r>
            <a:endParaRPr lang="en-US" sz="850" dirty="0"/>
          </a:p>
        </p:txBody>
      </p:sp>
      <p:sp>
        <p:nvSpPr>
          <p:cNvPr id="44" name="Text 42"/>
          <p:cNvSpPr/>
          <p:nvPr/>
        </p:nvSpPr>
        <p:spPr>
          <a:xfrm>
            <a:off x="4448023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400</a:t>
            </a:r>
            <a:endParaRPr lang="en-US" sz="850" dirty="0"/>
          </a:p>
        </p:txBody>
      </p:sp>
      <p:sp>
        <p:nvSpPr>
          <p:cNvPr id="45" name="Text 43"/>
          <p:cNvSpPr/>
          <p:nvPr/>
        </p:nvSpPr>
        <p:spPr>
          <a:xfrm>
            <a:off x="7311873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400</a:t>
            </a:r>
            <a:endParaRPr lang="en-US" sz="850" dirty="0"/>
          </a:p>
        </p:txBody>
      </p:sp>
      <p:sp>
        <p:nvSpPr>
          <p:cNvPr id="46" name="Text 44"/>
          <p:cNvSpPr/>
          <p:nvPr/>
        </p:nvSpPr>
        <p:spPr>
          <a:xfrm>
            <a:off x="3855885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600</a:t>
            </a:r>
            <a:endParaRPr lang="en-US" sz="850" dirty="0"/>
          </a:p>
        </p:txBody>
      </p:sp>
      <p:sp>
        <p:nvSpPr>
          <p:cNvPr id="47" name="Text 45"/>
          <p:cNvSpPr/>
          <p:nvPr/>
        </p:nvSpPr>
        <p:spPr>
          <a:xfrm>
            <a:off x="7904010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600</a:t>
            </a:r>
            <a:endParaRPr lang="en-US" sz="850" dirty="0"/>
          </a:p>
        </p:txBody>
      </p:sp>
      <p:sp>
        <p:nvSpPr>
          <p:cNvPr id="48" name="Text 46"/>
          <p:cNvSpPr/>
          <p:nvPr/>
        </p:nvSpPr>
        <p:spPr>
          <a:xfrm>
            <a:off x="3263748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800</a:t>
            </a:r>
            <a:endParaRPr lang="en-US" sz="850" dirty="0"/>
          </a:p>
        </p:txBody>
      </p:sp>
      <p:sp>
        <p:nvSpPr>
          <p:cNvPr id="49" name="Text 47"/>
          <p:cNvSpPr/>
          <p:nvPr/>
        </p:nvSpPr>
        <p:spPr>
          <a:xfrm>
            <a:off x="8496148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800</a:t>
            </a:r>
            <a:endParaRPr lang="en-US" sz="850" dirty="0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Clustered overlap (Excel-style, 45%)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7151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86978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26805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312643" y="3425190"/>
            <a:ext cx="588706" cy="168021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Text 6"/>
          <p:cNvSpPr/>
          <p:nvPr/>
        </p:nvSpPr>
        <p:spPr>
          <a:xfrm>
            <a:off x="3261843" y="4170045"/>
            <a:ext cx="6903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643416" y="3065145"/>
            <a:ext cx="588706" cy="204025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" name="Text 8"/>
          <p:cNvSpPr/>
          <p:nvPr/>
        </p:nvSpPr>
        <p:spPr>
          <a:xfrm>
            <a:off x="3592616" y="3990023"/>
            <a:ext cx="6903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51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10913" y="3185160"/>
            <a:ext cx="588706" cy="192024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4660113" y="4050030"/>
            <a:ext cx="6903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041686" y="2905125"/>
            <a:ext cx="588706" cy="220027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" name="Text 12"/>
          <p:cNvSpPr/>
          <p:nvPr/>
        </p:nvSpPr>
        <p:spPr>
          <a:xfrm>
            <a:off x="4990886" y="3910013"/>
            <a:ext cx="6903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109183" y="3305175"/>
            <a:ext cx="588706" cy="180022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6058383" y="4110038"/>
            <a:ext cx="6903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439956" y="2785110"/>
            <a:ext cx="588706" cy="232029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" name="Text 16"/>
          <p:cNvSpPr/>
          <p:nvPr/>
        </p:nvSpPr>
        <p:spPr>
          <a:xfrm>
            <a:off x="6389156" y="3850005"/>
            <a:ext cx="6903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507453" y="2665095"/>
            <a:ext cx="588706" cy="244030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Text 18"/>
          <p:cNvSpPr/>
          <p:nvPr/>
        </p:nvSpPr>
        <p:spPr>
          <a:xfrm>
            <a:off x="7456653" y="3789998"/>
            <a:ext cx="6903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7838226" y="2305050"/>
            <a:ext cx="588706" cy="280035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2" name="Text 20"/>
          <p:cNvSpPr/>
          <p:nvPr/>
        </p:nvSpPr>
        <p:spPr>
          <a:xfrm>
            <a:off x="7787426" y="3609975"/>
            <a:ext cx="6903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073248" y="5105400"/>
            <a:ext cx="55930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717128" y="3619500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8717128" y="3799523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Narrow gap width (histogram look, gapWidth 0)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686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40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9594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073248" y="4411641"/>
            <a:ext cx="1295400" cy="69375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22448" y="4663271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073248" y="3962739"/>
            <a:ext cx="1295400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22448" y="4091940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073248" y="3595455"/>
            <a:ext cx="1295400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22448" y="3683847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073248" y="3411305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368648" y="4289213"/>
            <a:ext cx="1295400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317848" y="4602057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368648" y="3758692"/>
            <a:ext cx="1295400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317848" y="3928703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368648" y="3411813"/>
            <a:ext cx="1295400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317848" y="3490002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368648" y="322766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664048" y="4146381"/>
            <a:ext cx="1295400" cy="95901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613248" y="4530640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664048" y="3513836"/>
            <a:ext cx="1295400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613248" y="3734858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664048" y="3126147"/>
            <a:ext cx="1295400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613248" y="3224742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664048" y="2941997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959448" y="3962739"/>
            <a:ext cx="1295400" cy="1142661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908648" y="4438819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959448" y="3248575"/>
            <a:ext cx="1295400" cy="71416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908648" y="3510407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6959448" y="2799673"/>
            <a:ext cx="1295400" cy="4489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908648" y="2928874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959448" y="261552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305648" y="2938399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305648" y="3519932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8305648" y="4448344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Area with negative values (net income over time)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05400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4465320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3185160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479648" y="2545080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79648" y="1905000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-20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437642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047848" y="373634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047848" y="309626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047848" y="245618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479648" y="5143500"/>
            <a:ext cx="79586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2020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275514" y="5143500"/>
            <a:ext cx="79586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071381" y="5143500"/>
            <a:ext cx="79586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867248" y="5143500"/>
            <a:ext cx="79586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663114" y="5143500"/>
            <a:ext cx="79586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7458981" y="5143500"/>
            <a:ext cx="79586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877581" y="3073146"/>
            <a:ext cx="39511" cy="7627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Shape 19"/>
          <p:cNvSpPr/>
          <p:nvPr/>
        </p:nvSpPr>
        <p:spPr>
          <a:xfrm>
            <a:off x="3910742" y="3105150"/>
            <a:ext cx="39511" cy="7520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Shape 20"/>
          <p:cNvSpPr/>
          <p:nvPr/>
        </p:nvSpPr>
        <p:spPr>
          <a:xfrm>
            <a:off x="3943903" y="3137154"/>
            <a:ext cx="39511" cy="74142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Shape 21"/>
          <p:cNvSpPr/>
          <p:nvPr/>
        </p:nvSpPr>
        <p:spPr>
          <a:xfrm>
            <a:off x="3977064" y="3169158"/>
            <a:ext cx="39511" cy="73075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4" name="Shape 22"/>
          <p:cNvSpPr/>
          <p:nvPr/>
        </p:nvSpPr>
        <p:spPr>
          <a:xfrm>
            <a:off x="4010225" y="3201162"/>
            <a:ext cx="39511" cy="72009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Shape 23"/>
          <p:cNvSpPr/>
          <p:nvPr/>
        </p:nvSpPr>
        <p:spPr>
          <a:xfrm>
            <a:off x="4043386" y="3233166"/>
            <a:ext cx="39511" cy="70942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6" name="Shape 24"/>
          <p:cNvSpPr/>
          <p:nvPr/>
        </p:nvSpPr>
        <p:spPr>
          <a:xfrm>
            <a:off x="4076548" y="3265170"/>
            <a:ext cx="39511" cy="69875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Shape 25"/>
          <p:cNvSpPr/>
          <p:nvPr/>
        </p:nvSpPr>
        <p:spPr>
          <a:xfrm>
            <a:off x="4109709" y="3297174"/>
            <a:ext cx="39511" cy="68808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8" name="Shape 26"/>
          <p:cNvSpPr/>
          <p:nvPr/>
        </p:nvSpPr>
        <p:spPr>
          <a:xfrm>
            <a:off x="4142870" y="3329178"/>
            <a:ext cx="39511" cy="67741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9" name="Shape 27"/>
          <p:cNvSpPr/>
          <p:nvPr/>
        </p:nvSpPr>
        <p:spPr>
          <a:xfrm>
            <a:off x="4176031" y="3361182"/>
            <a:ext cx="39511" cy="66675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Shape 28"/>
          <p:cNvSpPr/>
          <p:nvPr/>
        </p:nvSpPr>
        <p:spPr>
          <a:xfrm>
            <a:off x="4209192" y="3393186"/>
            <a:ext cx="39511" cy="65608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Shape 29"/>
          <p:cNvSpPr/>
          <p:nvPr/>
        </p:nvSpPr>
        <p:spPr>
          <a:xfrm>
            <a:off x="4242353" y="3425190"/>
            <a:ext cx="39511" cy="64541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2" name="Shape 30"/>
          <p:cNvSpPr/>
          <p:nvPr/>
        </p:nvSpPr>
        <p:spPr>
          <a:xfrm>
            <a:off x="4275514" y="3457194"/>
            <a:ext cx="39511" cy="63474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Shape 31"/>
          <p:cNvSpPr/>
          <p:nvPr/>
        </p:nvSpPr>
        <p:spPr>
          <a:xfrm>
            <a:off x="4308675" y="3489198"/>
            <a:ext cx="39511" cy="62407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4" name="Shape 32"/>
          <p:cNvSpPr/>
          <p:nvPr/>
        </p:nvSpPr>
        <p:spPr>
          <a:xfrm>
            <a:off x="4341836" y="3521202"/>
            <a:ext cx="39511" cy="61341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Shape 33"/>
          <p:cNvSpPr/>
          <p:nvPr/>
        </p:nvSpPr>
        <p:spPr>
          <a:xfrm>
            <a:off x="4374998" y="3553206"/>
            <a:ext cx="39511" cy="60274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6" name="Shape 34"/>
          <p:cNvSpPr/>
          <p:nvPr/>
        </p:nvSpPr>
        <p:spPr>
          <a:xfrm>
            <a:off x="4408159" y="3585210"/>
            <a:ext cx="39511" cy="59207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7" name="Shape 35"/>
          <p:cNvSpPr/>
          <p:nvPr/>
        </p:nvSpPr>
        <p:spPr>
          <a:xfrm>
            <a:off x="4441320" y="3617214"/>
            <a:ext cx="39511" cy="58140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8" name="Shape 36"/>
          <p:cNvSpPr/>
          <p:nvPr/>
        </p:nvSpPr>
        <p:spPr>
          <a:xfrm>
            <a:off x="4474481" y="3649218"/>
            <a:ext cx="39511" cy="57073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9" name="Shape 37"/>
          <p:cNvSpPr/>
          <p:nvPr/>
        </p:nvSpPr>
        <p:spPr>
          <a:xfrm>
            <a:off x="4507642" y="3681222"/>
            <a:ext cx="39511" cy="56007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0" name="Shape 38"/>
          <p:cNvSpPr/>
          <p:nvPr/>
        </p:nvSpPr>
        <p:spPr>
          <a:xfrm>
            <a:off x="4540803" y="3713226"/>
            <a:ext cx="39511" cy="54940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1" name="Shape 39"/>
          <p:cNvSpPr/>
          <p:nvPr/>
        </p:nvSpPr>
        <p:spPr>
          <a:xfrm>
            <a:off x="4573964" y="3745230"/>
            <a:ext cx="39511" cy="53873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2" name="Shape 40"/>
          <p:cNvSpPr/>
          <p:nvPr/>
        </p:nvSpPr>
        <p:spPr>
          <a:xfrm>
            <a:off x="4607125" y="3777234"/>
            <a:ext cx="39511" cy="52806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3" name="Shape 41"/>
          <p:cNvSpPr/>
          <p:nvPr/>
        </p:nvSpPr>
        <p:spPr>
          <a:xfrm>
            <a:off x="4640286" y="3809238"/>
            <a:ext cx="39511" cy="51739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4" name="Shape 42"/>
          <p:cNvSpPr/>
          <p:nvPr/>
        </p:nvSpPr>
        <p:spPr>
          <a:xfrm>
            <a:off x="4673448" y="3825240"/>
            <a:ext cx="39511" cy="52139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5" name="Shape 43"/>
          <p:cNvSpPr/>
          <p:nvPr/>
        </p:nvSpPr>
        <p:spPr>
          <a:xfrm>
            <a:off x="4706609" y="3825240"/>
            <a:ext cx="39511" cy="54006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6" name="Shape 44"/>
          <p:cNvSpPr/>
          <p:nvPr/>
        </p:nvSpPr>
        <p:spPr>
          <a:xfrm>
            <a:off x="4739770" y="3825240"/>
            <a:ext cx="39511" cy="55873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7" name="Shape 45"/>
          <p:cNvSpPr/>
          <p:nvPr/>
        </p:nvSpPr>
        <p:spPr>
          <a:xfrm>
            <a:off x="4772931" y="3825240"/>
            <a:ext cx="39511" cy="57740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8" name="Shape 46"/>
          <p:cNvSpPr/>
          <p:nvPr/>
        </p:nvSpPr>
        <p:spPr>
          <a:xfrm>
            <a:off x="4806092" y="3825240"/>
            <a:ext cx="39511" cy="59607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4839253" y="3825240"/>
            <a:ext cx="39511" cy="61474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0" name="Shape 48"/>
          <p:cNvSpPr/>
          <p:nvPr/>
        </p:nvSpPr>
        <p:spPr>
          <a:xfrm>
            <a:off x="4872414" y="3825240"/>
            <a:ext cx="39511" cy="63341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1" name="Shape 49"/>
          <p:cNvSpPr/>
          <p:nvPr/>
        </p:nvSpPr>
        <p:spPr>
          <a:xfrm>
            <a:off x="4905575" y="3825240"/>
            <a:ext cx="39511" cy="65208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2" name="Shape 50"/>
          <p:cNvSpPr/>
          <p:nvPr/>
        </p:nvSpPr>
        <p:spPr>
          <a:xfrm>
            <a:off x="4938736" y="3825240"/>
            <a:ext cx="39511" cy="67075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3" name="Shape 51"/>
          <p:cNvSpPr/>
          <p:nvPr/>
        </p:nvSpPr>
        <p:spPr>
          <a:xfrm>
            <a:off x="4971898" y="3825240"/>
            <a:ext cx="39511" cy="6894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4" name="Shape 52"/>
          <p:cNvSpPr/>
          <p:nvPr/>
        </p:nvSpPr>
        <p:spPr>
          <a:xfrm>
            <a:off x="5005059" y="3825240"/>
            <a:ext cx="39511" cy="70808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5" name="Shape 53"/>
          <p:cNvSpPr/>
          <p:nvPr/>
        </p:nvSpPr>
        <p:spPr>
          <a:xfrm>
            <a:off x="5038220" y="3825240"/>
            <a:ext cx="39511" cy="72675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6" name="Shape 54"/>
          <p:cNvSpPr/>
          <p:nvPr/>
        </p:nvSpPr>
        <p:spPr>
          <a:xfrm>
            <a:off x="5071381" y="3825240"/>
            <a:ext cx="39511" cy="74542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7" name="Shape 55"/>
          <p:cNvSpPr/>
          <p:nvPr/>
        </p:nvSpPr>
        <p:spPr>
          <a:xfrm>
            <a:off x="5104542" y="3825240"/>
            <a:ext cx="39511" cy="76409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8" name="Shape 56"/>
          <p:cNvSpPr/>
          <p:nvPr/>
        </p:nvSpPr>
        <p:spPr>
          <a:xfrm>
            <a:off x="5137703" y="3825240"/>
            <a:ext cx="39511" cy="78276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9" name="Shape 57"/>
          <p:cNvSpPr/>
          <p:nvPr/>
        </p:nvSpPr>
        <p:spPr>
          <a:xfrm>
            <a:off x="5170864" y="3825240"/>
            <a:ext cx="39511" cy="80143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0" name="Shape 58"/>
          <p:cNvSpPr/>
          <p:nvPr/>
        </p:nvSpPr>
        <p:spPr>
          <a:xfrm>
            <a:off x="5204025" y="3825240"/>
            <a:ext cx="39511" cy="82010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1" name="Shape 59"/>
          <p:cNvSpPr/>
          <p:nvPr/>
        </p:nvSpPr>
        <p:spPr>
          <a:xfrm>
            <a:off x="5237186" y="3825240"/>
            <a:ext cx="39511" cy="83877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2" name="Shape 60"/>
          <p:cNvSpPr/>
          <p:nvPr/>
        </p:nvSpPr>
        <p:spPr>
          <a:xfrm>
            <a:off x="5270348" y="3825240"/>
            <a:ext cx="39511" cy="85744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3" name="Shape 61"/>
          <p:cNvSpPr/>
          <p:nvPr/>
        </p:nvSpPr>
        <p:spPr>
          <a:xfrm>
            <a:off x="5303509" y="3825240"/>
            <a:ext cx="39511" cy="87611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4" name="Shape 62"/>
          <p:cNvSpPr/>
          <p:nvPr/>
        </p:nvSpPr>
        <p:spPr>
          <a:xfrm>
            <a:off x="5336670" y="3825240"/>
            <a:ext cx="39511" cy="89477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5" name="Shape 63"/>
          <p:cNvSpPr/>
          <p:nvPr/>
        </p:nvSpPr>
        <p:spPr>
          <a:xfrm>
            <a:off x="5369831" y="3825240"/>
            <a:ext cx="39511" cy="91344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6" name="Shape 64"/>
          <p:cNvSpPr/>
          <p:nvPr/>
        </p:nvSpPr>
        <p:spPr>
          <a:xfrm>
            <a:off x="5402992" y="3825240"/>
            <a:ext cx="39511" cy="93211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7" name="Shape 65"/>
          <p:cNvSpPr/>
          <p:nvPr/>
        </p:nvSpPr>
        <p:spPr>
          <a:xfrm>
            <a:off x="5436153" y="3825240"/>
            <a:ext cx="39511" cy="95078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8" name="Shape 66"/>
          <p:cNvSpPr/>
          <p:nvPr/>
        </p:nvSpPr>
        <p:spPr>
          <a:xfrm>
            <a:off x="5469314" y="3819906"/>
            <a:ext cx="39511" cy="9454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9" name="Shape 67"/>
          <p:cNvSpPr/>
          <p:nvPr/>
        </p:nvSpPr>
        <p:spPr>
          <a:xfrm>
            <a:off x="5502475" y="3809238"/>
            <a:ext cx="39511" cy="91611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0" name="Shape 68"/>
          <p:cNvSpPr/>
          <p:nvPr/>
        </p:nvSpPr>
        <p:spPr>
          <a:xfrm>
            <a:off x="5535636" y="3798570"/>
            <a:ext cx="39511" cy="88677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1" name="Shape 69"/>
          <p:cNvSpPr/>
          <p:nvPr/>
        </p:nvSpPr>
        <p:spPr>
          <a:xfrm>
            <a:off x="5568798" y="3787902"/>
            <a:ext cx="39511" cy="85744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2" name="Shape 70"/>
          <p:cNvSpPr/>
          <p:nvPr/>
        </p:nvSpPr>
        <p:spPr>
          <a:xfrm>
            <a:off x="5601959" y="3777234"/>
            <a:ext cx="39511" cy="82810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3" name="Shape 71"/>
          <p:cNvSpPr/>
          <p:nvPr/>
        </p:nvSpPr>
        <p:spPr>
          <a:xfrm>
            <a:off x="5635120" y="3766566"/>
            <a:ext cx="39511" cy="79876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4" name="Shape 72"/>
          <p:cNvSpPr/>
          <p:nvPr/>
        </p:nvSpPr>
        <p:spPr>
          <a:xfrm>
            <a:off x="5668281" y="3755898"/>
            <a:ext cx="39511" cy="76943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5" name="Shape 73"/>
          <p:cNvSpPr/>
          <p:nvPr/>
        </p:nvSpPr>
        <p:spPr>
          <a:xfrm>
            <a:off x="5701442" y="3745230"/>
            <a:ext cx="39511" cy="7400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6" name="Shape 74"/>
          <p:cNvSpPr/>
          <p:nvPr/>
        </p:nvSpPr>
        <p:spPr>
          <a:xfrm>
            <a:off x="5734603" y="3734562"/>
            <a:ext cx="39511" cy="71075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7" name="Shape 75"/>
          <p:cNvSpPr/>
          <p:nvPr/>
        </p:nvSpPr>
        <p:spPr>
          <a:xfrm>
            <a:off x="5767764" y="3723894"/>
            <a:ext cx="39511" cy="68141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8" name="Shape 76"/>
          <p:cNvSpPr/>
          <p:nvPr/>
        </p:nvSpPr>
        <p:spPr>
          <a:xfrm>
            <a:off x="5800925" y="3713226"/>
            <a:ext cx="39511" cy="65208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9" name="Shape 77"/>
          <p:cNvSpPr/>
          <p:nvPr/>
        </p:nvSpPr>
        <p:spPr>
          <a:xfrm>
            <a:off x="5834086" y="3702558"/>
            <a:ext cx="39511" cy="62274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0" name="Shape 78"/>
          <p:cNvSpPr/>
          <p:nvPr/>
        </p:nvSpPr>
        <p:spPr>
          <a:xfrm>
            <a:off x="5867248" y="3691890"/>
            <a:ext cx="39511" cy="59340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1" name="Shape 79"/>
          <p:cNvSpPr/>
          <p:nvPr/>
        </p:nvSpPr>
        <p:spPr>
          <a:xfrm>
            <a:off x="5900409" y="3681222"/>
            <a:ext cx="39511" cy="56407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2" name="Shape 80"/>
          <p:cNvSpPr/>
          <p:nvPr/>
        </p:nvSpPr>
        <p:spPr>
          <a:xfrm>
            <a:off x="5933570" y="3670554"/>
            <a:ext cx="39511" cy="5347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3" name="Shape 81"/>
          <p:cNvSpPr/>
          <p:nvPr/>
        </p:nvSpPr>
        <p:spPr>
          <a:xfrm>
            <a:off x="5966731" y="3659886"/>
            <a:ext cx="39511" cy="50539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4" name="Shape 82"/>
          <p:cNvSpPr/>
          <p:nvPr/>
        </p:nvSpPr>
        <p:spPr>
          <a:xfrm>
            <a:off x="5999892" y="3649218"/>
            <a:ext cx="39511" cy="47605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5" name="Shape 83"/>
          <p:cNvSpPr/>
          <p:nvPr/>
        </p:nvSpPr>
        <p:spPr>
          <a:xfrm>
            <a:off x="6033053" y="3638550"/>
            <a:ext cx="39511" cy="44672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6" name="Shape 84"/>
          <p:cNvSpPr/>
          <p:nvPr/>
        </p:nvSpPr>
        <p:spPr>
          <a:xfrm>
            <a:off x="6066214" y="3627882"/>
            <a:ext cx="39511" cy="41738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7" name="Shape 85"/>
          <p:cNvSpPr/>
          <p:nvPr/>
        </p:nvSpPr>
        <p:spPr>
          <a:xfrm>
            <a:off x="6099375" y="3617214"/>
            <a:ext cx="39511" cy="38804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8" name="Shape 86"/>
          <p:cNvSpPr/>
          <p:nvPr/>
        </p:nvSpPr>
        <p:spPr>
          <a:xfrm>
            <a:off x="6132536" y="3606546"/>
            <a:ext cx="39511" cy="35871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9" name="Shape 87"/>
          <p:cNvSpPr/>
          <p:nvPr/>
        </p:nvSpPr>
        <p:spPr>
          <a:xfrm>
            <a:off x="6165698" y="3595878"/>
            <a:ext cx="39511" cy="32937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0" name="Shape 88"/>
          <p:cNvSpPr/>
          <p:nvPr/>
        </p:nvSpPr>
        <p:spPr>
          <a:xfrm>
            <a:off x="6198859" y="3585210"/>
            <a:ext cx="39511" cy="30003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1" name="Shape 89"/>
          <p:cNvSpPr/>
          <p:nvPr/>
        </p:nvSpPr>
        <p:spPr>
          <a:xfrm>
            <a:off x="6232020" y="3574542"/>
            <a:ext cx="39511" cy="2707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2" name="Shape 90"/>
          <p:cNvSpPr/>
          <p:nvPr/>
        </p:nvSpPr>
        <p:spPr>
          <a:xfrm>
            <a:off x="6265181" y="3550539"/>
            <a:ext cx="39511" cy="27470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3" name="Shape 91"/>
          <p:cNvSpPr/>
          <p:nvPr/>
        </p:nvSpPr>
        <p:spPr>
          <a:xfrm>
            <a:off x="6298342" y="3513201"/>
            <a:ext cx="39511" cy="31203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4" name="Shape 92"/>
          <p:cNvSpPr/>
          <p:nvPr/>
        </p:nvSpPr>
        <p:spPr>
          <a:xfrm>
            <a:off x="6331503" y="3475863"/>
            <a:ext cx="39511" cy="34937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5" name="Shape 93"/>
          <p:cNvSpPr/>
          <p:nvPr/>
        </p:nvSpPr>
        <p:spPr>
          <a:xfrm>
            <a:off x="6364664" y="3438525"/>
            <a:ext cx="39511" cy="38671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6" name="Shape 94"/>
          <p:cNvSpPr/>
          <p:nvPr/>
        </p:nvSpPr>
        <p:spPr>
          <a:xfrm>
            <a:off x="6397825" y="3401187"/>
            <a:ext cx="39511" cy="42405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7" name="Shape 95"/>
          <p:cNvSpPr/>
          <p:nvPr/>
        </p:nvSpPr>
        <p:spPr>
          <a:xfrm>
            <a:off x="6430986" y="3363849"/>
            <a:ext cx="39511" cy="46139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8" name="Shape 96"/>
          <p:cNvSpPr/>
          <p:nvPr/>
        </p:nvSpPr>
        <p:spPr>
          <a:xfrm>
            <a:off x="6464148" y="3326511"/>
            <a:ext cx="39511" cy="49872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9" name="Shape 97"/>
          <p:cNvSpPr/>
          <p:nvPr/>
        </p:nvSpPr>
        <p:spPr>
          <a:xfrm>
            <a:off x="6497309" y="3289173"/>
            <a:ext cx="39511" cy="53606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0" name="Shape 98"/>
          <p:cNvSpPr/>
          <p:nvPr/>
        </p:nvSpPr>
        <p:spPr>
          <a:xfrm>
            <a:off x="6530470" y="3251835"/>
            <a:ext cx="39511" cy="57340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1" name="Shape 99"/>
          <p:cNvSpPr/>
          <p:nvPr/>
        </p:nvSpPr>
        <p:spPr>
          <a:xfrm>
            <a:off x="6563631" y="3214497"/>
            <a:ext cx="39511" cy="61074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2" name="Shape 100"/>
          <p:cNvSpPr/>
          <p:nvPr/>
        </p:nvSpPr>
        <p:spPr>
          <a:xfrm>
            <a:off x="6596792" y="3177159"/>
            <a:ext cx="39511" cy="64808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3" name="Shape 101"/>
          <p:cNvSpPr/>
          <p:nvPr/>
        </p:nvSpPr>
        <p:spPr>
          <a:xfrm>
            <a:off x="6629953" y="3139821"/>
            <a:ext cx="39511" cy="68541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4" name="Shape 102"/>
          <p:cNvSpPr/>
          <p:nvPr/>
        </p:nvSpPr>
        <p:spPr>
          <a:xfrm>
            <a:off x="6663114" y="3102483"/>
            <a:ext cx="39511" cy="72275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5" name="Shape 103"/>
          <p:cNvSpPr/>
          <p:nvPr/>
        </p:nvSpPr>
        <p:spPr>
          <a:xfrm>
            <a:off x="6696275" y="3065145"/>
            <a:ext cx="39511" cy="76009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6" name="Shape 104"/>
          <p:cNvSpPr/>
          <p:nvPr/>
        </p:nvSpPr>
        <p:spPr>
          <a:xfrm>
            <a:off x="6729436" y="3027807"/>
            <a:ext cx="39511" cy="7974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7" name="Shape 105"/>
          <p:cNvSpPr/>
          <p:nvPr/>
        </p:nvSpPr>
        <p:spPr>
          <a:xfrm>
            <a:off x="6762598" y="2990469"/>
            <a:ext cx="39511" cy="83477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8" name="Shape 106"/>
          <p:cNvSpPr/>
          <p:nvPr/>
        </p:nvSpPr>
        <p:spPr>
          <a:xfrm>
            <a:off x="6795759" y="2953131"/>
            <a:ext cx="39511" cy="87210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9" name="Shape 107"/>
          <p:cNvSpPr/>
          <p:nvPr/>
        </p:nvSpPr>
        <p:spPr>
          <a:xfrm>
            <a:off x="6828920" y="2915793"/>
            <a:ext cx="39511" cy="90944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0" name="Shape 108"/>
          <p:cNvSpPr/>
          <p:nvPr/>
        </p:nvSpPr>
        <p:spPr>
          <a:xfrm>
            <a:off x="6862081" y="2878455"/>
            <a:ext cx="39511" cy="94678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1" name="Shape 109"/>
          <p:cNvSpPr/>
          <p:nvPr/>
        </p:nvSpPr>
        <p:spPr>
          <a:xfrm>
            <a:off x="6895242" y="2841117"/>
            <a:ext cx="39511" cy="98412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2" name="Shape 110"/>
          <p:cNvSpPr/>
          <p:nvPr/>
        </p:nvSpPr>
        <p:spPr>
          <a:xfrm>
            <a:off x="6928403" y="2803779"/>
            <a:ext cx="39511" cy="102146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3" name="Shape 111"/>
          <p:cNvSpPr/>
          <p:nvPr/>
        </p:nvSpPr>
        <p:spPr>
          <a:xfrm>
            <a:off x="6961564" y="2766441"/>
            <a:ext cx="39511" cy="105879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4" name="Shape 112"/>
          <p:cNvSpPr/>
          <p:nvPr/>
        </p:nvSpPr>
        <p:spPr>
          <a:xfrm>
            <a:off x="6994725" y="2729103"/>
            <a:ext cx="39511" cy="109613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5" name="Shape 113"/>
          <p:cNvSpPr/>
          <p:nvPr/>
        </p:nvSpPr>
        <p:spPr>
          <a:xfrm>
            <a:off x="7027886" y="2691765"/>
            <a:ext cx="39511" cy="113347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6" name="Shape 114"/>
          <p:cNvSpPr/>
          <p:nvPr/>
        </p:nvSpPr>
        <p:spPr>
          <a:xfrm>
            <a:off x="7061048" y="2662428"/>
            <a:ext cx="39511" cy="116281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7" name="Shape 115"/>
          <p:cNvSpPr/>
          <p:nvPr/>
        </p:nvSpPr>
        <p:spPr>
          <a:xfrm>
            <a:off x="7094209" y="2641092"/>
            <a:ext cx="39511" cy="118414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8" name="Shape 116"/>
          <p:cNvSpPr/>
          <p:nvPr/>
        </p:nvSpPr>
        <p:spPr>
          <a:xfrm>
            <a:off x="7127370" y="2619756"/>
            <a:ext cx="39511" cy="120548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9" name="Shape 117"/>
          <p:cNvSpPr/>
          <p:nvPr/>
        </p:nvSpPr>
        <p:spPr>
          <a:xfrm>
            <a:off x="7160531" y="2598420"/>
            <a:ext cx="39511" cy="12268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0" name="Shape 118"/>
          <p:cNvSpPr/>
          <p:nvPr/>
        </p:nvSpPr>
        <p:spPr>
          <a:xfrm>
            <a:off x="7193692" y="2577084"/>
            <a:ext cx="39511" cy="124815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1" name="Shape 119"/>
          <p:cNvSpPr/>
          <p:nvPr/>
        </p:nvSpPr>
        <p:spPr>
          <a:xfrm>
            <a:off x="7226853" y="2555748"/>
            <a:ext cx="39511" cy="126949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2" name="Shape 120"/>
          <p:cNvSpPr/>
          <p:nvPr/>
        </p:nvSpPr>
        <p:spPr>
          <a:xfrm>
            <a:off x="7260014" y="2534412"/>
            <a:ext cx="39511" cy="129082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3" name="Shape 121"/>
          <p:cNvSpPr/>
          <p:nvPr/>
        </p:nvSpPr>
        <p:spPr>
          <a:xfrm>
            <a:off x="7293175" y="2513076"/>
            <a:ext cx="39511" cy="13121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4" name="Shape 122"/>
          <p:cNvSpPr/>
          <p:nvPr/>
        </p:nvSpPr>
        <p:spPr>
          <a:xfrm>
            <a:off x="7326336" y="2491740"/>
            <a:ext cx="39511" cy="13335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5" name="Shape 123"/>
          <p:cNvSpPr/>
          <p:nvPr/>
        </p:nvSpPr>
        <p:spPr>
          <a:xfrm>
            <a:off x="7359498" y="2470404"/>
            <a:ext cx="39511" cy="135483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6" name="Shape 124"/>
          <p:cNvSpPr/>
          <p:nvPr/>
        </p:nvSpPr>
        <p:spPr>
          <a:xfrm>
            <a:off x="7392659" y="2449068"/>
            <a:ext cx="39511" cy="137617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7" name="Shape 125"/>
          <p:cNvSpPr/>
          <p:nvPr/>
        </p:nvSpPr>
        <p:spPr>
          <a:xfrm>
            <a:off x="7425820" y="2427732"/>
            <a:ext cx="39511" cy="139750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8" name="Shape 126"/>
          <p:cNvSpPr/>
          <p:nvPr/>
        </p:nvSpPr>
        <p:spPr>
          <a:xfrm>
            <a:off x="7458981" y="2406396"/>
            <a:ext cx="39511" cy="141884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9" name="Shape 127"/>
          <p:cNvSpPr/>
          <p:nvPr/>
        </p:nvSpPr>
        <p:spPr>
          <a:xfrm>
            <a:off x="7492142" y="2385060"/>
            <a:ext cx="39511" cy="144018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0" name="Shape 128"/>
          <p:cNvSpPr/>
          <p:nvPr/>
        </p:nvSpPr>
        <p:spPr>
          <a:xfrm>
            <a:off x="7525303" y="2363724"/>
            <a:ext cx="39511" cy="146151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1" name="Shape 129"/>
          <p:cNvSpPr/>
          <p:nvPr/>
        </p:nvSpPr>
        <p:spPr>
          <a:xfrm>
            <a:off x="7558464" y="2342388"/>
            <a:ext cx="39511" cy="14828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2" name="Shape 130"/>
          <p:cNvSpPr/>
          <p:nvPr/>
        </p:nvSpPr>
        <p:spPr>
          <a:xfrm>
            <a:off x="7591625" y="2321052"/>
            <a:ext cx="39511" cy="150418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3" name="Shape 131"/>
          <p:cNvSpPr/>
          <p:nvPr/>
        </p:nvSpPr>
        <p:spPr>
          <a:xfrm>
            <a:off x="7624786" y="2299716"/>
            <a:ext cx="39511" cy="152552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4" name="Shape 132"/>
          <p:cNvSpPr/>
          <p:nvPr/>
        </p:nvSpPr>
        <p:spPr>
          <a:xfrm>
            <a:off x="7657948" y="2278380"/>
            <a:ext cx="39511" cy="15468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5" name="Shape 133"/>
          <p:cNvSpPr/>
          <p:nvPr/>
        </p:nvSpPr>
        <p:spPr>
          <a:xfrm>
            <a:off x="7691109" y="2257044"/>
            <a:ext cx="39511" cy="156819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6" name="Shape 134"/>
          <p:cNvSpPr/>
          <p:nvPr/>
        </p:nvSpPr>
        <p:spPr>
          <a:xfrm>
            <a:off x="7724270" y="2235708"/>
            <a:ext cx="39511" cy="158953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7" name="Shape 135"/>
          <p:cNvSpPr/>
          <p:nvPr/>
        </p:nvSpPr>
        <p:spPr>
          <a:xfrm>
            <a:off x="7757431" y="2214372"/>
            <a:ext cx="39511" cy="161086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8" name="Shape 136"/>
          <p:cNvSpPr/>
          <p:nvPr/>
        </p:nvSpPr>
        <p:spPr>
          <a:xfrm>
            <a:off x="7790592" y="2193036"/>
            <a:ext cx="39511" cy="163220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9" name="Shape 137"/>
          <p:cNvSpPr/>
          <p:nvPr/>
        </p:nvSpPr>
        <p:spPr>
          <a:xfrm>
            <a:off x="7823753" y="2171700"/>
            <a:ext cx="39511" cy="165354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0" name="Shape 138"/>
          <p:cNvSpPr/>
          <p:nvPr/>
        </p:nvSpPr>
        <p:spPr>
          <a:xfrm>
            <a:off x="3479648" y="3825240"/>
            <a:ext cx="47752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41" name="Text 139"/>
          <p:cNvSpPr/>
          <p:nvPr/>
        </p:nvSpPr>
        <p:spPr>
          <a:xfrm>
            <a:off x="8305648" y="2907411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income</a:t>
            </a:r>
            <a:endParaRPr lang="en-US" sz="1000" dirty="0"/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Trajectory trail (one entity over time)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79648" y="43180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4229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35052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3416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9648" y="26924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2603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479648" y="18796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47848" y="1790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50290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68832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479648" y="18796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333848" y="3911600"/>
            <a:ext cx="741680" cy="162560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rot="6120000">
            <a:off x="5604266" y="3931204"/>
            <a:ext cx="101600" cy="1016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21" name="Shape 19"/>
          <p:cNvSpPr/>
          <p:nvPr/>
        </p:nvSpPr>
        <p:spPr>
          <a:xfrm flipV="1">
            <a:off x="6075528" y="3505200"/>
            <a:ext cx="463550" cy="568960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rot="2340000">
            <a:off x="6224416" y="3778264"/>
            <a:ext cx="101600" cy="1016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23" name="Shape 21"/>
          <p:cNvSpPr/>
          <p:nvPr/>
        </p:nvSpPr>
        <p:spPr>
          <a:xfrm>
            <a:off x="6539078" y="3505200"/>
            <a:ext cx="1112520" cy="81280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rot="5640000">
            <a:off x="6993873" y="3491338"/>
            <a:ext cx="101600" cy="1016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25" name="Shape 23"/>
          <p:cNvSpPr/>
          <p:nvPr/>
        </p:nvSpPr>
        <p:spPr>
          <a:xfrm flipV="1">
            <a:off x="7651598" y="2895600"/>
            <a:ext cx="648970" cy="690880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rot="2580000">
            <a:off x="7890502" y="3227267"/>
            <a:ext cx="101600" cy="1016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27" name="Shape 25"/>
          <p:cNvSpPr/>
          <p:nvPr/>
        </p:nvSpPr>
        <p:spPr>
          <a:xfrm flipV="1">
            <a:off x="8300568" y="2367280"/>
            <a:ext cx="741680" cy="528320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rot="3300000">
            <a:off x="8579232" y="2610113"/>
            <a:ext cx="101600" cy="1016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29" name="Shape 27"/>
          <p:cNvSpPr/>
          <p:nvPr/>
        </p:nvSpPr>
        <p:spPr>
          <a:xfrm>
            <a:off x="5295748" y="387350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037428" y="403606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500978" y="346710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613498" y="354838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262468" y="285750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9004148" y="232918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397348" y="3829050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2019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139028" y="3991610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2020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6602578" y="3422650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7715098" y="3503930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8364068" y="2813050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8679028" y="2284730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Boxplot with jittered raw-data dots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479648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350781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221914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415214" y="3185160"/>
            <a:ext cx="0" cy="3733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415214" y="403860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183662" y="318516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183662" y="425196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900653" y="3558540"/>
            <a:ext cx="1029123" cy="48006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900653" y="3825240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493341" y="423291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78869" y="401955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687696" y="401955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373224" y="401955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058752" y="380619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567578" y="380619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253106" y="380619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761933" y="359283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447461" y="337947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132989" y="316611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900653" y="3634740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6286348" y="2545080"/>
            <a:ext cx="0" cy="3733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286348" y="361188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054795" y="254508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054795" y="382524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771786" y="2918460"/>
            <a:ext cx="1029123" cy="69342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771786" y="3398520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364475" y="380619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050003" y="359283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558829" y="359283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244357" y="359283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929885" y="337947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438712" y="337947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124240" y="316611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633066" y="295275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6318594" y="273939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004122" y="252603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771786" y="3208020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8157481" y="361188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8157481" y="425196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7925928" y="361188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7925928" y="446532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7642919" y="3825240"/>
            <a:ext cx="1029123" cy="42672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7642919" y="4038600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8235608" y="444627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7921136" y="423291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8429963" y="423291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8115491" y="423291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7801018" y="401955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8309845" y="401955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7995373" y="401955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8504199" y="380619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8189727" y="380619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7875255" y="359283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7642919" y="3848100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Continuous color scale (a Color row)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79648" y="437515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42862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36195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35306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9648" y="286385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27749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479648" y="21082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47848" y="2019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5654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9561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73467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479648" y="2108200"/>
            <a:ext cx="0" cy="30226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479648" y="1936750"/>
            <a:ext cx="53975" cy="88900"/>
          </a:xfrm>
          <a:prstGeom prst="rect">
            <a:avLst/>
          </a:prstGeom>
          <a:solidFill>
            <a:srgbClr val="EFF2FA"/>
          </a:solidFill>
          <a:ln/>
        </p:spPr>
      </p:sp>
      <p:sp>
        <p:nvSpPr>
          <p:cNvPr id="21" name="Shape 19"/>
          <p:cNvSpPr/>
          <p:nvPr/>
        </p:nvSpPr>
        <p:spPr>
          <a:xfrm>
            <a:off x="3527273" y="1936750"/>
            <a:ext cx="53975" cy="88900"/>
          </a:xfrm>
          <a:prstGeom prst="rect">
            <a:avLst/>
          </a:prstGeom>
          <a:solidFill>
            <a:srgbClr val="EAEFF9"/>
          </a:solidFill>
          <a:ln/>
        </p:spPr>
      </p:sp>
      <p:sp>
        <p:nvSpPr>
          <p:cNvPr id="22" name="Shape 20"/>
          <p:cNvSpPr/>
          <p:nvPr/>
        </p:nvSpPr>
        <p:spPr>
          <a:xfrm>
            <a:off x="3574898" y="1936750"/>
            <a:ext cx="53975" cy="88900"/>
          </a:xfrm>
          <a:prstGeom prst="rect">
            <a:avLst/>
          </a:prstGeom>
          <a:solidFill>
            <a:srgbClr val="E6EBF7"/>
          </a:solidFill>
          <a:ln/>
        </p:spPr>
      </p:sp>
      <p:sp>
        <p:nvSpPr>
          <p:cNvPr id="23" name="Shape 21"/>
          <p:cNvSpPr/>
          <p:nvPr/>
        </p:nvSpPr>
        <p:spPr>
          <a:xfrm>
            <a:off x="3622523" y="1936750"/>
            <a:ext cx="53975" cy="88900"/>
          </a:xfrm>
          <a:prstGeom prst="rect">
            <a:avLst/>
          </a:prstGeom>
          <a:solidFill>
            <a:srgbClr val="E1E7F6"/>
          </a:solidFill>
          <a:ln/>
        </p:spPr>
      </p:sp>
      <p:sp>
        <p:nvSpPr>
          <p:cNvPr id="24" name="Shape 22"/>
          <p:cNvSpPr/>
          <p:nvPr/>
        </p:nvSpPr>
        <p:spPr>
          <a:xfrm>
            <a:off x="3670148" y="1936750"/>
            <a:ext cx="53975" cy="88900"/>
          </a:xfrm>
          <a:prstGeom prst="rect">
            <a:avLst/>
          </a:prstGeom>
          <a:solidFill>
            <a:srgbClr val="DCE3F5"/>
          </a:solidFill>
          <a:ln/>
        </p:spPr>
      </p:sp>
      <p:sp>
        <p:nvSpPr>
          <p:cNvPr id="25" name="Shape 23"/>
          <p:cNvSpPr/>
          <p:nvPr/>
        </p:nvSpPr>
        <p:spPr>
          <a:xfrm>
            <a:off x="3717773" y="1936750"/>
            <a:ext cx="53975" cy="88900"/>
          </a:xfrm>
          <a:prstGeom prst="rect">
            <a:avLst/>
          </a:prstGeom>
          <a:solidFill>
            <a:srgbClr val="D8DFF3"/>
          </a:solidFill>
          <a:ln/>
        </p:spPr>
      </p:sp>
      <p:sp>
        <p:nvSpPr>
          <p:cNvPr id="26" name="Shape 24"/>
          <p:cNvSpPr/>
          <p:nvPr/>
        </p:nvSpPr>
        <p:spPr>
          <a:xfrm>
            <a:off x="3765398" y="1936750"/>
            <a:ext cx="53975" cy="88900"/>
          </a:xfrm>
          <a:prstGeom prst="rect">
            <a:avLst/>
          </a:prstGeom>
          <a:solidFill>
            <a:srgbClr val="D2DBF2"/>
          </a:solidFill>
          <a:ln/>
        </p:spPr>
      </p:sp>
      <p:sp>
        <p:nvSpPr>
          <p:cNvPr id="27" name="Shape 25"/>
          <p:cNvSpPr/>
          <p:nvPr/>
        </p:nvSpPr>
        <p:spPr>
          <a:xfrm>
            <a:off x="3813023" y="1936750"/>
            <a:ext cx="53975" cy="88900"/>
          </a:xfrm>
          <a:prstGeom prst="rect">
            <a:avLst/>
          </a:prstGeom>
          <a:solidFill>
            <a:srgbClr val="CDD7F0"/>
          </a:solidFill>
          <a:ln/>
        </p:spPr>
      </p:sp>
      <p:sp>
        <p:nvSpPr>
          <p:cNvPr id="28" name="Shape 26"/>
          <p:cNvSpPr/>
          <p:nvPr/>
        </p:nvSpPr>
        <p:spPr>
          <a:xfrm>
            <a:off x="3860648" y="1936750"/>
            <a:ext cx="53975" cy="88900"/>
          </a:xfrm>
          <a:prstGeom prst="rect">
            <a:avLst/>
          </a:prstGeom>
          <a:solidFill>
            <a:srgbClr val="C8D3EF"/>
          </a:solidFill>
          <a:ln/>
        </p:spPr>
      </p:sp>
      <p:sp>
        <p:nvSpPr>
          <p:cNvPr id="29" name="Shape 27"/>
          <p:cNvSpPr/>
          <p:nvPr/>
        </p:nvSpPr>
        <p:spPr>
          <a:xfrm>
            <a:off x="3908273" y="1936750"/>
            <a:ext cx="53975" cy="88900"/>
          </a:xfrm>
          <a:prstGeom prst="rect">
            <a:avLst/>
          </a:prstGeom>
          <a:solidFill>
            <a:srgbClr val="C2CFED"/>
          </a:solidFill>
          <a:ln/>
        </p:spPr>
      </p:sp>
      <p:sp>
        <p:nvSpPr>
          <p:cNvPr id="30" name="Shape 28"/>
          <p:cNvSpPr/>
          <p:nvPr/>
        </p:nvSpPr>
        <p:spPr>
          <a:xfrm>
            <a:off x="3955898" y="1936750"/>
            <a:ext cx="53975" cy="88900"/>
          </a:xfrm>
          <a:prstGeom prst="rect">
            <a:avLst/>
          </a:prstGeom>
          <a:solidFill>
            <a:srgbClr val="BCCAEC"/>
          </a:solidFill>
          <a:ln/>
        </p:spPr>
      </p:sp>
      <p:sp>
        <p:nvSpPr>
          <p:cNvPr id="31" name="Shape 29"/>
          <p:cNvSpPr/>
          <p:nvPr/>
        </p:nvSpPr>
        <p:spPr>
          <a:xfrm>
            <a:off x="4003523" y="1936750"/>
            <a:ext cx="53975" cy="88900"/>
          </a:xfrm>
          <a:prstGeom prst="rect">
            <a:avLst/>
          </a:prstGeom>
          <a:solidFill>
            <a:srgbClr val="B6C5EA"/>
          </a:solidFill>
          <a:ln/>
        </p:spPr>
      </p:sp>
      <p:sp>
        <p:nvSpPr>
          <p:cNvPr id="32" name="Shape 30"/>
          <p:cNvSpPr/>
          <p:nvPr/>
        </p:nvSpPr>
        <p:spPr>
          <a:xfrm>
            <a:off x="4051148" y="1936750"/>
            <a:ext cx="53975" cy="88900"/>
          </a:xfrm>
          <a:prstGeom prst="rect">
            <a:avLst/>
          </a:prstGeom>
          <a:solidFill>
            <a:srgbClr val="B0C1E9"/>
          </a:solidFill>
          <a:ln/>
        </p:spPr>
      </p:sp>
      <p:sp>
        <p:nvSpPr>
          <p:cNvPr id="33" name="Shape 31"/>
          <p:cNvSpPr/>
          <p:nvPr/>
        </p:nvSpPr>
        <p:spPr>
          <a:xfrm>
            <a:off x="4098773" y="1936750"/>
            <a:ext cx="53975" cy="88900"/>
          </a:xfrm>
          <a:prstGeom prst="rect">
            <a:avLst/>
          </a:prstGeom>
          <a:solidFill>
            <a:srgbClr val="A9BCE7"/>
          </a:solidFill>
          <a:ln/>
        </p:spPr>
      </p:sp>
      <p:sp>
        <p:nvSpPr>
          <p:cNvPr id="34" name="Shape 32"/>
          <p:cNvSpPr/>
          <p:nvPr/>
        </p:nvSpPr>
        <p:spPr>
          <a:xfrm>
            <a:off x="4146398" y="1936750"/>
            <a:ext cx="53975" cy="88900"/>
          </a:xfrm>
          <a:prstGeom prst="rect">
            <a:avLst/>
          </a:prstGeom>
          <a:solidFill>
            <a:srgbClr val="A2B7E6"/>
          </a:solidFill>
          <a:ln/>
        </p:spPr>
      </p:sp>
      <p:sp>
        <p:nvSpPr>
          <p:cNvPr id="35" name="Shape 33"/>
          <p:cNvSpPr/>
          <p:nvPr/>
        </p:nvSpPr>
        <p:spPr>
          <a:xfrm>
            <a:off x="4194023" y="1936750"/>
            <a:ext cx="53975" cy="88900"/>
          </a:xfrm>
          <a:prstGeom prst="rect">
            <a:avLst/>
          </a:prstGeom>
          <a:solidFill>
            <a:srgbClr val="9BB1E4"/>
          </a:solidFill>
          <a:ln/>
        </p:spPr>
      </p:sp>
      <p:sp>
        <p:nvSpPr>
          <p:cNvPr id="36" name="Shape 34"/>
          <p:cNvSpPr/>
          <p:nvPr/>
        </p:nvSpPr>
        <p:spPr>
          <a:xfrm>
            <a:off x="4241648" y="1936750"/>
            <a:ext cx="53975" cy="88900"/>
          </a:xfrm>
          <a:prstGeom prst="rect">
            <a:avLst/>
          </a:prstGeom>
          <a:solidFill>
            <a:srgbClr val="93ACE2"/>
          </a:solidFill>
          <a:ln/>
        </p:spPr>
      </p:sp>
      <p:sp>
        <p:nvSpPr>
          <p:cNvPr id="37" name="Shape 35"/>
          <p:cNvSpPr/>
          <p:nvPr/>
        </p:nvSpPr>
        <p:spPr>
          <a:xfrm>
            <a:off x="4289273" y="1936750"/>
            <a:ext cx="53975" cy="88900"/>
          </a:xfrm>
          <a:prstGeom prst="rect">
            <a:avLst/>
          </a:prstGeom>
          <a:solidFill>
            <a:srgbClr val="8AA6E1"/>
          </a:solidFill>
          <a:ln/>
        </p:spPr>
      </p:sp>
      <p:sp>
        <p:nvSpPr>
          <p:cNvPr id="38" name="Shape 36"/>
          <p:cNvSpPr/>
          <p:nvPr/>
        </p:nvSpPr>
        <p:spPr>
          <a:xfrm>
            <a:off x="4336898" y="1936750"/>
            <a:ext cx="53975" cy="88900"/>
          </a:xfrm>
          <a:prstGeom prst="rect">
            <a:avLst/>
          </a:prstGeom>
          <a:solidFill>
            <a:srgbClr val="81A0DF"/>
          </a:solidFill>
          <a:ln/>
        </p:spPr>
      </p:sp>
      <p:sp>
        <p:nvSpPr>
          <p:cNvPr id="39" name="Shape 37"/>
          <p:cNvSpPr/>
          <p:nvPr/>
        </p:nvSpPr>
        <p:spPr>
          <a:xfrm>
            <a:off x="4384523" y="1936750"/>
            <a:ext cx="53975" cy="88900"/>
          </a:xfrm>
          <a:prstGeom prst="rect">
            <a:avLst/>
          </a:prstGeom>
          <a:solidFill>
            <a:srgbClr val="779ADE"/>
          </a:solidFill>
          <a:ln/>
        </p:spPr>
      </p:sp>
      <p:sp>
        <p:nvSpPr>
          <p:cNvPr id="40" name="Shape 38"/>
          <p:cNvSpPr/>
          <p:nvPr/>
        </p:nvSpPr>
        <p:spPr>
          <a:xfrm>
            <a:off x="4432148" y="1936750"/>
            <a:ext cx="53975" cy="88900"/>
          </a:xfrm>
          <a:prstGeom prst="rect">
            <a:avLst/>
          </a:prstGeom>
          <a:solidFill>
            <a:srgbClr val="6B93DC"/>
          </a:solidFill>
          <a:ln/>
        </p:spPr>
      </p:sp>
      <p:sp>
        <p:nvSpPr>
          <p:cNvPr id="41" name="Shape 39"/>
          <p:cNvSpPr/>
          <p:nvPr/>
        </p:nvSpPr>
        <p:spPr>
          <a:xfrm>
            <a:off x="4479773" y="1936750"/>
            <a:ext cx="53975" cy="88900"/>
          </a:xfrm>
          <a:prstGeom prst="rect">
            <a:avLst/>
          </a:prstGeom>
          <a:solidFill>
            <a:srgbClr val="5E8CDA"/>
          </a:solidFill>
          <a:ln/>
        </p:spPr>
      </p:sp>
      <p:sp>
        <p:nvSpPr>
          <p:cNvPr id="42" name="Shape 40"/>
          <p:cNvSpPr/>
          <p:nvPr/>
        </p:nvSpPr>
        <p:spPr>
          <a:xfrm>
            <a:off x="4527398" y="1936750"/>
            <a:ext cx="53975" cy="88900"/>
          </a:xfrm>
          <a:prstGeom prst="rect">
            <a:avLst/>
          </a:prstGeom>
          <a:solidFill>
            <a:srgbClr val="4E84D9"/>
          </a:solidFill>
          <a:ln/>
        </p:spPr>
      </p:sp>
      <p:sp>
        <p:nvSpPr>
          <p:cNvPr id="43" name="Shape 41"/>
          <p:cNvSpPr/>
          <p:nvPr/>
        </p:nvSpPr>
        <p:spPr>
          <a:xfrm>
            <a:off x="4575023" y="1936750"/>
            <a:ext cx="53975" cy="88900"/>
          </a:xfrm>
          <a:prstGeom prst="rect">
            <a:avLst/>
          </a:prstGeom>
          <a:solidFill>
            <a:srgbClr val="397CD7"/>
          </a:solidFill>
          <a:ln/>
        </p:spPr>
      </p:sp>
      <p:sp>
        <p:nvSpPr>
          <p:cNvPr id="44" name="Text 42"/>
          <p:cNvSpPr/>
          <p:nvPr/>
        </p:nvSpPr>
        <p:spPr>
          <a:xfrm>
            <a:off x="2971648" y="1917700"/>
            <a:ext cx="482600" cy="127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Color</a:t>
            </a:r>
            <a:endParaRPr lang="en-US" sz="850" dirty="0"/>
          </a:p>
        </p:txBody>
      </p:sp>
      <p:sp>
        <p:nvSpPr>
          <p:cNvPr id="45" name="Text 43"/>
          <p:cNvSpPr/>
          <p:nvPr/>
        </p:nvSpPr>
        <p:spPr>
          <a:xfrm>
            <a:off x="3479648" y="2032000"/>
            <a:ext cx="1143000" cy="127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750" dirty="0"/>
          </a:p>
        </p:txBody>
      </p:sp>
      <p:sp>
        <p:nvSpPr>
          <p:cNvPr id="46" name="Text 44"/>
          <p:cNvSpPr/>
          <p:nvPr/>
        </p:nvSpPr>
        <p:spPr>
          <a:xfrm>
            <a:off x="3479648" y="2032000"/>
            <a:ext cx="1143000" cy="127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750" dirty="0"/>
          </a:p>
        </p:txBody>
      </p:sp>
      <p:sp>
        <p:nvSpPr>
          <p:cNvPr id="47" name="Shape 45"/>
          <p:cNvSpPr/>
          <p:nvPr/>
        </p:nvSpPr>
        <p:spPr>
          <a:xfrm>
            <a:off x="4275938" y="3959225"/>
            <a:ext cx="76200" cy="76200"/>
          </a:xfrm>
          <a:prstGeom prst="ellipse">
            <a:avLst/>
          </a:prstGeom>
          <a:solidFill>
            <a:srgbClr val="F1F4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5179860" y="3014663"/>
            <a:ext cx="76200" cy="76200"/>
          </a:xfrm>
          <a:prstGeom prst="ellipse">
            <a:avLst/>
          </a:prstGeom>
          <a:solidFill>
            <a:srgbClr val="D6DEF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6222848" y="3505835"/>
            <a:ext cx="76200" cy="76200"/>
          </a:xfrm>
          <a:prstGeom prst="ellipse">
            <a:avLst/>
          </a:prstGeom>
          <a:solidFill>
            <a:srgbClr val="BBC9E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7265835" y="2447925"/>
            <a:ext cx="76200" cy="76200"/>
          </a:xfrm>
          <a:prstGeom prst="ellipse">
            <a:avLst/>
          </a:prstGeom>
          <a:solidFill>
            <a:srgbClr val="A5B9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7752563" y="3770313"/>
            <a:ext cx="76200" cy="76200"/>
          </a:xfrm>
          <a:prstGeom prst="ellipse">
            <a:avLst/>
          </a:prstGeom>
          <a:solidFill>
            <a:srgbClr val="7C9DD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8586953" y="282575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5527523" y="4261485"/>
            <a:ext cx="76200" cy="76200"/>
          </a:xfrm>
          <a:prstGeom prst="ellipse">
            <a:avLst/>
          </a:prstGeom>
          <a:solidFill>
            <a:srgbClr val="E2E8F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6779108" y="3203575"/>
            <a:ext cx="76200" cy="76200"/>
          </a:xfrm>
          <a:prstGeom prst="ellipse">
            <a:avLst/>
          </a:prstGeom>
          <a:solidFill>
            <a:srgbClr val="C4D0E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4377538" y="391477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Alpha</a:t>
            </a:r>
            <a:endParaRPr lang="en-US" sz="1000" dirty="0"/>
          </a:p>
        </p:txBody>
      </p:sp>
      <p:sp>
        <p:nvSpPr>
          <p:cNvPr id="56" name="Text 54"/>
          <p:cNvSpPr/>
          <p:nvPr/>
        </p:nvSpPr>
        <p:spPr>
          <a:xfrm>
            <a:off x="5281460" y="2970213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Bravo</a:t>
            </a:r>
            <a:endParaRPr lang="en-US" sz="1000" dirty="0"/>
          </a:p>
        </p:txBody>
      </p:sp>
      <p:sp>
        <p:nvSpPr>
          <p:cNvPr id="57" name="Text 55"/>
          <p:cNvSpPr/>
          <p:nvPr/>
        </p:nvSpPr>
        <p:spPr>
          <a:xfrm>
            <a:off x="6324448" y="3461385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Core</a:t>
            </a:r>
            <a:endParaRPr lang="en-US" sz="1000" dirty="0"/>
          </a:p>
        </p:txBody>
      </p:sp>
      <p:sp>
        <p:nvSpPr>
          <p:cNvPr id="58" name="Text 56"/>
          <p:cNvSpPr/>
          <p:nvPr/>
        </p:nvSpPr>
        <p:spPr>
          <a:xfrm>
            <a:off x="7367435" y="240347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Delta</a:t>
            </a:r>
            <a:endParaRPr lang="en-US" sz="1000" dirty="0"/>
          </a:p>
        </p:txBody>
      </p:sp>
      <p:sp>
        <p:nvSpPr>
          <p:cNvPr id="59" name="Text 57"/>
          <p:cNvSpPr/>
          <p:nvPr/>
        </p:nvSpPr>
        <p:spPr>
          <a:xfrm>
            <a:off x="7854163" y="3725863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Echo</a:t>
            </a:r>
            <a:endParaRPr lang="en-US" sz="1000" dirty="0"/>
          </a:p>
        </p:txBody>
      </p:sp>
      <p:sp>
        <p:nvSpPr>
          <p:cNvPr id="60" name="Text 58"/>
          <p:cNvSpPr/>
          <p:nvPr/>
        </p:nvSpPr>
        <p:spPr>
          <a:xfrm>
            <a:off x="8056093" y="2781300"/>
            <a:ext cx="5054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Foxtrot</a:t>
            </a:r>
            <a:endParaRPr lang="en-US" sz="1000" dirty="0"/>
          </a:p>
        </p:txBody>
      </p:sp>
      <p:sp>
        <p:nvSpPr>
          <p:cNvPr id="61" name="Text 59"/>
          <p:cNvSpPr/>
          <p:nvPr/>
        </p:nvSpPr>
        <p:spPr>
          <a:xfrm>
            <a:off x="5629123" y="4217035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Golf</a:t>
            </a:r>
            <a:endParaRPr lang="en-US" sz="1000" dirty="0"/>
          </a:p>
        </p:txBody>
      </p:sp>
      <p:sp>
        <p:nvSpPr>
          <p:cNvPr id="62" name="Text 60"/>
          <p:cNvSpPr/>
          <p:nvPr/>
        </p:nvSpPr>
        <p:spPr>
          <a:xfrm>
            <a:off x="6880708" y="315912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Hotel</a:t>
            </a:r>
            <a:endParaRPr lang="en-US" sz="1000" dirty="0"/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Smoothed line (Catmull-Rom)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4305300"/>
            <a:ext cx="539242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3505200"/>
            <a:ext cx="539242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2705100"/>
            <a:ext cx="539242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479648" y="1905000"/>
            <a:ext cx="539242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42164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3416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047848" y="26162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479648" y="5143500"/>
            <a:ext cx="77034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Jan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249993" y="5143500"/>
            <a:ext cx="77034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Feb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020339" y="5143500"/>
            <a:ext cx="77034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790685" y="5143500"/>
            <a:ext cx="77034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Apr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561030" y="5143500"/>
            <a:ext cx="77034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May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7331376" y="5143500"/>
            <a:ext cx="77034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Jun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8101722" y="5143500"/>
            <a:ext cx="77034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Jul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 flipV="1">
            <a:off x="3864820" y="4267331"/>
            <a:ext cx="26988" cy="37969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flipV="1">
            <a:off x="3891809" y="4217203"/>
            <a:ext cx="32443" cy="5012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 flipV="1">
            <a:off x="3924251" y="4156820"/>
            <a:ext cx="37332" cy="6038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flipV="1">
            <a:off x="3961584" y="4088085"/>
            <a:ext cx="41658" cy="6873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V="1">
            <a:off x="4003242" y="4012905"/>
            <a:ext cx="45420" cy="7518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flipV="1">
            <a:off x="4048662" y="3933183"/>
            <a:ext cx="48617" cy="7972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V="1">
            <a:off x="4097278" y="3850824"/>
            <a:ext cx="51250" cy="82359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V="1">
            <a:off x="4148528" y="3767733"/>
            <a:ext cx="53319" cy="8309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flipV="1">
            <a:off x="4201847" y="3685813"/>
            <a:ext cx="54823" cy="81919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flipV="1">
            <a:off x="4256670" y="3606971"/>
            <a:ext cx="55764" cy="7884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flipV="1">
            <a:off x="4312433" y="3533109"/>
            <a:ext cx="56140" cy="7386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 flipV="1">
            <a:off x="4368573" y="3466133"/>
            <a:ext cx="55952" cy="6697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flipV="1">
            <a:off x="4424525" y="3407947"/>
            <a:ext cx="55199" cy="5818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 flipV="1">
            <a:off x="4479724" y="3360455"/>
            <a:ext cx="53883" cy="4749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flipV="1">
            <a:off x="4533607" y="3325563"/>
            <a:ext cx="52002" cy="3489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 flipV="1">
            <a:off x="4585609" y="3305175"/>
            <a:ext cx="49557" cy="2038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 flipV="1">
            <a:off x="4635166" y="3301659"/>
            <a:ext cx="48147" cy="351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683313" y="3301659"/>
            <a:ext cx="48147" cy="1289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731459" y="3314551"/>
            <a:ext cx="48147" cy="2695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4779606" y="3341508"/>
            <a:ext cx="48147" cy="3867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827753" y="3380184"/>
            <a:ext cx="48147" cy="4805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4875899" y="3428237"/>
            <a:ext cx="48147" cy="5508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4924046" y="3483322"/>
            <a:ext cx="48147" cy="5977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972192" y="3543095"/>
            <a:ext cx="48147" cy="6211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020339" y="3605213"/>
            <a:ext cx="48147" cy="6211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5068486" y="3667330"/>
            <a:ext cx="48147" cy="5977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5116632" y="3727103"/>
            <a:ext cx="48147" cy="5508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5164779" y="3782188"/>
            <a:ext cx="48147" cy="4805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5212925" y="3830241"/>
            <a:ext cx="48147" cy="3867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5261072" y="3868917"/>
            <a:ext cx="48147" cy="2695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5309219" y="3895874"/>
            <a:ext cx="48147" cy="1289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 flipV="1">
            <a:off x="5357365" y="3905250"/>
            <a:ext cx="48147" cy="351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 flipV="1">
            <a:off x="5405512" y="3883763"/>
            <a:ext cx="48147" cy="2148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 flipV="1">
            <a:off x="5453658" y="3845868"/>
            <a:ext cx="48147" cy="3789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 flipV="1">
            <a:off x="5501805" y="3793908"/>
            <a:ext cx="48147" cy="5196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 flipV="1">
            <a:off x="5549952" y="3730228"/>
            <a:ext cx="48147" cy="6368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 flipV="1">
            <a:off x="5598098" y="3657172"/>
            <a:ext cx="48147" cy="7305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 flipV="1">
            <a:off x="5646245" y="3577084"/>
            <a:ext cx="48147" cy="8008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 flipV="1">
            <a:off x="5694392" y="3492308"/>
            <a:ext cx="48147" cy="8477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 flipV="1">
            <a:off x="5742538" y="3405188"/>
            <a:ext cx="48147" cy="8712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 flipV="1">
            <a:off x="5790685" y="3318067"/>
            <a:ext cx="48147" cy="8712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 flipV="1">
            <a:off x="5838831" y="3233291"/>
            <a:ext cx="48147" cy="8477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 flipV="1">
            <a:off x="5886978" y="3153203"/>
            <a:ext cx="48147" cy="8008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 flipV="1">
            <a:off x="5935125" y="3080147"/>
            <a:ext cx="48147" cy="7305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 flipV="1">
            <a:off x="5983271" y="3016467"/>
            <a:ext cx="48147" cy="6368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 flipV="1">
            <a:off x="6031418" y="2964507"/>
            <a:ext cx="48147" cy="5196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 flipV="1">
            <a:off x="6079564" y="2926612"/>
            <a:ext cx="48147" cy="3789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 flipV="1">
            <a:off x="6127711" y="2905125"/>
            <a:ext cx="48147" cy="2148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 flipV="1">
            <a:off x="6175858" y="2901389"/>
            <a:ext cx="48147" cy="373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6224004" y="2901389"/>
            <a:ext cx="48147" cy="1229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6272151" y="2913681"/>
            <a:ext cx="48147" cy="2606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6320297" y="2939744"/>
            <a:ext cx="48147" cy="3757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6368444" y="2977322"/>
            <a:ext cx="48147" cy="4683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6416591" y="3024158"/>
            <a:ext cx="48147" cy="5384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6464737" y="3077998"/>
            <a:ext cx="48147" cy="5858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6512884" y="3136585"/>
            <a:ext cx="48147" cy="6107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6561030" y="3197662"/>
            <a:ext cx="48147" cy="6131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6609177" y="3258973"/>
            <a:ext cx="48147" cy="5929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6657324" y="3318263"/>
            <a:ext cx="48147" cy="5501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6705470" y="3373274"/>
            <a:ext cx="48147" cy="4847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6753617" y="3421752"/>
            <a:ext cx="48147" cy="3968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6801763" y="3461440"/>
            <a:ext cx="48147" cy="2864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6849910" y="3490081"/>
            <a:ext cx="48147" cy="15339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 flipV="1">
            <a:off x="6898057" y="3505200"/>
            <a:ext cx="48147" cy="22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 flipV="1">
            <a:off x="6946203" y="3488211"/>
            <a:ext cx="48147" cy="16989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 flipV="1">
            <a:off x="6994350" y="3456170"/>
            <a:ext cx="48147" cy="3204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 flipV="1">
            <a:off x="7042497" y="3411219"/>
            <a:ext cx="48147" cy="4495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 flipV="1">
            <a:off x="7090643" y="3355494"/>
            <a:ext cx="48147" cy="5572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 flipV="1">
            <a:off x="7138790" y="3291135"/>
            <a:ext cx="48147" cy="64359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 flipV="1">
            <a:off x="7186936" y="3220282"/>
            <a:ext cx="48147" cy="7085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 flipV="1">
            <a:off x="7235083" y="3145072"/>
            <a:ext cx="48147" cy="7521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 flipV="1">
            <a:off x="7283230" y="3067645"/>
            <a:ext cx="48147" cy="7742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 flipV="1">
            <a:off x="7331376" y="2990141"/>
            <a:ext cx="48147" cy="7750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 flipV="1">
            <a:off x="7379523" y="2914697"/>
            <a:ext cx="48147" cy="7544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 flipV="1">
            <a:off x="7427669" y="2843452"/>
            <a:ext cx="48147" cy="7124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 flipV="1">
            <a:off x="7475816" y="2778547"/>
            <a:ext cx="48147" cy="6490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 flipV="1">
            <a:off x="7523963" y="2722119"/>
            <a:ext cx="48147" cy="5642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 flipV="1">
            <a:off x="7572109" y="2676307"/>
            <a:ext cx="48147" cy="4581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 flipV="1">
            <a:off x="7620256" y="2643251"/>
            <a:ext cx="48147" cy="3305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 flipV="1">
            <a:off x="7668402" y="2625090"/>
            <a:ext cx="48147" cy="1816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 flipV="1">
            <a:off x="7716549" y="2621564"/>
            <a:ext cx="49557" cy="352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766106" y="2621564"/>
            <a:ext cx="52002" cy="844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818108" y="2630012"/>
            <a:ext cx="53883" cy="1895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871991" y="2648970"/>
            <a:ext cx="55199" cy="2800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927190" y="2676971"/>
            <a:ext cx="55952" cy="3558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983142" y="2712552"/>
            <a:ext cx="56140" cy="4169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8039282" y="2754247"/>
            <a:ext cx="55764" cy="4634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8095045" y="2800590"/>
            <a:ext cx="54823" cy="4952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8149868" y="2850118"/>
            <a:ext cx="53319" cy="5124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8203187" y="2901365"/>
            <a:ext cx="51250" cy="5150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254437" y="2952865"/>
            <a:ext cx="48617" cy="50289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8303054" y="3003155"/>
            <a:ext cx="45420" cy="4761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8348473" y="3050768"/>
            <a:ext cx="41658" cy="4347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8390131" y="3094240"/>
            <a:ext cx="37332" cy="3786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8427464" y="3132106"/>
            <a:ext cx="32443" cy="3079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8459906" y="3162901"/>
            <a:ext cx="26988" cy="22259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3834340" y="42748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4604686" y="3274695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5375032" y="387477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145378" y="2874645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915723" y="34747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7686069" y="259461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8456415" y="315468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 flipV="1">
            <a:off x="3864820" y="4495441"/>
            <a:ext cx="26988" cy="988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 flipV="1">
            <a:off x="3891809" y="4483447"/>
            <a:ext cx="32443" cy="1199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 flipV="1">
            <a:off x="3924251" y="4469578"/>
            <a:ext cx="37332" cy="1386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 flipV="1">
            <a:off x="3961584" y="4454069"/>
            <a:ext cx="41658" cy="1551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 flipV="1">
            <a:off x="4003242" y="4437152"/>
            <a:ext cx="45420" cy="1691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 flipV="1">
            <a:off x="4048662" y="4419064"/>
            <a:ext cx="48617" cy="1808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 flipV="1">
            <a:off x="4097278" y="4400038"/>
            <a:ext cx="51250" cy="1902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 flipV="1">
            <a:off x="4148528" y="4380309"/>
            <a:ext cx="53319" cy="1972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 flipV="1">
            <a:off x="4201847" y="4360112"/>
            <a:ext cx="54823" cy="2019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 flipV="1">
            <a:off x="4256670" y="4339679"/>
            <a:ext cx="55764" cy="2043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 flipV="1">
            <a:off x="4312433" y="4319247"/>
            <a:ext cx="56140" cy="2043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 flipV="1">
            <a:off x="4368573" y="4299049"/>
            <a:ext cx="55952" cy="2019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 flipV="1">
            <a:off x="4424525" y="4279320"/>
            <a:ext cx="55199" cy="1972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 flipV="1">
            <a:off x="4479724" y="4260294"/>
            <a:ext cx="53883" cy="1902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 flipV="1">
            <a:off x="4533607" y="4242206"/>
            <a:ext cx="52002" cy="1808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 flipV="1">
            <a:off x="4585609" y="4225290"/>
            <a:ext cx="49557" cy="1691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 flipV="1">
            <a:off x="4635166" y="4208603"/>
            <a:ext cx="48147" cy="16687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 flipV="1">
            <a:off x="4683313" y="4191184"/>
            <a:ext cx="48147" cy="1741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 flipV="1">
            <a:off x="4731459" y="4173238"/>
            <a:ext cx="48147" cy="17947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 flipV="1">
            <a:off x="4779606" y="4154969"/>
            <a:ext cx="48147" cy="1826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 flipV="1">
            <a:off x="4827753" y="4136583"/>
            <a:ext cx="48147" cy="1838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 flipV="1">
            <a:off x="4875899" y="4118284"/>
            <a:ext cx="48147" cy="1829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 flipV="1">
            <a:off x="4924046" y="4100279"/>
            <a:ext cx="48147" cy="1800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 flipV="1">
            <a:off x="4972192" y="4082772"/>
            <a:ext cx="48147" cy="17507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 flipV="1">
            <a:off x="5020339" y="4065968"/>
            <a:ext cx="48147" cy="1680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 flipV="1">
            <a:off x="5068486" y="4050073"/>
            <a:ext cx="48147" cy="1589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 flipV="1">
            <a:off x="5116632" y="4035291"/>
            <a:ext cx="48147" cy="1478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 flipV="1">
            <a:off x="5164779" y="4021827"/>
            <a:ext cx="48147" cy="1346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 flipV="1">
            <a:off x="5212925" y="4009887"/>
            <a:ext cx="48147" cy="1194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 flipV="1">
            <a:off x="5261072" y="3999676"/>
            <a:ext cx="48147" cy="1021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 flipV="1">
            <a:off x="5309219" y="3991398"/>
            <a:ext cx="48147" cy="8277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 flipV="1">
            <a:off x="5357365" y="3985260"/>
            <a:ext cx="48147" cy="613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 flipV="1">
            <a:off x="5405512" y="3982276"/>
            <a:ext cx="48147" cy="298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5453658" y="3982276"/>
            <a:ext cx="48147" cy="67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5501805" y="3982955"/>
            <a:ext cx="48147" cy="378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5549952" y="3986740"/>
            <a:ext cx="48147" cy="633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5598098" y="3993073"/>
            <a:ext cx="48147" cy="832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5646245" y="4001400"/>
            <a:ext cx="48147" cy="976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5694392" y="4011162"/>
            <a:ext cx="48147" cy="1064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742538" y="4021803"/>
            <a:ext cx="48147" cy="10963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790685" y="4032766"/>
            <a:ext cx="48147" cy="1072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838831" y="4043495"/>
            <a:ext cx="48147" cy="993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886978" y="4053433"/>
            <a:ext cx="48147" cy="859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935125" y="4062023"/>
            <a:ext cx="48147" cy="668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5983271" y="4068708"/>
            <a:ext cx="48147" cy="422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6031418" y="4072932"/>
            <a:ext cx="48147" cy="120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 flipV="1">
            <a:off x="6079564" y="4071770"/>
            <a:ext cx="48147" cy="236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 flipV="1">
            <a:off x="6127711" y="4065270"/>
            <a:ext cx="48147" cy="650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 flipV="1">
            <a:off x="6175858" y="4054561"/>
            <a:ext cx="48147" cy="1070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 flipV="1">
            <a:off x="6224004" y="4040228"/>
            <a:ext cx="48147" cy="14333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 flipV="1">
            <a:off x="6272151" y="4022711"/>
            <a:ext cx="48147" cy="17517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 flipV="1">
            <a:off x="6320297" y="4002450"/>
            <a:ext cx="48147" cy="2026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 flipV="1">
            <a:off x="6368444" y="3979883"/>
            <a:ext cx="48147" cy="2256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 flipV="1">
            <a:off x="6416591" y="3955452"/>
            <a:ext cx="48147" cy="2443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 flipV="1">
            <a:off x="6464737" y="3929594"/>
            <a:ext cx="48147" cy="2585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 flipV="1">
            <a:off x="6512884" y="3902750"/>
            <a:ext cx="48147" cy="2684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 flipV="1">
            <a:off x="6561030" y="3875359"/>
            <a:ext cx="48147" cy="2739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 flipV="1">
            <a:off x="6609177" y="3847860"/>
            <a:ext cx="48147" cy="2749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 flipV="1">
            <a:off x="6657324" y="3820694"/>
            <a:ext cx="48147" cy="2716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 flipV="1">
            <a:off x="6705470" y="3794299"/>
            <a:ext cx="48147" cy="2639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 flipV="1">
            <a:off x="6753617" y="3769115"/>
            <a:ext cx="48147" cy="2518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 flipV="1">
            <a:off x="6801763" y="3745582"/>
            <a:ext cx="48147" cy="23533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 flipV="1">
            <a:off x="6849910" y="3724138"/>
            <a:ext cx="48147" cy="21443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 flipV="1">
            <a:off x="6898057" y="3705225"/>
            <a:ext cx="48147" cy="18913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 flipV="1">
            <a:off x="6946203" y="3688841"/>
            <a:ext cx="48147" cy="1638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7" name="Shape 185"/>
          <p:cNvSpPr/>
          <p:nvPr/>
        </p:nvSpPr>
        <p:spPr>
          <a:xfrm flipV="1">
            <a:off x="6994350" y="3674479"/>
            <a:ext cx="48147" cy="1436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8" name="Shape 186"/>
          <p:cNvSpPr/>
          <p:nvPr/>
        </p:nvSpPr>
        <p:spPr>
          <a:xfrm flipV="1">
            <a:off x="7042497" y="3661816"/>
            <a:ext cx="48147" cy="12663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 flipV="1">
            <a:off x="7090643" y="3650531"/>
            <a:ext cx="48147" cy="1128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0" name="Shape 188"/>
          <p:cNvSpPr/>
          <p:nvPr/>
        </p:nvSpPr>
        <p:spPr>
          <a:xfrm flipV="1">
            <a:off x="7138790" y="3640300"/>
            <a:ext cx="48147" cy="1023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1" name="Shape 189"/>
          <p:cNvSpPr/>
          <p:nvPr/>
        </p:nvSpPr>
        <p:spPr>
          <a:xfrm flipV="1">
            <a:off x="7186936" y="3630802"/>
            <a:ext cx="48147" cy="949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 flipV="1">
            <a:off x="7235083" y="3621714"/>
            <a:ext cx="48147" cy="908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3" name="Shape 191"/>
          <p:cNvSpPr/>
          <p:nvPr/>
        </p:nvSpPr>
        <p:spPr>
          <a:xfrm flipV="1">
            <a:off x="7283230" y="3612713"/>
            <a:ext cx="48147" cy="900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4" name="Shape 192"/>
          <p:cNvSpPr/>
          <p:nvPr/>
        </p:nvSpPr>
        <p:spPr>
          <a:xfrm flipV="1">
            <a:off x="7331376" y="3603479"/>
            <a:ext cx="48147" cy="923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5" name="Shape 193"/>
          <p:cNvSpPr/>
          <p:nvPr/>
        </p:nvSpPr>
        <p:spPr>
          <a:xfrm flipV="1">
            <a:off x="7379523" y="3593688"/>
            <a:ext cx="48147" cy="979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6" name="Shape 194"/>
          <p:cNvSpPr/>
          <p:nvPr/>
        </p:nvSpPr>
        <p:spPr>
          <a:xfrm flipV="1">
            <a:off x="7427669" y="3583017"/>
            <a:ext cx="48147" cy="1067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7" name="Shape 195"/>
          <p:cNvSpPr/>
          <p:nvPr/>
        </p:nvSpPr>
        <p:spPr>
          <a:xfrm flipV="1">
            <a:off x="7475816" y="3571146"/>
            <a:ext cx="48147" cy="1187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 flipV="1">
            <a:off x="7523963" y="3557751"/>
            <a:ext cx="48147" cy="1339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9" name="Shape 197"/>
          <p:cNvSpPr/>
          <p:nvPr/>
        </p:nvSpPr>
        <p:spPr>
          <a:xfrm flipV="1">
            <a:off x="7572109" y="3542509"/>
            <a:ext cx="48147" cy="1524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0" name="Shape 198"/>
          <p:cNvSpPr/>
          <p:nvPr/>
        </p:nvSpPr>
        <p:spPr>
          <a:xfrm flipV="1">
            <a:off x="7620256" y="3525100"/>
            <a:ext cx="48147" cy="1740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1" name="Shape 199"/>
          <p:cNvSpPr/>
          <p:nvPr/>
        </p:nvSpPr>
        <p:spPr>
          <a:xfrm flipV="1">
            <a:off x="7668402" y="3505200"/>
            <a:ext cx="48147" cy="1990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2" name="Shape 200"/>
          <p:cNvSpPr/>
          <p:nvPr/>
        </p:nvSpPr>
        <p:spPr>
          <a:xfrm flipV="1">
            <a:off x="7716549" y="3482009"/>
            <a:ext cx="49557" cy="2319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3" name="Shape 201"/>
          <p:cNvSpPr/>
          <p:nvPr/>
        </p:nvSpPr>
        <p:spPr>
          <a:xfrm flipV="1">
            <a:off x="7766106" y="3455311"/>
            <a:ext cx="52002" cy="2669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 flipV="1">
            <a:off x="7818108" y="3425664"/>
            <a:ext cx="53883" cy="29647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5" name="Shape 203"/>
          <p:cNvSpPr/>
          <p:nvPr/>
        </p:nvSpPr>
        <p:spPr>
          <a:xfrm flipV="1">
            <a:off x="7871991" y="3393624"/>
            <a:ext cx="55199" cy="3204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6" name="Shape 204"/>
          <p:cNvSpPr/>
          <p:nvPr/>
        </p:nvSpPr>
        <p:spPr>
          <a:xfrm flipV="1">
            <a:off x="7927190" y="3359747"/>
            <a:ext cx="55952" cy="3387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7" name="Shape 205"/>
          <p:cNvSpPr/>
          <p:nvPr/>
        </p:nvSpPr>
        <p:spPr>
          <a:xfrm flipV="1">
            <a:off x="7983142" y="3324591"/>
            <a:ext cx="56140" cy="3515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8" name="Shape 206"/>
          <p:cNvSpPr/>
          <p:nvPr/>
        </p:nvSpPr>
        <p:spPr>
          <a:xfrm flipV="1">
            <a:off x="8039282" y="3288713"/>
            <a:ext cx="55764" cy="3587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9" name="Shape 207"/>
          <p:cNvSpPr/>
          <p:nvPr/>
        </p:nvSpPr>
        <p:spPr>
          <a:xfrm flipV="1">
            <a:off x="8095045" y="3252668"/>
            <a:ext cx="54823" cy="3604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 flipV="1">
            <a:off x="8149868" y="3217015"/>
            <a:ext cx="53319" cy="3565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1" name="Shape 209"/>
          <p:cNvSpPr/>
          <p:nvPr/>
        </p:nvSpPr>
        <p:spPr>
          <a:xfrm flipV="1">
            <a:off x="8203187" y="3182308"/>
            <a:ext cx="51250" cy="3470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2" name="Shape 210"/>
          <p:cNvSpPr/>
          <p:nvPr/>
        </p:nvSpPr>
        <p:spPr>
          <a:xfrm flipV="1">
            <a:off x="8254437" y="3149106"/>
            <a:ext cx="48617" cy="3320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3" name="Shape 211"/>
          <p:cNvSpPr/>
          <p:nvPr/>
        </p:nvSpPr>
        <p:spPr>
          <a:xfrm flipV="1">
            <a:off x="8303054" y="3117964"/>
            <a:ext cx="45420" cy="3114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4" name="Shape 212"/>
          <p:cNvSpPr/>
          <p:nvPr/>
        </p:nvSpPr>
        <p:spPr>
          <a:xfrm flipV="1">
            <a:off x="8348473" y="3089440"/>
            <a:ext cx="41658" cy="2852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5" name="Shape 213"/>
          <p:cNvSpPr/>
          <p:nvPr/>
        </p:nvSpPr>
        <p:spPr>
          <a:xfrm flipV="1">
            <a:off x="8390131" y="3064090"/>
            <a:ext cx="37332" cy="2535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6" name="Shape 214"/>
          <p:cNvSpPr/>
          <p:nvPr/>
        </p:nvSpPr>
        <p:spPr>
          <a:xfrm flipV="1">
            <a:off x="8427464" y="3042471"/>
            <a:ext cx="32443" cy="2161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7" name="Shape 215"/>
          <p:cNvSpPr/>
          <p:nvPr/>
        </p:nvSpPr>
        <p:spPr>
          <a:xfrm flipV="1">
            <a:off x="8459906" y="3025140"/>
            <a:ext cx="26988" cy="1733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8" name="Shape 216"/>
          <p:cNvSpPr/>
          <p:nvPr/>
        </p:nvSpPr>
        <p:spPr>
          <a:xfrm>
            <a:off x="3834340" y="447484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9" name="Shape 217"/>
          <p:cNvSpPr/>
          <p:nvPr/>
        </p:nvSpPr>
        <p:spPr>
          <a:xfrm>
            <a:off x="4604686" y="419481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0" name="Shape 218"/>
          <p:cNvSpPr/>
          <p:nvPr/>
        </p:nvSpPr>
        <p:spPr>
          <a:xfrm>
            <a:off x="5375032" y="395478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1" name="Shape 219"/>
          <p:cNvSpPr/>
          <p:nvPr/>
        </p:nvSpPr>
        <p:spPr>
          <a:xfrm>
            <a:off x="6145378" y="403479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2" name="Shape 220"/>
          <p:cNvSpPr/>
          <p:nvPr/>
        </p:nvSpPr>
        <p:spPr>
          <a:xfrm>
            <a:off x="6915723" y="367474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3" name="Shape 221"/>
          <p:cNvSpPr/>
          <p:nvPr/>
        </p:nvSpPr>
        <p:spPr>
          <a:xfrm>
            <a:off x="7686069" y="347472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4" name="Shape 222"/>
          <p:cNvSpPr/>
          <p:nvPr/>
        </p:nvSpPr>
        <p:spPr>
          <a:xfrm>
            <a:off x="8456415" y="299466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5" name="Shape 223"/>
          <p:cNvSpPr/>
          <p:nvPr/>
        </p:nvSpPr>
        <p:spPr>
          <a:xfrm>
            <a:off x="3479648" y="5105400"/>
            <a:ext cx="539242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26" name="Text 224"/>
          <p:cNvSpPr/>
          <p:nvPr/>
        </p:nvSpPr>
        <p:spPr>
          <a:xfrm>
            <a:off x="8922868" y="2939415"/>
            <a:ext cx="2209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</a:t>
            </a:r>
            <a:endParaRPr lang="en-US" sz="1000" dirty="0"/>
          </a:p>
        </p:txBody>
      </p:sp>
      <p:sp>
        <p:nvSpPr>
          <p:cNvPr id="227" name="Text 225"/>
          <p:cNvSpPr/>
          <p:nvPr/>
        </p:nvSpPr>
        <p:spPr>
          <a:xfrm>
            <a:off x="8922868" y="3110865"/>
            <a:ext cx="2209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</a:t>
            </a:r>
            <a:endParaRPr lang="en-US" sz="1000" dirty="0"/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Waterfall with grouping spacers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752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825723" y="5143500"/>
            <a:ext cx="752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8198" y="5143500"/>
            <a:ext cx="752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Price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330673" y="5143500"/>
            <a:ext cx="752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083148" y="5143500"/>
            <a:ext cx="752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835623" y="5143500"/>
            <a:ext cx="752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FX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588098" y="5143500"/>
            <a:ext cx="752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8340573" y="5143500"/>
            <a:ext cx="752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FY24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198660" y="3270504"/>
            <a:ext cx="501650" cy="183489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3122460" y="4092702"/>
            <a:ext cx="6540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86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700310" y="3270504"/>
            <a:ext cx="250825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4" name="Shape 12"/>
          <p:cNvSpPr/>
          <p:nvPr/>
        </p:nvSpPr>
        <p:spPr>
          <a:xfrm>
            <a:off x="3951135" y="2971800"/>
            <a:ext cx="501650" cy="29870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3874935" y="3025902"/>
            <a:ext cx="6540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+14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452785" y="2971800"/>
            <a:ext cx="250825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7" name="Shape 15"/>
          <p:cNvSpPr/>
          <p:nvPr/>
        </p:nvSpPr>
        <p:spPr>
          <a:xfrm>
            <a:off x="4703610" y="2779776"/>
            <a:ext cx="501650" cy="19202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Text 16"/>
          <p:cNvSpPr/>
          <p:nvPr/>
        </p:nvSpPr>
        <p:spPr>
          <a:xfrm>
            <a:off x="4627410" y="2780538"/>
            <a:ext cx="6540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+9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205260" y="2779776"/>
            <a:ext cx="250825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>
            <a:off x="5456085" y="2779776"/>
            <a:ext cx="50165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5957735" y="2779776"/>
            <a:ext cx="250825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>
            <a:off x="6208560" y="2779776"/>
            <a:ext cx="501650" cy="256032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23" name="Text 21"/>
          <p:cNvSpPr/>
          <p:nvPr/>
        </p:nvSpPr>
        <p:spPr>
          <a:xfrm>
            <a:off x="6132360" y="2812542"/>
            <a:ext cx="6540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-12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710210" y="3035808"/>
            <a:ext cx="250825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6961035" y="3035808"/>
            <a:ext cx="501650" cy="85344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26" name="Text 24"/>
          <p:cNvSpPr/>
          <p:nvPr/>
        </p:nvSpPr>
        <p:spPr>
          <a:xfrm>
            <a:off x="6884835" y="2851658"/>
            <a:ext cx="6540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-4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7462685" y="3121152"/>
            <a:ext cx="250825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8" name="Shape 26"/>
          <p:cNvSpPr/>
          <p:nvPr/>
        </p:nvSpPr>
        <p:spPr>
          <a:xfrm>
            <a:off x="7713510" y="3121152"/>
            <a:ext cx="50165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9" name="Shape 27"/>
          <p:cNvSpPr/>
          <p:nvPr/>
        </p:nvSpPr>
        <p:spPr>
          <a:xfrm>
            <a:off x="8215160" y="3121152"/>
            <a:ext cx="250825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30" name="Shape 28"/>
          <p:cNvSpPr/>
          <p:nvPr/>
        </p:nvSpPr>
        <p:spPr>
          <a:xfrm>
            <a:off x="8465985" y="3121152"/>
            <a:ext cx="501650" cy="1984248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31" name="Text 29"/>
          <p:cNvSpPr/>
          <p:nvPr/>
        </p:nvSpPr>
        <p:spPr>
          <a:xfrm>
            <a:off x="8389785" y="4018026"/>
            <a:ext cx="6540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93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3073248" y="5105400"/>
            <a:ext cx="6019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Gantt with auto-summary bars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409288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04488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962074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57274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7514861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210061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9067648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762848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047848" y="2019300"/>
            <a:ext cx="6096000" cy="439057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12" name="Text 10"/>
          <p:cNvSpPr/>
          <p:nvPr/>
        </p:nvSpPr>
        <p:spPr>
          <a:xfrm>
            <a:off x="3047848" y="2143579"/>
            <a:ext cx="609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Phase 1: Discovery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719845" y="2203269"/>
            <a:ext cx="1242229" cy="71120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14" name="Shape 12"/>
          <p:cNvSpPr/>
          <p:nvPr/>
        </p:nvSpPr>
        <p:spPr>
          <a:xfrm>
            <a:off x="4719845" y="2203269"/>
            <a:ext cx="0" cy="135128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962074" y="2203269"/>
            <a:ext cx="0" cy="135128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174848" y="2608036"/>
            <a:ext cx="11582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Research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409288" y="2471057"/>
            <a:ext cx="465836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719845" y="2614386"/>
            <a:ext cx="931672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Text 17"/>
          <p:cNvSpPr/>
          <p:nvPr/>
        </p:nvSpPr>
        <p:spPr>
          <a:xfrm>
            <a:off x="3174848" y="3072493"/>
            <a:ext cx="11582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Interviews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409288" y="2935514"/>
            <a:ext cx="465836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030402" y="3078843"/>
            <a:ext cx="931672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Shape 20"/>
          <p:cNvSpPr/>
          <p:nvPr/>
        </p:nvSpPr>
        <p:spPr>
          <a:xfrm>
            <a:off x="3047848" y="3412671"/>
            <a:ext cx="6096000" cy="439057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23" name="Text 21"/>
          <p:cNvSpPr/>
          <p:nvPr/>
        </p:nvSpPr>
        <p:spPr>
          <a:xfrm>
            <a:off x="3047848" y="3536950"/>
            <a:ext cx="609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Phase 2: Build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962074" y="3596640"/>
            <a:ext cx="2484459" cy="71120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25" name="Shape 23"/>
          <p:cNvSpPr/>
          <p:nvPr/>
        </p:nvSpPr>
        <p:spPr>
          <a:xfrm>
            <a:off x="5962074" y="3596640"/>
            <a:ext cx="0" cy="135128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446533" y="3596640"/>
            <a:ext cx="0" cy="135128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174848" y="4001407"/>
            <a:ext cx="11582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Backend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409288" y="3864429"/>
            <a:ext cx="465836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62074" y="4007757"/>
            <a:ext cx="1552787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Text 28"/>
          <p:cNvSpPr/>
          <p:nvPr/>
        </p:nvSpPr>
        <p:spPr>
          <a:xfrm>
            <a:off x="3174848" y="4465864"/>
            <a:ext cx="11582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Frontend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4409288" y="4328886"/>
            <a:ext cx="465836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583189" y="4472214"/>
            <a:ext cx="1552787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Text 31"/>
          <p:cNvSpPr/>
          <p:nvPr/>
        </p:nvSpPr>
        <p:spPr>
          <a:xfrm>
            <a:off x="3174848" y="4930321"/>
            <a:ext cx="11582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QA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4409288" y="4793343"/>
            <a:ext cx="465836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7825418" y="4936671"/>
            <a:ext cx="621115" cy="177800"/>
          </a:xfrm>
          <a:prstGeom prst="rect">
            <a:avLst/>
          </a:prstGeom>
          <a:solidFill>
            <a:srgbClr val="2A78D6"/>
          </a:solidFill>
          <a:ln/>
        </p:spPr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Notched boxplots (median CI)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42164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047848" y="3416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26162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479648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350781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221914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415214" y="3345180"/>
            <a:ext cx="0" cy="280035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15214" y="4085273"/>
            <a:ext cx="0" cy="220027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183662" y="334518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183662" y="430530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900653" y="3625215"/>
            <a:ext cx="1029123" cy="460058"/>
          </a:xfrm>
          <a:custGeom>
            <a:avLst/>
            <a:gdLst/>
            <a:ahLst/>
            <a:cxnLst/>
            <a:rect l="l" t="t" r="r" b="b"/>
            <a:pathLst>
              <a:path w="1029123" h="460058">
                <a:moveTo>
                  <a:pt x="0" y="0"/>
                </a:moveTo>
                <a:lnTo>
                  <a:pt x="1029123" y="0"/>
                </a:lnTo>
                <a:lnTo>
                  <a:pt x="1029123" y="11622"/>
                </a:lnTo>
                <a:lnTo>
                  <a:pt x="771843" y="240030"/>
                </a:lnTo>
                <a:lnTo>
                  <a:pt x="1029123" y="460058"/>
                </a:lnTo>
                <a:lnTo>
                  <a:pt x="1029123" y="460058"/>
                </a:lnTo>
                <a:lnTo>
                  <a:pt x="0" y="460058"/>
                </a:lnTo>
                <a:lnTo>
                  <a:pt x="0" y="460058"/>
                </a:lnTo>
                <a:lnTo>
                  <a:pt x="257281" y="240030"/>
                </a:lnTo>
                <a:lnTo>
                  <a:pt x="0" y="11622"/>
                </a:lnTo>
                <a:close/>
              </a:path>
            </a:pathLst>
          </a:cu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57933" y="3865245"/>
            <a:ext cx="514562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900653" y="3674745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6286348" y="2945130"/>
            <a:ext cx="0" cy="360045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286348" y="3845243"/>
            <a:ext cx="0" cy="14001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054795" y="294513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054795" y="398526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771786" y="3305175"/>
            <a:ext cx="1029123" cy="540068"/>
          </a:xfrm>
          <a:custGeom>
            <a:avLst/>
            <a:gdLst/>
            <a:ahLst/>
            <a:cxnLst/>
            <a:rect l="l" t="t" r="r" b="b"/>
            <a:pathLst>
              <a:path w="1029123" h="540068">
                <a:moveTo>
                  <a:pt x="0" y="0"/>
                </a:moveTo>
                <a:lnTo>
                  <a:pt x="1029123" y="0"/>
                </a:lnTo>
                <a:lnTo>
                  <a:pt x="1029123" y="51909"/>
                </a:lnTo>
                <a:lnTo>
                  <a:pt x="771843" y="320040"/>
                </a:lnTo>
                <a:lnTo>
                  <a:pt x="1029123" y="540068"/>
                </a:lnTo>
                <a:lnTo>
                  <a:pt x="1029123" y="540068"/>
                </a:lnTo>
                <a:lnTo>
                  <a:pt x="0" y="540068"/>
                </a:lnTo>
                <a:lnTo>
                  <a:pt x="0" y="540068"/>
                </a:lnTo>
                <a:lnTo>
                  <a:pt x="257281" y="320040"/>
                </a:lnTo>
                <a:lnTo>
                  <a:pt x="0" y="51909"/>
                </a:lnTo>
                <a:close/>
              </a:path>
            </a:pathLst>
          </a:cu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029067" y="3625215"/>
            <a:ext cx="514562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771786" y="3434715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8157481" y="1905000"/>
            <a:ext cx="0" cy="500063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157481" y="3285173"/>
            <a:ext cx="0" cy="220027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925928" y="190500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925928" y="350520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642919" y="2405063"/>
            <a:ext cx="1029123" cy="880110"/>
          </a:xfrm>
          <a:custGeom>
            <a:avLst/>
            <a:gdLst/>
            <a:ahLst/>
            <a:cxnLst/>
            <a:rect l="l" t="t" r="r" b="b"/>
            <a:pathLst>
              <a:path w="1029123" h="880110">
                <a:moveTo>
                  <a:pt x="0" y="0"/>
                </a:moveTo>
                <a:lnTo>
                  <a:pt x="1029123" y="0"/>
                </a:lnTo>
                <a:lnTo>
                  <a:pt x="1029123" y="103113"/>
                </a:lnTo>
                <a:lnTo>
                  <a:pt x="771842" y="540067"/>
                </a:lnTo>
                <a:lnTo>
                  <a:pt x="1029123" y="880110"/>
                </a:lnTo>
                <a:lnTo>
                  <a:pt x="1029123" y="880110"/>
                </a:lnTo>
                <a:lnTo>
                  <a:pt x="0" y="880110"/>
                </a:lnTo>
                <a:lnTo>
                  <a:pt x="0" y="880110"/>
                </a:lnTo>
                <a:lnTo>
                  <a:pt x="257281" y="540067"/>
                </a:lnTo>
                <a:lnTo>
                  <a:pt x="0" y="103113"/>
                </a:lnTo>
                <a:close/>
              </a:path>
            </a:pathLst>
          </a:cu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900200" y="2945130"/>
            <a:ext cx="514562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642919" y="2754630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27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Radar peer range + us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603114" y="3101340"/>
            <a:ext cx="985468" cy="1137920"/>
          </a:xfrm>
          <a:custGeom>
            <a:avLst/>
            <a:gdLst/>
            <a:ahLst/>
            <a:cxnLst/>
            <a:rect l="l" t="t" r="r" b="b"/>
            <a:pathLst>
              <a:path w="985468" h="1137920">
                <a:moveTo>
                  <a:pt x="492734" y="0"/>
                </a:moveTo>
                <a:lnTo>
                  <a:pt x="985468" y="284480"/>
                </a:lnTo>
                <a:lnTo>
                  <a:pt x="985468" y="853440"/>
                </a:lnTo>
                <a:lnTo>
                  <a:pt x="492734" y="1137920"/>
                </a:lnTo>
                <a:lnTo>
                  <a:pt x="0" y="853440"/>
                </a:lnTo>
                <a:lnTo>
                  <a:pt x="0" y="284480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133948" y="302514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2.0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5110380" y="2532380"/>
            <a:ext cx="1970935" cy="2275840"/>
          </a:xfrm>
          <a:custGeom>
            <a:avLst/>
            <a:gdLst/>
            <a:ahLst/>
            <a:cxnLst/>
            <a:rect l="l" t="t" r="r" b="b"/>
            <a:pathLst>
              <a:path w="1970935" h="2275840">
                <a:moveTo>
                  <a:pt x="985468" y="0"/>
                </a:moveTo>
                <a:lnTo>
                  <a:pt x="1970935" y="568960"/>
                </a:lnTo>
                <a:lnTo>
                  <a:pt x="1970935" y="1706880"/>
                </a:lnTo>
                <a:lnTo>
                  <a:pt x="985468" y="2275840"/>
                </a:lnTo>
                <a:lnTo>
                  <a:pt x="0" y="1706880"/>
                </a:lnTo>
                <a:lnTo>
                  <a:pt x="0" y="568960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133948" y="245618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4.0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4617646" y="1963420"/>
            <a:ext cx="2956403" cy="3413760"/>
          </a:xfrm>
          <a:custGeom>
            <a:avLst/>
            <a:gdLst/>
            <a:ahLst/>
            <a:cxnLst/>
            <a:rect l="l" t="t" r="r" b="b"/>
            <a:pathLst>
              <a:path w="2956403" h="3413760">
                <a:moveTo>
                  <a:pt x="1478201" y="0"/>
                </a:moveTo>
                <a:lnTo>
                  <a:pt x="2956403" y="853440"/>
                </a:lnTo>
                <a:lnTo>
                  <a:pt x="2956403" y="2560320"/>
                </a:lnTo>
                <a:lnTo>
                  <a:pt x="1478201" y="3413760"/>
                </a:lnTo>
                <a:lnTo>
                  <a:pt x="0" y="2560320"/>
                </a:lnTo>
                <a:lnTo>
                  <a:pt x="0" y="853440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133948" y="188722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6.0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6095848" y="2247900"/>
            <a:ext cx="0" cy="1422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796128" y="1993900"/>
            <a:ext cx="5994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Strategy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 flipV="1">
            <a:off x="6095848" y="29591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93673" y="2832100"/>
            <a:ext cx="3251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095848" y="36703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93673" y="4330700"/>
            <a:ext cx="4622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Talent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095848" y="3670300"/>
            <a:ext cx="0" cy="1422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830418" y="5168900"/>
            <a:ext cx="5308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Process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 flipV="1">
            <a:off x="4864013" y="36703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472902" y="4330700"/>
            <a:ext cx="3251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Tech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864013" y="29591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267162" y="2832100"/>
            <a:ext cx="5308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Culture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095848" y="2532380"/>
            <a:ext cx="985468" cy="853440"/>
          </a:xfrm>
          <a:custGeom>
            <a:avLst/>
            <a:gdLst/>
            <a:ahLst/>
            <a:cxnLst/>
            <a:rect l="l" t="t" r="r" b="b"/>
            <a:pathLst>
              <a:path w="985468" h="853440">
                <a:moveTo>
                  <a:pt x="0" y="568960"/>
                </a:moveTo>
                <a:lnTo>
                  <a:pt x="492734" y="853440"/>
                </a:lnTo>
                <a:lnTo>
                  <a:pt x="985468" y="568960"/>
                </a:lnTo>
                <a:lnTo>
                  <a:pt x="0" y="0"/>
                </a:lnTo>
                <a:close/>
              </a:path>
            </a:pathLst>
          </a:custGeom>
          <a:solidFill>
            <a:srgbClr val="52514E">
              <a:alpha val="16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6588581" y="3101340"/>
            <a:ext cx="492734" cy="1137920"/>
          </a:xfrm>
          <a:custGeom>
            <a:avLst/>
            <a:gdLst/>
            <a:ahLst/>
            <a:cxnLst/>
            <a:rect l="l" t="t" r="r" b="b"/>
            <a:pathLst>
              <a:path w="492734" h="1137920">
                <a:moveTo>
                  <a:pt x="0" y="284480"/>
                </a:moveTo>
                <a:lnTo>
                  <a:pt x="0" y="853440"/>
                </a:lnTo>
                <a:lnTo>
                  <a:pt x="492734" y="1137920"/>
                </a:lnTo>
                <a:lnTo>
                  <a:pt x="492734" y="0"/>
                </a:lnTo>
                <a:close/>
              </a:path>
            </a:pathLst>
          </a:custGeom>
          <a:solidFill>
            <a:srgbClr val="52514E">
              <a:alpha val="16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6095848" y="3954780"/>
            <a:ext cx="985468" cy="853440"/>
          </a:xfrm>
          <a:custGeom>
            <a:avLst/>
            <a:gdLst/>
            <a:ahLst/>
            <a:cxnLst/>
            <a:rect l="l" t="t" r="r" b="b"/>
            <a:pathLst>
              <a:path w="985468" h="853440">
                <a:moveTo>
                  <a:pt x="492734" y="0"/>
                </a:moveTo>
                <a:lnTo>
                  <a:pt x="0" y="568960"/>
                </a:lnTo>
                <a:lnTo>
                  <a:pt x="0" y="853440"/>
                </a:lnTo>
                <a:lnTo>
                  <a:pt x="985468" y="284480"/>
                </a:lnTo>
                <a:close/>
              </a:path>
            </a:pathLst>
          </a:custGeom>
          <a:solidFill>
            <a:srgbClr val="52514E">
              <a:alpha val="16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5110380" y="3954780"/>
            <a:ext cx="985468" cy="853440"/>
          </a:xfrm>
          <a:custGeom>
            <a:avLst/>
            <a:gdLst/>
            <a:ahLst/>
            <a:cxnLst/>
            <a:rect l="l" t="t" r="r" b="b"/>
            <a:pathLst>
              <a:path w="985468" h="853440">
                <a:moveTo>
                  <a:pt x="985468" y="568960"/>
                </a:moveTo>
                <a:lnTo>
                  <a:pt x="492734" y="0"/>
                </a:lnTo>
                <a:lnTo>
                  <a:pt x="0" y="284480"/>
                </a:lnTo>
                <a:lnTo>
                  <a:pt x="985468" y="853440"/>
                </a:lnTo>
                <a:close/>
              </a:path>
            </a:pathLst>
          </a:custGeom>
          <a:solidFill>
            <a:srgbClr val="52514E">
              <a:alpha val="16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5110380" y="3243580"/>
            <a:ext cx="492734" cy="995680"/>
          </a:xfrm>
          <a:custGeom>
            <a:avLst/>
            <a:gdLst/>
            <a:ahLst/>
            <a:cxnLst/>
            <a:rect l="l" t="t" r="r" b="b"/>
            <a:pathLst>
              <a:path w="492734" h="995680">
                <a:moveTo>
                  <a:pt x="492734" y="711200"/>
                </a:moveTo>
                <a:lnTo>
                  <a:pt x="492734" y="142240"/>
                </a:lnTo>
                <a:lnTo>
                  <a:pt x="246367" y="0"/>
                </a:lnTo>
                <a:lnTo>
                  <a:pt x="0" y="995680"/>
                </a:lnTo>
                <a:close/>
              </a:path>
            </a:pathLst>
          </a:custGeom>
          <a:solidFill>
            <a:srgbClr val="52514E">
              <a:alpha val="16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5356747" y="2532380"/>
            <a:ext cx="739101" cy="853440"/>
          </a:xfrm>
          <a:custGeom>
            <a:avLst/>
            <a:gdLst/>
            <a:ahLst/>
            <a:cxnLst/>
            <a:rect l="l" t="t" r="r" b="b"/>
            <a:pathLst>
              <a:path w="739101" h="853440">
                <a:moveTo>
                  <a:pt x="246367" y="853440"/>
                </a:moveTo>
                <a:lnTo>
                  <a:pt x="739101" y="568960"/>
                </a:lnTo>
                <a:lnTo>
                  <a:pt x="739101" y="0"/>
                </a:lnTo>
                <a:lnTo>
                  <a:pt x="0" y="711200"/>
                </a:lnTo>
                <a:close/>
              </a:path>
            </a:pathLst>
          </a:custGeom>
          <a:solidFill>
            <a:srgbClr val="52514E">
              <a:alpha val="16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5110380" y="2532380"/>
            <a:ext cx="1970935" cy="2275840"/>
          </a:xfrm>
          <a:custGeom>
            <a:avLst/>
            <a:gdLst/>
            <a:ahLst/>
            <a:cxnLst/>
            <a:rect l="l" t="t" r="r" b="b"/>
            <a:pathLst>
              <a:path w="1970935" h="2275840">
                <a:moveTo>
                  <a:pt x="985468" y="0"/>
                </a:moveTo>
                <a:lnTo>
                  <a:pt x="1970935" y="568960"/>
                </a:lnTo>
                <a:lnTo>
                  <a:pt x="1970935" y="1706880"/>
                </a:lnTo>
                <a:lnTo>
                  <a:pt x="985468" y="2275840"/>
                </a:lnTo>
                <a:lnTo>
                  <a:pt x="0" y="1706880"/>
                </a:lnTo>
                <a:lnTo>
                  <a:pt x="246367" y="711200"/>
                </a:lnTo>
                <a:close/>
              </a:path>
            </a:pathLst>
          </a:custGeom>
          <a:ln w="12700">
            <a:solidFill>
              <a:srgbClr val="52514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603114" y="3101340"/>
            <a:ext cx="985468" cy="1422400"/>
          </a:xfrm>
          <a:custGeom>
            <a:avLst/>
            <a:gdLst/>
            <a:ahLst/>
            <a:cxnLst/>
            <a:rect l="l" t="t" r="r" b="b"/>
            <a:pathLst>
              <a:path w="985468" h="1422400">
                <a:moveTo>
                  <a:pt x="492734" y="0"/>
                </a:moveTo>
                <a:lnTo>
                  <a:pt x="985468" y="284480"/>
                </a:lnTo>
                <a:lnTo>
                  <a:pt x="985468" y="853440"/>
                </a:lnTo>
                <a:lnTo>
                  <a:pt x="492734" y="1422400"/>
                </a:lnTo>
                <a:lnTo>
                  <a:pt x="0" y="853440"/>
                </a:lnTo>
                <a:lnTo>
                  <a:pt x="0" y="284480"/>
                </a:lnTo>
                <a:close/>
              </a:path>
            </a:pathLst>
          </a:custGeom>
          <a:ln w="12700">
            <a:solidFill>
              <a:srgbClr val="52514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864013" y="2816860"/>
            <a:ext cx="2217302" cy="1564640"/>
          </a:xfrm>
          <a:custGeom>
            <a:avLst/>
            <a:gdLst/>
            <a:ahLst/>
            <a:cxnLst/>
            <a:rect l="l" t="t" r="r" b="b"/>
            <a:pathLst>
              <a:path w="2217302" h="1564640">
                <a:moveTo>
                  <a:pt x="1231835" y="0"/>
                </a:moveTo>
                <a:lnTo>
                  <a:pt x="2217302" y="284480"/>
                </a:lnTo>
                <a:lnTo>
                  <a:pt x="2217302" y="1422400"/>
                </a:lnTo>
                <a:lnTo>
                  <a:pt x="1231835" y="1422400"/>
                </a:lnTo>
                <a:lnTo>
                  <a:pt x="0" y="1564640"/>
                </a:lnTo>
                <a:lnTo>
                  <a:pt x="246367" y="284480"/>
                </a:lnTo>
                <a:close/>
              </a:path>
            </a:pathLst>
          </a:custGeom>
          <a:solidFill>
            <a:srgbClr val="008300">
              <a:alpha val="18000"/>
            </a:srgbClr>
          </a:solidFill>
          <a:ln w="20320">
            <a:solidFill>
              <a:srgbClr val="00830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065368" y="2786380"/>
            <a:ext cx="60960" cy="60960"/>
          </a:xfrm>
          <a:prstGeom prst="ellipse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050835" y="3070860"/>
            <a:ext cx="60960" cy="60960"/>
          </a:xfrm>
          <a:prstGeom prst="ellipse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050835" y="4208780"/>
            <a:ext cx="60960" cy="60960"/>
          </a:xfrm>
          <a:prstGeom prst="ellipse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065368" y="4208780"/>
            <a:ext cx="60960" cy="60960"/>
          </a:xfrm>
          <a:prstGeom prst="ellipse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833533" y="4351020"/>
            <a:ext cx="60960" cy="60960"/>
          </a:xfrm>
          <a:prstGeom prst="ellipse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079900" y="3070860"/>
            <a:ext cx="60960" cy="60960"/>
          </a:xfrm>
          <a:prstGeom prst="ellipse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047848" y="1847850"/>
            <a:ext cx="88900" cy="88900"/>
          </a:xfrm>
          <a:prstGeom prst="rect">
            <a:avLst/>
          </a:prstGeom>
          <a:solidFill>
            <a:srgbClr val="52514E"/>
          </a:solidFill>
          <a:ln/>
        </p:spPr>
      </p:sp>
      <p:sp>
        <p:nvSpPr>
          <p:cNvPr id="37" name="Text 35"/>
          <p:cNvSpPr/>
          <p:nvPr/>
        </p:nvSpPr>
        <p:spPr>
          <a:xfrm>
            <a:off x="3174848" y="180340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Peer range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4013048" y="1847850"/>
            <a:ext cx="88900" cy="88900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39" name="Text 37"/>
          <p:cNvSpPr/>
          <p:nvPr/>
        </p:nvSpPr>
        <p:spPr>
          <a:xfrm>
            <a:off x="4140048" y="1803400"/>
            <a:ext cx="213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</a:t>
            </a:r>
            <a:endParaRPr lang="en-US" sz="1000" dirty="0"/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Long tail collapsed into Other (otherBucket)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7272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800448" y="5143500"/>
            <a:ext cx="17272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527648" y="5143500"/>
            <a:ext cx="17272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361114" y="4289213"/>
            <a:ext cx="1151467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310314" y="4602057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361114" y="3840311"/>
            <a:ext cx="1151467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310314" y="3969512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361114" y="3473027"/>
            <a:ext cx="1151467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310314" y="3561419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361114" y="3350599"/>
            <a:ext cx="1151467" cy="122428"/>
          </a:xfrm>
          <a:prstGeom prst="rect">
            <a:avLst/>
          </a:prstGeom>
          <a:solidFill>
            <a:srgbClr val="0083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361114" y="3166957"/>
            <a:ext cx="1151467" cy="183642"/>
          </a:xfrm>
          <a:prstGeom prst="rect">
            <a:avLst/>
          </a:prstGeom>
          <a:solidFill>
            <a:srgbClr val="4A3AA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310314" y="3163528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073248" y="2982807"/>
            <a:ext cx="17272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95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088314" y="4166785"/>
            <a:ext cx="1151467" cy="938615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037514" y="4540843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46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5088314" y="3636264"/>
            <a:ext cx="1151467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037514" y="3806275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088314" y="3289385"/>
            <a:ext cx="1151467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037514" y="3367574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5088314" y="3146552"/>
            <a:ext cx="1151467" cy="142833"/>
          </a:xfrm>
          <a:prstGeom prst="rect">
            <a:avLst/>
          </a:prstGeom>
          <a:solidFill>
            <a:srgbClr val="0083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088314" y="2922101"/>
            <a:ext cx="1151467" cy="224451"/>
          </a:xfrm>
          <a:prstGeom prst="rect">
            <a:avLst/>
          </a:prstGeom>
          <a:solidFill>
            <a:srgbClr val="4A3AA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037514" y="2939076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800448" y="2737951"/>
            <a:ext cx="17272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107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6815514" y="4044357"/>
            <a:ext cx="1151467" cy="106104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64714" y="4479629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815514" y="3411813"/>
            <a:ext cx="1151467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764714" y="3632835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815514" y="3024124"/>
            <a:ext cx="1151467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764714" y="3122718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6815514" y="2860887"/>
            <a:ext cx="1151467" cy="163237"/>
          </a:xfrm>
          <a:prstGeom prst="rect">
            <a:avLst/>
          </a:prstGeom>
          <a:solidFill>
            <a:srgbClr val="0083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764714" y="2847255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815514" y="2616031"/>
            <a:ext cx="1151467" cy="244856"/>
          </a:xfrm>
          <a:prstGeom prst="rect">
            <a:avLst/>
          </a:prstGeom>
          <a:solidFill>
            <a:srgbClr val="4A3AA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764714" y="2643209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527648" y="2431881"/>
            <a:ext cx="17272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122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8305648" y="2652734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8305648" y="2856780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Gov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8305648" y="3132243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8305648" y="3642360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8305648" y="4489154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Calendar heatmap (daily commits)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2006600"/>
            <a:ext cx="241300" cy="435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Mon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3047848" y="2877457"/>
            <a:ext cx="241300" cy="435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Wed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3047848" y="3748314"/>
            <a:ext cx="241300" cy="435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Fri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3047848" y="4619171"/>
            <a:ext cx="241300" cy="435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Sun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3327248" y="1803400"/>
            <a:ext cx="217714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Jan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068962" y="1803400"/>
            <a:ext cx="217714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Feb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3327248" y="2006600"/>
            <a:ext cx="416379" cy="416379"/>
          </a:xfrm>
          <a:prstGeom prst="rect">
            <a:avLst/>
          </a:prstGeom>
          <a:solidFill>
            <a:srgbClr val="CFD8F1"/>
          </a:solidFill>
          <a:ln/>
        </p:spPr>
      </p:sp>
      <p:sp>
        <p:nvSpPr>
          <p:cNvPr id="10" name="Shape 8"/>
          <p:cNvSpPr/>
          <p:nvPr/>
        </p:nvSpPr>
        <p:spPr>
          <a:xfrm>
            <a:off x="3327248" y="2442029"/>
            <a:ext cx="416379" cy="416379"/>
          </a:xfrm>
          <a:prstGeom prst="rect">
            <a:avLst/>
          </a:prstGeom>
          <a:solidFill>
            <a:srgbClr val="B3C3E9"/>
          </a:solidFill>
          <a:ln/>
        </p:spPr>
      </p:sp>
      <p:sp>
        <p:nvSpPr>
          <p:cNvPr id="11" name="Shape 9"/>
          <p:cNvSpPr/>
          <p:nvPr/>
        </p:nvSpPr>
        <p:spPr>
          <a:xfrm>
            <a:off x="3327248" y="2877457"/>
            <a:ext cx="416379" cy="416379"/>
          </a:xfrm>
          <a:prstGeom prst="rect">
            <a:avLst/>
          </a:prstGeom>
          <a:solidFill>
            <a:srgbClr val="DBE2F4"/>
          </a:solidFill>
          <a:ln/>
        </p:spPr>
      </p:sp>
      <p:sp>
        <p:nvSpPr>
          <p:cNvPr id="12" name="Shape 10"/>
          <p:cNvSpPr/>
          <p:nvPr/>
        </p:nvSpPr>
        <p:spPr>
          <a:xfrm>
            <a:off x="3327248" y="3312886"/>
            <a:ext cx="416379" cy="416379"/>
          </a:xfrm>
          <a:prstGeom prst="rect">
            <a:avLst/>
          </a:prstGeom>
          <a:solidFill>
            <a:srgbClr val="7A9CDE"/>
          </a:solidFill>
          <a:ln/>
        </p:spPr>
      </p:sp>
      <p:sp>
        <p:nvSpPr>
          <p:cNvPr id="13" name="Shape 11"/>
          <p:cNvSpPr/>
          <p:nvPr/>
        </p:nvSpPr>
        <p:spPr>
          <a:xfrm>
            <a:off x="3327248" y="3748314"/>
            <a:ext cx="416379" cy="416379"/>
          </a:xfrm>
          <a:prstGeom prst="rect">
            <a:avLst/>
          </a:prstGeom>
          <a:solidFill>
            <a:srgbClr val="C2CEED"/>
          </a:solidFill>
          <a:ln/>
        </p:spPr>
      </p:sp>
      <p:sp>
        <p:nvSpPr>
          <p:cNvPr id="14" name="Shape 12"/>
          <p:cNvSpPr/>
          <p:nvPr/>
        </p:nvSpPr>
        <p:spPr>
          <a:xfrm>
            <a:off x="3327248" y="4183743"/>
            <a:ext cx="416379" cy="416379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15" name="Shape 13"/>
          <p:cNvSpPr/>
          <p:nvPr/>
        </p:nvSpPr>
        <p:spPr>
          <a:xfrm>
            <a:off x="3327248" y="4619171"/>
            <a:ext cx="416379" cy="416379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16" name="Shape 14"/>
          <p:cNvSpPr/>
          <p:nvPr/>
        </p:nvSpPr>
        <p:spPr>
          <a:xfrm>
            <a:off x="3762676" y="2006600"/>
            <a:ext cx="416379" cy="416379"/>
          </a:xfrm>
          <a:prstGeom prst="rect">
            <a:avLst/>
          </a:prstGeom>
          <a:solidFill>
            <a:srgbClr val="A3B7E6"/>
          </a:solidFill>
          <a:ln/>
        </p:spPr>
      </p:sp>
      <p:sp>
        <p:nvSpPr>
          <p:cNvPr id="17" name="Shape 15"/>
          <p:cNvSpPr/>
          <p:nvPr/>
        </p:nvSpPr>
        <p:spPr>
          <a:xfrm>
            <a:off x="3762676" y="2442029"/>
            <a:ext cx="416379" cy="416379"/>
          </a:xfrm>
          <a:prstGeom prst="rect">
            <a:avLst/>
          </a:prstGeom>
          <a:solidFill>
            <a:srgbClr val="E6EBF8"/>
          </a:solidFill>
          <a:ln/>
        </p:spPr>
      </p:sp>
      <p:sp>
        <p:nvSpPr>
          <p:cNvPr id="18" name="Shape 16"/>
          <p:cNvSpPr/>
          <p:nvPr/>
        </p:nvSpPr>
        <p:spPr>
          <a:xfrm>
            <a:off x="3762676" y="2877457"/>
            <a:ext cx="416379" cy="416379"/>
          </a:xfrm>
          <a:prstGeom prst="rect">
            <a:avLst/>
          </a:prstGeom>
          <a:solidFill>
            <a:srgbClr val="5D8BDA"/>
          </a:solidFill>
          <a:ln/>
        </p:spPr>
      </p:sp>
      <p:sp>
        <p:nvSpPr>
          <p:cNvPr id="19" name="Shape 17"/>
          <p:cNvSpPr/>
          <p:nvPr/>
        </p:nvSpPr>
        <p:spPr>
          <a:xfrm>
            <a:off x="3762676" y="3312886"/>
            <a:ext cx="416379" cy="416379"/>
          </a:xfrm>
          <a:prstGeom prst="rect">
            <a:avLst/>
          </a:prstGeom>
          <a:solidFill>
            <a:srgbClr val="90AAE2"/>
          </a:solidFill>
          <a:ln/>
        </p:spPr>
      </p:sp>
      <p:sp>
        <p:nvSpPr>
          <p:cNvPr id="20" name="Shape 18"/>
          <p:cNvSpPr/>
          <p:nvPr/>
        </p:nvSpPr>
        <p:spPr>
          <a:xfrm>
            <a:off x="3762676" y="3748314"/>
            <a:ext cx="416379" cy="416379"/>
          </a:xfrm>
          <a:prstGeom prst="rect">
            <a:avLst/>
          </a:prstGeom>
          <a:solidFill>
            <a:srgbClr val="CFD8F1"/>
          </a:solidFill>
          <a:ln/>
        </p:spPr>
      </p:sp>
      <p:sp>
        <p:nvSpPr>
          <p:cNvPr id="21" name="Shape 19"/>
          <p:cNvSpPr/>
          <p:nvPr/>
        </p:nvSpPr>
        <p:spPr>
          <a:xfrm>
            <a:off x="3762676" y="4183743"/>
            <a:ext cx="416379" cy="416379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22" name="Shape 20"/>
          <p:cNvSpPr/>
          <p:nvPr/>
        </p:nvSpPr>
        <p:spPr>
          <a:xfrm>
            <a:off x="3762676" y="4619171"/>
            <a:ext cx="416379" cy="416379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23" name="Shape 21"/>
          <p:cNvSpPr/>
          <p:nvPr/>
        </p:nvSpPr>
        <p:spPr>
          <a:xfrm>
            <a:off x="4198105" y="2006600"/>
            <a:ext cx="416379" cy="416379"/>
          </a:xfrm>
          <a:prstGeom prst="rect">
            <a:avLst/>
          </a:prstGeom>
          <a:solidFill>
            <a:srgbClr val="B3C3E9"/>
          </a:solidFill>
          <a:ln/>
        </p:spPr>
      </p:sp>
      <p:sp>
        <p:nvSpPr>
          <p:cNvPr id="24" name="Shape 22"/>
          <p:cNvSpPr/>
          <p:nvPr/>
        </p:nvSpPr>
        <p:spPr>
          <a:xfrm>
            <a:off x="4198105" y="2442029"/>
            <a:ext cx="416379" cy="416379"/>
          </a:xfrm>
          <a:prstGeom prst="rect">
            <a:avLst/>
          </a:prstGeom>
          <a:solidFill>
            <a:srgbClr val="7A9CDE"/>
          </a:solidFill>
          <a:ln/>
        </p:spPr>
      </p:sp>
      <p:sp>
        <p:nvSpPr>
          <p:cNvPr id="25" name="Shape 23"/>
          <p:cNvSpPr/>
          <p:nvPr/>
        </p:nvSpPr>
        <p:spPr>
          <a:xfrm>
            <a:off x="4198105" y="2877457"/>
            <a:ext cx="416379" cy="416379"/>
          </a:xfrm>
          <a:prstGeom prst="rect">
            <a:avLst/>
          </a:prstGeom>
          <a:solidFill>
            <a:srgbClr val="DBE2F4"/>
          </a:solidFill>
          <a:ln/>
        </p:spPr>
      </p:sp>
      <p:sp>
        <p:nvSpPr>
          <p:cNvPr id="26" name="Shape 24"/>
          <p:cNvSpPr/>
          <p:nvPr/>
        </p:nvSpPr>
        <p:spPr>
          <a:xfrm>
            <a:off x="4198105" y="3312886"/>
            <a:ext cx="416379" cy="416379"/>
          </a:xfrm>
          <a:prstGeom prst="rect">
            <a:avLst/>
          </a:prstGeom>
          <a:solidFill>
            <a:srgbClr val="C2CEED"/>
          </a:solidFill>
          <a:ln/>
        </p:spPr>
      </p:sp>
      <p:sp>
        <p:nvSpPr>
          <p:cNvPr id="27" name="Shape 25"/>
          <p:cNvSpPr/>
          <p:nvPr/>
        </p:nvSpPr>
        <p:spPr>
          <a:xfrm>
            <a:off x="4198105" y="3748314"/>
            <a:ext cx="416379" cy="416379"/>
          </a:xfrm>
          <a:prstGeom prst="rect">
            <a:avLst/>
          </a:prstGeom>
          <a:solidFill>
            <a:srgbClr val="A3B7E6"/>
          </a:solidFill>
          <a:ln/>
        </p:spPr>
      </p:sp>
      <p:sp>
        <p:nvSpPr>
          <p:cNvPr id="28" name="Shape 26"/>
          <p:cNvSpPr/>
          <p:nvPr/>
        </p:nvSpPr>
        <p:spPr>
          <a:xfrm>
            <a:off x="4198105" y="4183743"/>
            <a:ext cx="416379" cy="416379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29" name="Shape 27"/>
          <p:cNvSpPr/>
          <p:nvPr/>
        </p:nvSpPr>
        <p:spPr>
          <a:xfrm>
            <a:off x="4198105" y="4619171"/>
            <a:ext cx="416379" cy="416379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30" name="Shape 28"/>
          <p:cNvSpPr/>
          <p:nvPr/>
        </p:nvSpPr>
        <p:spPr>
          <a:xfrm>
            <a:off x="4633533" y="2006600"/>
            <a:ext cx="416379" cy="41637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Shape 29"/>
          <p:cNvSpPr/>
          <p:nvPr/>
        </p:nvSpPr>
        <p:spPr>
          <a:xfrm>
            <a:off x="4633533" y="2442029"/>
            <a:ext cx="416379" cy="416379"/>
          </a:xfrm>
          <a:prstGeom prst="rect">
            <a:avLst/>
          </a:prstGeom>
          <a:solidFill>
            <a:srgbClr val="CFD8F1"/>
          </a:solidFill>
          <a:ln/>
        </p:spPr>
      </p:sp>
      <p:sp>
        <p:nvSpPr>
          <p:cNvPr id="32" name="Shape 30"/>
          <p:cNvSpPr/>
          <p:nvPr/>
        </p:nvSpPr>
        <p:spPr>
          <a:xfrm>
            <a:off x="4633533" y="2877457"/>
            <a:ext cx="416379" cy="416379"/>
          </a:xfrm>
          <a:prstGeom prst="rect">
            <a:avLst/>
          </a:prstGeom>
          <a:solidFill>
            <a:srgbClr val="B3C3E9"/>
          </a:solidFill>
          <a:ln/>
        </p:spPr>
      </p:sp>
      <p:sp>
        <p:nvSpPr>
          <p:cNvPr id="33" name="Shape 31"/>
          <p:cNvSpPr/>
          <p:nvPr/>
        </p:nvSpPr>
        <p:spPr>
          <a:xfrm>
            <a:off x="4633533" y="3312886"/>
            <a:ext cx="416379" cy="416379"/>
          </a:xfrm>
          <a:prstGeom prst="rect">
            <a:avLst/>
          </a:prstGeom>
          <a:solidFill>
            <a:srgbClr val="90AAE2"/>
          </a:solidFill>
          <a:ln/>
        </p:spPr>
      </p:sp>
      <p:sp>
        <p:nvSpPr>
          <p:cNvPr id="34" name="Shape 32"/>
          <p:cNvSpPr/>
          <p:nvPr/>
        </p:nvSpPr>
        <p:spPr>
          <a:xfrm>
            <a:off x="4633533" y="3748314"/>
            <a:ext cx="416379" cy="416379"/>
          </a:xfrm>
          <a:prstGeom prst="rect">
            <a:avLst/>
          </a:prstGeom>
          <a:solidFill>
            <a:srgbClr val="DBE2F4"/>
          </a:solidFill>
          <a:ln/>
        </p:spPr>
      </p:sp>
      <p:sp>
        <p:nvSpPr>
          <p:cNvPr id="35" name="Shape 33"/>
          <p:cNvSpPr/>
          <p:nvPr/>
        </p:nvSpPr>
        <p:spPr>
          <a:xfrm>
            <a:off x="4633533" y="4183743"/>
            <a:ext cx="416379" cy="416379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36" name="Shape 34"/>
          <p:cNvSpPr/>
          <p:nvPr/>
        </p:nvSpPr>
        <p:spPr>
          <a:xfrm>
            <a:off x="4633533" y="4619171"/>
            <a:ext cx="416379" cy="416379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37" name="Shape 35"/>
          <p:cNvSpPr/>
          <p:nvPr/>
        </p:nvSpPr>
        <p:spPr>
          <a:xfrm>
            <a:off x="5068962" y="2006600"/>
            <a:ext cx="416379" cy="416379"/>
          </a:xfrm>
          <a:prstGeom prst="rect">
            <a:avLst/>
          </a:prstGeom>
          <a:solidFill>
            <a:srgbClr val="C2CEED"/>
          </a:solidFill>
          <a:ln/>
        </p:spPr>
      </p:sp>
      <p:sp>
        <p:nvSpPr>
          <p:cNvPr id="38" name="Shape 36"/>
          <p:cNvSpPr/>
          <p:nvPr/>
        </p:nvSpPr>
        <p:spPr>
          <a:xfrm>
            <a:off x="5068962" y="2442029"/>
            <a:ext cx="416379" cy="416379"/>
          </a:xfrm>
          <a:prstGeom prst="rect">
            <a:avLst/>
          </a:prstGeom>
          <a:solidFill>
            <a:srgbClr val="A3B7E6"/>
          </a:solidFill>
          <a:ln/>
        </p:spPr>
      </p:sp>
      <p:sp>
        <p:nvSpPr>
          <p:cNvPr id="39" name="Text 37"/>
          <p:cNvSpPr/>
          <p:nvPr/>
        </p:nvSpPr>
        <p:spPr>
          <a:xfrm>
            <a:off x="2946248" y="5118100"/>
            <a:ext cx="330200" cy="34834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Less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3327248" y="5118100"/>
            <a:ext cx="348343" cy="348343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41" name="Shape 39"/>
          <p:cNvSpPr/>
          <p:nvPr/>
        </p:nvSpPr>
        <p:spPr>
          <a:xfrm>
            <a:off x="3688290" y="5118100"/>
            <a:ext cx="348343" cy="348343"/>
          </a:xfrm>
          <a:prstGeom prst="rect">
            <a:avLst/>
          </a:prstGeom>
          <a:solidFill>
            <a:srgbClr val="E7ECF8"/>
          </a:solidFill>
          <a:ln/>
        </p:spPr>
      </p:sp>
      <p:sp>
        <p:nvSpPr>
          <p:cNvPr id="42" name="Shape 40"/>
          <p:cNvSpPr/>
          <p:nvPr/>
        </p:nvSpPr>
        <p:spPr>
          <a:xfrm>
            <a:off x="4049333" y="5118100"/>
            <a:ext cx="348343" cy="348343"/>
          </a:xfrm>
          <a:prstGeom prst="rect">
            <a:avLst/>
          </a:prstGeom>
          <a:solidFill>
            <a:srgbClr val="DDE4F5"/>
          </a:solidFill>
          <a:ln/>
        </p:spPr>
      </p:sp>
      <p:sp>
        <p:nvSpPr>
          <p:cNvPr id="43" name="Shape 41"/>
          <p:cNvSpPr/>
          <p:nvPr/>
        </p:nvSpPr>
        <p:spPr>
          <a:xfrm>
            <a:off x="4410376" y="5118100"/>
            <a:ext cx="348343" cy="348343"/>
          </a:xfrm>
          <a:prstGeom prst="rect">
            <a:avLst/>
          </a:prstGeom>
          <a:solidFill>
            <a:srgbClr val="D2DBF2"/>
          </a:solidFill>
          <a:ln/>
        </p:spPr>
      </p:sp>
      <p:sp>
        <p:nvSpPr>
          <p:cNvPr id="44" name="Shape 42"/>
          <p:cNvSpPr/>
          <p:nvPr/>
        </p:nvSpPr>
        <p:spPr>
          <a:xfrm>
            <a:off x="4771419" y="5118100"/>
            <a:ext cx="348343" cy="348343"/>
          </a:xfrm>
          <a:prstGeom prst="rect">
            <a:avLst/>
          </a:prstGeom>
          <a:solidFill>
            <a:srgbClr val="C7D2EE"/>
          </a:solidFill>
          <a:ln/>
        </p:spPr>
      </p:sp>
      <p:sp>
        <p:nvSpPr>
          <p:cNvPr id="45" name="Shape 43"/>
          <p:cNvSpPr/>
          <p:nvPr/>
        </p:nvSpPr>
        <p:spPr>
          <a:xfrm>
            <a:off x="5132462" y="5118100"/>
            <a:ext cx="348343" cy="348343"/>
          </a:xfrm>
          <a:prstGeom prst="rect">
            <a:avLst/>
          </a:prstGeom>
          <a:solidFill>
            <a:srgbClr val="BAC8EB"/>
          </a:solidFill>
          <a:ln/>
        </p:spPr>
      </p:sp>
      <p:sp>
        <p:nvSpPr>
          <p:cNvPr id="46" name="Shape 44"/>
          <p:cNvSpPr/>
          <p:nvPr/>
        </p:nvSpPr>
        <p:spPr>
          <a:xfrm>
            <a:off x="5493505" y="5118100"/>
            <a:ext cx="348343" cy="348343"/>
          </a:xfrm>
          <a:prstGeom prst="rect">
            <a:avLst/>
          </a:prstGeom>
          <a:solidFill>
            <a:srgbClr val="ACBEE8"/>
          </a:solidFill>
          <a:ln/>
        </p:spPr>
      </p:sp>
      <p:sp>
        <p:nvSpPr>
          <p:cNvPr id="47" name="Shape 45"/>
          <p:cNvSpPr/>
          <p:nvPr/>
        </p:nvSpPr>
        <p:spPr>
          <a:xfrm>
            <a:off x="5854548" y="5118100"/>
            <a:ext cx="348343" cy="348343"/>
          </a:xfrm>
          <a:prstGeom prst="rect">
            <a:avLst/>
          </a:prstGeom>
          <a:solidFill>
            <a:srgbClr val="9CB3E4"/>
          </a:solidFill>
          <a:ln/>
        </p:spPr>
      </p:sp>
      <p:sp>
        <p:nvSpPr>
          <p:cNvPr id="48" name="Shape 46"/>
          <p:cNvSpPr/>
          <p:nvPr/>
        </p:nvSpPr>
        <p:spPr>
          <a:xfrm>
            <a:off x="6215590" y="5118100"/>
            <a:ext cx="348343" cy="348343"/>
          </a:xfrm>
          <a:prstGeom prst="rect">
            <a:avLst/>
          </a:prstGeom>
          <a:solidFill>
            <a:srgbClr val="8BA6E1"/>
          </a:solidFill>
          <a:ln/>
        </p:spPr>
      </p:sp>
      <p:sp>
        <p:nvSpPr>
          <p:cNvPr id="49" name="Shape 47"/>
          <p:cNvSpPr/>
          <p:nvPr/>
        </p:nvSpPr>
        <p:spPr>
          <a:xfrm>
            <a:off x="6576633" y="5118100"/>
            <a:ext cx="348343" cy="348343"/>
          </a:xfrm>
          <a:prstGeom prst="rect">
            <a:avLst/>
          </a:prstGeom>
          <a:solidFill>
            <a:srgbClr val="7599DD"/>
          </a:solidFill>
          <a:ln/>
        </p:spPr>
      </p:sp>
      <p:sp>
        <p:nvSpPr>
          <p:cNvPr id="50" name="Shape 48"/>
          <p:cNvSpPr/>
          <p:nvPr/>
        </p:nvSpPr>
        <p:spPr>
          <a:xfrm>
            <a:off x="6937676" y="5118100"/>
            <a:ext cx="348343" cy="348343"/>
          </a:xfrm>
          <a:prstGeom prst="rect">
            <a:avLst/>
          </a:prstGeom>
          <a:solidFill>
            <a:srgbClr val="598ADA"/>
          </a:solidFill>
          <a:ln/>
        </p:spPr>
      </p:sp>
      <p:sp>
        <p:nvSpPr>
          <p:cNvPr id="51" name="Shape 49"/>
          <p:cNvSpPr/>
          <p:nvPr/>
        </p:nvSpPr>
        <p:spPr>
          <a:xfrm>
            <a:off x="7298719" y="5118100"/>
            <a:ext cx="348343" cy="34834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2" name="Text 50"/>
          <p:cNvSpPr/>
          <p:nvPr/>
        </p:nvSpPr>
        <p:spPr>
          <a:xfrm>
            <a:off x="7685162" y="5118100"/>
            <a:ext cx="381000" cy="34834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More</a:t>
            </a:r>
            <a:endParaRPr lang="en-US" sz="800" dirty="0"/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Butterfly with stacked flanks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18478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" name="Text 2"/>
          <p:cNvSpPr/>
          <p:nvPr/>
        </p:nvSpPr>
        <p:spPr>
          <a:xfrm>
            <a:off x="3606648" y="1803400"/>
            <a:ext cx="62484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Women FT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307688" y="18478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" name="Text 4"/>
          <p:cNvSpPr/>
          <p:nvPr/>
        </p:nvSpPr>
        <p:spPr>
          <a:xfrm>
            <a:off x="4434688" y="1803400"/>
            <a:ext cx="62484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Women PT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135728" y="184785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8" name="Text 6"/>
          <p:cNvSpPr/>
          <p:nvPr/>
        </p:nvSpPr>
        <p:spPr>
          <a:xfrm>
            <a:off x="5262728" y="1803400"/>
            <a:ext cx="48768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Men FT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826608" y="1847850"/>
            <a:ext cx="88900" cy="88900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10" name="Text 8"/>
          <p:cNvSpPr/>
          <p:nvPr/>
        </p:nvSpPr>
        <p:spPr>
          <a:xfrm>
            <a:off x="5953608" y="1803400"/>
            <a:ext cx="48768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Men PT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848198" y="226187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&lt;30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196846" y="2140373"/>
            <a:ext cx="651351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Text 11"/>
          <p:cNvSpPr/>
          <p:nvPr/>
        </p:nvSpPr>
        <p:spPr>
          <a:xfrm>
            <a:off x="5196846" y="2261870"/>
            <a:ext cx="65135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220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04709" y="2140373"/>
            <a:ext cx="592138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" name="Text 13"/>
          <p:cNvSpPr/>
          <p:nvPr/>
        </p:nvSpPr>
        <p:spPr>
          <a:xfrm>
            <a:off x="4604709" y="2261870"/>
            <a:ext cx="59213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343498" y="2140373"/>
            <a:ext cx="710565" cy="43349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7" name="Text 15"/>
          <p:cNvSpPr/>
          <p:nvPr/>
        </p:nvSpPr>
        <p:spPr>
          <a:xfrm>
            <a:off x="6343498" y="2261870"/>
            <a:ext cx="71056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240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7054063" y="2140373"/>
            <a:ext cx="414496" cy="433493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19" name="Text 17"/>
          <p:cNvSpPr/>
          <p:nvPr/>
        </p:nvSpPr>
        <p:spPr>
          <a:xfrm>
            <a:off x="7054063" y="2261870"/>
            <a:ext cx="41449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140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5848198" y="291211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30–39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841564" y="2790613"/>
            <a:ext cx="1006634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Text 20"/>
          <p:cNvSpPr/>
          <p:nvPr/>
        </p:nvSpPr>
        <p:spPr>
          <a:xfrm>
            <a:off x="4841564" y="2912110"/>
            <a:ext cx="100663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042178" y="2790613"/>
            <a:ext cx="799386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4" name="Text 22"/>
          <p:cNvSpPr/>
          <p:nvPr/>
        </p:nvSpPr>
        <p:spPr>
          <a:xfrm>
            <a:off x="4042178" y="2912110"/>
            <a:ext cx="79938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270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343498" y="2790613"/>
            <a:ext cx="1243489" cy="43349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6" name="Text 24"/>
          <p:cNvSpPr/>
          <p:nvPr/>
        </p:nvSpPr>
        <p:spPr>
          <a:xfrm>
            <a:off x="6343498" y="2912110"/>
            <a:ext cx="124348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420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7586986" y="2790613"/>
            <a:ext cx="680958" cy="433493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28" name="Text 26"/>
          <p:cNvSpPr/>
          <p:nvPr/>
        </p:nvSpPr>
        <p:spPr>
          <a:xfrm>
            <a:off x="7586986" y="2912110"/>
            <a:ext cx="68095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230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5848198" y="356235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40–49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959991" y="3440853"/>
            <a:ext cx="888206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Text 29"/>
          <p:cNvSpPr/>
          <p:nvPr/>
        </p:nvSpPr>
        <p:spPr>
          <a:xfrm>
            <a:off x="4959991" y="3562350"/>
            <a:ext cx="8882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300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249426" y="3440853"/>
            <a:ext cx="710565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33" name="Text 31"/>
          <p:cNvSpPr/>
          <p:nvPr/>
        </p:nvSpPr>
        <p:spPr>
          <a:xfrm>
            <a:off x="4249426" y="3562350"/>
            <a:ext cx="71056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240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343498" y="3440853"/>
            <a:ext cx="1184275" cy="43349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5" name="Text 33"/>
          <p:cNvSpPr/>
          <p:nvPr/>
        </p:nvSpPr>
        <p:spPr>
          <a:xfrm>
            <a:off x="6343498" y="3562350"/>
            <a:ext cx="118427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400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7527773" y="3440853"/>
            <a:ext cx="592138" cy="433493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37" name="Text 35"/>
          <p:cNvSpPr/>
          <p:nvPr/>
        </p:nvSpPr>
        <p:spPr>
          <a:xfrm>
            <a:off x="7527773" y="3562350"/>
            <a:ext cx="59213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5848198" y="421259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50–59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5315274" y="4091093"/>
            <a:ext cx="532924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0" name="Text 38"/>
          <p:cNvSpPr/>
          <p:nvPr/>
        </p:nvSpPr>
        <p:spPr>
          <a:xfrm>
            <a:off x="5315274" y="4212590"/>
            <a:ext cx="53292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180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4900778" y="4091093"/>
            <a:ext cx="414496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42" name="Text 40"/>
          <p:cNvSpPr/>
          <p:nvPr/>
        </p:nvSpPr>
        <p:spPr>
          <a:xfrm>
            <a:off x="4900778" y="4212590"/>
            <a:ext cx="41449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140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6343498" y="4091093"/>
            <a:ext cx="828992" cy="43349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44" name="Text 42"/>
          <p:cNvSpPr/>
          <p:nvPr/>
        </p:nvSpPr>
        <p:spPr>
          <a:xfrm>
            <a:off x="6343498" y="4212590"/>
            <a:ext cx="82899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280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7172490" y="4091093"/>
            <a:ext cx="384889" cy="433493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46" name="Text 44"/>
          <p:cNvSpPr/>
          <p:nvPr/>
        </p:nvSpPr>
        <p:spPr>
          <a:xfrm>
            <a:off x="7172490" y="4212590"/>
            <a:ext cx="38488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130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5848198" y="486283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60+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5670556" y="4741333"/>
            <a:ext cx="177641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5492915" y="4741333"/>
            <a:ext cx="177641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50" name="Shape 48"/>
          <p:cNvSpPr/>
          <p:nvPr/>
        </p:nvSpPr>
        <p:spPr>
          <a:xfrm>
            <a:off x="6343498" y="4741333"/>
            <a:ext cx="325676" cy="43349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51" name="Text 49"/>
          <p:cNvSpPr/>
          <p:nvPr/>
        </p:nvSpPr>
        <p:spPr>
          <a:xfrm>
            <a:off x="6343498" y="4862830"/>
            <a:ext cx="3256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110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>
            <a:off x="6669173" y="4741333"/>
            <a:ext cx="148034" cy="433493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53" name="Shape 51"/>
          <p:cNvSpPr/>
          <p:nvPr/>
        </p:nvSpPr>
        <p:spPr>
          <a:xfrm>
            <a:off x="5848198" y="20320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6343498" y="20320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Radar with per-spoke scales (mixed KPIs)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757652" y="3314700"/>
            <a:ext cx="676391" cy="643286"/>
          </a:xfrm>
          <a:custGeom>
            <a:avLst/>
            <a:gdLst/>
            <a:ahLst/>
            <a:cxnLst/>
            <a:rect l="l" t="t" r="r" b="b"/>
            <a:pathLst>
              <a:path w="676391" h="643286">
                <a:moveTo>
                  <a:pt x="338196" y="0"/>
                </a:moveTo>
                <a:lnTo>
                  <a:pt x="676391" y="245714"/>
                </a:lnTo>
                <a:lnTo>
                  <a:pt x="547212" y="643286"/>
                </a:lnTo>
                <a:lnTo>
                  <a:pt x="129179" y="643286"/>
                </a:lnTo>
                <a:lnTo>
                  <a:pt x="0" y="245714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19456" y="2959100"/>
            <a:ext cx="1352783" cy="1286573"/>
          </a:xfrm>
          <a:custGeom>
            <a:avLst/>
            <a:gdLst/>
            <a:ahLst/>
            <a:cxnLst/>
            <a:rect l="l" t="t" r="r" b="b"/>
            <a:pathLst>
              <a:path w="1352783" h="1286573">
                <a:moveTo>
                  <a:pt x="676391" y="0"/>
                </a:moveTo>
                <a:lnTo>
                  <a:pt x="1352783" y="491427"/>
                </a:lnTo>
                <a:lnTo>
                  <a:pt x="1094424" y="1286573"/>
                </a:lnTo>
                <a:lnTo>
                  <a:pt x="258359" y="1286573"/>
                </a:lnTo>
                <a:lnTo>
                  <a:pt x="0" y="491427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81261" y="2603500"/>
            <a:ext cx="2029174" cy="1929859"/>
          </a:xfrm>
          <a:custGeom>
            <a:avLst/>
            <a:gdLst/>
            <a:ahLst/>
            <a:cxnLst/>
            <a:rect l="l" t="t" r="r" b="b"/>
            <a:pathLst>
              <a:path w="2029174" h="1929859">
                <a:moveTo>
                  <a:pt x="1014587" y="0"/>
                </a:moveTo>
                <a:lnTo>
                  <a:pt x="2029174" y="737141"/>
                </a:lnTo>
                <a:lnTo>
                  <a:pt x="1641636" y="1929859"/>
                </a:lnTo>
                <a:lnTo>
                  <a:pt x="387538" y="1929859"/>
                </a:lnTo>
                <a:lnTo>
                  <a:pt x="0" y="737141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743065" y="2247900"/>
            <a:ext cx="2705566" cy="2573146"/>
          </a:xfrm>
          <a:custGeom>
            <a:avLst/>
            <a:gdLst/>
            <a:ahLst/>
            <a:cxnLst/>
            <a:rect l="l" t="t" r="r" b="b"/>
            <a:pathLst>
              <a:path w="2705566" h="2573146">
                <a:moveTo>
                  <a:pt x="1352783" y="0"/>
                </a:moveTo>
                <a:lnTo>
                  <a:pt x="2705566" y="982854"/>
                </a:lnTo>
                <a:lnTo>
                  <a:pt x="2188849" y="2573146"/>
                </a:lnTo>
                <a:lnTo>
                  <a:pt x="516717" y="2573146"/>
                </a:lnTo>
                <a:lnTo>
                  <a:pt x="0" y="982854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095848" y="2247900"/>
            <a:ext cx="0" cy="1422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727548" y="1993900"/>
            <a:ext cx="736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Revenue $m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 flipV="1">
            <a:off x="6095848" y="3230754"/>
            <a:ext cx="1352783" cy="439546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521101" y="3118307"/>
            <a:ext cx="2565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NPS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095848" y="3670300"/>
            <a:ext cx="836066" cy="1150746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976703" y="4793793"/>
            <a:ext cx="5308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Churn %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 flipV="1">
            <a:off x="5259782" y="3670300"/>
            <a:ext cx="836066" cy="1150746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46973" y="4793793"/>
            <a:ext cx="6680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Headcount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743065" y="3230754"/>
            <a:ext cx="1352783" cy="439546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071154" y="3118307"/>
            <a:ext cx="5994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Uptime %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749849" y="2569087"/>
            <a:ext cx="2379033" cy="2251959"/>
          </a:xfrm>
          <a:custGeom>
            <a:avLst/>
            <a:gdLst/>
            <a:ahLst/>
            <a:cxnLst/>
            <a:rect l="l" t="t" r="r" b="b"/>
            <a:pathLst>
              <a:path w="2379033" h="2251959">
                <a:moveTo>
                  <a:pt x="1345999" y="0"/>
                </a:moveTo>
                <a:lnTo>
                  <a:pt x="2379033" y="765560"/>
                </a:lnTo>
                <a:lnTo>
                  <a:pt x="2182064" y="2251959"/>
                </a:lnTo>
                <a:lnTo>
                  <a:pt x="652676" y="2055490"/>
                </a:lnTo>
                <a:lnTo>
                  <a:pt x="0" y="663871"/>
                </a:lnTo>
                <a:close/>
              </a:path>
            </a:pathLst>
          </a:custGeom>
          <a:solidFill>
            <a:srgbClr val="2A78D6">
              <a:alpha val="18000"/>
            </a:srgbClr>
          </a:solidFill>
          <a:ln w="20320">
            <a:solidFill>
              <a:srgbClr val="2A78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065368" y="2538607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098402" y="3304167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901433" y="4790566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2045" y="4594097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719369" y="3202479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743065" y="2247900"/>
            <a:ext cx="2705566" cy="2573146"/>
          </a:xfrm>
          <a:custGeom>
            <a:avLst/>
            <a:gdLst/>
            <a:ahLst/>
            <a:cxnLst/>
            <a:rect l="l" t="t" r="r" b="b"/>
            <a:pathLst>
              <a:path w="2705566" h="2573146">
                <a:moveTo>
                  <a:pt x="1352783" y="0"/>
                </a:moveTo>
                <a:lnTo>
                  <a:pt x="2705566" y="982854"/>
                </a:lnTo>
                <a:lnTo>
                  <a:pt x="1875324" y="2141616"/>
                </a:lnTo>
                <a:lnTo>
                  <a:pt x="516717" y="2573146"/>
                </a:lnTo>
                <a:lnTo>
                  <a:pt x="0" y="982854"/>
                </a:lnTo>
                <a:close/>
              </a:path>
            </a:pathLst>
          </a:custGeom>
          <a:solidFill>
            <a:srgbClr val="1BAF7A">
              <a:alpha val="18000"/>
            </a:srgbClr>
          </a:solidFill>
          <a:ln w="20320">
            <a:solidFill>
              <a:srgbClr val="1BAF7A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065368" y="221742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418150" y="3200274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587909" y="4359036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229302" y="4790566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712585" y="3200274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047848" y="18478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Text 28"/>
          <p:cNvSpPr/>
          <p:nvPr/>
        </p:nvSpPr>
        <p:spPr>
          <a:xfrm>
            <a:off x="3174848" y="1803400"/>
            <a:ext cx="3505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601568" y="18478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32" name="Text 30"/>
          <p:cNvSpPr/>
          <p:nvPr/>
        </p:nvSpPr>
        <p:spPr>
          <a:xfrm>
            <a:off x="3728568" y="1803400"/>
            <a:ext cx="3505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Missing-data bridge (bridgeGaps)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446532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382524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318516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479648" y="254508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79648" y="19050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437642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047848" y="373634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047848" y="309626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047848" y="245618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479648" y="5143500"/>
            <a:ext cx="83015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Jan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309804" y="5143500"/>
            <a:ext cx="83015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Feb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139961" y="5143500"/>
            <a:ext cx="83015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970118" y="5143500"/>
            <a:ext cx="83015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Apr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800274" y="5143500"/>
            <a:ext cx="83015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May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7630431" y="5143500"/>
            <a:ext cx="83015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Jun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864246" y="379476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 flipV="1">
            <a:off x="3894726" y="2865120"/>
            <a:ext cx="1660313" cy="96012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524559" y="283464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555039" y="2865120"/>
            <a:ext cx="1660313" cy="32004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184873" y="315468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V="1">
            <a:off x="7215353" y="2033016"/>
            <a:ext cx="830157" cy="115214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015029" y="2002536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479648" y="5105400"/>
            <a:ext cx="49809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511388" y="1947291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Signups</a:t>
            </a:r>
            <a:endParaRPr lang="en-US" sz="1000" dirty="0"/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Floating range columns (transparent base)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8112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54373" y="5143500"/>
            <a:ext cx="138112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835498" y="5143500"/>
            <a:ext cx="138112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216623" y="5143500"/>
            <a:ext cx="138112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303435" y="2705100"/>
            <a:ext cx="920750" cy="160020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52635" y="3409950"/>
            <a:ext cx="10223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684560" y="2545080"/>
            <a:ext cx="920750" cy="144018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633760" y="3169920"/>
            <a:ext cx="10223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065685" y="2225040"/>
            <a:ext cx="920750" cy="192024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014885" y="3089910"/>
            <a:ext cx="10223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7446810" y="2385060"/>
            <a:ext cx="920750" cy="128016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96010" y="2929890"/>
            <a:ext cx="10223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073248" y="5105400"/>
            <a:ext cx="55245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648548" y="2939415"/>
            <a:ext cx="4953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Range</a:t>
            </a:r>
            <a:endParaRPr lang="en-US" sz="1000" dirty="0"/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Combo: waterfall bridge + %-of-total line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Start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0765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0798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0831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0864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80897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End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40464" y="2971800"/>
            <a:ext cx="668867" cy="21336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Text 8"/>
          <p:cNvSpPr/>
          <p:nvPr/>
        </p:nvSpPr>
        <p:spPr>
          <a:xfrm>
            <a:off x="3164264" y="3943350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909331" y="2971800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2" name="Shape 10"/>
          <p:cNvSpPr/>
          <p:nvPr/>
        </p:nvSpPr>
        <p:spPr>
          <a:xfrm>
            <a:off x="4243764" y="2545080"/>
            <a:ext cx="668867" cy="4267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Text 11"/>
          <p:cNvSpPr/>
          <p:nvPr/>
        </p:nvSpPr>
        <p:spPr>
          <a:xfrm>
            <a:off x="4167564" y="2663190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+20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912631" y="2545080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5" name="Shape 13"/>
          <p:cNvSpPr/>
          <p:nvPr/>
        </p:nvSpPr>
        <p:spPr>
          <a:xfrm>
            <a:off x="5247064" y="2545080"/>
            <a:ext cx="668867" cy="320040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16" name="Text 14"/>
          <p:cNvSpPr/>
          <p:nvPr/>
        </p:nvSpPr>
        <p:spPr>
          <a:xfrm>
            <a:off x="5170864" y="2609850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915931" y="2865120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6250364" y="2331720"/>
            <a:ext cx="668867" cy="5334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Text 17"/>
          <p:cNvSpPr/>
          <p:nvPr/>
        </p:nvSpPr>
        <p:spPr>
          <a:xfrm>
            <a:off x="6174164" y="2503170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+25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919231" y="2331720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7253664" y="2331720"/>
            <a:ext cx="668867" cy="213360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22" name="Text 20"/>
          <p:cNvSpPr/>
          <p:nvPr/>
        </p:nvSpPr>
        <p:spPr>
          <a:xfrm>
            <a:off x="7177464" y="2343150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922531" y="2545080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8256964" y="2545080"/>
            <a:ext cx="668867" cy="2560320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25" name="Text 23"/>
          <p:cNvSpPr/>
          <p:nvPr/>
        </p:nvSpPr>
        <p:spPr>
          <a:xfrm>
            <a:off x="8180764" y="3729990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073248" y="5105400"/>
            <a:ext cx="6019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118448" y="50165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9118448" y="437642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9118448" y="373634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9118448" y="309626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9118448" y="245618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9118448" y="18161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3544418" y="251460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193898" y="233553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 flipV="1">
            <a:off x="3574898" y="2417064"/>
            <a:ext cx="1003300" cy="12801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547718" y="2386584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197198" y="2207514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4578198" y="2417064"/>
            <a:ext cx="1003300" cy="25603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551018" y="2642616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200498" y="2463546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 flipV="1">
            <a:off x="5581498" y="2289048"/>
            <a:ext cx="1003300" cy="38404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554318" y="2258568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203798" y="2079498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44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6584798" y="2289048"/>
            <a:ext cx="1003300" cy="19202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7557618" y="2450592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207098" y="2271522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41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 flipV="1">
            <a:off x="7588098" y="2353056"/>
            <a:ext cx="1003300" cy="12801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8560918" y="2322576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8210398" y="2143506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43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9143848" y="2149856"/>
            <a:ext cx="457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Margin %</a:t>
            </a:r>
            <a:endParaRPr lang="en-US" sz="1000" dirty="0"/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73248" y="3268980"/>
            <a:ext cx="1589741" cy="18364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047848" y="4091940"/>
            <a:ext cx="164054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3073248" y="2044700"/>
            <a:ext cx="1589741" cy="122428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047848" y="2561590"/>
            <a:ext cx="164054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3022448" y="1860550"/>
            <a:ext cx="1691341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688389" y="3137807"/>
            <a:ext cx="2225638" cy="196759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662989" y="4026354"/>
            <a:ext cx="227643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688389" y="2044700"/>
            <a:ext cx="2225638" cy="1093107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662989" y="2496004"/>
            <a:ext cx="227643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637589" y="1860550"/>
            <a:ext cx="232723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939426" y="3881120"/>
            <a:ext cx="1589741" cy="122428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914026" y="4398010"/>
            <a:ext cx="164054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939426" y="2044700"/>
            <a:ext cx="1589741" cy="183642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914026" y="2867660"/>
            <a:ext cx="164054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888626" y="1860550"/>
            <a:ext cx="1691341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Combo: Mekko base + overlaid line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3022448" y="5143500"/>
            <a:ext cx="1691341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 (29%)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637589" y="5143500"/>
            <a:ext cx="232723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 (41%)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888626" y="5143500"/>
            <a:ext cx="1691341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 (29%)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073248" y="5105400"/>
            <a:ext cx="545592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579968" y="2877185"/>
            <a:ext cx="5638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Prod B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8579968" y="4407535"/>
            <a:ext cx="5638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Prod A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8554568" y="50165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8554568" y="4251325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8554568" y="348615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8554568" y="2720975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8554568" y="19558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3837638" y="2702878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487118" y="2523808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62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 flipV="1">
            <a:off x="3868118" y="2427288"/>
            <a:ext cx="1933089" cy="306070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770728" y="2396808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420208" y="2217738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801208" y="2427288"/>
            <a:ext cx="1933089" cy="956469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7703817" y="3353276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353297" y="3174206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579968" y="3180556"/>
            <a:ext cx="5638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Share %</a:t>
            </a:r>
            <a:endParaRPr lang="en-US" sz="1000" dirty="0"/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Combo: independent line axes (mixed KPIs)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4683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20083" y="5143500"/>
            <a:ext cx="134683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Feb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766918" y="5143500"/>
            <a:ext cx="134683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113753" y="5143500"/>
            <a:ext cx="134683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Apr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97720" y="5041392"/>
            <a:ext cx="897890" cy="64008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644555" y="5028590"/>
            <a:ext cx="897890" cy="7681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991390" y="5033391"/>
            <a:ext cx="897890" cy="7200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38225" y="5009388"/>
            <a:ext cx="897890" cy="96012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073248" y="5105400"/>
            <a:ext cx="53873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511388" y="4933950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Revenue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716185" y="507492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365665" y="489585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 flipV="1">
            <a:off x="3746665" y="3505200"/>
            <a:ext cx="1346835" cy="160020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063020" y="347472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712500" y="329565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5093500" y="3505200"/>
            <a:ext cx="1346835" cy="32004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09855" y="379476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059335" y="361569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 flipV="1">
            <a:off x="6440335" y="2438400"/>
            <a:ext cx="1346835" cy="138684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756690" y="240792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406170" y="222885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8511388" y="2235200"/>
            <a:ext cx="6324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NPS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716185" y="5074920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365665" y="489585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DA1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1,200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 flipV="1">
            <a:off x="3746665" y="3905250"/>
            <a:ext cx="1346835" cy="1200150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063020" y="3874770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712500" y="369570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DA1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1,500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5093500" y="3905250"/>
            <a:ext cx="1346835" cy="400050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409855" y="4274820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059335" y="409575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DA1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1,400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 flipV="1">
            <a:off x="6440335" y="2305050"/>
            <a:ext cx="1346835" cy="2000250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756690" y="2274570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406170" y="209550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DA1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1,900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8511388" y="2032000"/>
            <a:ext cx="6324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Orders k</a:t>
            </a:r>
            <a:endParaRPr lang="en-US" sz="1000" dirty="0"/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Hexagonal tile map (US)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152384" y="1828800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122386" y="1828800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AK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427586" y="1828800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397588" y="1828800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7708240" y="2218398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678243" y="2218398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VT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8187804" y="2218398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157806" y="2218398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NH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8667368" y="2218398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DFE6F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637370" y="2283555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8637370" y="2442305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3631948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D8E0F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01950" y="2673153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601950" y="2831903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44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1512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081514" y="2607996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MT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591076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561078" y="2607996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ND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070639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040641" y="2607996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SD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550203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520205" y="2607996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MN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029767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999769" y="2607996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6509331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5EAF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479333" y="2673153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6479333" y="2831903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7468458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96AEE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438461" y="2673153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NY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7438461" y="2831903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88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7948022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918024" y="2607996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CT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8427586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397588" y="2607996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871730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841732" y="2997594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4351294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321296" y="2997594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4830857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800860" y="2997594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WY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5310421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280423" y="2997594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5789985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759987" y="2997594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IA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6269549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CFD9F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239551" y="3062751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IL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6239551" y="3221501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51</a:t>
            </a:r>
            <a:endParaRPr lang="en-US" sz="800" dirty="0"/>
          </a:p>
        </p:txBody>
      </p:sp>
      <p:sp>
        <p:nvSpPr>
          <p:cNvPr id="50" name="Shape 48"/>
          <p:cNvSpPr/>
          <p:nvPr/>
        </p:nvSpPr>
        <p:spPr>
          <a:xfrm>
            <a:off x="6749113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719115" y="2997594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>
            <a:off x="7228677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DDE4F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198679" y="3062751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OH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7198679" y="3221501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800" dirty="0"/>
          </a:p>
        </p:txBody>
      </p:sp>
      <p:sp>
        <p:nvSpPr>
          <p:cNvPr id="55" name="Shape 53"/>
          <p:cNvSpPr/>
          <p:nvPr/>
        </p:nvSpPr>
        <p:spPr>
          <a:xfrm>
            <a:off x="7708240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CAD5E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678243" y="3062751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</a:t>
            </a:r>
            <a:endParaRPr lang="en-US" sz="1000" dirty="0"/>
          </a:p>
        </p:txBody>
      </p:sp>
      <p:sp>
        <p:nvSpPr>
          <p:cNvPr id="57" name="Text 55"/>
          <p:cNvSpPr/>
          <p:nvPr/>
        </p:nvSpPr>
        <p:spPr>
          <a:xfrm>
            <a:off x="7678243" y="3221501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800" dirty="0"/>
          </a:p>
        </p:txBody>
      </p:sp>
      <p:sp>
        <p:nvSpPr>
          <p:cNvPr id="58" name="Shape 56"/>
          <p:cNvSpPr/>
          <p:nvPr/>
        </p:nvSpPr>
        <p:spPr>
          <a:xfrm>
            <a:off x="8187804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8157806" y="2997594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NJ</a:t>
            </a:r>
            <a:endParaRPr lang="en-US" sz="1000" dirty="0"/>
          </a:p>
        </p:txBody>
      </p:sp>
      <p:sp>
        <p:nvSpPr>
          <p:cNvPr id="60" name="Shape 58"/>
          <p:cNvSpPr/>
          <p:nvPr/>
        </p:nvSpPr>
        <p:spPr>
          <a:xfrm>
            <a:off x="3152384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3122386" y="3452349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</a:t>
            </a:r>
            <a:endParaRPr lang="en-US" sz="1000" dirty="0"/>
          </a:p>
        </p:txBody>
      </p:sp>
      <p:sp>
        <p:nvSpPr>
          <p:cNvPr id="62" name="Text 60"/>
          <p:cNvSpPr/>
          <p:nvPr/>
        </p:nvSpPr>
        <p:spPr>
          <a:xfrm>
            <a:off x="3122386" y="3611099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800" dirty="0"/>
          </a:p>
        </p:txBody>
      </p:sp>
      <p:sp>
        <p:nvSpPr>
          <p:cNvPr id="63" name="Shape 61"/>
          <p:cNvSpPr/>
          <p:nvPr/>
        </p:nvSpPr>
        <p:spPr>
          <a:xfrm>
            <a:off x="3631948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3601950" y="3387192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NV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4111512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4081514" y="3387192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UT</a:t>
            </a:r>
            <a:endParaRPr lang="en-US" sz="1000" dirty="0"/>
          </a:p>
        </p:txBody>
      </p:sp>
      <p:sp>
        <p:nvSpPr>
          <p:cNvPr id="67" name="Shape 65"/>
          <p:cNvSpPr/>
          <p:nvPr/>
        </p:nvSpPr>
        <p:spPr>
          <a:xfrm>
            <a:off x="4591076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9EEF9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4561078" y="3452349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</a:t>
            </a:r>
            <a:endParaRPr lang="en-US" sz="1000" dirty="0"/>
          </a:p>
        </p:txBody>
      </p:sp>
      <p:sp>
        <p:nvSpPr>
          <p:cNvPr id="69" name="Text 67"/>
          <p:cNvSpPr/>
          <p:nvPr/>
        </p:nvSpPr>
        <p:spPr>
          <a:xfrm>
            <a:off x="4561078" y="3611099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29</a:t>
            </a:r>
            <a:endParaRPr lang="en-US" sz="800" dirty="0"/>
          </a:p>
        </p:txBody>
      </p:sp>
      <p:sp>
        <p:nvSpPr>
          <p:cNvPr id="70" name="Shape 68"/>
          <p:cNvSpPr/>
          <p:nvPr/>
        </p:nvSpPr>
        <p:spPr>
          <a:xfrm>
            <a:off x="5070639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5040641" y="3387192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KS</a:t>
            </a:r>
            <a:endParaRPr lang="en-US" sz="1000" dirty="0"/>
          </a:p>
        </p:txBody>
      </p:sp>
      <p:sp>
        <p:nvSpPr>
          <p:cNvPr id="72" name="Shape 70"/>
          <p:cNvSpPr/>
          <p:nvPr/>
        </p:nvSpPr>
        <p:spPr>
          <a:xfrm>
            <a:off x="5550203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5520205" y="3387192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</a:t>
            </a:r>
            <a:endParaRPr lang="en-US" sz="1000" dirty="0"/>
          </a:p>
        </p:txBody>
      </p:sp>
      <p:sp>
        <p:nvSpPr>
          <p:cNvPr id="74" name="Shape 72"/>
          <p:cNvSpPr/>
          <p:nvPr/>
        </p:nvSpPr>
        <p:spPr>
          <a:xfrm>
            <a:off x="6029767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5999769" y="3387192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KY</a:t>
            </a:r>
            <a:endParaRPr lang="en-US" sz="1000" dirty="0"/>
          </a:p>
        </p:txBody>
      </p:sp>
      <p:sp>
        <p:nvSpPr>
          <p:cNvPr id="76" name="Shape 74"/>
          <p:cNvSpPr/>
          <p:nvPr/>
        </p:nvSpPr>
        <p:spPr>
          <a:xfrm>
            <a:off x="6509331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6479333" y="3387192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WV</a:t>
            </a:r>
            <a:endParaRPr lang="en-US" sz="1000" dirty="0"/>
          </a:p>
        </p:txBody>
      </p:sp>
      <p:sp>
        <p:nvSpPr>
          <p:cNvPr id="78" name="Shape 76"/>
          <p:cNvSpPr/>
          <p:nvPr/>
        </p:nvSpPr>
        <p:spPr>
          <a:xfrm>
            <a:off x="6988895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6958897" y="3387192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DC</a:t>
            </a:r>
            <a:endParaRPr lang="en-US" sz="1000" dirty="0"/>
          </a:p>
        </p:txBody>
      </p:sp>
      <p:sp>
        <p:nvSpPr>
          <p:cNvPr id="80" name="Shape 78"/>
          <p:cNvSpPr/>
          <p:nvPr/>
        </p:nvSpPr>
        <p:spPr>
          <a:xfrm>
            <a:off x="7468458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7438461" y="3387192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MD</a:t>
            </a:r>
            <a:endParaRPr lang="en-US" sz="1000" dirty="0"/>
          </a:p>
        </p:txBody>
      </p:sp>
      <p:sp>
        <p:nvSpPr>
          <p:cNvPr id="82" name="Shape 80"/>
          <p:cNvSpPr/>
          <p:nvPr/>
        </p:nvSpPr>
        <p:spPr>
          <a:xfrm>
            <a:off x="7948022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7918024" y="3387192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</a:t>
            </a:r>
            <a:endParaRPr lang="en-US" sz="1000" dirty="0"/>
          </a:p>
        </p:txBody>
      </p:sp>
      <p:sp>
        <p:nvSpPr>
          <p:cNvPr id="84" name="Shape 82"/>
          <p:cNvSpPr/>
          <p:nvPr/>
        </p:nvSpPr>
        <p:spPr>
          <a:xfrm>
            <a:off x="4351294" y="3776790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EF1F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4321296" y="3841947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AZ</a:t>
            </a:r>
            <a:endParaRPr lang="en-US" sz="1000" dirty="0"/>
          </a:p>
        </p:txBody>
      </p:sp>
      <p:sp>
        <p:nvSpPr>
          <p:cNvPr id="86" name="Text 84"/>
          <p:cNvSpPr/>
          <p:nvPr/>
        </p:nvSpPr>
        <p:spPr>
          <a:xfrm>
            <a:off x="4321296" y="4000697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800" dirty="0"/>
          </a:p>
        </p:txBody>
      </p:sp>
      <p:sp>
        <p:nvSpPr>
          <p:cNvPr id="87" name="Shape 85"/>
          <p:cNvSpPr/>
          <p:nvPr/>
        </p:nvSpPr>
        <p:spPr>
          <a:xfrm>
            <a:off x="4830857" y="3776790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4800860" y="3776790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NM</a:t>
            </a:r>
            <a:endParaRPr lang="en-US" sz="1000" dirty="0"/>
          </a:p>
        </p:txBody>
      </p:sp>
      <p:sp>
        <p:nvSpPr>
          <p:cNvPr id="89" name="Shape 87"/>
          <p:cNvSpPr/>
          <p:nvPr/>
        </p:nvSpPr>
        <p:spPr>
          <a:xfrm>
            <a:off x="5310421" y="3776790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5280423" y="3776790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OK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5789985" y="3776790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5759987" y="3776790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</a:t>
            </a:r>
            <a:endParaRPr lang="en-US" sz="1000" dirty="0"/>
          </a:p>
        </p:txBody>
      </p:sp>
      <p:sp>
        <p:nvSpPr>
          <p:cNvPr id="93" name="Shape 91"/>
          <p:cNvSpPr/>
          <p:nvPr/>
        </p:nvSpPr>
        <p:spPr>
          <a:xfrm>
            <a:off x="6269549" y="3776790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6239551" y="3776790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TN</a:t>
            </a:r>
            <a:endParaRPr lang="en-US" sz="1000" dirty="0"/>
          </a:p>
        </p:txBody>
      </p:sp>
      <p:sp>
        <p:nvSpPr>
          <p:cNvPr id="95" name="Shape 93"/>
          <p:cNvSpPr/>
          <p:nvPr/>
        </p:nvSpPr>
        <p:spPr>
          <a:xfrm>
            <a:off x="6749113" y="3776790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8EDF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6719115" y="3841947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</a:t>
            </a:r>
            <a:endParaRPr lang="en-US" sz="1000" dirty="0"/>
          </a:p>
        </p:txBody>
      </p:sp>
      <p:sp>
        <p:nvSpPr>
          <p:cNvPr id="97" name="Text 95"/>
          <p:cNvSpPr/>
          <p:nvPr/>
        </p:nvSpPr>
        <p:spPr>
          <a:xfrm>
            <a:off x="6719115" y="4000697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800" dirty="0"/>
          </a:p>
        </p:txBody>
      </p:sp>
      <p:sp>
        <p:nvSpPr>
          <p:cNvPr id="98" name="Shape 96"/>
          <p:cNvSpPr/>
          <p:nvPr/>
        </p:nvSpPr>
        <p:spPr>
          <a:xfrm>
            <a:off x="7228677" y="3776790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F1F4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7198679" y="3841947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NC</a:t>
            </a:r>
            <a:endParaRPr lang="en-US" sz="1000" dirty="0"/>
          </a:p>
        </p:txBody>
      </p:sp>
      <p:sp>
        <p:nvSpPr>
          <p:cNvPr id="100" name="Text 98"/>
          <p:cNvSpPr/>
          <p:nvPr/>
        </p:nvSpPr>
        <p:spPr>
          <a:xfrm>
            <a:off x="7198679" y="4000697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800" dirty="0"/>
          </a:p>
        </p:txBody>
      </p:sp>
      <p:sp>
        <p:nvSpPr>
          <p:cNvPr id="101" name="Shape 99"/>
          <p:cNvSpPr/>
          <p:nvPr/>
        </p:nvSpPr>
        <p:spPr>
          <a:xfrm>
            <a:off x="4591076" y="4166388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87A4E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4561078" y="4231545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TX</a:t>
            </a:r>
            <a:endParaRPr lang="en-US" sz="1000" dirty="0"/>
          </a:p>
        </p:txBody>
      </p:sp>
      <p:sp>
        <p:nvSpPr>
          <p:cNvPr id="103" name="Text 101"/>
          <p:cNvSpPr/>
          <p:nvPr/>
        </p:nvSpPr>
        <p:spPr>
          <a:xfrm>
            <a:off x="4561078" y="4390295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95</a:t>
            </a:r>
            <a:endParaRPr lang="en-US" sz="800" dirty="0"/>
          </a:p>
        </p:txBody>
      </p:sp>
      <p:sp>
        <p:nvSpPr>
          <p:cNvPr id="104" name="Shape 102"/>
          <p:cNvSpPr/>
          <p:nvPr/>
        </p:nvSpPr>
        <p:spPr>
          <a:xfrm>
            <a:off x="5070639" y="4166388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5" name="Text 103"/>
          <p:cNvSpPr/>
          <p:nvPr/>
        </p:nvSpPr>
        <p:spPr>
          <a:xfrm>
            <a:off x="5040641" y="4166388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</a:t>
            </a:r>
            <a:endParaRPr lang="en-US" sz="1000" dirty="0"/>
          </a:p>
        </p:txBody>
      </p:sp>
      <p:sp>
        <p:nvSpPr>
          <p:cNvPr id="106" name="Shape 104"/>
          <p:cNvSpPr/>
          <p:nvPr/>
        </p:nvSpPr>
        <p:spPr>
          <a:xfrm>
            <a:off x="5550203" y="4166388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7" name="Text 105"/>
          <p:cNvSpPr/>
          <p:nvPr/>
        </p:nvSpPr>
        <p:spPr>
          <a:xfrm>
            <a:off x="5520205" y="4166388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MS</a:t>
            </a:r>
            <a:endParaRPr lang="en-US" sz="1000" dirty="0"/>
          </a:p>
        </p:txBody>
      </p:sp>
      <p:sp>
        <p:nvSpPr>
          <p:cNvPr id="108" name="Shape 106"/>
          <p:cNvSpPr/>
          <p:nvPr/>
        </p:nvSpPr>
        <p:spPr>
          <a:xfrm>
            <a:off x="6029767" y="4166388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9" name="Text 107"/>
          <p:cNvSpPr/>
          <p:nvPr/>
        </p:nvSpPr>
        <p:spPr>
          <a:xfrm>
            <a:off x="5999769" y="4166388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</a:t>
            </a:r>
            <a:endParaRPr lang="en-US" sz="1000" dirty="0"/>
          </a:p>
        </p:txBody>
      </p:sp>
      <p:sp>
        <p:nvSpPr>
          <p:cNvPr id="110" name="Shape 108"/>
          <p:cNvSpPr/>
          <p:nvPr/>
        </p:nvSpPr>
        <p:spPr>
          <a:xfrm>
            <a:off x="6509331" y="4166388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CF0F9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1" name="Text 109"/>
          <p:cNvSpPr/>
          <p:nvPr/>
        </p:nvSpPr>
        <p:spPr>
          <a:xfrm>
            <a:off x="6479333" y="4231545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</a:t>
            </a:r>
            <a:endParaRPr lang="en-US" sz="1000" dirty="0"/>
          </a:p>
        </p:txBody>
      </p:sp>
      <p:sp>
        <p:nvSpPr>
          <p:cNvPr id="112" name="Text 110"/>
          <p:cNvSpPr/>
          <p:nvPr/>
        </p:nvSpPr>
        <p:spPr>
          <a:xfrm>
            <a:off x="6479333" y="4390295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27</a:t>
            </a:r>
            <a:endParaRPr lang="en-US" sz="800" dirty="0"/>
          </a:p>
        </p:txBody>
      </p:sp>
      <p:sp>
        <p:nvSpPr>
          <p:cNvPr id="113" name="Shape 111"/>
          <p:cNvSpPr/>
          <p:nvPr/>
        </p:nvSpPr>
        <p:spPr>
          <a:xfrm>
            <a:off x="6988895" y="4166388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4" name="Text 112"/>
          <p:cNvSpPr/>
          <p:nvPr/>
        </p:nvSpPr>
        <p:spPr>
          <a:xfrm>
            <a:off x="6958897" y="4166388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</a:t>
            </a:r>
            <a:endParaRPr lang="en-US" sz="1000" dirty="0"/>
          </a:p>
        </p:txBody>
      </p:sp>
      <p:sp>
        <p:nvSpPr>
          <p:cNvPr id="115" name="Shape 113"/>
          <p:cNvSpPr/>
          <p:nvPr/>
        </p:nvSpPr>
        <p:spPr>
          <a:xfrm>
            <a:off x="3392166" y="455598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6" name="Text 114"/>
          <p:cNvSpPr/>
          <p:nvPr/>
        </p:nvSpPr>
        <p:spPr>
          <a:xfrm>
            <a:off x="3362168" y="4555986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HI</a:t>
            </a:r>
            <a:endParaRPr lang="en-US" sz="1000" dirty="0"/>
          </a:p>
        </p:txBody>
      </p:sp>
      <p:sp>
        <p:nvSpPr>
          <p:cNvPr id="117" name="Shape 115"/>
          <p:cNvSpPr/>
          <p:nvPr/>
        </p:nvSpPr>
        <p:spPr>
          <a:xfrm>
            <a:off x="6749113" y="455598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AEC0E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8" name="Text 116"/>
          <p:cNvSpPr/>
          <p:nvPr/>
        </p:nvSpPr>
        <p:spPr>
          <a:xfrm>
            <a:off x="6719115" y="4621143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FL</a:t>
            </a:r>
            <a:endParaRPr lang="en-US" sz="1000" dirty="0"/>
          </a:p>
        </p:txBody>
      </p:sp>
      <p:sp>
        <p:nvSpPr>
          <p:cNvPr id="119" name="Text 117"/>
          <p:cNvSpPr/>
          <p:nvPr/>
        </p:nvSpPr>
        <p:spPr>
          <a:xfrm>
            <a:off x="6719115" y="4779893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800" dirty="0"/>
          </a:p>
        </p:txBody>
      </p:sp>
      <p:sp>
        <p:nvSpPr>
          <p:cNvPr id="120" name="Shape 118"/>
          <p:cNvSpPr/>
          <p:nvPr/>
        </p:nvSpPr>
        <p:spPr>
          <a:xfrm>
            <a:off x="3122386" y="5067300"/>
            <a:ext cx="69850" cy="114300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121" name="Shape 119"/>
          <p:cNvSpPr/>
          <p:nvPr/>
        </p:nvSpPr>
        <p:spPr>
          <a:xfrm>
            <a:off x="3185886" y="5067300"/>
            <a:ext cx="69850" cy="114300"/>
          </a:xfrm>
          <a:prstGeom prst="rect">
            <a:avLst/>
          </a:prstGeom>
          <a:solidFill>
            <a:srgbClr val="ECF0FA"/>
          </a:solidFill>
          <a:ln/>
        </p:spPr>
      </p:sp>
      <p:sp>
        <p:nvSpPr>
          <p:cNvPr id="122" name="Shape 120"/>
          <p:cNvSpPr/>
          <p:nvPr/>
        </p:nvSpPr>
        <p:spPr>
          <a:xfrm>
            <a:off x="3249386" y="5067300"/>
            <a:ext cx="69850" cy="114300"/>
          </a:xfrm>
          <a:prstGeom prst="rect">
            <a:avLst/>
          </a:prstGeom>
          <a:solidFill>
            <a:srgbClr val="E8ECF8"/>
          </a:solidFill>
          <a:ln/>
        </p:spPr>
      </p:sp>
      <p:sp>
        <p:nvSpPr>
          <p:cNvPr id="123" name="Shape 121"/>
          <p:cNvSpPr/>
          <p:nvPr/>
        </p:nvSpPr>
        <p:spPr>
          <a:xfrm>
            <a:off x="3312886" y="5067300"/>
            <a:ext cx="69850" cy="114300"/>
          </a:xfrm>
          <a:prstGeom prst="rect">
            <a:avLst/>
          </a:prstGeom>
          <a:solidFill>
            <a:srgbClr val="E3E9F7"/>
          </a:solidFill>
          <a:ln/>
        </p:spPr>
      </p:sp>
      <p:sp>
        <p:nvSpPr>
          <p:cNvPr id="124" name="Shape 122"/>
          <p:cNvSpPr/>
          <p:nvPr/>
        </p:nvSpPr>
        <p:spPr>
          <a:xfrm>
            <a:off x="3376386" y="5067300"/>
            <a:ext cx="69850" cy="114300"/>
          </a:xfrm>
          <a:prstGeom prst="rect">
            <a:avLst/>
          </a:prstGeom>
          <a:solidFill>
            <a:srgbClr val="DEE5F5"/>
          </a:solidFill>
          <a:ln/>
        </p:spPr>
      </p:sp>
      <p:sp>
        <p:nvSpPr>
          <p:cNvPr id="125" name="Shape 123"/>
          <p:cNvSpPr/>
          <p:nvPr/>
        </p:nvSpPr>
        <p:spPr>
          <a:xfrm>
            <a:off x="3439886" y="5067300"/>
            <a:ext cx="69850" cy="114300"/>
          </a:xfrm>
          <a:prstGeom prst="rect">
            <a:avLst/>
          </a:prstGeom>
          <a:solidFill>
            <a:srgbClr val="D9E0F4"/>
          </a:solidFill>
          <a:ln/>
        </p:spPr>
      </p:sp>
      <p:sp>
        <p:nvSpPr>
          <p:cNvPr id="126" name="Shape 124"/>
          <p:cNvSpPr/>
          <p:nvPr/>
        </p:nvSpPr>
        <p:spPr>
          <a:xfrm>
            <a:off x="3503386" y="5067300"/>
            <a:ext cx="69850" cy="11430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127" name="Shape 125"/>
          <p:cNvSpPr/>
          <p:nvPr/>
        </p:nvSpPr>
        <p:spPr>
          <a:xfrm>
            <a:off x="3566886" y="5067300"/>
            <a:ext cx="69850" cy="114300"/>
          </a:xfrm>
          <a:prstGeom prst="rect">
            <a:avLst/>
          </a:prstGeom>
          <a:solidFill>
            <a:srgbClr val="CED8F1"/>
          </a:solidFill>
          <a:ln/>
        </p:spPr>
      </p:sp>
      <p:sp>
        <p:nvSpPr>
          <p:cNvPr id="128" name="Shape 126"/>
          <p:cNvSpPr/>
          <p:nvPr/>
        </p:nvSpPr>
        <p:spPr>
          <a:xfrm>
            <a:off x="3630386" y="5067300"/>
            <a:ext cx="69850" cy="114300"/>
          </a:xfrm>
          <a:prstGeom prst="rect">
            <a:avLst/>
          </a:prstGeom>
          <a:solidFill>
            <a:srgbClr val="C9D4EF"/>
          </a:solidFill>
          <a:ln/>
        </p:spPr>
      </p:sp>
      <p:sp>
        <p:nvSpPr>
          <p:cNvPr id="129" name="Shape 127"/>
          <p:cNvSpPr/>
          <p:nvPr/>
        </p:nvSpPr>
        <p:spPr>
          <a:xfrm>
            <a:off x="3693886" y="5067300"/>
            <a:ext cx="69850" cy="114300"/>
          </a:xfrm>
          <a:prstGeom prst="rect">
            <a:avLst/>
          </a:prstGeom>
          <a:solidFill>
            <a:srgbClr val="C3CFED"/>
          </a:solidFill>
          <a:ln/>
        </p:spPr>
      </p:sp>
      <p:sp>
        <p:nvSpPr>
          <p:cNvPr id="130" name="Shape 128"/>
          <p:cNvSpPr/>
          <p:nvPr/>
        </p:nvSpPr>
        <p:spPr>
          <a:xfrm>
            <a:off x="3757386" y="5067300"/>
            <a:ext cx="69850" cy="114300"/>
          </a:xfrm>
          <a:prstGeom prst="rect">
            <a:avLst/>
          </a:prstGeom>
          <a:solidFill>
            <a:srgbClr val="BDCAEC"/>
          </a:solidFill>
          <a:ln/>
        </p:spPr>
      </p:sp>
      <p:sp>
        <p:nvSpPr>
          <p:cNvPr id="131" name="Shape 129"/>
          <p:cNvSpPr/>
          <p:nvPr/>
        </p:nvSpPr>
        <p:spPr>
          <a:xfrm>
            <a:off x="3820886" y="5067300"/>
            <a:ext cx="69850" cy="114300"/>
          </a:xfrm>
          <a:prstGeom prst="rect">
            <a:avLst/>
          </a:prstGeom>
          <a:solidFill>
            <a:srgbClr val="B6C6EA"/>
          </a:solidFill>
          <a:ln/>
        </p:spPr>
      </p:sp>
      <p:sp>
        <p:nvSpPr>
          <p:cNvPr id="132" name="Shape 130"/>
          <p:cNvSpPr/>
          <p:nvPr/>
        </p:nvSpPr>
        <p:spPr>
          <a:xfrm>
            <a:off x="3884386" y="5067300"/>
            <a:ext cx="69850" cy="114300"/>
          </a:xfrm>
          <a:prstGeom prst="rect">
            <a:avLst/>
          </a:prstGeom>
          <a:solidFill>
            <a:srgbClr val="B0C1E9"/>
          </a:solidFill>
          <a:ln/>
        </p:spPr>
      </p:sp>
      <p:sp>
        <p:nvSpPr>
          <p:cNvPr id="133" name="Shape 131"/>
          <p:cNvSpPr/>
          <p:nvPr/>
        </p:nvSpPr>
        <p:spPr>
          <a:xfrm>
            <a:off x="3947886" y="5067300"/>
            <a:ext cx="69850" cy="114300"/>
          </a:xfrm>
          <a:prstGeom prst="rect">
            <a:avLst/>
          </a:prstGeom>
          <a:solidFill>
            <a:srgbClr val="A9BBE7"/>
          </a:solidFill>
          <a:ln/>
        </p:spPr>
      </p:sp>
      <p:sp>
        <p:nvSpPr>
          <p:cNvPr id="134" name="Shape 132"/>
          <p:cNvSpPr/>
          <p:nvPr/>
        </p:nvSpPr>
        <p:spPr>
          <a:xfrm>
            <a:off x="4011386" y="5067300"/>
            <a:ext cx="69850" cy="114300"/>
          </a:xfrm>
          <a:prstGeom prst="rect">
            <a:avLst/>
          </a:prstGeom>
          <a:solidFill>
            <a:srgbClr val="A1B6E5"/>
          </a:solidFill>
          <a:ln/>
        </p:spPr>
      </p:sp>
      <p:sp>
        <p:nvSpPr>
          <p:cNvPr id="135" name="Shape 133"/>
          <p:cNvSpPr/>
          <p:nvPr/>
        </p:nvSpPr>
        <p:spPr>
          <a:xfrm>
            <a:off x="4074886" y="5067300"/>
            <a:ext cx="69850" cy="114300"/>
          </a:xfrm>
          <a:prstGeom prst="rect">
            <a:avLst/>
          </a:prstGeom>
          <a:solidFill>
            <a:srgbClr val="9AB1E4"/>
          </a:solidFill>
          <a:ln/>
        </p:spPr>
      </p:sp>
      <p:sp>
        <p:nvSpPr>
          <p:cNvPr id="136" name="Shape 134"/>
          <p:cNvSpPr/>
          <p:nvPr/>
        </p:nvSpPr>
        <p:spPr>
          <a:xfrm>
            <a:off x="4138386" y="5067300"/>
            <a:ext cx="69850" cy="114300"/>
          </a:xfrm>
          <a:prstGeom prst="rect">
            <a:avLst/>
          </a:prstGeom>
          <a:solidFill>
            <a:srgbClr val="91ABE2"/>
          </a:solidFill>
          <a:ln/>
        </p:spPr>
      </p:sp>
      <p:sp>
        <p:nvSpPr>
          <p:cNvPr id="137" name="Shape 135"/>
          <p:cNvSpPr/>
          <p:nvPr/>
        </p:nvSpPr>
        <p:spPr>
          <a:xfrm>
            <a:off x="4201886" y="5067300"/>
            <a:ext cx="69850" cy="114300"/>
          </a:xfrm>
          <a:prstGeom prst="rect">
            <a:avLst/>
          </a:prstGeom>
          <a:solidFill>
            <a:srgbClr val="88A5E0"/>
          </a:solidFill>
          <a:ln/>
        </p:spPr>
      </p:sp>
      <p:sp>
        <p:nvSpPr>
          <p:cNvPr id="138" name="Shape 136"/>
          <p:cNvSpPr/>
          <p:nvPr/>
        </p:nvSpPr>
        <p:spPr>
          <a:xfrm>
            <a:off x="4265386" y="5067300"/>
            <a:ext cx="69850" cy="114300"/>
          </a:xfrm>
          <a:prstGeom prst="rect">
            <a:avLst/>
          </a:prstGeom>
          <a:solidFill>
            <a:srgbClr val="7E9EDF"/>
          </a:solidFill>
          <a:ln/>
        </p:spPr>
      </p:sp>
      <p:sp>
        <p:nvSpPr>
          <p:cNvPr id="139" name="Shape 137"/>
          <p:cNvSpPr/>
          <p:nvPr/>
        </p:nvSpPr>
        <p:spPr>
          <a:xfrm>
            <a:off x="4328886" y="5067300"/>
            <a:ext cx="69850" cy="114300"/>
          </a:xfrm>
          <a:prstGeom prst="rect">
            <a:avLst/>
          </a:prstGeom>
          <a:solidFill>
            <a:srgbClr val="7398DD"/>
          </a:solidFill>
          <a:ln/>
        </p:spPr>
      </p:sp>
      <p:sp>
        <p:nvSpPr>
          <p:cNvPr id="140" name="Shape 138"/>
          <p:cNvSpPr/>
          <p:nvPr/>
        </p:nvSpPr>
        <p:spPr>
          <a:xfrm>
            <a:off x="4392386" y="5067300"/>
            <a:ext cx="69850" cy="114300"/>
          </a:xfrm>
          <a:prstGeom prst="rect">
            <a:avLst/>
          </a:prstGeom>
          <a:solidFill>
            <a:srgbClr val="6791DB"/>
          </a:solidFill>
          <a:ln/>
        </p:spPr>
      </p:sp>
      <p:sp>
        <p:nvSpPr>
          <p:cNvPr id="141" name="Shape 139"/>
          <p:cNvSpPr/>
          <p:nvPr/>
        </p:nvSpPr>
        <p:spPr>
          <a:xfrm>
            <a:off x="4455886" y="5067300"/>
            <a:ext cx="69850" cy="114300"/>
          </a:xfrm>
          <a:prstGeom prst="rect">
            <a:avLst/>
          </a:prstGeom>
          <a:solidFill>
            <a:srgbClr val="5889DA"/>
          </a:solidFill>
          <a:ln/>
        </p:spPr>
      </p:sp>
      <p:sp>
        <p:nvSpPr>
          <p:cNvPr id="142" name="Shape 140"/>
          <p:cNvSpPr/>
          <p:nvPr/>
        </p:nvSpPr>
        <p:spPr>
          <a:xfrm>
            <a:off x="4519386" y="5067300"/>
            <a:ext cx="69850" cy="114300"/>
          </a:xfrm>
          <a:prstGeom prst="rect">
            <a:avLst/>
          </a:prstGeom>
          <a:solidFill>
            <a:srgbClr val="4681D8"/>
          </a:solidFill>
          <a:ln/>
        </p:spPr>
      </p:sp>
      <p:sp>
        <p:nvSpPr>
          <p:cNvPr id="143" name="Shape 141"/>
          <p:cNvSpPr/>
          <p:nvPr/>
        </p:nvSpPr>
        <p:spPr>
          <a:xfrm>
            <a:off x="4582886" y="5067300"/>
            <a:ext cx="69850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4" name="Text 142"/>
          <p:cNvSpPr/>
          <p:nvPr/>
        </p:nvSpPr>
        <p:spPr>
          <a:xfrm>
            <a:off x="3122386" y="5187950"/>
            <a:ext cx="762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850" dirty="0"/>
          </a:p>
        </p:txBody>
      </p:sp>
      <p:sp>
        <p:nvSpPr>
          <p:cNvPr id="145" name="Text 143"/>
          <p:cNvSpPr/>
          <p:nvPr/>
        </p:nvSpPr>
        <p:spPr>
          <a:xfrm>
            <a:off x="3884386" y="5187950"/>
            <a:ext cx="762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850" dirty="0"/>
          </a:p>
        </p:txBody>
      </p:sp>
      <p:sp>
        <p:nvSpPr>
          <p:cNvPr id="146" name="Shape 144"/>
          <p:cNvSpPr/>
          <p:nvPr/>
        </p:nvSpPr>
        <p:spPr>
          <a:xfrm>
            <a:off x="4773386" y="5067300"/>
            <a:ext cx="114300" cy="114300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47" name="Text 145"/>
          <p:cNvSpPr/>
          <p:nvPr/>
        </p:nvSpPr>
        <p:spPr>
          <a:xfrm>
            <a:off x="4913086" y="504190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data</a:t>
            </a:r>
            <a:endParaRPr lang="en-US" sz="850" dirty="0"/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Tile map with per-region mini-bars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706660" y="1828800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4" name="Text 2"/>
          <p:cNvSpPr/>
          <p:nvPr/>
        </p:nvSpPr>
        <p:spPr>
          <a:xfrm>
            <a:off x="3706660" y="1850946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AK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8115941" y="1828800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6" name="Text 4"/>
          <p:cNvSpPr/>
          <p:nvPr/>
        </p:nvSpPr>
        <p:spPr>
          <a:xfrm>
            <a:off x="8115941" y="1850946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7314254" y="2229644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8" name="Text 6"/>
          <p:cNvSpPr/>
          <p:nvPr/>
        </p:nvSpPr>
        <p:spPr>
          <a:xfrm>
            <a:off x="7314254" y="2251789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VT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7715098" y="2229644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0" name="Text 8"/>
          <p:cNvSpPr/>
          <p:nvPr/>
        </p:nvSpPr>
        <p:spPr>
          <a:xfrm>
            <a:off x="7715098" y="2251789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NH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8115941" y="2229644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2" name="Text 10"/>
          <p:cNvSpPr/>
          <p:nvPr/>
        </p:nvSpPr>
        <p:spPr>
          <a:xfrm>
            <a:off x="8115941" y="2251789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4107504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4" name="Shape 12"/>
          <p:cNvSpPr/>
          <p:nvPr/>
        </p:nvSpPr>
        <p:spPr>
          <a:xfrm>
            <a:off x="4148104" y="2909461"/>
            <a:ext cx="65623" cy="3844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Shape 13"/>
          <p:cNvSpPr/>
          <p:nvPr/>
        </p:nvSpPr>
        <p:spPr>
          <a:xfrm>
            <a:off x="4220077" y="2901771"/>
            <a:ext cx="65623" cy="4613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" name="Shape 14"/>
          <p:cNvSpPr/>
          <p:nvPr/>
        </p:nvSpPr>
        <p:spPr>
          <a:xfrm>
            <a:off x="4292051" y="2897927"/>
            <a:ext cx="65623" cy="4998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7" name="Shape 15"/>
          <p:cNvSpPr/>
          <p:nvPr/>
        </p:nvSpPr>
        <p:spPr>
          <a:xfrm>
            <a:off x="4364024" y="2886393"/>
            <a:ext cx="65623" cy="61516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18" name="Text 16"/>
          <p:cNvSpPr/>
          <p:nvPr/>
        </p:nvSpPr>
        <p:spPr>
          <a:xfrm>
            <a:off x="4107504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508348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20" name="Text 18"/>
          <p:cNvSpPr/>
          <p:nvPr/>
        </p:nvSpPr>
        <p:spPr>
          <a:xfrm>
            <a:off x="4508348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MT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4909191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22" name="Text 20"/>
          <p:cNvSpPr/>
          <p:nvPr/>
        </p:nvSpPr>
        <p:spPr>
          <a:xfrm>
            <a:off x="4909191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ND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5310035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24" name="Text 22"/>
          <p:cNvSpPr/>
          <p:nvPr/>
        </p:nvSpPr>
        <p:spPr>
          <a:xfrm>
            <a:off x="5310035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SD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5710879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26" name="Text 24"/>
          <p:cNvSpPr/>
          <p:nvPr/>
        </p:nvSpPr>
        <p:spPr>
          <a:xfrm>
            <a:off x="5710879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MN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6111723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28" name="Text 26"/>
          <p:cNvSpPr/>
          <p:nvPr/>
        </p:nvSpPr>
        <p:spPr>
          <a:xfrm>
            <a:off x="6111723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6512566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30" name="Text 28"/>
          <p:cNvSpPr/>
          <p:nvPr/>
        </p:nvSpPr>
        <p:spPr>
          <a:xfrm>
            <a:off x="6512566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7314254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32" name="Shape 30"/>
          <p:cNvSpPr/>
          <p:nvPr/>
        </p:nvSpPr>
        <p:spPr>
          <a:xfrm>
            <a:off x="7354854" y="2878703"/>
            <a:ext cx="65623" cy="6920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Shape 31"/>
          <p:cNvSpPr/>
          <p:nvPr/>
        </p:nvSpPr>
        <p:spPr>
          <a:xfrm>
            <a:off x="7426827" y="2871014"/>
            <a:ext cx="65623" cy="7689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34" name="Shape 32"/>
          <p:cNvSpPr/>
          <p:nvPr/>
        </p:nvSpPr>
        <p:spPr>
          <a:xfrm>
            <a:off x="7498801" y="2863324"/>
            <a:ext cx="65623" cy="8458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5" name="Shape 33"/>
          <p:cNvSpPr/>
          <p:nvPr/>
        </p:nvSpPr>
        <p:spPr>
          <a:xfrm>
            <a:off x="7570774" y="2847945"/>
            <a:ext cx="65623" cy="99963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36" name="Text 34"/>
          <p:cNvSpPr/>
          <p:nvPr/>
        </p:nvSpPr>
        <p:spPr>
          <a:xfrm>
            <a:off x="7314254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NY</a:t>
            </a:r>
            <a:endParaRPr lang="en-US" sz="850" dirty="0"/>
          </a:p>
        </p:txBody>
      </p:sp>
      <p:sp>
        <p:nvSpPr>
          <p:cNvPr id="37" name="Shape 35"/>
          <p:cNvSpPr/>
          <p:nvPr/>
        </p:nvSpPr>
        <p:spPr>
          <a:xfrm>
            <a:off x="7715098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38" name="Text 36"/>
          <p:cNvSpPr/>
          <p:nvPr/>
        </p:nvSpPr>
        <p:spPr>
          <a:xfrm>
            <a:off x="7715098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CT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8115941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40" name="Text 38"/>
          <p:cNvSpPr/>
          <p:nvPr/>
        </p:nvSpPr>
        <p:spPr>
          <a:xfrm>
            <a:off x="8115941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4107504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42" name="Text 40"/>
          <p:cNvSpPr/>
          <p:nvPr/>
        </p:nvSpPr>
        <p:spPr>
          <a:xfrm>
            <a:off x="4107504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</a:t>
            </a:r>
            <a:endParaRPr lang="en-US" sz="850" dirty="0"/>
          </a:p>
        </p:txBody>
      </p:sp>
      <p:sp>
        <p:nvSpPr>
          <p:cNvPr id="43" name="Shape 41"/>
          <p:cNvSpPr/>
          <p:nvPr/>
        </p:nvSpPr>
        <p:spPr>
          <a:xfrm>
            <a:off x="4508348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44" name="Text 42"/>
          <p:cNvSpPr/>
          <p:nvPr/>
        </p:nvSpPr>
        <p:spPr>
          <a:xfrm>
            <a:off x="4508348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4909191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46" name="Text 44"/>
          <p:cNvSpPr/>
          <p:nvPr/>
        </p:nvSpPr>
        <p:spPr>
          <a:xfrm>
            <a:off x="4909191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WY</a:t>
            </a:r>
            <a:endParaRPr lang="en-US" sz="850" dirty="0"/>
          </a:p>
        </p:txBody>
      </p:sp>
      <p:sp>
        <p:nvSpPr>
          <p:cNvPr id="47" name="Shape 45"/>
          <p:cNvSpPr/>
          <p:nvPr/>
        </p:nvSpPr>
        <p:spPr>
          <a:xfrm>
            <a:off x="5310035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48" name="Text 46"/>
          <p:cNvSpPr/>
          <p:nvPr/>
        </p:nvSpPr>
        <p:spPr>
          <a:xfrm>
            <a:off x="5310035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</a:t>
            </a:r>
            <a:endParaRPr lang="en-US" sz="850" dirty="0"/>
          </a:p>
        </p:txBody>
      </p:sp>
      <p:sp>
        <p:nvSpPr>
          <p:cNvPr id="49" name="Shape 47"/>
          <p:cNvSpPr/>
          <p:nvPr/>
        </p:nvSpPr>
        <p:spPr>
          <a:xfrm>
            <a:off x="5710879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50" name="Text 48"/>
          <p:cNvSpPr/>
          <p:nvPr/>
        </p:nvSpPr>
        <p:spPr>
          <a:xfrm>
            <a:off x="5710879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IA</a:t>
            </a:r>
            <a:endParaRPr lang="en-US" sz="850" dirty="0"/>
          </a:p>
        </p:txBody>
      </p:sp>
      <p:sp>
        <p:nvSpPr>
          <p:cNvPr id="51" name="Shape 49"/>
          <p:cNvSpPr/>
          <p:nvPr/>
        </p:nvSpPr>
        <p:spPr>
          <a:xfrm>
            <a:off x="6111723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52" name="Shape 50"/>
          <p:cNvSpPr/>
          <p:nvPr/>
        </p:nvSpPr>
        <p:spPr>
          <a:xfrm>
            <a:off x="6152323" y="3302615"/>
            <a:ext cx="65623" cy="4613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3" name="Shape 51"/>
          <p:cNvSpPr/>
          <p:nvPr/>
        </p:nvSpPr>
        <p:spPr>
          <a:xfrm>
            <a:off x="6224296" y="3294926"/>
            <a:ext cx="65623" cy="5382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54" name="Shape 52"/>
          <p:cNvSpPr/>
          <p:nvPr/>
        </p:nvSpPr>
        <p:spPr>
          <a:xfrm>
            <a:off x="6296269" y="3291081"/>
            <a:ext cx="65623" cy="5767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55" name="Shape 53"/>
          <p:cNvSpPr/>
          <p:nvPr/>
        </p:nvSpPr>
        <p:spPr>
          <a:xfrm>
            <a:off x="6368243" y="3279547"/>
            <a:ext cx="65623" cy="69205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56" name="Text 54"/>
          <p:cNvSpPr/>
          <p:nvPr/>
        </p:nvSpPr>
        <p:spPr>
          <a:xfrm>
            <a:off x="6111723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IL</a:t>
            </a:r>
            <a:endParaRPr lang="en-US" sz="850" dirty="0"/>
          </a:p>
        </p:txBody>
      </p:sp>
      <p:sp>
        <p:nvSpPr>
          <p:cNvPr id="57" name="Shape 55"/>
          <p:cNvSpPr/>
          <p:nvPr/>
        </p:nvSpPr>
        <p:spPr>
          <a:xfrm>
            <a:off x="6512566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58" name="Text 56"/>
          <p:cNvSpPr/>
          <p:nvPr/>
        </p:nvSpPr>
        <p:spPr>
          <a:xfrm>
            <a:off x="6512566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</a:t>
            </a:r>
            <a:endParaRPr lang="en-US" sz="850" dirty="0"/>
          </a:p>
        </p:txBody>
      </p:sp>
      <p:sp>
        <p:nvSpPr>
          <p:cNvPr id="59" name="Shape 57"/>
          <p:cNvSpPr/>
          <p:nvPr/>
        </p:nvSpPr>
        <p:spPr>
          <a:xfrm>
            <a:off x="6913410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60" name="Text 58"/>
          <p:cNvSpPr/>
          <p:nvPr/>
        </p:nvSpPr>
        <p:spPr>
          <a:xfrm>
            <a:off x="6913410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OH</a:t>
            </a:r>
            <a:endParaRPr lang="en-US" sz="850" dirty="0"/>
          </a:p>
        </p:txBody>
      </p:sp>
      <p:sp>
        <p:nvSpPr>
          <p:cNvPr id="61" name="Shape 59"/>
          <p:cNvSpPr/>
          <p:nvPr/>
        </p:nvSpPr>
        <p:spPr>
          <a:xfrm>
            <a:off x="7314254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62" name="Text 60"/>
          <p:cNvSpPr/>
          <p:nvPr/>
        </p:nvSpPr>
        <p:spPr>
          <a:xfrm>
            <a:off x="7314254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</a:t>
            </a:r>
            <a:endParaRPr lang="en-US" sz="850" dirty="0"/>
          </a:p>
        </p:txBody>
      </p:sp>
      <p:sp>
        <p:nvSpPr>
          <p:cNvPr id="63" name="Shape 61"/>
          <p:cNvSpPr/>
          <p:nvPr/>
        </p:nvSpPr>
        <p:spPr>
          <a:xfrm>
            <a:off x="7715098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64" name="Text 62"/>
          <p:cNvSpPr/>
          <p:nvPr/>
        </p:nvSpPr>
        <p:spPr>
          <a:xfrm>
            <a:off x="7715098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NJ</a:t>
            </a:r>
            <a:endParaRPr lang="en-US" sz="850" dirty="0"/>
          </a:p>
        </p:txBody>
      </p:sp>
      <p:sp>
        <p:nvSpPr>
          <p:cNvPr id="65" name="Shape 63"/>
          <p:cNvSpPr/>
          <p:nvPr/>
        </p:nvSpPr>
        <p:spPr>
          <a:xfrm>
            <a:off x="3706660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66" name="Shape 64"/>
          <p:cNvSpPr/>
          <p:nvPr/>
        </p:nvSpPr>
        <p:spPr>
          <a:xfrm>
            <a:off x="3747260" y="3634254"/>
            <a:ext cx="65623" cy="11534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7" name="Shape 65"/>
          <p:cNvSpPr/>
          <p:nvPr/>
        </p:nvSpPr>
        <p:spPr>
          <a:xfrm>
            <a:off x="3819234" y="3615030"/>
            <a:ext cx="65623" cy="13456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8" name="Shape 66"/>
          <p:cNvSpPr/>
          <p:nvPr/>
        </p:nvSpPr>
        <p:spPr>
          <a:xfrm>
            <a:off x="3891207" y="3595807"/>
            <a:ext cx="65623" cy="15378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69" name="Shape 67"/>
          <p:cNvSpPr/>
          <p:nvPr/>
        </p:nvSpPr>
        <p:spPr>
          <a:xfrm>
            <a:off x="3963180" y="3565049"/>
            <a:ext cx="65623" cy="184547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70" name="Text 68"/>
          <p:cNvSpPr/>
          <p:nvPr/>
        </p:nvSpPr>
        <p:spPr>
          <a:xfrm>
            <a:off x="3706660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</a:t>
            </a:r>
            <a:endParaRPr lang="en-US" sz="850" dirty="0"/>
          </a:p>
        </p:txBody>
      </p:sp>
      <p:sp>
        <p:nvSpPr>
          <p:cNvPr id="71" name="Shape 69"/>
          <p:cNvSpPr/>
          <p:nvPr/>
        </p:nvSpPr>
        <p:spPr>
          <a:xfrm>
            <a:off x="4107504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72" name="Text 70"/>
          <p:cNvSpPr/>
          <p:nvPr/>
        </p:nvSpPr>
        <p:spPr>
          <a:xfrm>
            <a:off x="4107504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NV</a:t>
            </a:r>
            <a:endParaRPr lang="en-US" sz="850" dirty="0"/>
          </a:p>
        </p:txBody>
      </p:sp>
      <p:sp>
        <p:nvSpPr>
          <p:cNvPr id="73" name="Shape 71"/>
          <p:cNvSpPr/>
          <p:nvPr/>
        </p:nvSpPr>
        <p:spPr>
          <a:xfrm>
            <a:off x="4508348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74" name="Text 72"/>
          <p:cNvSpPr/>
          <p:nvPr/>
        </p:nvSpPr>
        <p:spPr>
          <a:xfrm>
            <a:off x="4508348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UT</a:t>
            </a:r>
            <a:endParaRPr lang="en-US" sz="850" dirty="0"/>
          </a:p>
        </p:txBody>
      </p:sp>
      <p:sp>
        <p:nvSpPr>
          <p:cNvPr id="75" name="Shape 73"/>
          <p:cNvSpPr/>
          <p:nvPr/>
        </p:nvSpPr>
        <p:spPr>
          <a:xfrm>
            <a:off x="4909191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76" name="Text 74"/>
          <p:cNvSpPr/>
          <p:nvPr/>
        </p:nvSpPr>
        <p:spPr>
          <a:xfrm>
            <a:off x="4909191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</a:t>
            </a:r>
            <a:endParaRPr lang="en-US" sz="850" dirty="0"/>
          </a:p>
        </p:txBody>
      </p:sp>
      <p:sp>
        <p:nvSpPr>
          <p:cNvPr id="77" name="Shape 75"/>
          <p:cNvSpPr/>
          <p:nvPr/>
        </p:nvSpPr>
        <p:spPr>
          <a:xfrm>
            <a:off x="5310035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78" name="Text 76"/>
          <p:cNvSpPr/>
          <p:nvPr/>
        </p:nvSpPr>
        <p:spPr>
          <a:xfrm>
            <a:off x="5310035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KS</a:t>
            </a:r>
            <a:endParaRPr lang="en-US" sz="850" dirty="0"/>
          </a:p>
        </p:txBody>
      </p:sp>
      <p:sp>
        <p:nvSpPr>
          <p:cNvPr id="79" name="Shape 77"/>
          <p:cNvSpPr/>
          <p:nvPr/>
        </p:nvSpPr>
        <p:spPr>
          <a:xfrm>
            <a:off x="5710879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80" name="Text 78"/>
          <p:cNvSpPr/>
          <p:nvPr/>
        </p:nvSpPr>
        <p:spPr>
          <a:xfrm>
            <a:off x="5710879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</a:t>
            </a:r>
            <a:endParaRPr lang="en-US" sz="850" dirty="0"/>
          </a:p>
        </p:txBody>
      </p:sp>
      <p:sp>
        <p:nvSpPr>
          <p:cNvPr id="81" name="Shape 79"/>
          <p:cNvSpPr/>
          <p:nvPr/>
        </p:nvSpPr>
        <p:spPr>
          <a:xfrm>
            <a:off x="6111723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82" name="Text 80"/>
          <p:cNvSpPr/>
          <p:nvPr/>
        </p:nvSpPr>
        <p:spPr>
          <a:xfrm>
            <a:off x="6111723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KY</a:t>
            </a:r>
            <a:endParaRPr lang="en-US" sz="850" dirty="0"/>
          </a:p>
        </p:txBody>
      </p:sp>
      <p:sp>
        <p:nvSpPr>
          <p:cNvPr id="83" name="Shape 81"/>
          <p:cNvSpPr/>
          <p:nvPr/>
        </p:nvSpPr>
        <p:spPr>
          <a:xfrm>
            <a:off x="6512566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84" name="Text 82"/>
          <p:cNvSpPr/>
          <p:nvPr/>
        </p:nvSpPr>
        <p:spPr>
          <a:xfrm>
            <a:off x="6512566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WV</a:t>
            </a:r>
            <a:endParaRPr lang="en-US" sz="850" dirty="0"/>
          </a:p>
        </p:txBody>
      </p:sp>
      <p:sp>
        <p:nvSpPr>
          <p:cNvPr id="85" name="Shape 83"/>
          <p:cNvSpPr/>
          <p:nvPr/>
        </p:nvSpPr>
        <p:spPr>
          <a:xfrm>
            <a:off x="6913410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86" name="Text 84"/>
          <p:cNvSpPr/>
          <p:nvPr/>
        </p:nvSpPr>
        <p:spPr>
          <a:xfrm>
            <a:off x="6913410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DC</a:t>
            </a:r>
            <a:endParaRPr lang="en-US" sz="850" dirty="0"/>
          </a:p>
        </p:txBody>
      </p:sp>
      <p:sp>
        <p:nvSpPr>
          <p:cNvPr id="87" name="Shape 85"/>
          <p:cNvSpPr/>
          <p:nvPr/>
        </p:nvSpPr>
        <p:spPr>
          <a:xfrm>
            <a:off x="7314254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88" name="Text 86"/>
          <p:cNvSpPr/>
          <p:nvPr/>
        </p:nvSpPr>
        <p:spPr>
          <a:xfrm>
            <a:off x="7314254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MD</a:t>
            </a:r>
            <a:endParaRPr lang="en-US" sz="850" dirty="0"/>
          </a:p>
        </p:txBody>
      </p:sp>
      <p:sp>
        <p:nvSpPr>
          <p:cNvPr id="89" name="Shape 87"/>
          <p:cNvSpPr/>
          <p:nvPr/>
        </p:nvSpPr>
        <p:spPr>
          <a:xfrm>
            <a:off x="7715098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90" name="Text 88"/>
          <p:cNvSpPr/>
          <p:nvPr/>
        </p:nvSpPr>
        <p:spPr>
          <a:xfrm>
            <a:off x="7715098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</a:t>
            </a:r>
            <a:endParaRPr lang="en-US" sz="850" dirty="0"/>
          </a:p>
        </p:txBody>
      </p:sp>
      <p:sp>
        <p:nvSpPr>
          <p:cNvPr id="91" name="Shape 89"/>
          <p:cNvSpPr/>
          <p:nvPr/>
        </p:nvSpPr>
        <p:spPr>
          <a:xfrm>
            <a:off x="4508348" y="3833019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92" name="Text 90"/>
          <p:cNvSpPr/>
          <p:nvPr/>
        </p:nvSpPr>
        <p:spPr>
          <a:xfrm>
            <a:off x="4508348" y="385516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AZ</a:t>
            </a:r>
            <a:endParaRPr lang="en-US" sz="850" dirty="0"/>
          </a:p>
        </p:txBody>
      </p:sp>
      <p:sp>
        <p:nvSpPr>
          <p:cNvPr id="93" name="Shape 91"/>
          <p:cNvSpPr/>
          <p:nvPr/>
        </p:nvSpPr>
        <p:spPr>
          <a:xfrm>
            <a:off x="4909191" y="3833019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94" name="Text 92"/>
          <p:cNvSpPr/>
          <p:nvPr/>
        </p:nvSpPr>
        <p:spPr>
          <a:xfrm>
            <a:off x="4909191" y="385516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NM</a:t>
            </a:r>
            <a:endParaRPr lang="en-US" sz="850" dirty="0"/>
          </a:p>
        </p:txBody>
      </p:sp>
      <p:sp>
        <p:nvSpPr>
          <p:cNvPr id="95" name="Shape 93"/>
          <p:cNvSpPr/>
          <p:nvPr/>
        </p:nvSpPr>
        <p:spPr>
          <a:xfrm>
            <a:off x="5310035" y="3833019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96" name="Text 94"/>
          <p:cNvSpPr/>
          <p:nvPr/>
        </p:nvSpPr>
        <p:spPr>
          <a:xfrm>
            <a:off x="5310035" y="385516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OK</a:t>
            </a:r>
            <a:endParaRPr lang="en-US" sz="850" dirty="0"/>
          </a:p>
        </p:txBody>
      </p:sp>
      <p:sp>
        <p:nvSpPr>
          <p:cNvPr id="97" name="Shape 95"/>
          <p:cNvSpPr/>
          <p:nvPr/>
        </p:nvSpPr>
        <p:spPr>
          <a:xfrm>
            <a:off x="5710879" y="3833019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98" name="Text 96"/>
          <p:cNvSpPr/>
          <p:nvPr/>
        </p:nvSpPr>
        <p:spPr>
          <a:xfrm>
            <a:off x="5710879" y="385516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</a:t>
            </a:r>
            <a:endParaRPr lang="en-US" sz="850" dirty="0"/>
          </a:p>
        </p:txBody>
      </p:sp>
      <p:sp>
        <p:nvSpPr>
          <p:cNvPr id="99" name="Shape 97"/>
          <p:cNvSpPr/>
          <p:nvPr/>
        </p:nvSpPr>
        <p:spPr>
          <a:xfrm>
            <a:off x="6111723" y="3833019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00" name="Text 98"/>
          <p:cNvSpPr/>
          <p:nvPr/>
        </p:nvSpPr>
        <p:spPr>
          <a:xfrm>
            <a:off x="6111723" y="385516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TN</a:t>
            </a:r>
            <a:endParaRPr lang="en-US" sz="850" dirty="0"/>
          </a:p>
        </p:txBody>
      </p:sp>
      <p:sp>
        <p:nvSpPr>
          <p:cNvPr id="101" name="Shape 99"/>
          <p:cNvSpPr/>
          <p:nvPr/>
        </p:nvSpPr>
        <p:spPr>
          <a:xfrm>
            <a:off x="6512566" y="3833019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02" name="Text 100"/>
          <p:cNvSpPr/>
          <p:nvPr/>
        </p:nvSpPr>
        <p:spPr>
          <a:xfrm>
            <a:off x="6512566" y="385516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</a:t>
            </a:r>
            <a:endParaRPr lang="en-US" sz="850" dirty="0"/>
          </a:p>
        </p:txBody>
      </p:sp>
      <p:sp>
        <p:nvSpPr>
          <p:cNvPr id="103" name="Shape 101"/>
          <p:cNvSpPr/>
          <p:nvPr/>
        </p:nvSpPr>
        <p:spPr>
          <a:xfrm>
            <a:off x="6913410" y="3833019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04" name="Text 102"/>
          <p:cNvSpPr/>
          <p:nvPr/>
        </p:nvSpPr>
        <p:spPr>
          <a:xfrm>
            <a:off x="6913410" y="385516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NC</a:t>
            </a:r>
            <a:endParaRPr lang="en-US" sz="850" dirty="0"/>
          </a:p>
        </p:txBody>
      </p:sp>
      <p:sp>
        <p:nvSpPr>
          <p:cNvPr id="105" name="Shape 103"/>
          <p:cNvSpPr/>
          <p:nvPr/>
        </p:nvSpPr>
        <p:spPr>
          <a:xfrm>
            <a:off x="4909191" y="4233863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06" name="Shape 104"/>
          <p:cNvSpPr/>
          <p:nvPr/>
        </p:nvSpPr>
        <p:spPr>
          <a:xfrm>
            <a:off x="4949792" y="4474389"/>
            <a:ext cx="65623" cy="7689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7" name="Shape 105"/>
          <p:cNvSpPr/>
          <p:nvPr/>
        </p:nvSpPr>
        <p:spPr>
          <a:xfrm>
            <a:off x="5021765" y="4455165"/>
            <a:ext cx="65623" cy="9611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8" name="Shape 106"/>
          <p:cNvSpPr/>
          <p:nvPr/>
        </p:nvSpPr>
        <p:spPr>
          <a:xfrm>
            <a:off x="5093738" y="4443631"/>
            <a:ext cx="65623" cy="107652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09" name="Shape 107"/>
          <p:cNvSpPr/>
          <p:nvPr/>
        </p:nvSpPr>
        <p:spPr>
          <a:xfrm>
            <a:off x="5165712" y="4428252"/>
            <a:ext cx="65623" cy="123031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110" name="Text 108"/>
          <p:cNvSpPr/>
          <p:nvPr/>
        </p:nvSpPr>
        <p:spPr>
          <a:xfrm>
            <a:off x="4909191" y="425600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TX</a:t>
            </a:r>
            <a:endParaRPr lang="en-US" sz="850" dirty="0"/>
          </a:p>
        </p:txBody>
      </p:sp>
      <p:sp>
        <p:nvSpPr>
          <p:cNvPr id="111" name="Shape 109"/>
          <p:cNvSpPr/>
          <p:nvPr/>
        </p:nvSpPr>
        <p:spPr>
          <a:xfrm>
            <a:off x="5310035" y="4233863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12" name="Text 110"/>
          <p:cNvSpPr/>
          <p:nvPr/>
        </p:nvSpPr>
        <p:spPr>
          <a:xfrm>
            <a:off x="5310035" y="425600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</a:t>
            </a:r>
            <a:endParaRPr lang="en-US" sz="850" dirty="0"/>
          </a:p>
        </p:txBody>
      </p:sp>
      <p:sp>
        <p:nvSpPr>
          <p:cNvPr id="113" name="Shape 111"/>
          <p:cNvSpPr/>
          <p:nvPr/>
        </p:nvSpPr>
        <p:spPr>
          <a:xfrm>
            <a:off x="5710879" y="4233863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14" name="Text 112"/>
          <p:cNvSpPr/>
          <p:nvPr/>
        </p:nvSpPr>
        <p:spPr>
          <a:xfrm>
            <a:off x="5710879" y="425600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MS</a:t>
            </a:r>
            <a:endParaRPr lang="en-US" sz="850" dirty="0"/>
          </a:p>
        </p:txBody>
      </p:sp>
      <p:sp>
        <p:nvSpPr>
          <p:cNvPr id="115" name="Shape 113"/>
          <p:cNvSpPr/>
          <p:nvPr/>
        </p:nvSpPr>
        <p:spPr>
          <a:xfrm>
            <a:off x="6111723" y="4233863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16" name="Text 114"/>
          <p:cNvSpPr/>
          <p:nvPr/>
        </p:nvSpPr>
        <p:spPr>
          <a:xfrm>
            <a:off x="6111723" y="425600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</a:t>
            </a:r>
            <a:endParaRPr lang="en-US" sz="850" dirty="0"/>
          </a:p>
        </p:txBody>
      </p:sp>
      <p:sp>
        <p:nvSpPr>
          <p:cNvPr id="117" name="Shape 115"/>
          <p:cNvSpPr/>
          <p:nvPr/>
        </p:nvSpPr>
        <p:spPr>
          <a:xfrm>
            <a:off x="6512566" y="4233863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18" name="Text 116"/>
          <p:cNvSpPr/>
          <p:nvPr/>
        </p:nvSpPr>
        <p:spPr>
          <a:xfrm>
            <a:off x="6512566" y="425600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</a:t>
            </a:r>
            <a:endParaRPr lang="en-US" sz="850" dirty="0"/>
          </a:p>
        </p:txBody>
      </p:sp>
      <p:sp>
        <p:nvSpPr>
          <p:cNvPr id="119" name="Shape 117"/>
          <p:cNvSpPr/>
          <p:nvPr/>
        </p:nvSpPr>
        <p:spPr>
          <a:xfrm>
            <a:off x="6913410" y="4233863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20" name="Text 118"/>
          <p:cNvSpPr/>
          <p:nvPr/>
        </p:nvSpPr>
        <p:spPr>
          <a:xfrm>
            <a:off x="6913410" y="425600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</a:t>
            </a:r>
            <a:endParaRPr lang="en-US" sz="850" dirty="0"/>
          </a:p>
        </p:txBody>
      </p:sp>
      <p:sp>
        <p:nvSpPr>
          <p:cNvPr id="121" name="Shape 119"/>
          <p:cNvSpPr/>
          <p:nvPr/>
        </p:nvSpPr>
        <p:spPr>
          <a:xfrm>
            <a:off x="3706660" y="4634706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22" name="Text 120"/>
          <p:cNvSpPr/>
          <p:nvPr/>
        </p:nvSpPr>
        <p:spPr>
          <a:xfrm>
            <a:off x="3706660" y="4656852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HI</a:t>
            </a:r>
            <a:endParaRPr lang="en-US" sz="850" dirty="0"/>
          </a:p>
        </p:txBody>
      </p:sp>
      <p:sp>
        <p:nvSpPr>
          <p:cNvPr id="123" name="Shape 121"/>
          <p:cNvSpPr/>
          <p:nvPr/>
        </p:nvSpPr>
        <p:spPr>
          <a:xfrm>
            <a:off x="6512566" y="4634706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24" name="Shape 122"/>
          <p:cNvSpPr/>
          <p:nvPr/>
        </p:nvSpPr>
        <p:spPr>
          <a:xfrm>
            <a:off x="6553167" y="4894456"/>
            <a:ext cx="65623" cy="5767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5" name="Shape 123"/>
          <p:cNvSpPr/>
          <p:nvPr/>
        </p:nvSpPr>
        <p:spPr>
          <a:xfrm>
            <a:off x="6625140" y="4886767"/>
            <a:ext cx="65623" cy="6536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6" name="Shape 124"/>
          <p:cNvSpPr/>
          <p:nvPr/>
        </p:nvSpPr>
        <p:spPr>
          <a:xfrm>
            <a:off x="6697113" y="4879077"/>
            <a:ext cx="65623" cy="7305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27" name="Shape 125"/>
          <p:cNvSpPr/>
          <p:nvPr/>
        </p:nvSpPr>
        <p:spPr>
          <a:xfrm>
            <a:off x="6769087" y="4867543"/>
            <a:ext cx="65623" cy="84584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128" name="Text 126"/>
          <p:cNvSpPr/>
          <p:nvPr/>
        </p:nvSpPr>
        <p:spPr>
          <a:xfrm>
            <a:off x="6512566" y="4656852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FL</a:t>
            </a:r>
            <a:endParaRPr lang="en-US" sz="850" dirty="0"/>
          </a:p>
        </p:txBody>
      </p:sp>
      <p:sp>
        <p:nvSpPr>
          <p:cNvPr id="129" name="Shape 127"/>
          <p:cNvSpPr/>
          <p:nvPr/>
        </p:nvSpPr>
        <p:spPr>
          <a:xfrm>
            <a:off x="3706660" y="51117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0" name="Text 128"/>
          <p:cNvSpPr/>
          <p:nvPr/>
        </p:nvSpPr>
        <p:spPr>
          <a:xfrm>
            <a:off x="3833660" y="5073650"/>
            <a:ext cx="213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850" dirty="0"/>
          </a:p>
        </p:txBody>
      </p:sp>
      <p:sp>
        <p:nvSpPr>
          <p:cNvPr id="131" name="Shape 129"/>
          <p:cNvSpPr/>
          <p:nvPr/>
        </p:nvSpPr>
        <p:spPr>
          <a:xfrm>
            <a:off x="4123220" y="51117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2" name="Text 130"/>
          <p:cNvSpPr/>
          <p:nvPr/>
        </p:nvSpPr>
        <p:spPr>
          <a:xfrm>
            <a:off x="4250220" y="5073650"/>
            <a:ext cx="213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850" dirty="0"/>
          </a:p>
        </p:txBody>
      </p:sp>
      <p:sp>
        <p:nvSpPr>
          <p:cNvPr id="133" name="Shape 131"/>
          <p:cNvSpPr/>
          <p:nvPr/>
        </p:nvSpPr>
        <p:spPr>
          <a:xfrm>
            <a:off x="4539780" y="511175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34" name="Text 132"/>
          <p:cNvSpPr/>
          <p:nvPr/>
        </p:nvSpPr>
        <p:spPr>
          <a:xfrm>
            <a:off x="4666780" y="5073650"/>
            <a:ext cx="213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850" dirty="0"/>
          </a:p>
        </p:txBody>
      </p:sp>
      <p:sp>
        <p:nvSpPr>
          <p:cNvPr id="135" name="Shape 133"/>
          <p:cNvSpPr/>
          <p:nvPr/>
        </p:nvSpPr>
        <p:spPr>
          <a:xfrm>
            <a:off x="4956340" y="5111750"/>
            <a:ext cx="88900" cy="88900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136" name="Text 134"/>
          <p:cNvSpPr/>
          <p:nvPr/>
        </p:nvSpPr>
        <p:spPr>
          <a:xfrm>
            <a:off x="5083340" y="5073650"/>
            <a:ext cx="213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850" dirty="0"/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100% chart with negative segments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606552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329184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19050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597662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-0.5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458978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0.0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320294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0.5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479648" y="5143500"/>
            <a:ext cx="166031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139961" y="5143500"/>
            <a:ext cx="166031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800274" y="5143500"/>
            <a:ext cx="166031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756366" y="3014472"/>
            <a:ext cx="1106876" cy="1664208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705566" y="3751326"/>
            <a:ext cx="12084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60%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756366" y="1905000"/>
            <a:ext cx="1106876" cy="1109472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705566" y="2364486"/>
            <a:ext cx="12084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40%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756366" y="4678680"/>
            <a:ext cx="1106876" cy="416052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705566" y="4791456"/>
            <a:ext cx="12084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-15%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416680" y="2990353"/>
            <a:ext cx="1106876" cy="168832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365880" y="3739267"/>
            <a:ext cx="12084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61%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416680" y="1905000"/>
            <a:ext cx="1106876" cy="108535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365880" y="2352427"/>
            <a:ext cx="12084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39%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416680" y="4678680"/>
            <a:ext cx="1106876" cy="24119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365880" y="4704025"/>
            <a:ext cx="12084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-9%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7076993" y="2971800"/>
            <a:ext cx="1106876" cy="170688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026193" y="3729990"/>
            <a:ext cx="12084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62%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7076993" y="1905000"/>
            <a:ext cx="1106876" cy="106680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026193" y="2343150"/>
            <a:ext cx="12084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38%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7076993" y="4678680"/>
            <a:ext cx="1106876" cy="42672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026193" y="4796790"/>
            <a:ext cx="12084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-15%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479648" y="4678680"/>
            <a:ext cx="49809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511388" y="2352675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Renewal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8511388" y="3739515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New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8511388" y="4806315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Returns</a:t>
            </a:r>
            <a:endParaRPr lang="en-US" sz="1000" dirty="0"/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Semi-circle gauge (market share)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28848" y="1841500"/>
            <a:ext cx="5334000" cy="5334000"/>
          </a:xfrm>
          <a:custGeom>
            <a:avLst/>
            <a:gdLst/>
            <a:ahLst/>
            <a:cxnLst/>
            <a:rect l="l" t="t" r="r" b="b"/>
            <a:pathLst>
              <a:path w="5334000" h="5334000">
                <a:moveTo>
                  <a:pt x="0" y="2667000"/>
                </a:moveTo>
                <a:lnTo>
                  <a:pt x="13726" y="2396770"/>
                </a:lnTo>
                <a:lnTo>
                  <a:pt x="54761" y="2129322"/>
                </a:lnTo>
                <a:lnTo>
                  <a:pt x="122684" y="1867408"/>
                </a:lnTo>
                <a:lnTo>
                  <a:pt x="216796" y="1613725"/>
                </a:lnTo>
                <a:lnTo>
                  <a:pt x="336127" y="1370882"/>
                </a:lnTo>
                <a:lnTo>
                  <a:pt x="479450" y="1141381"/>
                </a:lnTo>
                <a:lnTo>
                  <a:pt x="645289" y="927582"/>
                </a:lnTo>
                <a:lnTo>
                  <a:pt x="831938" y="731687"/>
                </a:lnTo>
                <a:lnTo>
                  <a:pt x="1037474" y="555712"/>
                </a:lnTo>
                <a:lnTo>
                  <a:pt x="1259783" y="401469"/>
                </a:lnTo>
                <a:lnTo>
                  <a:pt x="1496577" y="270544"/>
                </a:lnTo>
                <a:lnTo>
                  <a:pt x="1745418" y="164286"/>
                </a:lnTo>
                <a:lnTo>
                  <a:pt x="2003744" y="83789"/>
                </a:lnTo>
                <a:lnTo>
                  <a:pt x="2282312" y="1168737"/>
                </a:lnTo>
                <a:lnTo>
                  <a:pt x="2132482" y="1215426"/>
                </a:lnTo>
                <a:lnTo>
                  <a:pt x="1988155" y="1277056"/>
                </a:lnTo>
                <a:lnTo>
                  <a:pt x="1850814" y="1352992"/>
                </a:lnTo>
                <a:lnTo>
                  <a:pt x="1721875" y="1442453"/>
                </a:lnTo>
                <a:lnTo>
                  <a:pt x="1602664" y="1544519"/>
                </a:lnTo>
                <a:lnTo>
                  <a:pt x="1494408" y="1658138"/>
                </a:lnTo>
                <a:lnTo>
                  <a:pt x="1398221" y="1782141"/>
                </a:lnTo>
                <a:lnTo>
                  <a:pt x="1315094" y="1915252"/>
                </a:lnTo>
                <a:lnTo>
                  <a:pt x="1245882" y="2056100"/>
                </a:lnTo>
                <a:lnTo>
                  <a:pt x="1191297" y="2203237"/>
                </a:lnTo>
                <a:lnTo>
                  <a:pt x="1151901" y="2355147"/>
                </a:lnTo>
                <a:lnTo>
                  <a:pt x="1128101" y="2510267"/>
                </a:lnTo>
                <a:lnTo>
                  <a:pt x="1120140" y="2667000"/>
                </a:lnTo>
                <a:close/>
              </a:path>
            </a:pathLst>
          </a:cu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923277" y="2823281"/>
            <a:ext cx="55192" cy="42812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445944" y="2716356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 42%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428848" y="1841500"/>
            <a:ext cx="5334000" cy="5334000"/>
          </a:xfrm>
          <a:custGeom>
            <a:avLst/>
            <a:gdLst/>
            <a:ahLst/>
            <a:cxnLst/>
            <a:rect l="l" t="t" r="r" b="b"/>
            <a:pathLst>
              <a:path w="5334000" h="5334000">
                <a:moveTo>
                  <a:pt x="2003744" y="83789"/>
                </a:moveTo>
                <a:lnTo>
                  <a:pt x="2258987" y="31395"/>
                </a:lnTo>
                <a:lnTo>
                  <a:pt x="2518124" y="4158"/>
                </a:lnTo>
                <a:lnTo>
                  <a:pt x="2778682" y="2339"/>
                </a:lnTo>
                <a:lnTo>
                  <a:pt x="3038175" y="25955"/>
                </a:lnTo>
                <a:lnTo>
                  <a:pt x="3294124" y="74780"/>
                </a:lnTo>
                <a:lnTo>
                  <a:pt x="3544087" y="148348"/>
                </a:lnTo>
                <a:lnTo>
                  <a:pt x="3785679" y="245957"/>
                </a:lnTo>
                <a:lnTo>
                  <a:pt x="4016592" y="366676"/>
                </a:lnTo>
                <a:lnTo>
                  <a:pt x="4234623" y="509352"/>
                </a:lnTo>
                <a:lnTo>
                  <a:pt x="3576221" y="1415564"/>
                </a:lnTo>
                <a:lnTo>
                  <a:pt x="3449763" y="1332812"/>
                </a:lnTo>
                <a:lnTo>
                  <a:pt x="3315834" y="1262795"/>
                </a:lnTo>
                <a:lnTo>
                  <a:pt x="3175711" y="1206182"/>
                </a:lnTo>
                <a:lnTo>
                  <a:pt x="3030732" y="1163512"/>
                </a:lnTo>
                <a:lnTo>
                  <a:pt x="2882281" y="1135194"/>
                </a:lnTo>
                <a:lnTo>
                  <a:pt x="2731776" y="1121497"/>
                </a:lnTo>
                <a:lnTo>
                  <a:pt x="2580652" y="1122552"/>
                </a:lnTo>
                <a:lnTo>
                  <a:pt x="2430352" y="1138349"/>
                </a:lnTo>
                <a:lnTo>
                  <a:pt x="2282312" y="1168737"/>
                </a:lnTo>
                <a:close/>
              </a:path>
            </a:pathLst>
          </a:cu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V="1">
            <a:off x="6597973" y="1807652"/>
            <a:ext cx="13089" cy="68613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614632" y="1693690"/>
            <a:ext cx="8051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Rival A 28%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428848" y="1841500"/>
            <a:ext cx="5334000" cy="5334000"/>
          </a:xfrm>
          <a:custGeom>
            <a:avLst/>
            <a:gdLst/>
            <a:ahLst/>
            <a:cxnLst/>
            <a:rect l="l" t="t" r="r" b="b"/>
            <a:pathLst>
              <a:path w="5334000" h="5334000">
                <a:moveTo>
                  <a:pt x="4234623" y="509352"/>
                </a:moveTo>
                <a:lnTo>
                  <a:pt x="4430719" y="666454"/>
                </a:lnTo>
                <a:lnTo>
                  <a:pt x="4611159" y="841313"/>
                </a:lnTo>
                <a:lnTo>
                  <a:pt x="4774343" y="1032377"/>
                </a:lnTo>
                <a:lnTo>
                  <a:pt x="4918823" y="1237950"/>
                </a:lnTo>
                <a:lnTo>
                  <a:pt x="5043314" y="1456207"/>
                </a:lnTo>
                <a:lnTo>
                  <a:pt x="5146714" y="1685212"/>
                </a:lnTo>
                <a:lnTo>
                  <a:pt x="4105234" y="2097563"/>
                </a:lnTo>
                <a:lnTo>
                  <a:pt x="4045262" y="1964740"/>
                </a:lnTo>
                <a:lnTo>
                  <a:pt x="3973057" y="1838151"/>
                </a:lnTo>
                <a:lnTo>
                  <a:pt x="3889259" y="1718919"/>
                </a:lnTo>
                <a:lnTo>
                  <a:pt x="3794612" y="1608101"/>
                </a:lnTo>
                <a:lnTo>
                  <a:pt x="3689957" y="1506683"/>
                </a:lnTo>
                <a:lnTo>
                  <a:pt x="3576221" y="1415564"/>
                </a:lnTo>
                <a:close/>
              </a:path>
            </a:pathLst>
          </a:cu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8213226" y="2823281"/>
            <a:ext cx="55192" cy="42812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83471" y="2716356"/>
            <a:ext cx="8051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Rival B 18%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428848" y="1841500"/>
            <a:ext cx="5334000" cy="5334000"/>
          </a:xfrm>
          <a:custGeom>
            <a:avLst/>
            <a:gdLst/>
            <a:ahLst/>
            <a:cxnLst/>
            <a:rect l="l" t="t" r="r" b="b"/>
            <a:pathLst>
              <a:path w="5334000" h="5334000">
                <a:moveTo>
                  <a:pt x="5146714" y="1685212"/>
                </a:moveTo>
                <a:lnTo>
                  <a:pt x="5228103" y="1922931"/>
                </a:lnTo>
                <a:lnTo>
                  <a:pt x="5286760" y="2167254"/>
                </a:lnTo>
                <a:lnTo>
                  <a:pt x="5322164" y="2416013"/>
                </a:lnTo>
                <a:lnTo>
                  <a:pt x="5334000" y="2667000"/>
                </a:lnTo>
                <a:lnTo>
                  <a:pt x="4213860" y="2667000"/>
                </a:lnTo>
                <a:lnTo>
                  <a:pt x="4206995" y="2521428"/>
                </a:lnTo>
                <a:lnTo>
                  <a:pt x="4186461" y="2377147"/>
                </a:lnTo>
                <a:lnTo>
                  <a:pt x="4152440" y="2235440"/>
                </a:lnTo>
                <a:lnTo>
                  <a:pt x="4105234" y="2097563"/>
                </a:lnTo>
                <a:close/>
              </a:path>
            </a:pathLst>
          </a:cu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8728083" y="3993286"/>
            <a:ext cx="68613" cy="13089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815408" y="3894466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Others 12%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428848" y="4292600"/>
            <a:ext cx="5334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1700" dirty="0"/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Pareto chart (defect causes)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8978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Scratches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971138" y="5143500"/>
            <a:ext cx="8978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Dents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869028" y="5143500"/>
            <a:ext cx="8978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Misalign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766918" y="5143500"/>
            <a:ext cx="8978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Cracks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664808" y="5143500"/>
            <a:ext cx="8978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Paint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562698" y="5143500"/>
            <a:ext cx="8978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22896" y="2545080"/>
            <a:ext cx="598593" cy="25603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172096" y="3729990"/>
            <a:ext cx="7001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120786" y="3398520"/>
            <a:ext cx="598593" cy="170688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069986" y="4156710"/>
            <a:ext cx="7001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018676" y="4145280"/>
            <a:ext cx="598593" cy="9601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967876" y="4530090"/>
            <a:ext cx="7001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16566" y="4465320"/>
            <a:ext cx="598593" cy="64008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865766" y="4690110"/>
            <a:ext cx="7001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814456" y="4785360"/>
            <a:ext cx="598593" cy="32004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763656" y="4850130"/>
            <a:ext cx="7001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712346" y="4892040"/>
            <a:ext cx="598593" cy="21336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661546" y="4903470"/>
            <a:ext cx="7001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073248" y="5105400"/>
            <a:ext cx="53873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511388" y="4843145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Defects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8485988" y="50165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8485988" y="34163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8485988" y="18161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3491713" y="379476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141193" y="361569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 flipV="1">
            <a:off x="3522193" y="2970733"/>
            <a:ext cx="897890" cy="854507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389603" y="2940253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039083" y="2761183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67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 flipV="1">
            <a:off x="4420083" y="2490673"/>
            <a:ext cx="897890" cy="48006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287493" y="2460193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936973" y="2281123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82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 flipV="1">
            <a:off x="5317973" y="2170633"/>
            <a:ext cx="897890" cy="32004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185383" y="2140153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834863" y="1961083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92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 flipV="1">
            <a:off x="6215863" y="2010613"/>
            <a:ext cx="897890" cy="16002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7083273" y="1980133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732753" y="1801063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 flipV="1">
            <a:off x="7113753" y="1905000"/>
            <a:ext cx="897890" cy="105613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7981163" y="187452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630643" y="169545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8511388" y="1631950"/>
            <a:ext cx="6324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Cumulative %</a:t>
            </a:r>
            <a:endParaRPr lang="en-US" sz="1000" dirty="0"/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Bump chart (brand rank by year)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215488" y="1803400"/>
            <a:ext cx="101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01668" y="1803400"/>
            <a:ext cx="101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587848" y="1803400"/>
            <a:ext cx="101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774028" y="1803400"/>
            <a:ext cx="101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960208" y="1803400"/>
            <a:ext cx="101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723488" y="2006600"/>
            <a:ext cx="1186180" cy="781050"/>
          </a:xfrm>
          <a:prstGeom prst="line">
            <a:avLst/>
          </a:prstGeom>
          <a:noFill/>
          <a:ln w="44450">
            <a:solidFill>
              <a:srgbClr val="2A78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909668" y="2787650"/>
            <a:ext cx="1186180" cy="0"/>
          </a:xfrm>
          <a:prstGeom prst="line">
            <a:avLst/>
          </a:prstGeom>
          <a:noFill/>
          <a:ln w="44450">
            <a:solidFill>
              <a:srgbClr val="2A78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6095848" y="2006600"/>
            <a:ext cx="1186180" cy="781050"/>
          </a:xfrm>
          <a:prstGeom prst="line">
            <a:avLst/>
          </a:prstGeom>
          <a:noFill/>
          <a:ln w="44450">
            <a:solidFill>
              <a:srgbClr val="2A78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282028" y="2006600"/>
            <a:ext cx="1186180" cy="0"/>
          </a:xfrm>
          <a:prstGeom prst="line">
            <a:avLst/>
          </a:prstGeom>
          <a:noFill/>
          <a:ln w="44450">
            <a:solidFill>
              <a:srgbClr val="2A78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672688" y="1955800"/>
            <a:ext cx="101600" cy="101600"/>
          </a:xfrm>
          <a:prstGeom prst="ellipse">
            <a:avLst/>
          </a:prstGeom>
          <a:solidFill>
            <a:srgbClr val="2A78D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858868" y="2736850"/>
            <a:ext cx="101600" cy="101600"/>
          </a:xfrm>
          <a:prstGeom prst="ellipse">
            <a:avLst/>
          </a:prstGeom>
          <a:solidFill>
            <a:srgbClr val="2A78D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045048" y="2736850"/>
            <a:ext cx="101600" cy="101600"/>
          </a:xfrm>
          <a:prstGeom prst="ellipse">
            <a:avLst/>
          </a:prstGeom>
          <a:solidFill>
            <a:srgbClr val="2A78D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231228" y="1955800"/>
            <a:ext cx="101600" cy="101600"/>
          </a:xfrm>
          <a:prstGeom prst="ellipse">
            <a:avLst/>
          </a:prstGeom>
          <a:solidFill>
            <a:srgbClr val="2A78D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417408" y="1955800"/>
            <a:ext cx="101600" cy="101600"/>
          </a:xfrm>
          <a:prstGeom prst="ellipse">
            <a:avLst/>
          </a:prstGeom>
          <a:solidFill>
            <a:srgbClr val="2A78D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047848" y="191135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A78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Acme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8531708" y="191135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A78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Acme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 flipV="1">
            <a:off x="3723488" y="2006600"/>
            <a:ext cx="1186180" cy="781050"/>
          </a:xfrm>
          <a:prstGeom prst="line">
            <a:avLst/>
          </a:prstGeom>
          <a:noFill/>
          <a:ln w="44450">
            <a:solidFill>
              <a:srgbClr val="1BAF7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909668" y="2006600"/>
            <a:ext cx="1186180" cy="0"/>
          </a:xfrm>
          <a:prstGeom prst="line">
            <a:avLst/>
          </a:prstGeom>
          <a:noFill/>
          <a:ln w="44450">
            <a:solidFill>
              <a:srgbClr val="1BAF7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095848" y="2006600"/>
            <a:ext cx="1186180" cy="1562100"/>
          </a:xfrm>
          <a:prstGeom prst="line">
            <a:avLst/>
          </a:prstGeom>
          <a:noFill/>
          <a:ln w="44450">
            <a:solidFill>
              <a:srgbClr val="1BAF7A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flipV="1">
            <a:off x="7282028" y="2787650"/>
            <a:ext cx="1186180" cy="781050"/>
          </a:xfrm>
          <a:prstGeom prst="line">
            <a:avLst/>
          </a:prstGeom>
          <a:noFill/>
          <a:ln w="44450">
            <a:solidFill>
              <a:srgbClr val="1BAF7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672688" y="2736850"/>
            <a:ext cx="101600" cy="101600"/>
          </a:xfrm>
          <a:prstGeom prst="ellipse">
            <a:avLst/>
          </a:prstGeom>
          <a:solidFill>
            <a:srgbClr val="1BAF7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858868" y="1955800"/>
            <a:ext cx="101600" cy="101600"/>
          </a:xfrm>
          <a:prstGeom prst="ellipse">
            <a:avLst/>
          </a:prstGeom>
          <a:solidFill>
            <a:srgbClr val="1BAF7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045048" y="1955800"/>
            <a:ext cx="101600" cy="101600"/>
          </a:xfrm>
          <a:prstGeom prst="ellipse">
            <a:avLst/>
          </a:prstGeom>
          <a:solidFill>
            <a:srgbClr val="1BAF7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231228" y="3517900"/>
            <a:ext cx="101600" cy="101600"/>
          </a:xfrm>
          <a:prstGeom prst="ellipse">
            <a:avLst/>
          </a:prstGeom>
          <a:solidFill>
            <a:srgbClr val="1BAF7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417408" y="2736850"/>
            <a:ext cx="101600" cy="101600"/>
          </a:xfrm>
          <a:prstGeom prst="ellipse">
            <a:avLst/>
          </a:prstGeom>
          <a:solidFill>
            <a:srgbClr val="1BAF7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047848" y="269240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Globex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531708" y="269240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Globex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723488" y="3568700"/>
            <a:ext cx="1186180" cy="0"/>
          </a:xfrm>
          <a:prstGeom prst="line">
            <a:avLst/>
          </a:prstGeom>
          <a:noFill/>
          <a:ln w="44450">
            <a:solidFill>
              <a:srgbClr val="EDA10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909668" y="3568700"/>
            <a:ext cx="1186180" cy="781050"/>
          </a:xfrm>
          <a:prstGeom prst="line">
            <a:avLst/>
          </a:prstGeom>
          <a:noFill/>
          <a:ln w="44450">
            <a:solidFill>
              <a:srgbClr val="EDA10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 flipV="1">
            <a:off x="6095848" y="2787650"/>
            <a:ext cx="1186180" cy="1562100"/>
          </a:xfrm>
          <a:prstGeom prst="line">
            <a:avLst/>
          </a:prstGeom>
          <a:noFill/>
          <a:ln w="44450">
            <a:solidFill>
              <a:srgbClr val="EDA10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282028" y="2787650"/>
            <a:ext cx="1186180" cy="781050"/>
          </a:xfrm>
          <a:prstGeom prst="line">
            <a:avLst/>
          </a:prstGeom>
          <a:noFill/>
          <a:ln w="44450">
            <a:solidFill>
              <a:srgbClr val="EDA10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672688" y="3517900"/>
            <a:ext cx="101600" cy="101600"/>
          </a:xfrm>
          <a:prstGeom prst="ellipse">
            <a:avLst/>
          </a:prstGeom>
          <a:solidFill>
            <a:srgbClr val="EDA1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858868" y="3517900"/>
            <a:ext cx="101600" cy="101600"/>
          </a:xfrm>
          <a:prstGeom prst="ellipse">
            <a:avLst/>
          </a:prstGeom>
          <a:solidFill>
            <a:srgbClr val="EDA1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45048" y="4298950"/>
            <a:ext cx="101600" cy="101600"/>
          </a:xfrm>
          <a:prstGeom prst="ellipse">
            <a:avLst/>
          </a:prstGeom>
          <a:solidFill>
            <a:srgbClr val="EDA1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231228" y="2736850"/>
            <a:ext cx="101600" cy="101600"/>
          </a:xfrm>
          <a:prstGeom prst="ellipse">
            <a:avLst/>
          </a:prstGeom>
          <a:solidFill>
            <a:srgbClr val="EDA1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8417408" y="3517900"/>
            <a:ext cx="101600" cy="101600"/>
          </a:xfrm>
          <a:prstGeom prst="ellipse">
            <a:avLst/>
          </a:prstGeom>
          <a:solidFill>
            <a:srgbClr val="EDA1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047848" y="347345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EDA1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Initech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8531708" y="347345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EDA1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Initech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3723488" y="4349750"/>
            <a:ext cx="1186180" cy="0"/>
          </a:xfrm>
          <a:prstGeom prst="line">
            <a:avLst/>
          </a:prstGeom>
          <a:noFill/>
          <a:ln w="44450">
            <a:solidFill>
              <a:srgbClr val="00830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 flipV="1">
            <a:off x="4909668" y="3568700"/>
            <a:ext cx="1186180" cy="781050"/>
          </a:xfrm>
          <a:prstGeom prst="line">
            <a:avLst/>
          </a:prstGeom>
          <a:noFill/>
          <a:ln w="44450">
            <a:solidFill>
              <a:srgbClr val="00830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6095848" y="3568700"/>
            <a:ext cx="1186180" cy="781050"/>
          </a:xfrm>
          <a:prstGeom prst="line">
            <a:avLst/>
          </a:prstGeom>
          <a:noFill/>
          <a:ln w="44450">
            <a:solidFill>
              <a:srgbClr val="008300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7282028" y="4349750"/>
            <a:ext cx="1186180" cy="781050"/>
          </a:xfrm>
          <a:prstGeom prst="line">
            <a:avLst/>
          </a:prstGeom>
          <a:noFill/>
          <a:ln w="44450">
            <a:solidFill>
              <a:srgbClr val="008300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3672688" y="4298950"/>
            <a:ext cx="101600" cy="101600"/>
          </a:xfrm>
          <a:prstGeom prst="ellipse">
            <a:avLst/>
          </a:prstGeom>
          <a:solidFill>
            <a:srgbClr val="0083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4858868" y="4298950"/>
            <a:ext cx="101600" cy="101600"/>
          </a:xfrm>
          <a:prstGeom prst="ellipse">
            <a:avLst/>
          </a:prstGeom>
          <a:solidFill>
            <a:srgbClr val="0083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6045048" y="3517900"/>
            <a:ext cx="101600" cy="101600"/>
          </a:xfrm>
          <a:prstGeom prst="ellipse">
            <a:avLst/>
          </a:prstGeom>
          <a:solidFill>
            <a:srgbClr val="0083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7231228" y="4298950"/>
            <a:ext cx="101600" cy="101600"/>
          </a:xfrm>
          <a:prstGeom prst="ellipse">
            <a:avLst/>
          </a:prstGeom>
          <a:solidFill>
            <a:srgbClr val="0083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8417408" y="5080000"/>
            <a:ext cx="101600" cy="101600"/>
          </a:xfrm>
          <a:prstGeom prst="ellipse">
            <a:avLst/>
          </a:prstGeom>
          <a:solidFill>
            <a:srgbClr val="0083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047848" y="425450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083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Umbrella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8531708" y="503555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083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Umbrella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>
            <a:off x="3723488" y="5130800"/>
            <a:ext cx="1186180" cy="0"/>
          </a:xfrm>
          <a:prstGeom prst="line">
            <a:avLst/>
          </a:prstGeom>
          <a:noFill/>
          <a:ln w="44450">
            <a:solidFill>
              <a:srgbClr val="4A3AA7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4909668" y="5130800"/>
            <a:ext cx="1186180" cy="0"/>
          </a:xfrm>
          <a:prstGeom prst="line">
            <a:avLst/>
          </a:prstGeom>
          <a:noFill/>
          <a:ln w="44450">
            <a:solidFill>
              <a:srgbClr val="4A3AA7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6095848" y="5130800"/>
            <a:ext cx="1186180" cy="0"/>
          </a:xfrm>
          <a:prstGeom prst="line">
            <a:avLst/>
          </a:prstGeom>
          <a:noFill/>
          <a:ln w="44450">
            <a:solidFill>
              <a:srgbClr val="4A3AA7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 flipV="1">
            <a:off x="7282028" y="4349750"/>
            <a:ext cx="1186180" cy="781050"/>
          </a:xfrm>
          <a:prstGeom prst="line">
            <a:avLst/>
          </a:prstGeom>
          <a:noFill/>
          <a:ln w="44450">
            <a:solidFill>
              <a:srgbClr val="4A3AA7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3672688" y="5080000"/>
            <a:ext cx="101600" cy="101600"/>
          </a:xfrm>
          <a:prstGeom prst="ellipse">
            <a:avLst/>
          </a:prstGeom>
          <a:solidFill>
            <a:srgbClr val="4A3AA7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4858868" y="5080000"/>
            <a:ext cx="101600" cy="101600"/>
          </a:xfrm>
          <a:prstGeom prst="ellipse">
            <a:avLst/>
          </a:prstGeom>
          <a:solidFill>
            <a:srgbClr val="4A3AA7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6045048" y="5080000"/>
            <a:ext cx="101600" cy="101600"/>
          </a:xfrm>
          <a:prstGeom prst="ellipse">
            <a:avLst/>
          </a:prstGeom>
          <a:solidFill>
            <a:srgbClr val="4A3AA7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7231228" y="5080000"/>
            <a:ext cx="101600" cy="101600"/>
          </a:xfrm>
          <a:prstGeom prst="ellipse">
            <a:avLst/>
          </a:prstGeom>
          <a:solidFill>
            <a:srgbClr val="4A3AA7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8417408" y="4298950"/>
            <a:ext cx="101600" cy="101600"/>
          </a:xfrm>
          <a:prstGeom prst="ellipse">
            <a:avLst/>
          </a:prstGeom>
          <a:solidFill>
            <a:srgbClr val="4A3AA7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3047848" y="503555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4A3AA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Soylent</a:t>
            </a:r>
            <a:endParaRPr lang="en-US" sz="1000" dirty="0"/>
          </a:p>
        </p:txBody>
      </p:sp>
      <p:sp>
        <p:nvSpPr>
          <p:cNvPr id="62" name="Text 60"/>
          <p:cNvSpPr/>
          <p:nvPr/>
        </p:nvSpPr>
        <p:spPr>
          <a:xfrm>
            <a:off x="8531708" y="425450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4A3AA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Soylent</a:t>
            </a:r>
            <a:endParaRPr lang="en-US" sz="1000" dirty="0"/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Horizontal profile chart (line)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871568" y="1879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907888" y="1879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944208" y="1879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80528" y="1879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016848" y="1879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530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456676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560308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663940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767572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87120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047848" y="2055283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Strategy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047848" y="2597150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Execution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047848" y="3139017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Culture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3047848" y="3680883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Innovation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3047848" y="4222750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Finance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3047848" y="4764617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Talent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535520" y="2120053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616800" y="2055283"/>
            <a:ext cx="381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72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 flipV="1">
            <a:off x="6840576" y="2150533"/>
            <a:ext cx="725424" cy="54186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810096" y="26619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891376" y="2597150"/>
            <a:ext cx="381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840576" y="2692400"/>
            <a:ext cx="1139952" cy="54186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950048" y="3203787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031328" y="3139017"/>
            <a:ext cx="381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 flipV="1">
            <a:off x="7203288" y="3234267"/>
            <a:ext cx="777240" cy="54186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172808" y="3745653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254088" y="3680883"/>
            <a:ext cx="381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65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7203288" y="3776133"/>
            <a:ext cx="1295400" cy="54186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468208" y="42875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549488" y="4222750"/>
            <a:ext cx="381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90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 flipV="1">
            <a:off x="6322416" y="4318000"/>
            <a:ext cx="2176272" cy="54186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291936" y="4829387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373216" y="4764617"/>
            <a:ext cx="381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Horizontal profile chart (stacked area)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976343" y="2057400"/>
            <a:ext cx="0" cy="3073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323178" y="2057400"/>
            <a:ext cx="0" cy="3073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670013" y="2057400"/>
            <a:ext cx="0" cy="3073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016848" y="2057400"/>
            <a:ext cx="0" cy="3073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32470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671543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601837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7365213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87120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047848" y="226949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047848" y="288417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3047848" y="349885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047848" y="411353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West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047848" y="472821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Central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29508" y="18732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Text 16"/>
          <p:cNvSpPr/>
          <p:nvPr/>
        </p:nvSpPr>
        <p:spPr>
          <a:xfrm>
            <a:off x="3756508" y="1828800"/>
            <a:ext cx="4876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Retail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320388" y="18732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" name="Text 18"/>
          <p:cNvSpPr/>
          <p:nvPr/>
        </p:nvSpPr>
        <p:spPr>
          <a:xfrm>
            <a:off x="4447388" y="1828800"/>
            <a:ext cx="4876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Online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29508" y="184150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Text 20"/>
          <p:cNvSpPr/>
          <p:nvPr/>
        </p:nvSpPr>
        <p:spPr>
          <a:xfrm>
            <a:off x="3756508" y="1803400"/>
            <a:ext cx="4876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Retail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320388" y="184150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4" name="Text 22"/>
          <p:cNvSpPr/>
          <p:nvPr/>
        </p:nvSpPr>
        <p:spPr>
          <a:xfrm>
            <a:off x="4447388" y="1803400"/>
            <a:ext cx="4876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Online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629508" y="2364740"/>
            <a:ext cx="2714714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6" name="Shape 24"/>
          <p:cNvSpPr/>
          <p:nvPr/>
        </p:nvSpPr>
        <p:spPr>
          <a:xfrm>
            <a:off x="3629508" y="2390352"/>
            <a:ext cx="2756803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Shape 25"/>
          <p:cNvSpPr/>
          <p:nvPr/>
        </p:nvSpPr>
        <p:spPr>
          <a:xfrm>
            <a:off x="3629508" y="2415963"/>
            <a:ext cx="2798891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8" name="Shape 26"/>
          <p:cNvSpPr/>
          <p:nvPr/>
        </p:nvSpPr>
        <p:spPr>
          <a:xfrm>
            <a:off x="3629508" y="2441575"/>
            <a:ext cx="2840980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9" name="Shape 27"/>
          <p:cNvSpPr/>
          <p:nvPr/>
        </p:nvSpPr>
        <p:spPr>
          <a:xfrm>
            <a:off x="3629508" y="2467187"/>
            <a:ext cx="2883069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Shape 28"/>
          <p:cNvSpPr/>
          <p:nvPr/>
        </p:nvSpPr>
        <p:spPr>
          <a:xfrm>
            <a:off x="3629508" y="2492798"/>
            <a:ext cx="2925157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Shape 29"/>
          <p:cNvSpPr/>
          <p:nvPr/>
        </p:nvSpPr>
        <p:spPr>
          <a:xfrm>
            <a:off x="3629508" y="2518410"/>
            <a:ext cx="2967246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2" name="Shape 30"/>
          <p:cNvSpPr/>
          <p:nvPr/>
        </p:nvSpPr>
        <p:spPr>
          <a:xfrm>
            <a:off x="3629508" y="2544022"/>
            <a:ext cx="3009334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Shape 31"/>
          <p:cNvSpPr/>
          <p:nvPr/>
        </p:nvSpPr>
        <p:spPr>
          <a:xfrm>
            <a:off x="3629508" y="2569633"/>
            <a:ext cx="3051423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4" name="Shape 32"/>
          <p:cNvSpPr/>
          <p:nvPr/>
        </p:nvSpPr>
        <p:spPr>
          <a:xfrm>
            <a:off x="3629508" y="2595245"/>
            <a:ext cx="3093512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Shape 33"/>
          <p:cNvSpPr/>
          <p:nvPr/>
        </p:nvSpPr>
        <p:spPr>
          <a:xfrm>
            <a:off x="3629508" y="2620857"/>
            <a:ext cx="3135600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6" name="Shape 34"/>
          <p:cNvSpPr/>
          <p:nvPr/>
        </p:nvSpPr>
        <p:spPr>
          <a:xfrm>
            <a:off x="3629508" y="2646468"/>
            <a:ext cx="3177689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7" name="Shape 35"/>
          <p:cNvSpPr/>
          <p:nvPr/>
        </p:nvSpPr>
        <p:spPr>
          <a:xfrm>
            <a:off x="3629508" y="2672080"/>
            <a:ext cx="3219777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8" name="Shape 36"/>
          <p:cNvSpPr/>
          <p:nvPr/>
        </p:nvSpPr>
        <p:spPr>
          <a:xfrm>
            <a:off x="3629508" y="2697692"/>
            <a:ext cx="3261866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9" name="Shape 37"/>
          <p:cNvSpPr/>
          <p:nvPr/>
        </p:nvSpPr>
        <p:spPr>
          <a:xfrm>
            <a:off x="3629508" y="2723303"/>
            <a:ext cx="3303955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0" name="Shape 38"/>
          <p:cNvSpPr/>
          <p:nvPr/>
        </p:nvSpPr>
        <p:spPr>
          <a:xfrm>
            <a:off x="3629508" y="2748915"/>
            <a:ext cx="3346043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1" name="Shape 39"/>
          <p:cNvSpPr/>
          <p:nvPr/>
        </p:nvSpPr>
        <p:spPr>
          <a:xfrm>
            <a:off x="3629508" y="2774527"/>
            <a:ext cx="3388132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2" name="Shape 40"/>
          <p:cNvSpPr/>
          <p:nvPr/>
        </p:nvSpPr>
        <p:spPr>
          <a:xfrm>
            <a:off x="3629508" y="2800138"/>
            <a:ext cx="3430220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3" name="Shape 41"/>
          <p:cNvSpPr/>
          <p:nvPr/>
        </p:nvSpPr>
        <p:spPr>
          <a:xfrm>
            <a:off x="3629508" y="2825750"/>
            <a:ext cx="3472309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4" name="Shape 42"/>
          <p:cNvSpPr/>
          <p:nvPr/>
        </p:nvSpPr>
        <p:spPr>
          <a:xfrm>
            <a:off x="3629508" y="2851362"/>
            <a:ext cx="3514398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5" name="Shape 43"/>
          <p:cNvSpPr/>
          <p:nvPr/>
        </p:nvSpPr>
        <p:spPr>
          <a:xfrm>
            <a:off x="3629508" y="2876973"/>
            <a:ext cx="3556486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6" name="Shape 44"/>
          <p:cNvSpPr/>
          <p:nvPr/>
        </p:nvSpPr>
        <p:spPr>
          <a:xfrm>
            <a:off x="3629508" y="2902585"/>
            <a:ext cx="3598575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7" name="Shape 45"/>
          <p:cNvSpPr/>
          <p:nvPr/>
        </p:nvSpPr>
        <p:spPr>
          <a:xfrm>
            <a:off x="3629508" y="2928197"/>
            <a:ext cx="3640663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8" name="Shape 46"/>
          <p:cNvSpPr/>
          <p:nvPr/>
        </p:nvSpPr>
        <p:spPr>
          <a:xfrm>
            <a:off x="3629508" y="2953808"/>
            <a:ext cx="3682752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3629508" y="2979420"/>
            <a:ext cx="3668722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0" name="Shape 48"/>
          <p:cNvSpPr/>
          <p:nvPr/>
        </p:nvSpPr>
        <p:spPr>
          <a:xfrm>
            <a:off x="3629508" y="3005032"/>
            <a:ext cx="3598575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1" name="Shape 49"/>
          <p:cNvSpPr/>
          <p:nvPr/>
        </p:nvSpPr>
        <p:spPr>
          <a:xfrm>
            <a:off x="3629508" y="3030643"/>
            <a:ext cx="3528427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2" name="Shape 50"/>
          <p:cNvSpPr/>
          <p:nvPr/>
        </p:nvSpPr>
        <p:spPr>
          <a:xfrm>
            <a:off x="3629508" y="3056255"/>
            <a:ext cx="3458279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3" name="Shape 51"/>
          <p:cNvSpPr/>
          <p:nvPr/>
        </p:nvSpPr>
        <p:spPr>
          <a:xfrm>
            <a:off x="3629508" y="3081867"/>
            <a:ext cx="3388132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4" name="Shape 52"/>
          <p:cNvSpPr/>
          <p:nvPr/>
        </p:nvSpPr>
        <p:spPr>
          <a:xfrm>
            <a:off x="3629508" y="3107478"/>
            <a:ext cx="3317984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5" name="Shape 53"/>
          <p:cNvSpPr/>
          <p:nvPr/>
        </p:nvSpPr>
        <p:spPr>
          <a:xfrm>
            <a:off x="3629508" y="3133090"/>
            <a:ext cx="3247836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6" name="Shape 54"/>
          <p:cNvSpPr/>
          <p:nvPr/>
        </p:nvSpPr>
        <p:spPr>
          <a:xfrm>
            <a:off x="3629508" y="3158702"/>
            <a:ext cx="3177689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7" name="Shape 55"/>
          <p:cNvSpPr/>
          <p:nvPr/>
        </p:nvSpPr>
        <p:spPr>
          <a:xfrm>
            <a:off x="3629508" y="3184313"/>
            <a:ext cx="3107541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8" name="Shape 56"/>
          <p:cNvSpPr/>
          <p:nvPr/>
        </p:nvSpPr>
        <p:spPr>
          <a:xfrm>
            <a:off x="3629508" y="3209925"/>
            <a:ext cx="3037394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9" name="Shape 57"/>
          <p:cNvSpPr/>
          <p:nvPr/>
        </p:nvSpPr>
        <p:spPr>
          <a:xfrm>
            <a:off x="3629508" y="3235537"/>
            <a:ext cx="2967246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0" name="Shape 58"/>
          <p:cNvSpPr/>
          <p:nvPr/>
        </p:nvSpPr>
        <p:spPr>
          <a:xfrm>
            <a:off x="3629508" y="3261148"/>
            <a:ext cx="2897098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1" name="Shape 59"/>
          <p:cNvSpPr/>
          <p:nvPr/>
        </p:nvSpPr>
        <p:spPr>
          <a:xfrm>
            <a:off x="3629508" y="3286760"/>
            <a:ext cx="2826951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2" name="Shape 60"/>
          <p:cNvSpPr/>
          <p:nvPr/>
        </p:nvSpPr>
        <p:spPr>
          <a:xfrm>
            <a:off x="3629508" y="3312372"/>
            <a:ext cx="2756803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3" name="Shape 61"/>
          <p:cNvSpPr/>
          <p:nvPr/>
        </p:nvSpPr>
        <p:spPr>
          <a:xfrm>
            <a:off x="3629508" y="3337983"/>
            <a:ext cx="2686655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4" name="Shape 62"/>
          <p:cNvSpPr/>
          <p:nvPr/>
        </p:nvSpPr>
        <p:spPr>
          <a:xfrm>
            <a:off x="3629508" y="3363595"/>
            <a:ext cx="2616508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5" name="Shape 63"/>
          <p:cNvSpPr/>
          <p:nvPr/>
        </p:nvSpPr>
        <p:spPr>
          <a:xfrm>
            <a:off x="3629508" y="3389207"/>
            <a:ext cx="2546360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6" name="Shape 64"/>
          <p:cNvSpPr/>
          <p:nvPr/>
        </p:nvSpPr>
        <p:spPr>
          <a:xfrm>
            <a:off x="3629508" y="3414818"/>
            <a:ext cx="2476212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7" name="Shape 65"/>
          <p:cNvSpPr/>
          <p:nvPr/>
        </p:nvSpPr>
        <p:spPr>
          <a:xfrm>
            <a:off x="3629508" y="3440430"/>
            <a:ext cx="2406065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8" name="Shape 66"/>
          <p:cNvSpPr/>
          <p:nvPr/>
        </p:nvSpPr>
        <p:spPr>
          <a:xfrm>
            <a:off x="3629508" y="3466042"/>
            <a:ext cx="2335917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9" name="Shape 67"/>
          <p:cNvSpPr/>
          <p:nvPr/>
        </p:nvSpPr>
        <p:spPr>
          <a:xfrm>
            <a:off x="3629508" y="3491653"/>
            <a:ext cx="2265769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0" name="Shape 68"/>
          <p:cNvSpPr/>
          <p:nvPr/>
        </p:nvSpPr>
        <p:spPr>
          <a:xfrm>
            <a:off x="3629508" y="3517265"/>
            <a:ext cx="2195622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1" name="Shape 69"/>
          <p:cNvSpPr/>
          <p:nvPr/>
        </p:nvSpPr>
        <p:spPr>
          <a:xfrm>
            <a:off x="3629508" y="3542877"/>
            <a:ext cx="2125474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2" name="Shape 70"/>
          <p:cNvSpPr/>
          <p:nvPr/>
        </p:nvSpPr>
        <p:spPr>
          <a:xfrm>
            <a:off x="3629508" y="3568488"/>
            <a:ext cx="2055326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3" name="Shape 71"/>
          <p:cNvSpPr/>
          <p:nvPr/>
        </p:nvSpPr>
        <p:spPr>
          <a:xfrm>
            <a:off x="3629508" y="3594100"/>
            <a:ext cx="2045506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4" name="Shape 72"/>
          <p:cNvSpPr/>
          <p:nvPr/>
        </p:nvSpPr>
        <p:spPr>
          <a:xfrm>
            <a:off x="3629508" y="3619712"/>
            <a:ext cx="2096012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5" name="Shape 73"/>
          <p:cNvSpPr/>
          <p:nvPr/>
        </p:nvSpPr>
        <p:spPr>
          <a:xfrm>
            <a:off x="3629508" y="3645323"/>
            <a:ext cx="2146518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6" name="Shape 74"/>
          <p:cNvSpPr/>
          <p:nvPr/>
        </p:nvSpPr>
        <p:spPr>
          <a:xfrm>
            <a:off x="3629508" y="3670935"/>
            <a:ext cx="2197025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7" name="Shape 75"/>
          <p:cNvSpPr/>
          <p:nvPr/>
        </p:nvSpPr>
        <p:spPr>
          <a:xfrm>
            <a:off x="3629508" y="3696547"/>
            <a:ext cx="2247531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8" name="Shape 76"/>
          <p:cNvSpPr/>
          <p:nvPr/>
        </p:nvSpPr>
        <p:spPr>
          <a:xfrm>
            <a:off x="3629508" y="3722158"/>
            <a:ext cx="2298037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9" name="Shape 77"/>
          <p:cNvSpPr/>
          <p:nvPr/>
        </p:nvSpPr>
        <p:spPr>
          <a:xfrm>
            <a:off x="3629508" y="3747770"/>
            <a:ext cx="2348544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0" name="Shape 78"/>
          <p:cNvSpPr/>
          <p:nvPr/>
        </p:nvSpPr>
        <p:spPr>
          <a:xfrm>
            <a:off x="3629508" y="3773382"/>
            <a:ext cx="2399050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1" name="Shape 79"/>
          <p:cNvSpPr/>
          <p:nvPr/>
        </p:nvSpPr>
        <p:spPr>
          <a:xfrm>
            <a:off x="3629508" y="3798993"/>
            <a:ext cx="2449556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2" name="Shape 80"/>
          <p:cNvSpPr/>
          <p:nvPr/>
        </p:nvSpPr>
        <p:spPr>
          <a:xfrm>
            <a:off x="3629508" y="3824605"/>
            <a:ext cx="2500062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3" name="Shape 81"/>
          <p:cNvSpPr/>
          <p:nvPr/>
        </p:nvSpPr>
        <p:spPr>
          <a:xfrm>
            <a:off x="3629508" y="3850217"/>
            <a:ext cx="2550569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4" name="Shape 82"/>
          <p:cNvSpPr/>
          <p:nvPr/>
        </p:nvSpPr>
        <p:spPr>
          <a:xfrm>
            <a:off x="3629508" y="3875828"/>
            <a:ext cx="2601075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5" name="Shape 83"/>
          <p:cNvSpPr/>
          <p:nvPr/>
        </p:nvSpPr>
        <p:spPr>
          <a:xfrm>
            <a:off x="3629508" y="3901440"/>
            <a:ext cx="2651581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6" name="Shape 84"/>
          <p:cNvSpPr/>
          <p:nvPr/>
        </p:nvSpPr>
        <p:spPr>
          <a:xfrm>
            <a:off x="3629508" y="3927052"/>
            <a:ext cx="2702088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7" name="Shape 85"/>
          <p:cNvSpPr/>
          <p:nvPr/>
        </p:nvSpPr>
        <p:spPr>
          <a:xfrm>
            <a:off x="3629508" y="3952663"/>
            <a:ext cx="2752594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8" name="Shape 86"/>
          <p:cNvSpPr/>
          <p:nvPr/>
        </p:nvSpPr>
        <p:spPr>
          <a:xfrm>
            <a:off x="3629508" y="3978275"/>
            <a:ext cx="2803100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9" name="Shape 87"/>
          <p:cNvSpPr/>
          <p:nvPr/>
        </p:nvSpPr>
        <p:spPr>
          <a:xfrm>
            <a:off x="3629508" y="4003887"/>
            <a:ext cx="2853607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0" name="Shape 88"/>
          <p:cNvSpPr/>
          <p:nvPr/>
        </p:nvSpPr>
        <p:spPr>
          <a:xfrm>
            <a:off x="3629508" y="4029498"/>
            <a:ext cx="2904113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1" name="Shape 89"/>
          <p:cNvSpPr/>
          <p:nvPr/>
        </p:nvSpPr>
        <p:spPr>
          <a:xfrm>
            <a:off x="3629508" y="4055110"/>
            <a:ext cx="2954619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2" name="Shape 90"/>
          <p:cNvSpPr/>
          <p:nvPr/>
        </p:nvSpPr>
        <p:spPr>
          <a:xfrm>
            <a:off x="3629508" y="4080722"/>
            <a:ext cx="3005126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3" name="Shape 91"/>
          <p:cNvSpPr/>
          <p:nvPr/>
        </p:nvSpPr>
        <p:spPr>
          <a:xfrm>
            <a:off x="3629508" y="4106333"/>
            <a:ext cx="3055632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4" name="Shape 92"/>
          <p:cNvSpPr/>
          <p:nvPr/>
        </p:nvSpPr>
        <p:spPr>
          <a:xfrm>
            <a:off x="3629508" y="4131945"/>
            <a:ext cx="3106138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5" name="Shape 93"/>
          <p:cNvSpPr/>
          <p:nvPr/>
        </p:nvSpPr>
        <p:spPr>
          <a:xfrm>
            <a:off x="3629508" y="4157557"/>
            <a:ext cx="3156645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6" name="Shape 94"/>
          <p:cNvSpPr/>
          <p:nvPr/>
        </p:nvSpPr>
        <p:spPr>
          <a:xfrm>
            <a:off x="3629508" y="4183168"/>
            <a:ext cx="3207151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7" name="Shape 95"/>
          <p:cNvSpPr/>
          <p:nvPr/>
        </p:nvSpPr>
        <p:spPr>
          <a:xfrm>
            <a:off x="3629508" y="4208780"/>
            <a:ext cx="3214166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8" name="Shape 96"/>
          <p:cNvSpPr/>
          <p:nvPr/>
        </p:nvSpPr>
        <p:spPr>
          <a:xfrm>
            <a:off x="3629508" y="4234392"/>
            <a:ext cx="3177689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9" name="Shape 97"/>
          <p:cNvSpPr/>
          <p:nvPr/>
        </p:nvSpPr>
        <p:spPr>
          <a:xfrm>
            <a:off x="3629508" y="4260003"/>
            <a:ext cx="3141212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0" name="Shape 98"/>
          <p:cNvSpPr/>
          <p:nvPr/>
        </p:nvSpPr>
        <p:spPr>
          <a:xfrm>
            <a:off x="3629508" y="4285615"/>
            <a:ext cx="3104735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1" name="Shape 99"/>
          <p:cNvSpPr/>
          <p:nvPr/>
        </p:nvSpPr>
        <p:spPr>
          <a:xfrm>
            <a:off x="3629508" y="4311227"/>
            <a:ext cx="3068258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2" name="Shape 100"/>
          <p:cNvSpPr/>
          <p:nvPr/>
        </p:nvSpPr>
        <p:spPr>
          <a:xfrm>
            <a:off x="3629508" y="4336838"/>
            <a:ext cx="3031782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3" name="Shape 101"/>
          <p:cNvSpPr/>
          <p:nvPr/>
        </p:nvSpPr>
        <p:spPr>
          <a:xfrm>
            <a:off x="3629508" y="4362450"/>
            <a:ext cx="2995305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4" name="Shape 102"/>
          <p:cNvSpPr/>
          <p:nvPr/>
        </p:nvSpPr>
        <p:spPr>
          <a:xfrm>
            <a:off x="3629508" y="4388062"/>
            <a:ext cx="2958828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5" name="Shape 103"/>
          <p:cNvSpPr/>
          <p:nvPr/>
        </p:nvSpPr>
        <p:spPr>
          <a:xfrm>
            <a:off x="3629508" y="4413673"/>
            <a:ext cx="2922351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6" name="Shape 104"/>
          <p:cNvSpPr/>
          <p:nvPr/>
        </p:nvSpPr>
        <p:spPr>
          <a:xfrm>
            <a:off x="3629508" y="4439285"/>
            <a:ext cx="2885875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7" name="Shape 105"/>
          <p:cNvSpPr/>
          <p:nvPr/>
        </p:nvSpPr>
        <p:spPr>
          <a:xfrm>
            <a:off x="3629508" y="4464897"/>
            <a:ext cx="2849398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8" name="Shape 106"/>
          <p:cNvSpPr/>
          <p:nvPr/>
        </p:nvSpPr>
        <p:spPr>
          <a:xfrm>
            <a:off x="3629508" y="4490508"/>
            <a:ext cx="2812921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9" name="Shape 107"/>
          <p:cNvSpPr/>
          <p:nvPr/>
        </p:nvSpPr>
        <p:spPr>
          <a:xfrm>
            <a:off x="3629508" y="4516120"/>
            <a:ext cx="2776444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0" name="Shape 108"/>
          <p:cNvSpPr/>
          <p:nvPr/>
        </p:nvSpPr>
        <p:spPr>
          <a:xfrm>
            <a:off x="3629508" y="4541732"/>
            <a:ext cx="2739967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1" name="Shape 109"/>
          <p:cNvSpPr/>
          <p:nvPr/>
        </p:nvSpPr>
        <p:spPr>
          <a:xfrm>
            <a:off x="3629508" y="4567343"/>
            <a:ext cx="2703491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2" name="Shape 110"/>
          <p:cNvSpPr/>
          <p:nvPr/>
        </p:nvSpPr>
        <p:spPr>
          <a:xfrm>
            <a:off x="3629508" y="4592955"/>
            <a:ext cx="2667014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3" name="Shape 111"/>
          <p:cNvSpPr/>
          <p:nvPr/>
        </p:nvSpPr>
        <p:spPr>
          <a:xfrm>
            <a:off x="3629508" y="4618567"/>
            <a:ext cx="2630537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4" name="Shape 112"/>
          <p:cNvSpPr/>
          <p:nvPr/>
        </p:nvSpPr>
        <p:spPr>
          <a:xfrm>
            <a:off x="3629508" y="4644178"/>
            <a:ext cx="2594060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5" name="Shape 113"/>
          <p:cNvSpPr/>
          <p:nvPr/>
        </p:nvSpPr>
        <p:spPr>
          <a:xfrm>
            <a:off x="3629508" y="4669790"/>
            <a:ext cx="2557584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6" name="Shape 114"/>
          <p:cNvSpPr/>
          <p:nvPr/>
        </p:nvSpPr>
        <p:spPr>
          <a:xfrm>
            <a:off x="3629508" y="4695402"/>
            <a:ext cx="2521107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7" name="Shape 115"/>
          <p:cNvSpPr/>
          <p:nvPr/>
        </p:nvSpPr>
        <p:spPr>
          <a:xfrm>
            <a:off x="3629508" y="4721013"/>
            <a:ext cx="2484630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8" name="Shape 116"/>
          <p:cNvSpPr/>
          <p:nvPr/>
        </p:nvSpPr>
        <p:spPr>
          <a:xfrm>
            <a:off x="3629508" y="4746625"/>
            <a:ext cx="2448153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9" name="Shape 117"/>
          <p:cNvSpPr/>
          <p:nvPr/>
        </p:nvSpPr>
        <p:spPr>
          <a:xfrm>
            <a:off x="3629508" y="4772237"/>
            <a:ext cx="2411676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0" name="Shape 118"/>
          <p:cNvSpPr/>
          <p:nvPr/>
        </p:nvSpPr>
        <p:spPr>
          <a:xfrm>
            <a:off x="3629508" y="4797848"/>
            <a:ext cx="2375200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1" name="Shape 119"/>
          <p:cNvSpPr/>
          <p:nvPr/>
        </p:nvSpPr>
        <p:spPr>
          <a:xfrm>
            <a:off x="6344222" y="2364740"/>
            <a:ext cx="1676529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2" name="Shape 120"/>
          <p:cNvSpPr/>
          <p:nvPr/>
        </p:nvSpPr>
        <p:spPr>
          <a:xfrm>
            <a:off x="6386310" y="2390352"/>
            <a:ext cx="1662499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3" name="Shape 121"/>
          <p:cNvSpPr/>
          <p:nvPr/>
        </p:nvSpPr>
        <p:spPr>
          <a:xfrm>
            <a:off x="6428399" y="2415963"/>
            <a:ext cx="1648470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4" name="Shape 122"/>
          <p:cNvSpPr/>
          <p:nvPr/>
        </p:nvSpPr>
        <p:spPr>
          <a:xfrm>
            <a:off x="6470488" y="2441575"/>
            <a:ext cx="1634440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5" name="Shape 123"/>
          <p:cNvSpPr/>
          <p:nvPr/>
        </p:nvSpPr>
        <p:spPr>
          <a:xfrm>
            <a:off x="6512576" y="2467187"/>
            <a:ext cx="1620411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6" name="Shape 124"/>
          <p:cNvSpPr/>
          <p:nvPr/>
        </p:nvSpPr>
        <p:spPr>
          <a:xfrm>
            <a:off x="6554665" y="2492798"/>
            <a:ext cx="1606381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7" name="Shape 125"/>
          <p:cNvSpPr/>
          <p:nvPr/>
        </p:nvSpPr>
        <p:spPr>
          <a:xfrm>
            <a:off x="6596753" y="2518410"/>
            <a:ext cx="1592352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8" name="Shape 126"/>
          <p:cNvSpPr/>
          <p:nvPr/>
        </p:nvSpPr>
        <p:spPr>
          <a:xfrm>
            <a:off x="6638842" y="2544022"/>
            <a:ext cx="1578322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9" name="Shape 127"/>
          <p:cNvSpPr/>
          <p:nvPr/>
        </p:nvSpPr>
        <p:spPr>
          <a:xfrm>
            <a:off x="6680931" y="2569633"/>
            <a:ext cx="1564293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0" name="Shape 128"/>
          <p:cNvSpPr/>
          <p:nvPr/>
        </p:nvSpPr>
        <p:spPr>
          <a:xfrm>
            <a:off x="6723019" y="2595245"/>
            <a:ext cx="1550263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1" name="Shape 129"/>
          <p:cNvSpPr/>
          <p:nvPr/>
        </p:nvSpPr>
        <p:spPr>
          <a:xfrm>
            <a:off x="6765108" y="2620857"/>
            <a:ext cx="1536234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2" name="Shape 130"/>
          <p:cNvSpPr/>
          <p:nvPr/>
        </p:nvSpPr>
        <p:spPr>
          <a:xfrm>
            <a:off x="6807196" y="2646468"/>
            <a:ext cx="1522204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3" name="Shape 131"/>
          <p:cNvSpPr/>
          <p:nvPr/>
        </p:nvSpPr>
        <p:spPr>
          <a:xfrm>
            <a:off x="6849285" y="2672080"/>
            <a:ext cx="1508175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4" name="Shape 132"/>
          <p:cNvSpPr/>
          <p:nvPr/>
        </p:nvSpPr>
        <p:spPr>
          <a:xfrm>
            <a:off x="6891374" y="2697692"/>
            <a:ext cx="1494145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5" name="Shape 133"/>
          <p:cNvSpPr/>
          <p:nvPr/>
        </p:nvSpPr>
        <p:spPr>
          <a:xfrm>
            <a:off x="6933462" y="2723303"/>
            <a:ext cx="1480116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6" name="Shape 134"/>
          <p:cNvSpPr/>
          <p:nvPr/>
        </p:nvSpPr>
        <p:spPr>
          <a:xfrm>
            <a:off x="6975551" y="2748915"/>
            <a:ext cx="1466086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7" name="Shape 135"/>
          <p:cNvSpPr/>
          <p:nvPr/>
        </p:nvSpPr>
        <p:spPr>
          <a:xfrm>
            <a:off x="7017639" y="2774527"/>
            <a:ext cx="1452056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8" name="Shape 136"/>
          <p:cNvSpPr/>
          <p:nvPr/>
        </p:nvSpPr>
        <p:spPr>
          <a:xfrm>
            <a:off x="7059728" y="2800138"/>
            <a:ext cx="1438027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9" name="Shape 137"/>
          <p:cNvSpPr/>
          <p:nvPr/>
        </p:nvSpPr>
        <p:spPr>
          <a:xfrm>
            <a:off x="7101817" y="2825750"/>
            <a:ext cx="1423997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0" name="Shape 138"/>
          <p:cNvSpPr/>
          <p:nvPr/>
        </p:nvSpPr>
        <p:spPr>
          <a:xfrm>
            <a:off x="7143905" y="2851362"/>
            <a:ext cx="1409968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1" name="Shape 139"/>
          <p:cNvSpPr/>
          <p:nvPr/>
        </p:nvSpPr>
        <p:spPr>
          <a:xfrm>
            <a:off x="7185994" y="2876973"/>
            <a:ext cx="1395938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2" name="Shape 140"/>
          <p:cNvSpPr/>
          <p:nvPr/>
        </p:nvSpPr>
        <p:spPr>
          <a:xfrm>
            <a:off x="7228082" y="2902585"/>
            <a:ext cx="1381909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3" name="Shape 141"/>
          <p:cNvSpPr/>
          <p:nvPr/>
        </p:nvSpPr>
        <p:spPr>
          <a:xfrm>
            <a:off x="7270171" y="2928197"/>
            <a:ext cx="1367879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4" name="Shape 142"/>
          <p:cNvSpPr/>
          <p:nvPr/>
        </p:nvSpPr>
        <p:spPr>
          <a:xfrm>
            <a:off x="7312260" y="2953808"/>
            <a:ext cx="1353850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5" name="Shape 143"/>
          <p:cNvSpPr/>
          <p:nvPr/>
        </p:nvSpPr>
        <p:spPr>
          <a:xfrm>
            <a:off x="7298230" y="2979420"/>
            <a:ext cx="1367879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6" name="Shape 144"/>
          <p:cNvSpPr/>
          <p:nvPr/>
        </p:nvSpPr>
        <p:spPr>
          <a:xfrm>
            <a:off x="7228082" y="3005032"/>
            <a:ext cx="1409968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7" name="Shape 145"/>
          <p:cNvSpPr/>
          <p:nvPr/>
        </p:nvSpPr>
        <p:spPr>
          <a:xfrm>
            <a:off x="7157935" y="3030643"/>
            <a:ext cx="1452056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8" name="Shape 146"/>
          <p:cNvSpPr/>
          <p:nvPr/>
        </p:nvSpPr>
        <p:spPr>
          <a:xfrm>
            <a:off x="7087787" y="3056255"/>
            <a:ext cx="1494145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9" name="Shape 147"/>
          <p:cNvSpPr/>
          <p:nvPr/>
        </p:nvSpPr>
        <p:spPr>
          <a:xfrm>
            <a:off x="7017639" y="3081867"/>
            <a:ext cx="1536234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0" name="Shape 148"/>
          <p:cNvSpPr/>
          <p:nvPr/>
        </p:nvSpPr>
        <p:spPr>
          <a:xfrm>
            <a:off x="6947492" y="3107478"/>
            <a:ext cx="1578322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1" name="Shape 149"/>
          <p:cNvSpPr/>
          <p:nvPr/>
        </p:nvSpPr>
        <p:spPr>
          <a:xfrm>
            <a:off x="6877344" y="3133090"/>
            <a:ext cx="1620411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2" name="Shape 150"/>
          <p:cNvSpPr/>
          <p:nvPr/>
        </p:nvSpPr>
        <p:spPr>
          <a:xfrm>
            <a:off x="6807196" y="3158702"/>
            <a:ext cx="1662499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3" name="Shape 151"/>
          <p:cNvSpPr/>
          <p:nvPr/>
        </p:nvSpPr>
        <p:spPr>
          <a:xfrm>
            <a:off x="6737049" y="3184313"/>
            <a:ext cx="1704588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4" name="Shape 152"/>
          <p:cNvSpPr/>
          <p:nvPr/>
        </p:nvSpPr>
        <p:spPr>
          <a:xfrm>
            <a:off x="6666901" y="3209925"/>
            <a:ext cx="1746677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5" name="Shape 153"/>
          <p:cNvSpPr/>
          <p:nvPr/>
        </p:nvSpPr>
        <p:spPr>
          <a:xfrm>
            <a:off x="6596753" y="3235537"/>
            <a:ext cx="1788765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6" name="Shape 154"/>
          <p:cNvSpPr/>
          <p:nvPr/>
        </p:nvSpPr>
        <p:spPr>
          <a:xfrm>
            <a:off x="6526606" y="3261148"/>
            <a:ext cx="1830854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7" name="Shape 155"/>
          <p:cNvSpPr/>
          <p:nvPr/>
        </p:nvSpPr>
        <p:spPr>
          <a:xfrm>
            <a:off x="6456458" y="3286760"/>
            <a:ext cx="1872942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8" name="Shape 156"/>
          <p:cNvSpPr/>
          <p:nvPr/>
        </p:nvSpPr>
        <p:spPr>
          <a:xfrm>
            <a:off x="6386310" y="3312372"/>
            <a:ext cx="1915031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9" name="Shape 157"/>
          <p:cNvSpPr/>
          <p:nvPr/>
        </p:nvSpPr>
        <p:spPr>
          <a:xfrm>
            <a:off x="6316163" y="3337983"/>
            <a:ext cx="1957120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0" name="Shape 158"/>
          <p:cNvSpPr/>
          <p:nvPr/>
        </p:nvSpPr>
        <p:spPr>
          <a:xfrm>
            <a:off x="6246015" y="3363595"/>
            <a:ext cx="1999208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1" name="Shape 159"/>
          <p:cNvSpPr/>
          <p:nvPr/>
        </p:nvSpPr>
        <p:spPr>
          <a:xfrm>
            <a:off x="6175868" y="3389207"/>
            <a:ext cx="2041297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2" name="Shape 160"/>
          <p:cNvSpPr/>
          <p:nvPr/>
        </p:nvSpPr>
        <p:spPr>
          <a:xfrm>
            <a:off x="6105720" y="3414818"/>
            <a:ext cx="2083385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3" name="Shape 161"/>
          <p:cNvSpPr/>
          <p:nvPr/>
        </p:nvSpPr>
        <p:spPr>
          <a:xfrm>
            <a:off x="6035572" y="3440430"/>
            <a:ext cx="2125474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4" name="Shape 162"/>
          <p:cNvSpPr/>
          <p:nvPr/>
        </p:nvSpPr>
        <p:spPr>
          <a:xfrm>
            <a:off x="5965425" y="3466042"/>
            <a:ext cx="2167563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5" name="Shape 163"/>
          <p:cNvSpPr/>
          <p:nvPr/>
        </p:nvSpPr>
        <p:spPr>
          <a:xfrm>
            <a:off x="5895277" y="3491653"/>
            <a:ext cx="2209651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6" name="Shape 164"/>
          <p:cNvSpPr/>
          <p:nvPr/>
        </p:nvSpPr>
        <p:spPr>
          <a:xfrm>
            <a:off x="5825129" y="3517265"/>
            <a:ext cx="2251740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7" name="Shape 165"/>
          <p:cNvSpPr/>
          <p:nvPr/>
        </p:nvSpPr>
        <p:spPr>
          <a:xfrm>
            <a:off x="5754982" y="3542877"/>
            <a:ext cx="2293828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8" name="Shape 166"/>
          <p:cNvSpPr/>
          <p:nvPr/>
        </p:nvSpPr>
        <p:spPr>
          <a:xfrm>
            <a:off x="5684834" y="3568488"/>
            <a:ext cx="2335917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9" name="Shape 167"/>
          <p:cNvSpPr/>
          <p:nvPr/>
        </p:nvSpPr>
        <p:spPr>
          <a:xfrm>
            <a:off x="5675013" y="3594100"/>
            <a:ext cx="2338723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0" name="Shape 168"/>
          <p:cNvSpPr/>
          <p:nvPr/>
        </p:nvSpPr>
        <p:spPr>
          <a:xfrm>
            <a:off x="5725520" y="3619712"/>
            <a:ext cx="2302246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1" name="Shape 169"/>
          <p:cNvSpPr/>
          <p:nvPr/>
        </p:nvSpPr>
        <p:spPr>
          <a:xfrm>
            <a:off x="5776026" y="3645323"/>
            <a:ext cx="2265769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2" name="Shape 170"/>
          <p:cNvSpPr/>
          <p:nvPr/>
        </p:nvSpPr>
        <p:spPr>
          <a:xfrm>
            <a:off x="5826532" y="3670935"/>
            <a:ext cx="2229293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3" name="Shape 171"/>
          <p:cNvSpPr/>
          <p:nvPr/>
        </p:nvSpPr>
        <p:spPr>
          <a:xfrm>
            <a:off x="5877039" y="3696547"/>
            <a:ext cx="2192816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4" name="Shape 172"/>
          <p:cNvSpPr/>
          <p:nvPr/>
        </p:nvSpPr>
        <p:spPr>
          <a:xfrm>
            <a:off x="5927545" y="3722158"/>
            <a:ext cx="2156339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5" name="Shape 173"/>
          <p:cNvSpPr/>
          <p:nvPr/>
        </p:nvSpPr>
        <p:spPr>
          <a:xfrm>
            <a:off x="5978051" y="3747770"/>
            <a:ext cx="2119862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6" name="Shape 174"/>
          <p:cNvSpPr/>
          <p:nvPr/>
        </p:nvSpPr>
        <p:spPr>
          <a:xfrm>
            <a:off x="6028557" y="3773382"/>
            <a:ext cx="2083385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7" name="Shape 175"/>
          <p:cNvSpPr/>
          <p:nvPr/>
        </p:nvSpPr>
        <p:spPr>
          <a:xfrm>
            <a:off x="6079064" y="3798993"/>
            <a:ext cx="2046909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8" name="Shape 176"/>
          <p:cNvSpPr/>
          <p:nvPr/>
        </p:nvSpPr>
        <p:spPr>
          <a:xfrm>
            <a:off x="6129570" y="3824605"/>
            <a:ext cx="2010432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9" name="Shape 177"/>
          <p:cNvSpPr/>
          <p:nvPr/>
        </p:nvSpPr>
        <p:spPr>
          <a:xfrm>
            <a:off x="6180076" y="3850217"/>
            <a:ext cx="1973955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0" name="Shape 178"/>
          <p:cNvSpPr/>
          <p:nvPr/>
        </p:nvSpPr>
        <p:spPr>
          <a:xfrm>
            <a:off x="6230583" y="3875828"/>
            <a:ext cx="1937478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1" name="Shape 179"/>
          <p:cNvSpPr/>
          <p:nvPr/>
        </p:nvSpPr>
        <p:spPr>
          <a:xfrm>
            <a:off x="6281089" y="3901440"/>
            <a:ext cx="1901001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2" name="Shape 180"/>
          <p:cNvSpPr/>
          <p:nvPr/>
        </p:nvSpPr>
        <p:spPr>
          <a:xfrm>
            <a:off x="6331595" y="3927052"/>
            <a:ext cx="1864525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3" name="Shape 181"/>
          <p:cNvSpPr/>
          <p:nvPr/>
        </p:nvSpPr>
        <p:spPr>
          <a:xfrm>
            <a:off x="6382102" y="3952663"/>
            <a:ext cx="1828048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4" name="Shape 182"/>
          <p:cNvSpPr/>
          <p:nvPr/>
        </p:nvSpPr>
        <p:spPr>
          <a:xfrm>
            <a:off x="6432608" y="3978275"/>
            <a:ext cx="1791571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5" name="Shape 183"/>
          <p:cNvSpPr/>
          <p:nvPr/>
        </p:nvSpPr>
        <p:spPr>
          <a:xfrm>
            <a:off x="6483114" y="4003887"/>
            <a:ext cx="1755094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6" name="Shape 184"/>
          <p:cNvSpPr/>
          <p:nvPr/>
        </p:nvSpPr>
        <p:spPr>
          <a:xfrm>
            <a:off x="6533621" y="4029498"/>
            <a:ext cx="1718618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7" name="Shape 185"/>
          <p:cNvSpPr/>
          <p:nvPr/>
        </p:nvSpPr>
        <p:spPr>
          <a:xfrm>
            <a:off x="6584127" y="4055110"/>
            <a:ext cx="1682141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8" name="Shape 186"/>
          <p:cNvSpPr/>
          <p:nvPr/>
        </p:nvSpPr>
        <p:spPr>
          <a:xfrm>
            <a:off x="6634633" y="4080722"/>
            <a:ext cx="1645664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9" name="Shape 187"/>
          <p:cNvSpPr/>
          <p:nvPr/>
        </p:nvSpPr>
        <p:spPr>
          <a:xfrm>
            <a:off x="6685140" y="4106333"/>
            <a:ext cx="1609187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0" name="Shape 188"/>
          <p:cNvSpPr/>
          <p:nvPr/>
        </p:nvSpPr>
        <p:spPr>
          <a:xfrm>
            <a:off x="6735646" y="4131945"/>
            <a:ext cx="1572710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1" name="Shape 189"/>
          <p:cNvSpPr/>
          <p:nvPr/>
        </p:nvSpPr>
        <p:spPr>
          <a:xfrm>
            <a:off x="6786152" y="4157557"/>
            <a:ext cx="1536234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2" name="Shape 190"/>
          <p:cNvSpPr/>
          <p:nvPr/>
        </p:nvSpPr>
        <p:spPr>
          <a:xfrm>
            <a:off x="6836658" y="4183168"/>
            <a:ext cx="1499757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3" name="Shape 191"/>
          <p:cNvSpPr/>
          <p:nvPr/>
        </p:nvSpPr>
        <p:spPr>
          <a:xfrm>
            <a:off x="6843673" y="4208780"/>
            <a:ext cx="1492742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4" name="Shape 192"/>
          <p:cNvSpPr/>
          <p:nvPr/>
        </p:nvSpPr>
        <p:spPr>
          <a:xfrm>
            <a:off x="6807196" y="4234392"/>
            <a:ext cx="1515189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5" name="Shape 193"/>
          <p:cNvSpPr/>
          <p:nvPr/>
        </p:nvSpPr>
        <p:spPr>
          <a:xfrm>
            <a:off x="6770720" y="4260003"/>
            <a:ext cx="1537637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6" name="Shape 194"/>
          <p:cNvSpPr/>
          <p:nvPr/>
        </p:nvSpPr>
        <p:spPr>
          <a:xfrm>
            <a:off x="6734243" y="4285615"/>
            <a:ext cx="1560084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7" name="Shape 195"/>
          <p:cNvSpPr/>
          <p:nvPr/>
        </p:nvSpPr>
        <p:spPr>
          <a:xfrm>
            <a:off x="6697766" y="4311227"/>
            <a:ext cx="1582531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8" name="Shape 196"/>
          <p:cNvSpPr/>
          <p:nvPr/>
        </p:nvSpPr>
        <p:spPr>
          <a:xfrm>
            <a:off x="6661289" y="4336838"/>
            <a:ext cx="1604978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9" name="Shape 197"/>
          <p:cNvSpPr/>
          <p:nvPr/>
        </p:nvSpPr>
        <p:spPr>
          <a:xfrm>
            <a:off x="6624813" y="4362450"/>
            <a:ext cx="1627426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0" name="Shape 198"/>
          <p:cNvSpPr/>
          <p:nvPr/>
        </p:nvSpPr>
        <p:spPr>
          <a:xfrm>
            <a:off x="6588336" y="4388062"/>
            <a:ext cx="1649873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1" name="Shape 199"/>
          <p:cNvSpPr/>
          <p:nvPr/>
        </p:nvSpPr>
        <p:spPr>
          <a:xfrm>
            <a:off x="6551859" y="4413673"/>
            <a:ext cx="1672320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2" name="Shape 200"/>
          <p:cNvSpPr/>
          <p:nvPr/>
        </p:nvSpPr>
        <p:spPr>
          <a:xfrm>
            <a:off x="6515382" y="4439285"/>
            <a:ext cx="1694767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3" name="Shape 201"/>
          <p:cNvSpPr/>
          <p:nvPr/>
        </p:nvSpPr>
        <p:spPr>
          <a:xfrm>
            <a:off x="6478905" y="4464897"/>
            <a:ext cx="1717215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4" name="Shape 202"/>
          <p:cNvSpPr/>
          <p:nvPr/>
        </p:nvSpPr>
        <p:spPr>
          <a:xfrm>
            <a:off x="6442429" y="4490508"/>
            <a:ext cx="1739662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5" name="Shape 203"/>
          <p:cNvSpPr/>
          <p:nvPr/>
        </p:nvSpPr>
        <p:spPr>
          <a:xfrm>
            <a:off x="6405952" y="4516120"/>
            <a:ext cx="1762109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6" name="Shape 204"/>
          <p:cNvSpPr/>
          <p:nvPr/>
        </p:nvSpPr>
        <p:spPr>
          <a:xfrm>
            <a:off x="6369475" y="4541732"/>
            <a:ext cx="1784556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7" name="Shape 205"/>
          <p:cNvSpPr/>
          <p:nvPr/>
        </p:nvSpPr>
        <p:spPr>
          <a:xfrm>
            <a:off x="6332998" y="4567343"/>
            <a:ext cx="1807004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8" name="Shape 206"/>
          <p:cNvSpPr/>
          <p:nvPr/>
        </p:nvSpPr>
        <p:spPr>
          <a:xfrm>
            <a:off x="6296521" y="4592955"/>
            <a:ext cx="1829451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9" name="Shape 207"/>
          <p:cNvSpPr/>
          <p:nvPr/>
        </p:nvSpPr>
        <p:spPr>
          <a:xfrm>
            <a:off x="6260045" y="4618567"/>
            <a:ext cx="1851898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10" name="Shape 208"/>
          <p:cNvSpPr/>
          <p:nvPr/>
        </p:nvSpPr>
        <p:spPr>
          <a:xfrm>
            <a:off x="6223568" y="4644178"/>
            <a:ext cx="1874345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11" name="Shape 209"/>
          <p:cNvSpPr/>
          <p:nvPr/>
        </p:nvSpPr>
        <p:spPr>
          <a:xfrm>
            <a:off x="6187091" y="4669790"/>
            <a:ext cx="1896793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12" name="Shape 210"/>
          <p:cNvSpPr/>
          <p:nvPr/>
        </p:nvSpPr>
        <p:spPr>
          <a:xfrm>
            <a:off x="6150614" y="4695402"/>
            <a:ext cx="1919240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13" name="Shape 211"/>
          <p:cNvSpPr/>
          <p:nvPr/>
        </p:nvSpPr>
        <p:spPr>
          <a:xfrm>
            <a:off x="6114138" y="4721013"/>
            <a:ext cx="1941687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14" name="Shape 212"/>
          <p:cNvSpPr/>
          <p:nvPr/>
        </p:nvSpPr>
        <p:spPr>
          <a:xfrm>
            <a:off x="6077661" y="4746625"/>
            <a:ext cx="1964134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15" name="Shape 213"/>
          <p:cNvSpPr/>
          <p:nvPr/>
        </p:nvSpPr>
        <p:spPr>
          <a:xfrm>
            <a:off x="6041184" y="4772237"/>
            <a:ext cx="1986582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16" name="Shape 214"/>
          <p:cNvSpPr/>
          <p:nvPr/>
        </p:nvSpPr>
        <p:spPr>
          <a:xfrm>
            <a:off x="6004707" y="4797848"/>
            <a:ext cx="2009029" cy="31962"/>
          </a:xfrm>
          <a:prstGeom prst="rect">
            <a:avLst/>
          </a:prstGeom>
          <a:solidFill>
            <a:srgbClr val="1BAF7A"/>
          </a:solidFill>
          <a:ln/>
        </p:spPr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Two-level treemap (region | product)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073248" y="1828800"/>
            <a:ext cx="2146300" cy="3467100"/>
          </a:xfrm>
          <a:prstGeom prst="rect">
            <a:avLst/>
          </a:prstGeom>
          <a:solidFill>
            <a:srgbClr val="EFF2FA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111348" y="1841500"/>
            <a:ext cx="2082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098648" y="2019300"/>
            <a:ext cx="2095500" cy="1553972"/>
          </a:xfrm>
          <a:prstGeom prst="rect">
            <a:avLst/>
          </a:prstGeom>
          <a:solidFill>
            <a:srgbClr val="7297D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136748" y="2044700"/>
            <a:ext cx="203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3136748" y="2197100"/>
            <a:ext cx="203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3098648" y="3585972"/>
            <a:ext cx="1284654" cy="1684528"/>
          </a:xfrm>
          <a:prstGeom prst="rect">
            <a:avLst/>
          </a:prstGeom>
          <a:solidFill>
            <a:srgbClr val="92ABE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136748" y="3611372"/>
            <a:ext cx="122115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Licenses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3136748" y="3763772"/>
            <a:ext cx="122115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4396001" y="3585972"/>
            <a:ext cx="798146" cy="1684528"/>
          </a:xfrm>
          <a:prstGeom prst="rect">
            <a:avLst/>
          </a:prstGeom>
          <a:solidFill>
            <a:srgbClr val="AABCE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34101" y="3611372"/>
            <a:ext cx="734646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Services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4434101" y="3763772"/>
            <a:ext cx="734646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5232248" y="1828800"/>
            <a:ext cx="2232660" cy="3467100"/>
          </a:xfrm>
          <a:prstGeom prst="rect">
            <a:avLst/>
          </a:prstGeom>
          <a:solidFill>
            <a:srgbClr val="EFF6F2"/>
          </a:solidFill>
          <a:ln w="12700">
            <a:solidFill>
              <a:srgbClr val="1BAF7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270348" y="1841500"/>
            <a:ext cx="21691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5257648" y="2019300"/>
            <a:ext cx="2181860" cy="1995854"/>
          </a:xfrm>
          <a:prstGeom prst="rect">
            <a:avLst/>
          </a:prstGeom>
          <a:solidFill>
            <a:srgbClr val="6FBE9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295748" y="2044700"/>
            <a:ext cx="21183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5295748" y="2197100"/>
            <a:ext cx="21183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5257648" y="4027854"/>
            <a:ext cx="2181860" cy="1242646"/>
          </a:xfrm>
          <a:prstGeom prst="rect">
            <a:avLst/>
          </a:prstGeom>
          <a:solidFill>
            <a:srgbClr val="90C9A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295748" y="4053254"/>
            <a:ext cx="21183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Licenses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5295748" y="4205654"/>
            <a:ext cx="21183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7477608" y="1828800"/>
            <a:ext cx="1628140" cy="3467100"/>
          </a:xfrm>
          <a:prstGeom prst="rect">
            <a:avLst/>
          </a:prstGeom>
          <a:solidFill>
            <a:srgbClr val="FDF5EF"/>
          </a:solidFill>
          <a:ln w="12700">
            <a:solidFill>
              <a:srgbClr val="EDA10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515708" y="1841500"/>
            <a:ext cx="15646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7503008" y="2019300"/>
            <a:ext cx="1577340" cy="1533358"/>
          </a:xfrm>
          <a:prstGeom prst="rect">
            <a:avLst/>
          </a:prstGeom>
          <a:solidFill>
            <a:srgbClr val="F0B36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541108" y="2044700"/>
            <a:ext cx="151384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7541108" y="2197100"/>
            <a:ext cx="151384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7503008" y="3565358"/>
            <a:ext cx="1577340" cy="1018005"/>
          </a:xfrm>
          <a:prstGeom prst="rect">
            <a:avLst/>
          </a:prstGeom>
          <a:solidFill>
            <a:srgbClr val="F2C08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541108" y="3590758"/>
            <a:ext cx="151384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Hardware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7541108" y="3743158"/>
            <a:ext cx="151384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7503008" y="4596063"/>
            <a:ext cx="1577340" cy="674437"/>
          </a:xfrm>
          <a:prstGeom prst="rect">
            <a:avLst/>
          </a:prstGeom>
          <a:solidFill>
            <a:srgbClr val="F4CDA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541108" y="4621463"/>
            <a:ext cx="151384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Services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7541108" y="4773863"/>
            <a:ext cx="151384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800" dirty="0"/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Sunburst (region → product)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074768" y="2547620"/>
            <a:ext cx="2042160" cy="2042160"/>
          </a:xfrm>
          <a:custGeom>
            <a:avLst/>
            <a:gdLst/>
            <a:ahLst/>
            <a:cxnLst/>
            <a:rect l="l" t="t" r="r" b="b"/>
            <a:pathLst>
              <a:path w="2042160" h="2042160">
                <a:moveTo>
                  <a:pt x="1021080" y="0"/>
                </a:moveTo>
                <a:lnTo>
                  <a:pt x="1126551" y="5462"/>
                </a:lnTo>
                <a:lnTo>
                  <a:pt x="1230893" y="21789"/>
                </a:lnTo>
                <a:lnTo>
                  <a:pt x="1332991" y="48807"/>
                </a:lnTo>
                <a:lnTo>
                  <a:pt x="1431752" y="86226"/>
                </a:lnTo>
                <a:lnTo>
                  <a:pt x="1526120" y="133646"/>
                </a:lnTo>
                <a:lnTo>
                  <a:pt x="1615085" y="190560"/>
                </a:lnTo>
                <a:lnTo>
                  <a:pt x="1697694" y="256360"/>
                </a:lnTo>
                <a:lnTo>
                  <a:pt x="1773066" y="330340"/>
                </a:lnTo>
                <a:lnTo>
                  <a:pt x="1840392" y="411710"/>
                </a:lnTo>
                <a:lnTo>
                  <a:pt x="1898954" y="499599"/>
                </a:lnTo>
                <a:lnTo>
                  <a:pt x="1948123" y="593067"/>
                </a:lnTo>
                <a:lnTo>
                  <a:pt x="1987375" y="691114"/>
                </a:lnTo>
                <a:lnTo>
                  <a:pt x="2016290" y="792691"/>
                </a:lnTo>
                <a:lnTo>
                  <a:pt x="2034558" y="896712"/>
                </a:lnTo>
                <a:lnTo>
                  <a:pt x="2041983" y="1002062"/>
                </a:lnTo>
                <a:lnTo>
                  <a:pt x="2038486" y="1107617"/>
                </a:lnTo>
                <a:lnTo>
                  <a:pt x="2024106" y="1212245"/>
                </a:lnTo>
                <a:lnTo>
                  <a:pt x="1998994" y="1314829"/>
                </a:lnTo>
                <a:lnTo>
                  <a:pt x="1963421" y="1414270"/>
                </a:lnTo>
                <a:lnTo>
                  <a:pt x="1917766" y="1509504"/>
                </a:lnTo>
                <a:lnTo>
                  <a:pt x="1862519" y="1599513"/>
                </a:lnTo>
                <a:lnTo>
                  <a:pt x="1798270" y="1683334"/>
                </a:lnTo>
                <a:lnTo>
                  <a:pt x="1725706" y="1760070"/>
                </a:lnTo>
                <a:lnTo>
                  <a:pt x="1396880" y="1415208"/>
                </a:lnTo>
                <a:lnTo>
                  <a:pt x="1435581" y="1374282"/>
                </a:lnTo>
                <a:lnTo>
                  <a:pt x="1469847" y="1329578"/>
                </a:lnTo>
                <a:lnTo>
                  <a:pt x="1499313" y="1281573"/>
                </a:lnTo>
                <a:lnTo>
                  <a:pt x="1523662" y="1230781"/>
                </a:lnTo>
                <a:lnTo>
                  <a:pt x="1542634" y="1177746"/>
                </a:lnTo>
                <a:lnTo>
                  <a:pt x="1556027" y="1123035"/>
                </a:lnTo>
                <a:lnTo>
                  <a:pt x="1563697" y="1067233"/>
                </a:lnTo>
                <a:lnTo>
                  <a:pt x="1565562" y="1010937"/>
                </a:lnTo>
                <a:lnTo>
                  <a:pt x="1561601" y="954750"/>
                </a:lnTo>
                <a:lnTo>
                  <a:pt x="1551859" y="899273"/>
                </a:lnTo>
                <a:lnTo>
                  <a:pt x="1536438" y="845098"/>
                </a:lnTo>
                <a:lnTo>
                  <a:pt x="1515503" y="792807"/>
                </a:lnTo>
                <a:lnTo>
                  <a:pt x="1489279" y="742957"/>
                </a:lnTo>
                <a:lnTo>
                  <a:pt x="1458047" y="696083"/>
                </a:lnTo>
                <a:lnTo>
                  <a:pt x="1422139" y="652685"/>
                </a:lnTo>
                <a:lnTo>
                  <a:pt x="1381941" y="613229"/>
                </a:lnTo>
                <a:lnTo>
                  <a:pt x="1337882" y="578136"/>
                </a:lnTo>
                <a:lnTo>
                  <a:pt x="1290435" y="547782"/>
                </a:lnTo>
                <a:lnTo>
                  <a:pt x="1240105" y="522491"/>
                </a:lnTo>
                <a:lnTo>
                  <a:pt x="1187433" y="502534"/>
                </a:lnTo>
                <a:lnTo>
                  <a:pt x="1132980" y="488125"/>
                </a:lnTo>
                <a:lnTo>
                  <a:pt x="1077331" y="479417"/>
                </a:lnTo>
                <a:lnTo>
                  <a:pt x="1021080" y="476504"/>
                </a:lnTo>
                <a:close/>
              </a:path>
            </a:pathLst>
          </a:cu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680614" y="3188852"/>
            <a:ext cx="283972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1701800" y="0"/>
                </a:moveTo>
                <a:lnTo>
                  <a:pt x="1878222" y="9169"/>
                </a:lnTo>
                <a:lnTo>
                  <a:pt x="2052742" y="36578"/>
                </a:lnTo>
                <a:lnTo>
                  <a:pt x="2223481" y="81932"/>
                </a:lnTo>
                <a:lnTo>
                  <a:pt x="2388598" y="144741"/>
                </a:lnTo>
                <a:lnTo>
                  <a:pt x="2546315" y="224330"/>
                </a:lnTo>
                <a:lnTo>
                  <a:pt x="2694930" y="319839"/>
                </a:lnTo>
                <a:lnTo>
                  <a:pt x="2832844" y="430241"/>
                </a:lnTo>
                <a:lnTo>
                  <a:pt x="2958570" y="554345"/>
                </a:lnTo>
                <a:lnTo>
                  <a:pt x="3070752" y="690814"/>
                </a:lnTo>
                <a:lnTo>
                  <a:pt x="3168183" y="838177"/>
                </a:lnTo>
                <a:lnTo>
                  <a:pt x="3249812" y="994847"/>
                </a:lnTo>
                <a:lnTo>
                  <a:pt x="2630607" y="1277628"/>
                </a:lnTo>
                <a:lnTo>
                  <a:pt x="2581630" y="1183626"/>
                </a:lnTo>
                <a:lnTo>
                  <a:pt x="2523171" y="1095208"/>
                </a:lnTo>
                <a:lnTo>
                  <a:pt x="2455862" y="1013327"/>
                </a:lnTo>
                <a:lnTo>
                  <a:pt x="2380426" y="938864"/>
                </a:lnTo>
                <a:lnTo>
                  <a:pt x="2297678" y="872624"/>
                </a:lnTo>
                <a:lnTo>
                  <a:pt x="2208509" y="815318"/>
                </a:lnTo>
                <a:lnTo>
                  <a:pt x="2113879" y="767565"/>
                </a:lnTo>
                <a:lnTo>
                  <a:pt x="2014809" y="729879"/>
                </a:lnTo>
                <a:lnTo>
                  <a:pt x="1912365" y="702667"/>
                </a:lnTo>
                <a:lnTo>
                  <a:pt x="1807653" y="686222"/>
                </a:lnTo>
                <a:lnTo>
                  <a:pt x="1701800" y="680720"/>
                </a:lnTo>
                <a:close/>
              </a:path>
            </a:pathLst>
          </a:custGeom>
          <a:solidFill>
            <a:srgbClr val="7599D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063973" y="1973367"/>
            <a:ext cx="34226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3249812" y="994847"/>
                </a:moveTo>
                <a:lnTo>
                  <a:pt x="3310002" y="1145196"/>
                </a:lnTo>
                <a:lnTo>
                  <a:pt x="3355629" y="1300585"/>
                </a:lnTo>
                <a:lnTo>
                  <a:pt x="3386278" y="1459609"/>
                </a:lnTo>
                <a:lnTo>
                  <a:pt x="3401672" y="1620825"/>
                </a:lnTo>
                <a:lnTo>
                  <a:pt x="3401672" y="1782775"/>
                </a:lnTo>
                <a:lnTo>
                  <a:pt x="3386278" y="1943991"/>
                </a:lnTo>
                <a:lnTo>
                  <a:pt x="3355629" y="2103015"/>
                </a:lnTo>
                <a:lnTo>
                  <a:pt x="3310002" y="2258404"/>
                </a:lnTo>
                <a:lnTo>
                  <a:pt x="2666721" y="2035763"/>
                </a:lnTo>
                <a:lnTo>
                  <a:pt x="2694097" y="1942529"/>
                </a:lnTo>
                <a:lnTo>
                  <a:pt x="2712487" y="1847115"/>
                </a:lnTo>
                <a:lnTo>
                  <a:pt x="2721723" y="1750385"/>
                </a:lnTo>
                <a:lnTo>
                  <a:pt x="2721723" y="1653215"/>
                </a:lnTo>
                <a:lnTo>
                  <a:pt x="2712487" y="1556485"/>
                </a:lnTo>
                <a:lnTo>
                  <a:pt x="2694097" y="1461071"/>
                </a:lnTo>
                <a:lnTo>
                  <a:pt x="2666721" y="1367837"/>
                </a:lnTo>
                <a:lnTo>
                  <a:pt x="2630607" y="1277628"/>
                </a:lnTo>
                <a:close/>
              </a:path>
            </a:pathLst>
          </a:custGeom>
          <a:solidFill>
            <a:srgbClr val="94ADE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884519" y="3394595"/>
            <a:ext cx="51714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Licenses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3310002" y="2258404"/>
                </a:moveTo>
                <a:lnTo>
                  <a:pt x="3249812" y="2408753"/>
                </a:lnTo>
                <a:lnTo>
                  <a:pt x="3175602" y="2552700"/>
                </a:lnTo>
                <a:lnTo>
                  <a:pt x="3088045" y="2688941"/>
                </a:lnTo>
                <a:lnTo>
                  <a:pt x="2987935" y="2816242"/>
                </a:lnTo>
                <a:lnTo>
                  <a:pt x="2876176" y="2933451"/>
                </a:lnTo>
                <a:lnTo>
                  <a:pt x="2406426" y="2440790"/>
                </a:lnTo>
                <a:lnTo>
                  <a:pt x="2473481" y="2370465"/>
                </a:lnTo>
                <a:lnTo>
                  <a:pt x="2533547" y="2294085"/>
                </a:lnTo>
                <a:lnTo>
                  <a:pt x="2586081" y="2212340"/>
                </a:lnTo>
                <a:lnTo>
                  <a:pt x="2630607" y="2125972"/>
                </a:lnTo>
                <a:lnTo>
                  <a:pt x="2666721" y="2035763"/>
                </a:lnTo>
                <a:close/>
              </a:path>
            </a:pathLst>
          </a:custGeom>
          <a:solidFill>
            <a:srgbClr val="ACBEE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602280" y="4447926"/>
            <a:ext cx="51714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Services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5074768" y="2547620"/>
            <a:ext cx="2042160" cy="2042160"/>
          </a:xfrm>
          <a:custGeom>
            <a:avLst/>
            <a:gdLst/>
            <a:ahLst/>
            <a:cxnLst/>
            <a:rect l="l" t="t" r="r" b="b"/>
            <a:pathLst>
              <a:path w="2042160" h="2042160">
                <a:moveTo>
                  <a:pt x="1725706" y="1760070"/>
                </a:moveTo>
                <a:lnTo>
                  <a:pt x="1645883" y="1828685"/>
                </a:lnTo>
                <a:lnTo>
                  <a:pt x="1559419" y="1888718"/>
                </a:lnTo>
                <a:lnTo>
                  <a:pt x="1467235" y="1939530"/>
                </a:lnTo>
                <a:lnTo>
                  <a:pt x="1370310" y="1980581"/>
                </a:lnTo>
                <a:lnTo>
                  <a:pt x="1269673" y="2011436"/>
                </a:lnTo>
                <a:lnTo>
                  <a:pt x="1166395" y="2031767"/>
                </a:lnTo>
                <a:lnTo>
                  <a:pt x="1061572" y="2041357"/>
                </a:lnTo>
                <a:lnTo>
                  <a:pt x="956319" y="2040104"/>
                </a:lnTo>
                <a:lnTo>
                  <a:pt x="851754" y="2028022"/>
                </a:lnTo>
                <a:lnTo>
                  <a:pt x="748989" y="2005240"/>
                </a:lnTo>
                <a:lnTo>
                  <a:pt x="649115" y="1971999"/>
                </a:lnTo>
                <a:lnTo>
                  <a:pt x="553194" y="1928652"/>
                </a:lnTo>
                <a:lnTo>
                  <a:pt x="462245" y="1875661"/>
                </a:lnTo>
                <a:lnTo>
                  <a:pt x="377235" y="1813588"/>
                </a:lnTo>
                <a:lnTo>
                  <a:pt x="299067" y="1743093"/>
                </a:lnTo>
                <a:lnTo>
                  <a:pt x="228572" y="1664925"/>
                </a:lnTo>
                <a:lnTo>
                  <a:pt x="166499" y="1579915"/>
                </a:lnTo>
                <a:lnTo>
                  <a:pt x="113508" y="1488966"/>
                </a:lnTo>
                <a:lnTo>
                  <a:pt x="70161" y="1393045"/>
                </a:lnTo>
                <a:lnTo>
                  <a:pt x="36920" y="1293171"/>
                </a:lnTo>
                <a:lnTo>
                  <a:pt x="14138" y="1190406"/>
                </a:lnTo>
                <a:lnTo>
                  <a:pt x="2056" y="1085841"/>
                </a:lnTo>
                <a:lnTo>
                  <a:pt x="803" y="980588"/>
                </a:lnTo>
                <a:lnTo>
                  <a:pt x="10393" y="875765"/>
                </a:lnTo>
                <a:lnTo>
                  <a:pt x="482047" y="943579"/>
                </a:lnTo>
                <a:lnTo>
                  <a:pt x="476932" y="999484"/>
                </a:lnTo>
                <a:lnTo>
                  <a:pt x="477600" y="1055619"/>
                </a:lnTo>
                <a:lnTo>
                  <a:pt x="484044" y="1111387"/>
                </a:lnTo>
                <a:lnTo>
                  <a:pt x="496195" y="1166195"/>
                </a:lnTo>
                <a:lnTo>
                  <a:pt x="513923" y="1219461"/>
                </a:lnTo>
                <a:lnTo>
                  <a:pt x="537042" y="1270619"/>
                </a:lnTo>
                <a:lnTo>
                  <a:pt x="565304" y="1319125"/>
                </a:lnTo>
                <a:lnTo>
                  <a:pt x="598409" y="1364464"/>
                </a:lnTo>
                <a:lnTo>
                  <a:pt x="636007" y="1406153"/>
                </a:lnTo>
                <a:lnTo>
                  <a:pt x="677696" y="1443751"/>
                </a:lnTo>
                <a:lnTo>
                  <a:pt x="723035" y="1476856"/>
                </a:lnTo>
                <a:lnTo>
                  <a:pt x="771541" y="1505118"/>
                </a:lnTo>
                <a:lnTo>
                  <a:pt x="822699" y="1528237"/>
                </a:lnTo>
                <a:lnTo>
                  <a:pt x="875965" y="1545965"/>
                </a:lnTo>
                <a:lnTo>
                  <a:pt x="930773" y="1558116"/>
                </a:lnTo>
                <a:lnTo>
                  <a:pt x="986541" y="1564560"/>
                </a:lnTo>
                <a:lnTo>
                  <a:pt x="1042676" y="1565228"/>
                </a:lnTo>
                <a:lnTo>
                  <a:pt x="1098581" y="1560113"/>
                </a:lnTo>
                <a:lnTo>
                  <a:pt x="1153663" y="1549270"/>
                </a:lnTo>
                <a:lnTo>
                  <a:pt x="1207336" y="1532814"/>
                </a:lnTo>
                <a:lnTo>
                  <a:pt x="1259029" y="1510920"/>
                </a:lnTo>
                <a:lnTo>
                  <a:pt x="1308194" y="1483820"/>
                </a:lnTo>
                <a:lnTo>
                  <a:pt x="1354308" y="1451803"/>
                </a:lnTo>
                <a:lnTo>
                  <a:pt x="1396880" y="1415208"/>
                </a:lnTo>
                <a:close/>
              </a:path>
            </a:pathLst>
          </a:cu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78563" y="4175605"/>
            <a:ext cx="51714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2876176" y="2933451"/>
                </a:moveTo>
                <a:lnTo>
                  <a:pt x="2745272" y="3046155"/>
                </a:lnTo>
                <a:lnTo>
                  <a:pt x="2603617" y="3145008"/>
                </a:lnTo>
                <a:lnTo>
                  <a:pt x="2452670" y="3228993"/>
                </a:lnTo>
                <a:lnTo>
                  <a:pt x="2293987" y="3297243"/>
                </a:lnTo>
                <a:lnTo>
                  <a:pt x="2129204" y="3349055"/>
                </a:lnTo>
                <a:lnTo>
                  <a:pt x="1960016" y="3383896"/>
                </a:lnTo>
                <a:lnTo>
                  <a:pt x="1788169" y="3401407"/>
                </a:lnTo>
                <a:lnTo>
                  <a:pt x="1615431" y="3401407"/>
                </a:lnTo>
                <a:lnTo>
                  <a:pt x="1443584" y="3383896"/>
                </a:lnTo>
                <a:lnTo>
                  <a:pt x="1274396" y="3349055"/>
                </a:lnTo>
                <a:lnTo>
                  <a:pt x="1109613" y="3297243"/>
                </a:lnTo>
                <a:lnTo>
                  <a:pt x="950930" y="3228993"/>
                </a:lnTo>
                <a:lnTo>
                  <a:pt x="799983" y="3145008"/>
                </a:lnTo>
                <a:lnTo>
                  <a:pt x="658328" y="3046155"/>
                </a:lnTo>
                <a:lnTo>
                  <a:pt x="527424" y="2933451"/>
                </a:lnTo>
                <a:lnTo>
                  <a:pt x="997174" y="2440790"/>
                </a:lnTo>
                <a:lnTo>
                  <a:pt x="1075717" y="2508413"/>
                </a:lnTo>
                <a:lnTo>
                  <a:pt x="1160710" y="2567725"/>
                </a:lnTo>
                <a:lnTo>
                  <a:pt x="1251278" y="2618116"/>
                </a:lnTo>
                <a:lnTo>
                  <a:pt x="1346488" y="2659066"/>
                </a:lnTo>
                <a:lnTo>
                  <a:pt x="1445358" y="2690153"/>
                </a:lnTo>
                <a:lnTo>
                  <a:pt x="1546870" y="2711058"/>
                </a:lnTo>
                <a:lnTo>
                  <a:pt x="1649979" y="2721564"/>
                </a:lnTo>
                <a:lnTo>
                  <a:pt x="1753621" y="2721564"/>
                </a:lnTo>
                <a:lnTo>
                  <a:pt x="1856730" y="2711058"/>
                </a:lnTo>
                <a:lnTo>
                  <a:pt x="1958242" y="2690153"/>
                </a:lnTo>
                <a:lnTo>
                  <a:pt x="2057112" y="2659066"/>
                </a:lnTo>
                <a:lnTo>
                  <a:pt x="2152322" y="2618116"/>
                </a:lnTo>
                <a:lnTo>
                  <a:pt x="2242890" y="2567725"/>
                </a:lnTo>
                <a:lnTo>
                  <a:pt x="2327883" y="2508413"/>
                </a:lnTo>
                <a:lnTo>
                  <a:pt x="2406426" y="2440790"/>
                </a:lnTo>
                <a:close/>
              </a:path>
            </a:pathLst>
          </a:custGeom>
          <a:solidFill>
            <a:srgbClr val="72BF9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753583" y="5270500"/>
            <a:ext cx="34226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527424" y="2933451"/>
                </a:moveTo>
                <a:lnTo>
                  <a:pt x="415665" y="2816242"/>
                </a:lnTo>
                <a:lnTo>
                  <a:pt x="315555" y="2688941"/>
                </a:lnTo>
                <a:lnTo>
                  <a:pt x="227998" y="2552700"/>
                </a:lnTo>
                <a:lnTo>
                  <a:pt x="153788" y="2408753"/>
                </a:lnTo>
                <a:lnTo>
                  <a:pt x="93598" y="2258404"/>
                </a:lnTo>
                <a:lnTo>
                  <a:pt x="47971" y="2103015"/>
                </a:lnTo>
                <a:lnTo>
                  <a:pt x="17322" y="1943991"/>
                </a:lnTo>
                <a:lnTo>
                  <a:pt x="1928" y="1782775"/>
                </a:lnTo>
                <a:lnTo>
                  <a:pt x="1928" y="1620825"/>
                </a:lnTo>
                <a:lnTo>
                  <a:pt x="17322" y="1459609"/>
                </a:lnTo>
                <a:lnTo>
                  <a:pt x="691113" y="1556485"/>
                </a:lnTo>
                <a:lnTo>
                  <a:pt x="681877" y="1653215"/>
                </a:lnTo>
                <a:lnTo>
                  <a:pt x="681877" y="1750385"/>
                </a:lnTo>
                <a:lnTo>
                  <a:pt x="691113" y="1847115"/>
                </a:lnTo>
                <a:lnTo>
                  <a:pt x="709503" y="1942529"/>
                </a:lnTo>
                <a:lnTo>
                  <a:pt x="736879" y="2035763"/>
                </a:lnTo>
                <a:lnTo>
                  <a:pt x="772993" y="2125972"/>
                </a:lnTo>
                <a:lnTo>
                  <a:pt x="817519" y="2212340"/>
                </a:lnTo>
                <a:lnTo>
                  <a:pt x="870053" y="2294085"/>
                </a:lnTo>
                <a:lnTo>
                  <a:pt x="930119" y="2370465"/>
                </a:lnTo>
                <a:lnTo>
                  <a:pt x="997174" y="2440790"/>
                </a:lnTo>
                <a:close/>
              </a:path>
            </a:pathLst>
          </a:custGeom>
          <a:solidFill>
            <a:srgbClr val="92CAA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886491" y="4065481"/>
            <a:ext cx="51714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Licenses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5074768" y="2547620"/>
            <a:ext cx="2042160" cy="2042160"/>
          </a:xfrm>
          <a:custGeom>
            <a:avLst/>
            <a:gdLst/>
            <a:ahLst/>
            <a:cxnLst/>
            <a:rect l="l" t="t" r="r" b="b"/>
            <a:pathLst>
              <a:path w="2042160" h="2042160">
                <a:moveTo>
                  <a:pt x="10393" y="875765"/>
                </a:moveTo>
                <a:lnTo>
                  <a:pt x="30443" y="773609"/>
                </a:lnTo>
                <a:lnTo>
                  <a:pt x="60790" y="674026"/>
                </a:lnTo>
                <a:lnTo>
                  <a:pt x="101119" y="578050"/>
                </a:lnTo>
                <a:lnTo>
                  <a:pt x="151011" y="486679"/>
                </a:lnTo>
                <a:lnTo>
                  <a:pt x="209947" y="400864"/>
                </a:lnTo>
                <a:lnTo>
                  <a:pt x="277315" y="321495"/>
                </a:lnTo>
                <a:lnTo>
                  <a:pt x="352415" y="249399"/>
                </a:lnTo>
                <a:lnTo>
                  <a:pt x="434465" y="185325"/>
                </a:lnTo>
                <a:lnTo>
                  <a:pt x="522613" y="129937"/>
                </a:lnTo>
                <a:lnTo>
                  <a:pt x="615943" y="83814"/>
                </a:lnTo>
                <a:lnTo>
                  <a:pt x="713484" y="47433"/>
                </a:lnTo>
                <a:lnTo>
                  <a:pt x="814222" y="21173"/>
                </a:lnTo>
                <a:lnTo>
                  <a:pt x="917111" y="5307"/>
                </a:lnTo>
                <a:lnTo>
                  <a:pt x="1021080" y="0"/>
                </a:lnTo>
                <a:lnTo>
                  <a:pt x="1021080" y="476504"/>
                </a:lnTo>
                <a:lnTo>
                  <a:pt x="965630" y="479334"/>
                </a:lnTo>
                <a:lnTo>
                  <a:pt x="910756" y="487796"/>
                </a:lnTo>
                <a:lnTo>
                  <a:pt x="857029" y="501802"/>
                </a:lnTo>
                <a:lnTo>
                  <a:pt x="805007" y="521205"/>
                </a:lnTo>
                <a:lnTo>
                  <a:pt x="755231" y="545804"/>
                </a:lnTo>
                <a:lnTo>
                  <a:pt x="708219" y="575344"/>
                </a:lnTo>
                <a:lnTo>
                  <a:pt x="664459" y="609517"/>
                </a:lnTo>
                <a:lnTo>
                  <a:pt x="624406" y="647968"/>
                </a:lnTo>
                <a:lnTo>
                  <a:pt x="588476" y="690298"/>
                </a:lnTo>
                <a:lnTo>
                  <a:pt x="557043" y="736066"/>
                </a:lnTo>
                <a:lnTo>
                  <a:pt x="530434" y="784797"/>
                </a:lnTo>
                <a:lnTo>
                  <a:pt x="508925" y="835984"/>
                </a:lnTo>
                <a:lnTo>
                  <a:pt x="492740" y="889096"/>
                </a:lnTo>
                <a:lnTo>
                  <a:pt x="482047" y="943579"/>
                </a:lnTo>
                <a:close/>
              </a:path>
            </a:pathLst>
          </a:cu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41218" y="2888178"/>
            <a:ext cx="283972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17322" y="1459609"/>
                </a:moveTo>
                <a:lnTo>
                  <a:pt x="47971" y="1300585"/>
                </a:lnTo>
                <a:lnTo>
                  <a:pt x="93598" y="1145196"/>
                </a:lnTo>
                <a:lnTo>
                  <a:pt x="153788" y="994847"/>
                </a:lnTo>
                <a:lnTo>
                  <a:pt x="227998" y="850900"/>
                </a:lnTo>
                <a:lnTo>
                  <a:pt x="315555" y="714659"/>
                </a:lnTo>
                <a:lnTo>
                  <a:pt x="415665" y="587358"/>
                </a:lnTo>
                <a:lnTo>
                  <a:pt x="527424" y="470149"/>
                </a:lnTo>
                <a:lnTo>
                  <a:pt x="649817" y="364095"/>
                </a:lnTo>
                <a:lnTo>
                  <a:pt x="781737" y="270155"/>
                </a:lnTo>
                <a:lnTo>
                  <a:pt x="1149762" y="842813"/>
                </a:lnTo>
                <a:lnTo>
                  <a:pt x="1070610" y="899177"/>
                </a:lnTo>
                <a:lnTo>
                  <a:pt x="997174" y="962810"/>
                </a:lnTo>
                <a:lnTo>
                  <a:pt x="930119" y="1033135"/>
                </a:lnTo>
                <a:lnTo>
                  <a:pt x="870053" y="1109515"/>
                </a:lnTo>
                <a:lnTo>
                  <a:pt x="817519" y="1191260"/>
                </a:lnTo>
                <a:lnTo>
                  <a:pt x="772993" y="1277628"/>
                </a:lnTo>
                <a:lnTo>
                  <a:pt x="736879" y="1367837"/>
                </a:lnTo>
                <a:lnTo>
                  <a:pt x="709503" y="1461071"/>
                </a:lnTo>
                <a:lnTo>
                  <a:pt x="691113" y="1556485"/>
                </a:lnTo>
                <a:close/>
              </a:path>
            </a:pathLst>
          </a:custGeom>
          <a:solidFill>
            <a:srgbClr val="F0B56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247150" y="2511674"/>
            <a:ext cx="34226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781737" y="270155"/>
                </a:moveTo>
                <a:lnTo>
                  <a:pt x="921990" y="189180"/>
                </a:lnTo>
                <a:lnTo>
                  <a:pt x="1069305" y="121903"/>
                </a:lnTo>
                <a:lnTo>
                  <a:pt x="1222348" y="68935"/>
                </a:lnTo>
                <a:lnTo>
                  <a:pt x="1379732" y="30754"/>
                </a:lnTo>
                <a:lnTo>
                  <a:pt x="1540034" y="7706"/>
                </a:lnTo>
                <a:lnTo>
                  <a:pt x="1701800" y="0"/>
                </a:lnTo>
                <a:lnTo>
                  <a:pt x="1701800" y="680720"/>
                </a:lnTo>
                <a:lnTo>
                  <a:pt x="1604740" y="685344"/>
                </a:lnTo>
                <a:lnTo>
                  <a:pt x="1508559" y="699172"/>
                </a:lnTo>
                <a:lnTo>
                  <a:pt x="1414129" y="722081"/>
                </a:lnTo>
                <a:lnTo>
                  <a:pt x="1322303" y="753862"/>
                </a:lnTo>
                <a:lnTo>
                  <a:pt x="1233914" y="794228"/>
                </a:lnTo>
                <a:lnTo>
                  <a:pt x="1149762" y="842813"/>
                </a:lnTo>
                <a:close/>
              </a:path>
            </a:pathLst>
          </a:custGeom>
          <a:solidFill>
            <a:srgbClr val="F2C29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074205" y="1761636"/>
            <a:ext cx="51714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Hardware</a:t>
            </a:r>
            <a:endParaRPr lang="en-US" sz="850" dirty="0"/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Response-time distribution (ms)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437642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047848" y="373634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309626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245618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479648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API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350781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Web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221914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Batch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629338" y="4245559"/>
            <a:ext cx="1571752" cy="337109"/>
          </a:xfrm>
          <a:custGeom>
            <a:avLst/>
            <a:gdLst/>
            <a:ahLst/>
            <a:cxnLst/>
            <a:rect l="l" t="t" r="r" b="b"/>
            <a:pathLst>
              <a:path w="1571752" h="337109">
                <a:moveTo>
                  <a:pt x="962595" y="337109"/>
                </a:moveTo>
                <a:lnTo>
                  <a:pt x="1002677" y="328681"/>
                </a:lnTo>
                <a:lnTo>
                  <a:pt x="1046833" y="320253"/>
                </a:lnTo>
                <a:lnTo>
                  <a:pt x="1094256" y="311826"/>
                </a:lnTo>
                <a:lnTo>
                  <a:pt x="1143910" y="303398"/>
                </a:lnTo>
                <a:lnTo>
                  <a:pt x="1194597" y="294970"/>
                </a:lnTo>
                <a:lnTo>
                  <a:pt x="1245039" y="286542"/>
                </a:lnTo>
                <a:lnTo>
                  <a:pt x="1293979" y="278115"/>
                </a:lnTo>
                <a:lnTo>
                  <a:pt x="1340269" y="269687"/>
                </a:lnTo>
                <a:lnTo>
                  <a:pt x="1382953" y="261259"/>
                </a:lnTo>
                <a:lnTo>
                  <a:pt x="1421320" y="252832"/>
                </a:lnTo>
                <a:lnTo>
                  <a:pt x="1454936" y="244404"/>
                </a:lnTo>
                <a:lnTo>
                  <a:pt x="1483640" y="235976"/>
                </a:lnTo>
                <a:lnTo>
                  <a:pt x="1507512" y="227548"/>
                </a:lnTo>
                <a:lnTo>
                  <a:pt x="1526831" y="219121"/>
                </a:lnTo>
                <a:lnTo>
                  <a:pt x="1542009" y="210693"/>
                </a:lnTo>
                <a:lnTo>
                  <a:pt x="1553528" y="202265"/>
                </a:lnTo>
                <a:lnTo>
                  <a:pt x="1561873" y="193838"/>
                </a:lnTo>
                <a:lnTo>
                  <a:pt x="1567484" y="185410"/>
                </a:lnTo>
                <a:lnTo>
                  <a:pt x="1570704" y="176982"/>
                </a:lnTo>
                <a:lnTo>
                  <a:pt x="1571752" y="168554"/>
                </a:lnTo>
                <a:lnTo>
                  <a:pt x="1570704" y="160127"/>
                </a:lnTo>
                <a:lnTo>
                  <a:pt x="1567484" y="151699"/>
                </a:lnTo>
                <a:lnTo>
                  <a:pt x="1561873" y="143271"/>
                </a:lnTo>
                <a:lnTo>
                  <a:pt x="1553528" y="134844"/>
                </a:lnTo>
                <a:lnTo>
                  <a:pt x="1542009" y="126416"/>
                </a:lnTo>
                <a:lnTo>
                  <a:pt x="1526831" y="117988"/>
                </a:lnTo>
                <a:lnTo>
                  <a:pt x="1507512" y="109560"/>
                </a:lnTo>
                <a:lnTo>
                  <a:pt x="1483640" y="101133"/>
                </a:lnTo>
                <a:lnTo>
                  <a:pt x="1454936" y="92705"/>
                </a:lnTo>
                <a:lnTo>
                  <a:pt x="1421320" y="84277"/>
                </a:lnTo>
                <a:lnTo>
                  <a:pt x="1382953" y="75849"/>
                </a:lnTo>
                <a:lnTo>
                  <a:pt x="1340269" y="67422"/>
                </a:lnTo>
                <a:lnTo>
                  <a:pt x="1293979" y="58994"/>
                </a:lnTo>
                <a:lnTo>
                  <a:pt x="1245039" y="50566"/>
                </a:lnTo>
                <a:lnTo>
                  <a:pt x="1194597" y="42139"/>
                </a:lnTo>
                <a:lnTo>
                  <a:pt x="1143910" y="33711"/>
                </a:lnTo>
                <a:lnTo>
                  <a:pt x="1094256" y="25283"/>
                </a:lnTo>
                <a:lnTo>
                  <a:pt x="1046833" y="16855"/>
                </a:lnTo>
                <a:lnTo>
                  <a:pt x="1002677" y="8428"/>
                </a:lnTo>
                <a:lnTo>
                  <a:pt x="962595" y="0"/>
                </a:lnTo>
                <a:lnTo>
                  <a:pt x="609157" y="0"/>
                </a:lnTo>
                <a:lnTo>
                  <a:pt x="569075" y="8428"/>
                </a:lnTo>
                <a:lnTo>
                  <a:pt x="524919" y="16855"/>
                </a:lnTo>
                <a:lnTo>
                  <a:pt x="477496" y="25283"/>
                </a:lnTo>
                <a:lnTo>
                  <a:pt x="427842" y="33711"/>
                </a:lnTo>
                <a:lnTo>
                  <a:pt x="377155" y="42139"/>
                </a:lnTo>
                <a:lnTo>
                  <a:pt x="326713" y="50566"/>
                </a:lnTo>
                <a:lnTo>
                  <a:pt x="277773" y="58994"/>
                </a:lnTo>
                <a:lnTo>
                  <a:pt x="231483" y="67422"/>
                </a:lnTo>
                <a:lnTo>
                  <a:pt x="188799" y="75849"/>
                </a:lnTo>
                <a:lnTo>
                  <a:pt x="150432" y="84277"/>
                </a:lnTo>
                <a:lnTo>
                  <a:pt x="116816" y="92705"/>
                </a:lnTo>
                <a:lnTo>
                  <a:pt x="88112" y="101133"/>
                </a:lnTo>
                <a:lnTo>
                  <a:pt x="64240" y="109560"/>
                </a:lnTo>
                <a:lnTo>
                  <a:pt x="44921" y="117988"/>
                </a:lnTo>
                <a:lnTo>
                  <a:pt x="29743" y="126416"/>
                </a:lnTo>
                <a:lnTo>
                  <a:pt x="18224" y="134844"/>
                </a:lnTo>
                <a:lnTo>
                  <a:pt x="9879" y="143271"/>
                </a:lnTo>
                <a:lnTo>
                  <a:pt x="4268" y="151699"/>
                </a:lnTo>
                <a:lnTo>
                  <a:pt x="1048" y="160127"/>
                </a:lnTo>
                <a:lnTo>
                  <a:pt x="0" y="168554"/>
                </a:lnTo>
                <a:lnTo>
                  <a:pt x="1048" y="176982"/>
                </a:lnTo>
                <a:lnTo>
                  <a:pt x="4268" y="185410"/>
                </a:lnTo>
                <a:lnTo>
                  <a:pt x="9879" y="193838"/>
                </a:lnTo>
                <a:lnTo>
                  <a:pt x="18224" y="202265"/>
                </a:lnTo>
                <a:lnTo>
                  <a:pt x="29743" y="210693"/>
                </a:lnTo>
                <a:lnTo>
                  <a:pt x="44921" y="219121"/>
                </a:lnTo>
                <a:lnTo>
                  <a:pt x="64240" y="227548"/>
                </a:lnTo>
                <a:lnTo>
                  <a:pt x="88112" y="235976"/>
                </a:lnTo>
                <a:lnTo>
                  <a:pt x="116816" y="244404"/>
                </a:lnTo>
                <a:lnTo>
                  <a:pt x="150432" y="252832"/>
                </a:lnTo>
                <a:lnTo>
                  <a:pt x="188799" y="261259"/>
                </a:lnTo>
                <a:lnTo>
                  <a:pt x="231483" y="269687"/>
                </a:lnTo>
                <a:lnTo>
                  <a:pt x="277773" y="278115"/>
                </a:lnTo>
                <a:lnTo>
                  <a:pt x="326713" y="286542"/>
                </a:lnTo>
                <a:lnTo>
                  <a:pt x="377155" y="294970"/>
                </a:lnTo>
                <a:lnTo>
                  <a:pt x="427842" y="303398"/>
                </a:lnTo>
                <a:lnTo>
                  <a:pt x="477496" y="311826"/>
                </a:lnTo>
                <a:lnTo>
                  <a:pt x="524919" y="320253"/>
                </a:lnTo>
                <a:lnTo>
                  <a:pt x="569075" y="328681"/>
                </a:lnTo>
                <a:lnTo>
                  <a:pt x="609157" y="337109"/>
                </a:lnTo>
                <a:close/>
              </a:path>
            </a:pathLst>
          </a:custGeom>
          <a:solidFill>
            <a:srgbClr val="D8DFF3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140158" y="4414114"/>
            <a:ext cx="550113" cy="0"/>
          </a:xfrm>
          <a:prstGeom prst="line">
            <a:avLst/>
          </a:prstGeom>
          <a:noFill/>
          <a:ln w="22225">
            <a:solidFill>
              <a:srgbClr val="0B0B0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500472" y="3580158"/>
            <a:ext cx="1571752" cy="739794"/>
          </a:xfrm>
          <a:custGeom>
            <a:avLst/>
            <a:gdLst/>
            <a:ahLst/>
            <a:cxnLst/>
            <a:rect l="l" t="t" r="r" b="b"/>
            <a:pathLst>
              <a:path w="1571752" h="739794">
                <a:moveTo>
                  <a:pt x="965914" y="739794"/>
                </a:moveTo>
                <a:lnTo>
                  <a:pt x="1008771" y="721300"/>
                </a:lnTo>
                <a:lnTo>
                  <a:pt x="1056028" y="702805"/>
                </a:lnTo>
                <a:lnTo>
                  <a:pt x="1106669" y="684310"/>
                </a:lnTo>
                <a:lnTo>
                  <a:pt x="1159413" y="665815"/>
                </a:lnTo>
                <a:lnTo>
                  <a:pt x="1212801" y="647320"/>
                </a:lnTo>
                <a:lnTo>
                  <a:pt x="1265323" y="628825"/>
                </a:lnTo>
                <a:lnTo>
                  <a:pt x="1315540" y="610330"/>
                </a:lnTo>
                <a:lnTo>
                  <a:pt x="1362202" y="591836"/>
                </a:lnTo>
                <a:lnTo>
                  <a:pt x="1404342" y="573341"/>
                </a:lnTo>
                <a:lnTo>
                  <a:pt x="1441327" y="554846"/>
                </a:lnTo>
                <a:lnTo>
                  <a:pt x="1472874" y="536351"/>
                </a:lnTo>
                <a:lnTo>
                  <a:pt x="1499020" y="517856"/>
                </a:lnTo>
                <a:lnTo>
                  <a:pt x="1520072" y="499361"/>
                </a:lnTo>
                <a:lnTo>
                  <a:pt x="1536529" y="480866"/>
                </a:lnTo>
                <a:lnTo>
                  <a:pt x="1548998" y="462372"/>
                </a:lnTo>
                <a:lnTo>
                  <a:pt x="1558122" y="443877"/>
                </a:lnTo>
                <a:lnTo>
                  <a:pt x="1564505" y="425382"/>
                </a:lnTo>
                <a:lnTo>
                  <a:pt x="1568668" y="406887"/>
                </a:lnTo>
                <a:lnTo>
                  <a:pt x="1571002" y="388392"/>
                </a:lnTo>
                <a:lnTo>
                  <a:pt x="1571752" y="369897"/>
                </a:lnTo>
                <a:lnTo>
                  <a:pt x="1571002" y="351402"/>
                </a:lnTo>
                <a:lnTo>
                  <a:pt x="1568668" y="332908"/>
                </a:lnTo>
                <a:lnTo>
                  <a:pt x="1564505" y="314413"/>
                </a:lnTo>
                <a:lnTo>
                  <a:pt x="1558122" y="295918"/>
                </a:lnTo>
                <a:lnTo>
                  <a:pt x="1548998" y="277423"/>
                </a:lnTo>
                <a:lnTo>
                  <a:pt x="1536529" y="258928"/>
                </a:lnTo>
                <a:lnTo>
                  <a:pt x="1520072" y="240433"/>
                </a:lnTo>
                <a:lnTo>
                  <a:pt x="1499020" y="221938"/>
                </a:lnTo>
                <a:lnTo>
                  <a:pt x="1472874" y="203443"/>
                </a:lnTo>
                <a:lnTo>
                  <a:pt x="1441327" y="184949"/>
                </a:lnTo>
                <a:lnTo>
                  <a:pt x="1404342" y="166454"/>
                </a:lnTo>
                <a:lnTo>
                  <a:pt x="1362202" y="147959"/>
                </a:lnTo>
                <a:lnTo>
                  <a:pt x="1315540" y="129464"/>
                </a:lnTo>
                <a:lnTo>
                  <a:pt x="1265323" y="110969"/>
                </a:lnTo>
                <a:lnTo>
                  <a:pt x="1212801" y="92474"/>
                </a:lnTo>
                <a:lnTo>
                  <a:pt x="1159413" y="73979"/>
                </a:lnTo>
                <a:lnTo>
                  <a:pt x="1106669" y="55485"/>
                </a:lnTo>
                <a:lnTo>
                  <a:pt x="1056028" y="36990"/>
                </a:lnTo>
                <a:lnTo>
                  <a:pt x="1008771" y="18495"/>
                </a:lnTo>
                <a:lnTo>
                  <a:pt x="965914" y="0"/>
                </a:lnTo>
                <a:lnTo>
                  <a:pt x="605838" y="0"/>
                </a:lnTo>
                <a:lnTo>
                  <a:pt x="562981" y="18495"/>
                </a:lnTo>
                <a:lnTo>
                  <a:pt x="515724" y="36990"/>
                </a:lnTo>
                <a:lnTo>
                  <a:pt x="465083" y="55485"/>
                </a:lnTo>
                <a:lnTo>
                  <a:pt x="412339" y="73979"/>
                </a:lnTo>
                <a:lnTo>
                  <a:pt x="358951" y="92474"/>
                </a:lnTo>
                <a:lnTo>
                  <a:pt x="306429" y="110969"/>
                </a:lnTo>
                <a:lnTo>
                  <a:pt x="256212" y="129464"/>
                </a:lnTo>
                <a:lnTo>
                  <a:pt x="209550" y="147959"/>
                </a:lnTo>
                <a:lnTo>
                  <a:pt x="167410" y="166454"/>
                </a:lnTo>
                <a:lnTo>
                  <a:pt x="130425" y="184949"/>
                </a:lnTo>
                <a:lnTo>
                  <a:pt x="98878" y="203443"/>
                </a:lnTo>
                <a:lnTo>
                  <a:pt x="72732" y="221938"/>
                </a:lnTo>
                <a:lnTo>
                  <a:pt x="51680" y="240433"/>
                </a:lnTo>
                <a:lnTo>
                  <a:pt x="35223" y="258928"/>
                </a:lnTo>
                <a:lnTo>
                  <a:pt x="22754" y="277423"/>
                </a:lnTo>
                <a:lnTo>
                  <a:pt x="13630" y="295918"/>
                </a:lnTo>
                <a:lnTo>
                  <a:pt x="7247" y="314413"/>
                </a:lnTo>
                <a:lnTo>
                  <a:pt x="3084" y="332908"/>
                </a:lnTo>
                <a:lnTo>
                  <a:pt x="750" y="351402"/>
                </a:lnTo>
                <a:lnTo>
                  <a:pt x="0" y="369897"/>
                </a:lnTo>
                <a:lnTo>
                  <a:pt x="750" y="388392"/>
                </a:lnTo>
                <a:lnTo>
                  <a:pt x="3084" y="406887"/>
                </a:lnTo>
                <a:lnTo>
                  <a:pt x="7247" y="425382"/>
                </a:lnTo>
                <a:lnTo>
                  <a:pt x="13630" y="443877"/>
                </a:lnTo>
                <a:lnTo>
                  <a:pt x="22754" y="462372"/>
                </a:lnTo>
                <a:lnTo>
                  <a:pt x="35223" y="480866"/>
                </a:lnTo>
                <a:lnTo>
                  <a:pt x="51680" y="499361"/>
                </a:lnTo>
                <a:lnTo>
                  <a:pt x="72732" y="517856"/>
                </a:lnTo>
                <a:lnTo>
                  <a:pt x="98878" y="536351"/>
                </a:lnTo>
                <a:lnTo>
                  <a:pt x="130425" y="554846"/>
                </a:lnTo>
                <a:lnTo>
                  <a:pt x="167410" y="573341"/>
                </a:lnTo>
                <a:lnTo>
                  <a:pt x="209550" y="591836"/>
                </a:lnTo>
                <a:lnTo>
                  <a:pt x="256212" y="610330"/>
                </a:lnTo>
                <a:lnTo>
                  <a:pt x="306429" y="628825"/>
                </a:lnTo>
                <a:lnTo>
                  <a:pt x="358951" y="647320"/>
                </a:lnTo>
                <a:lnTo>
                  <a:pt x="412339" y="665815"/>
                </a:lnTo>
                <a:lnTo>
                  <a:pt x="465083" y="684310"/>
                </a:lnTo>
                <a:lnTo>
                  <a:pt x="515724" y="702805"/>
                </a:lnTo>
                <a:lnTo>
                  <a:pt x="562981" y="721300"/>
                </a:lnTo>
                <a:lnTo>
                  <a:pt x="605838" y="739794"/>
                </a:lnTo>
                <a:close/>
              </a:path>
            </a:pathLst>
          </a:custGeom>
          <a:solidFill>
            <a:srgbClr val="D8E9E0"/>
          </a:solidFill>
          <a:ln w="12700">
            <a:solidFill>
              <a:srgbClr val="1BAF7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011291" y="3950056"/>
            <a:ext cx="550113" cy="0"/>
          </a:xfrm>
          <a:prstGeom prst="line">
            <a:avLst/>
          </a:prstGeom>
          <a:noFill/>
          <a:ln w="22225">
            <a:solidFill>
              <a:srgbClr val="0B0B0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371605" y="1905000"/>
            <a:ext cx="1571752" cy="1550674"/>
          </a:xfrm>
          <a:custGeom>
            <a:avLst/>
            <a:gdLst/>
            <a:ahLst/>
            <a:cxnLst/>
            <a:rect l="l" t="t" r="r" b="b"/>
            <a:pathLst>
              <a:path w="1571752" h="1550674">
                <a:moveTo>
                  <a:pt x="965927" y="1550674"/>
                </a:moveTo>
                <a:lnTo>
                  <a:pt x="1002391" y="1511907"/>
                </a:lnTo>
                <a:lnTo>
                  <a:pt x="1042182" y="1473140"/>
                </a:lnTo>
                <a:lnTo>
                  <a:pt x="1084703" y="1434373"/>
                </a:lnTo>
                <a:lnTo>
                  <a:pt x="1129197" y="1395607"/>
                </a:lnTo>
                <a:lnTo>
                  <a:pt x="1174788" y="1356840"/>
                </a:lnTo>
                <a:lnTo>
                  <a:pt x="1220535" y="1318073"/>
                </a:lnTo>
                <a:lnTo>
                  <a:pt x="1265484" y="1279306"/>
                </a:lnTo>
                <a:lnTo>
                  <a:pt x="1308732" y="1240539"/>
                </a:lnTo>
                <a:lnTo>
                  <a:pt x="1349479" y="1201772"/>
                </a:lnTo>
                <a:lnTo>
                  <a:pt x="1387073" y="1163006"/>
                </a:lnTo>
                <a:lnTo>
                  <a:pt x="1421038" y="1124239"/>
                </a:lnTo>
                <a:lnTo>
                  <a:pt x="1451085" y="1085472"/>
                </a:lnTo>
                <a:lnTo>
                  <a:pt x="1477112" y="1046705"/>
                </a:lnTo>
                <a:lnTo>
                  <a:pt x="1499187" y="1007938"/>
                </a:lnTo>
                <a:lnTo>
                  <a:pt x="1517513" y="969171"/>
                </a:lnTo>
                <a:lnTo>
                  <a:pt x="1532402" y="930404"/>
                </a:lnTo>
                <a:lnTo>
                  <a:pt x="1544228" y="891638"/>
                </a:lnTo>
                <a:lnTo>
                  <a:pt x="1553395" y="852871"/>
                </a:lnTo>
                <a:lnTo>
                  <a:pt x="1560302" y="814104"/>
                </a:lnTo>
                <a:lnTo>
                  <a:pt x="1565316" y="775337"/>
                </a:lnTo>
                <a:lnTo>
                  <a:pt x="1568748" y="736570"/>
                </a:lnTo>
                <a:lnTo>
                  <a:pt x="1570840" y="697803"/>
                </a:lnTo>
                <a:lnTo>
                  <a:pt x="1571752" y="659036"/>
                </a:lnTo>
                <a:lnTo>
                  <a:pt x="1571559" y="620270"/>
                </a:lnTo>
                <a:lnTo>
                  <a:pt x="1570244" y="581503"/>
                </a:lnTo>
                <a:lnTo>
                  <a:pt x="1567703" y="542736"/>
                </a:lnTo>
                <a:lnTo>
                  <a:pt x="1563745" y="503969"/>
                </a:lnTo>
                <a:lnTo>
                  <a:pt x="1558103" y="465202"/>
                </a:lnTo>
                <a:lnTo>
                  <a:pt x="1550444" y="426435"/>
                </a:lnTo>
                <a:lnTo>
                  <a:pt x="1540387" y="387669"/>
                </a:lnTo>
                <a:lnTo>
                  <a:pt x="1527527" y="348902"/>
                </a:lnTo>
                <a:lnTo>
                  <a:pt x="1511468" y="310135"/>
                </a:lnTo>
                <a:lnTo>
                  <a:pt x="1491852" y="271368"/>
                </a:lnTo>
                <a:lnTo>
                  <a:pt x="1468402" y="232601"/>
                </a:lnTo>
                <a:lnTo>
                  <a:pt x="1440958" y="193834"/>
                </a:lnTo>
                <a:lnTo>
                  <a:pt x="1409510" y="155067"/>
                </a:lnTo>
                <a:lnTo>
                  <a:pt x="1374225" y="116301"/>
                </a:lnTo>
                <a:lnTo>
                  <a:pt x="1335456" y="77534"/>
                </a:lnTo>
                <a:lnTo>
                  <a:pt x="1293744" y="38767"/>
                </a:lnTo>
                <a:lnTo>
                  <a:pt x="1249800" y="0"/>
                </a:lnTo>
                <a:lnTo>
                  <a:pt x="321952" y="0"/>
                </a:lnTo>
                <a:lnTo>
                  <a:pt x="278008" y="38767"/>
                </a:lnTo>
                <a:lnTo>
                  <a:pt x="236296" y="77534"/>
                </a:lnTo>
                <a:lnTo>
                  <a:pt x="197527" y="116301"/>
                </a:lnTo>
                <a:lnTo>
                  <a:pt x="162242" y="155067"/>
                </a:lnTo>
                <a:lnTo>
                  <a:pt x="130794" y="193834"/>
                </a:lnTo>
                <a:lnTo>
                  <a:pt x="103350" y="232601"/>
                </a:lnTo>
                <a:lnTo>
                  <a:pt x="79900" y="271368"/>
                </a:lnTo>
                <a:lnTo>
                  <a:pt x="60284" y="310135"/>
                </a:lnTo>
                <a:lnTo>
                  <a:pt x="44225" y="348902"/>
                </a:lnTo>
                <a:lnTo>
                  <a:pt x="31365" y="387669"/>
                </a:lnTo>
                <a:lnTo>
                  <a:pt x="21308" y="426435"/>
                </a:lnTo>
                <a:lnTo>
                  <a:pt x="13649" y="465202"/>
                </a:lnTo>
                <a:lnTo>
                  <a:pt x="8007" y="503969"/>
                </a:lnTo>
                <a:lnTo>
                  <a:pt x="4049" y="542736"/>
                </a:lnTo>
                <a:lnTo>
                  <a:pt x="1508" y="581503"/>
                </a:lnTo>
                <a:lnTo>
                  <a:pt x="193" y="620270"/>
                </a:lnTo>
                <a:lnTo>
                  <a:pt x="0" y="659036"/>
                </a:lnTo>
                <a:lnTo>
                  <a:pt x="912" y="697803"/>
                </a:lnTo>
                <a:lnTo>
                  <a:pt x="3004" y="736570"/>
                </a:lnTo>
                <a:lnTo>
                  <a:pt x="6436" y="775337"/>
                </a:lnTo>
                <a:lnTo>
                  <a:pt x="11450" y="814104"/>
                </a:lnTo>
                <a:lnTo>
                  <a:pt x="18357" y="852871"/>
                </a:lnTo>
                <a:lnTo>
                  <a:pt x="27524" y="891638"/>
                </a:lnTo>
                <a:lnTo>
                  <a:pt x="39350" y="930404"/>
                </a:lnTo>
                <a:lnTo>
                  <a:pt x="54239" y="969171"/>
                </a:lnTo>
                <a:lnTo>
                  <a:pt x="72565" y="1007938"/>
                </a:lnTo>
                <a:lnTo>
                  <a:pt x="94640" y="1046705"/>
                </a:lnTo>
                <a:lnTo>
                  <a:pt x="120667" y="1085472"/>
                </a:lnTo>
                <a:lnTo>
                  <a:pt x="150714" y="1124239"/>
                </a:lnTo>
                <a:lnTo>
                  <a:pt x="184679" y="1163006"/>
                </a:lnTo>
                <a:lnTo>
                  <a:pt x="222273" y="1201772"/>
                </a:lnTo>
                <a:lnTo>
                  <a:pt x="263020" y="1240539"/>
                </a:lnTo>
                <a:lnTo>
                  <a:pt x="306268" y="1279306"/>
                </a:lnTo>
                <a:lnTo>
                  <a:pt x="351217" y="1318073"/>
                </a:lnTo>
                <a:lnTo>
                  <a:pt x="396964" y="1356840"/>
                </a:lnTo>
                <a:lnTo>
                  <a:pt x="442555" y="1395607"/>
                </a:lnTo>
                <a:lnTo>
                  <a:pt x="487049" y="1434373"/>
                </a:lnTo>
                <a:lnTo>
                  <a:pt x="529570" y="1473140"/>
                </a:lnTo>
                <a:lnTo>
                  <a:pt x="569361" y="1511907"/>
                </a:lnTo>
                <a:lnTo>
                  <a:pt x="605825" y="1550674"/>
                </a:lnTo>
                <a:close/>
              </a:path>
            </a:pathLst>
          </a:custGeom>
          <a:solidFill>
            <a:srgbClr val="F9E6D7"/>
          </a:solidFill>
          <a:ln w="12700">
            <a:solidFill>
              <a:srgbClr val="EDA10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882424" y="2551481"/>
            <a:ext cx="550113" cy="0"/>
          </a:xfrm>
          <a:prstGeom prst="line">
            <a:avLst/>
          </a:prstGeom>
          <a:noFill/>
          <a:ln w="22225">
            <a:solidFill>
              <a:srgbClr val="0B0B0B"/>
            </a:solidFill>
            <a:prstDash val="solid"/>
          </a:ln>
        </p:spPr>
      </p: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Share price — last two weeks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479648" y="5143500"/>
            <a:ext cx="5613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D1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040988" y="5143500"/>
            <a:ext cx="5613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D2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602328" y="5143500"/>
            <a:ext cx="5613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D3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163668" y="5143500"/>
            <a:ext cx="5613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D4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725008" y="5143500"/>
            <a:ext cx="5613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D5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286348" y="5143500"/>
            <a:ext cx="5613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D6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847688" y="5143500"/>
            <a:ext cx="5613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D7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409028" y="5143500"/>
            <a:ext cx="5613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D8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7970368" y="5143500"/>
            <a:ext cx="5613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D9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8531708" y="5143500"/>
            <a:ext cx="5613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D10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760318" y="281178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619983" y="2865120"/>
            <a:ext cx="280670" cy="106680"/>
          </a:xfrm>
          <a:prstGeom prst="rect">
            <a:avLst/>
          </a:prstGeom>
          <a:solidFill>
            <a:srgbClr val="1A9E6E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321658" y="2651760"/>
            <a:ext cx="0" cy="26670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181323" y="2705100"/>
            <a:ext cx="280670" cy="160020"/>
          </a:xfrm>
          <a:prstGeom prst="rect">
            <a:avLst/>
          </a:prstGeom>
          <a:solidFill>
            <a:srgbClr val="1A9E6E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882998" y="259842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742663" y="2705100"/>
            <a:ext cx="280670" cy="53340"/>
          </a:xfrm>
          <a:prstGeom prst="rect">
            <a:avLst/>
          </a:prstGeom>
          <a:solidFill>
            <a:srgbClr val="E3494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44338" y="2545080"/>
            <a:ext cx="0" cy="26670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304003" y="2598420"/>
            <a:ext cx="280670" cy="160020"/>
          </a:xfrm>
          <a:prstGeom prst="rect">
            <a:avLst/>
          </a:prstGeom>
          <a:solidFill>
            <a:srgbClr val="1A9E6E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005678" y="249174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865343" y="2598420"/>
            <a:ext cx="280670" cy="53340"/>
          </a:xfrm>
          <a:prstGeom prst="rect">
            <a:avLst/>
          </a:prstGeom>
          <a:solidFill>
            <a:srgbClr val="E3494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567018" y="2598420"/>
            <a:ext cx="0" cy="26670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426683" y="2651760"/>
            <a:ext cx="280670" cy="160020"/>
          </a:xfrm>
          <a:prstGeom prst="rect">
            <a:avLst/>
          </a:prstGeom>
          <a:solidFill>
            <a:srgbClr val="E3494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128358" y="265176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988023" y="2705100"/>
            <a:ext cx="280670" cy="106680"/>
          </a:xfrm>
          <a:prstGeom prst="rect">
            <a:avLst/>
          </a:prstGeom>
          <a:solidFill>
            <a:srgbClr val="1A9E6E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689698" y="2491740"/>
            <a:ext cx="0" cy="26670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549363" y="2545080"/>
            <a:ext cx="280670" cy="160020"/>
          </a:xfrm>
          <a:prstGeom prst="rect">
            <a:avLst/>
          </a:prstGeom>
          <a:solidFill>
            <a:srgbClr val="1A9E6E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251038" y="243840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110703" y="2545080"/>
            <a:ext cx="280670" cy="53340"/>
          </a:xfrm>
          <a:prstGeom prst="rect">
            <a:avLst/>
          </a:prstGeom>
          <a:solidFill>
            <a:srgbClr val="E3494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812378" y="249174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8672043" y="2598420"/>
            <a:ext cx="280670" cy="53340"/>
          </a:xfrm>
          <a:prstGeom prst="rect">
            <a:avLst/>
          </a:prstGeom>
          <a:solidFill>
            <a:srgbClr val="E34948"/>
          </a:solidFill>
          <a:ln w="6350">
            <a:solidFill>
              <a:srgbClr val="FFFFFF"/>
            </a:solidFill>
            <a:prstDash val="solid"/>
          </a:ln>
        </p:spPr>
      </p:sp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539848" y="1524000"/>
            <a:ext cx="7112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Launch plan — critical path highlighted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21228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116428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959833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655033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6498438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193638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037043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732243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9575648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270848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2539848" y="2182283"/>
            <a:ext cx="8051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Research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728949" y="2188633"/>
            <a:ext cx="615442" cy="177800"/>
          </a:xfrm>
          <a:prstGeom prst="rect">
            <a:avLst/>
          </a:prstGeom>
          <a:solidFill>
            <a:srgbClr val="2A78D6"/>
          </a:solidFill>
          <a:ln w="22225">
            <a:solidFill>
              <a:srgbClr val="E3494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728949" y="2188633"/>
            <a:ext cx="615442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1–3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2539848" y="2724150"/>
            <a:ext cx="8051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Design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421228" y="2548467"/>
            <a:ext cx="615442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344391" y="2730500"/>
            <a:ext cx="1538605" cy="177800"/>
          </a:xfrm>
          <a:prstGeom prst="rect">
            <a:avLst/>
          </a:prstGeom>
          <a:solidFill>
            <a:srgbClr val="2A78D6"/>
          </a:solidFill>
          <a:ln w="22225">
            <a:solidFill>
              <a:srgbClr val="E3494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344391" y="2730500"/>
            <a:ext cx="153860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3–8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2539848" y="3266017"/>
            <a:ext cx="8051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421228" y="3090333"/>
            <a:ext cx="615442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882996" y="3272367"/>
            <a:ext cx="1846326" cy="177800"/>
          </a:xfrm>
          <a:prstGeom prst="rect">
            <a:avLst/>
          </a:prstGeom>
          <a:solidFill>
            <a:srgbClr val="2A78D6"/>
          </a:solidFill>
          <a:ln w="22225">
            <a:solidFill>
              <a:srgbClr val="E3494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882996" y="3272367"/>
            <a:ext cx="184632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8–14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2539848" y="3807883"/>
            <a:ext cx="8051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Copywriting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421228" y="3632200"/>
            <a:ext cx="615442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344391" y="3814233"/>
            <a:ext cx="615442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Text 25"/>
          <p:cNvSpPr/>
          <p:nvPr/>
        </p:nvSpPr>
        <p:spPr>
          <a:xfrm>
            <a:off x="4344391" y="3814233"/>
            <a:ext cx="615442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3–5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2539848" y="4349750"/>
            <a:ext cx="8051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QA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3421228" y="4174067"/>
            <a:ext cx="615442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729322" y="4356100"/>
            <a:ext cx="1230884" cy="177800"/>
          </a:xfrm>
          <a:prstGeom prst="rect">
            <a:avLst/>
          </a:prstGeom>
          <a:solidFill>
            <a:srgbClr val="2A78D6"/>
          </a:solidFill>
          <a:ln w="22225">
            <a:solidFill>
              <a:srgbClr val="E3494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729322" y="4356100"/>
            <a:ext cx="123088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14–18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2539848" y="4891617"/>
            <a:ext cx="8051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Launch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3421228" y="4715933"/>
            <a:ext cx="615442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960206" y="4897967"/>
            <a:ext cx="615442" cy="177800"/>
          </a:xfrm>
          <a:prstGeom prst="rect">
            <a:avLst/>
          </a:prstGeom>
          <a:solidFill>
            <a:srgbClr val="2A78D6"/>
          </a:solidFill>
          <a:ln w="22225">
            <a:solidFill>
              <a:srgbClr val="E3494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8960206" y="4897967"/>
            <a:ext cx="615442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18–20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4344391" y="2277533"/>
            <a:ext cx="0" cy="541867"/>
          </a:xfrm>
          <a:prstGeom prst="line">
            <a:avLst/>
          </a:prstGeom>
          <a:noFill/>
          <a:ln w="22225">
            <a:solidFill>
              <a:srgbClr val="E34948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318991" y="2819400"/>
            <a:ext cx="25400" cy="0"/>
          </a:xfrm>
          <a:prstGeom prst="line">
            <a:avLst/>
          </a:prstGeom>
          <a:noFill/>
          <a:ln w="22225">
            <a:solidFill>
              <a:srgbClr val="E34948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 rot="5400000">
            <a:off x="4225011" y="2766060"/>
            <a:ext cx="106680" cy="106680"/>
          </a:xfrm>
          <a:prstGeom prst="triangle">
            <a:avLst/>
          </a:prstGeom>
          <a:solidFill>
            <a:srgbClr val="E34948"/>
          </a:solidFill>
          <a:ln/>
        </p:spPr>
      </p:sp>
      <p:sp>
        <p:nvSpPr>
          <p:cNvPr id="39" name="Shape 37"/>
          <p:cNvSpPr/>
          <p:nvPr/>
        </p:nvSpPr>
        <p:spPr>
          <a:xfrm>
            <a:off x="5882996" y="2819400"/>
            <a:ext cx="0" cy="541867"/>
          </a:xfrm>
          <a:prstGeom prst="line">
            <a:avLst/>
          </a:prstGeom>
          <a:noFill/>
          <a:ln w="22225">
            <a:solidFill>
              <a:srgbClr val="E34948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5857596" y="3361267"/>
            <a:ext cx="25400" cy="0"/>
          </a:xfrm>
          <a:prstGeom prst="line">
            <a:avLst/>
          </a:prstGeom>
          <a:noFill/>
          <a:ln w="22225">
            <a:solidFill>
              <a:srgbClr val="E34948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 rot="5400000">
            <a:off x="5763616" y="3307927"/>
            <a:ext cx="106680" cy="106680"/>
          </a:xfrm>
          <a:prstGeom prst="triangle">
            <a:avLst/>
          </a:prstGeom>
          <a:solidFill>
            <a:srgbClr val="E34948"/>
          </a:solidFill>
          <a:ln/>
        </p:spPr>
      </p:sp>
      <p:sp>
        <p:nvSpPr>
          <p:cNvPr id="42" name="Shape 40"/>
          <p:cNvSpPr/>
          <p:nvPr/>
        </p:nvSpPr>
        <p:spPr>
          <a:xfrm>
            <a:off x="4344391" y="2277533"/>
            <a:ext cx="0" cy="162560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318991" y="3903133"/>
            <a:ext cx="254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 rot="5400000">
            <a:off x="4242791" y="3858683"/>
            <a:ext cx="88900" cy="889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45" name="Shape 43"/>
          <p:cNvSpPr/>
          <p:nvPr/>
        </p:nvSpPr>
        <p:spPr>
          <a:xfrm>
            <a:off x="7729322" y="3361267"/>
            <a:ext cx="0" cy="1083733"/>
          </a:xfrm>
          <a:prstGeom prst="line">
            <a:avLst/>
          </a:prstGeom>
          <a:noFill/>
          <a:ln w="22225">
            <a:solidFill>
              <a:srgbClr val="E34948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7703922" y="4445000"/>
            <a:ext cx="25400" cy="0"/>
          </a:xfrm>
          <a:prstGeom prst="line">
            <a:avLst/>
          </a:prstGeom>
          <a:noFill/>
          <a:ln w="22225">
            <a:solidFill>
              <a:srgbClr val="E34948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 rot="5400000">
            <a:off x="7609942" y="4391660"/>
            <a:ext cx="106680" cy="106680"/>
          </a:xfrm>
          <a:prstGeom prst="triangle">
            <a:avLst/>
          </a:prstGeom>
          <a:solidFill>
            <a:srgbClr val="E34948"/>
          </a:solidFill>
          <a:ln/>
        </p:spPr>
      </p:sp>
      <p:sp>
        <p:nvSpPr>
          <p:cNvPr id="48" name="Shape 46"/>
          <p:cNvSpPr/>
          <p:nvPr/>
        </p:nvSpPr>
        <p:spPr>
          <a:xfrm>
            <a:off x="8960206" y="4445000"/>
            <a:ext cx="0" cy="541867"/>
          </a:xfrm>
          <a:prstGeom prst="line">
            <a:avLst/>
          </a:prstGeom>
          <a:noFill/>
          <a:ln w="22225">
            <a:solidFill>
              <a:srgbClr val="E34948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8934806" y="4986867"/>
            <a:ext cx="25400" cy="0"/>
          </a:xfrm>
          <a:prstGeom prst="line">
            <a:avLst/>
          </a:prstGeom>
          <a:noFill/>
          <a:ln w="22225">
            <a:solidFill>
              <a:srgbClr val="E34948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 rot="5400000">
            <a:off x="8840826" y="4933527"/>
            <a:ext cx="106680" cy="106680"/>
          </a:xfrm>
          <a:prstGeom prst="triangle">
            <a:avLst/>
          </a:prstGeom>
          <a:solidFill>
            <a:srgbClr val="E34948"/>
          </a:solidFill>
          <a:ln/>
        </p:spPr>
      </p: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Assay reproducibility (mean ± SD)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479648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Lot A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350781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Lot B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221914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Lot C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415214" y="2925870"/>
            <a:ext cx="0" cy="48301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415214" y="3070774"/>
            <a:ext cx="0" cy="48301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183662" y="292587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183662" y="3119076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900653" y="2974172"/>
            <a:ext cx="1029123" cy="96603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900653" y="3022473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900653" y="2831973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98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6286348" y="3022321"/>
            <a:ext cx="0" cy="53416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286348" y="3182569"/>
            <a:ext cx="0" cy="53416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054795" y="3022321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054795" y="3235985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771786" y="3075737"/>
            <a:ext cx="1029123" cy="106832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771786" y="3129153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771786" y="2938653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93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8157481" y="2988934"/>
            <a:ext cx="0" cy="156787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157481" y="3459295"/>
            <a:ext cx="0" cy="156787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925928" y="2988934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925928" y="3616082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642919" y="3145721"/>
            <a:ext cx="1029123" cy="313574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642919" y="3302508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642919" y="3112008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85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778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KPI sparklines — last 12 weeks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2292350"/>
            <a:ext cx="5054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Signups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 flipV="1">
            <a:off x="3629508" y="2577592"/>
            <a:ext cx="474980" cy="34544"/>
          </a:xfrm>
          <a:prstGeom prst="line">
            <a:avLst/>
          </a:prstGeom>
          <a:noFill/>
          <a:ln w="15875">
            <a:solidFill>
              <a:srgbClr val="2A78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104488" y="2577592"/>
            <a:ext cx="474980" cy="17272"/>
          </a:xfrm>
          <a:prstGeom prst="line">
            <a:avLst/>
          </a:prstGeom>
          <a:noFill/>
          <a:ln w="15875">
            <a:solidFill>
              <a:srgbClr val="2A78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4579468" y="2525776"/>
            <a:ext cx="474980" cy="69088"/>
          </a:xfrm>
          <a:prstGeom prst="line">
            <a:avLst/>
          </a:prstGeom>
          <a:noFill/>
          <a:ln w="15875">
            <a:solidFill>
              <a:srgbClr val="2A78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054448" y="2525776"/>
            <a:ext cx="474980" cy="17272"/>
          </a:xfrm>
          <a:prstGeom prst="line">
            <a:avLst/>
          </a:prstGeom>
          <a:noFill/>
          <a:ln w="15875">
            <a:solidFill>
              <a:srgbClr val="2A78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5529428" y="2439416"/>
            <a:ext cx="474980" cy="103632"/>
          </a:xfrm>
          <a:prstGeom prst="line">
            <a:avLst/>
          </a:prstGeom>
          <a:noFill/>
          <a:ln w="15875">
            <a:solidFill>
              <a:srgbClr val="2A78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004408" y="2439416"/>
            <a:ext cx="474980" cy="17272"/>
          </a:xfrm>
          <a:prstGeom prst="line">
            <a:avLst/>
          </a:prstGeom>
          <a:noFill/>
          <a:ln w="15875">
            <a:solidFill>
              <a:srgbClr val="2A78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6479388" y="2335784"/>
            <a:ext cx="474980" cy="120904"/>
          </a:xfrm>
          <a:prstGeom prst="line">
            <a:avLst/>
          </a:prstGeom>
          <a:noFill/>
          <a:ln w="15875">
            <a:solidFill>
              <a:srgbClr val="2A78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954368" y="2335784"/>
            <a:ext cx="474980" cy="51816"/>
          </a:xfrm>
          <a:prstGeom prst="line">
            <a:avLst/>
          </a:prstGeom>
          <a:noFill/>
          <a:ln w="15875">
            <a:solidFill>
              <a:srgbClr val="2A78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flipV="1">
            <a:off x="7429348" y="2266696"/>
            <a:ext cx="474980" cy="120904"/>
          </a:xfrm>
          <a:prstGeom prst="line">
            <a:avLst/>
          </a:prstGeom>
          <a:noFill/>
          <a:ln w="15875">
            <a:solidFill>
              <a:srgbClr val="2A78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904328" y="2266696"/>
            <a:ext cx="474980" cy="17272"/>
          </a:xfrm>
          <a:prstGeom prst="line">
            <a:avLst/>
          </a:prstGeom>
          <a:noFill/>
          <a:ln w="15875">
            <a:solidFill>
              <a:srgbClr val="2A78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flipV="1">
            <a:off x="8379308" y="2163064"/>
            <a:ext cx="474980" cy="120904"/>
          </a:xfrm>
          <a:prstGeom prst="line">
            <a:avLst/>
          </a:prstGeom>
          <a:noFill/>
          <a:ln w="15875">
            <a:solidFill>
              <a:srgbClr val="2A78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05378" y="2588006"/>
            <a:ext cx="48260" cy="48260"/>
          </a:xfrm>
          <a:prstGeom prst="ellipse">
            <a:avLst/>
          </a:prstGeom>
          <a:solidFill>
            <a:srgbClr val="E34948"/>
          </a:solidFill>
          <a:ln/>
        </p:spPr>
      </p:sp>
      <p:sp>
        <p:nvSpPr>
          <p:cNvPr id="16" name="Shape 14"/>
          <p:cNvSpPr/>
          <p:nvPr/>
        </p:nvSpPr>
        <p:spPr>
          <a:xfrm>
            <a:off x="8830158" y="2138934"/>
            <a:ext cx="48260" cy="48260"/>
          </a:xfrm>
          <a:prstGeom prst="ellipse">
            <a:avLst/>
          </a:prstGeom>
          <a:solidFill>
            <a:srgbClr val="1A9E6E"/>
          </a:solidFill>
          <a:ln/>
        </p:spPr>
      </p:sp>
      <p:sp>
        <p:nvSpPr>
          <p:cNvPr id="17" name="Shape 15"/>
          <p:cNvSpPr/>
          <p:nvPr/>
        </p:nvSpPr>
        <p:spPr>
          <a:xfrm>
            <a:off x="8827618" y="2136394"/>
            <a:ext cx="53340" cy="53340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18" name="Text 16"/>
          <p:cNvSpPr/>
          <p:nvPr/>
        </p:nvSpPr>
        <p:spPr>
          <a:xfrm>
            <a:off x="8905088" y="2067814"/>
            <a:ext cx="2387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A78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92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3047848" y="3079750"/>
            <a:ext cx="5054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Revenue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 flipV="1">
            <a:off x="3629508" y="3379124"/>
            <a:ext cx="474980" cy="20412"/>
          </a:xfrm>
          <a:prstGeom prst="line">
            <a:avLst/>
          </a:prstGeom>
          <a:noFill/>
          <a:ln w="15875">
            <a:solidFill>
              <a:srgbClr val="1BAF7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 flipV="1">
            <a:off x="4104488" y="3338299"/>
            <a:ext cx="474980" cy="40825"/>
          </a:xfrm>
          <a:prstGeom prst="line">
            <a:avLst/>
          </a:prstGeom>
          <a:noFill/>
          <a:ln w="15875">
            <a:solidFill>
              <a:srgbClr val="1BAF7A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579468" y="3338299"/>
            <a:ext cx="474980" cy="20412"/>
          </a:xfrm>
          <a:prstGeom prst="line">
            <a:avLst/>
          </a:prstGeom>
          <a:noFill/>
          <a:ln w="15875">
            <a:solidFill>
              <a:srgbClr val="1BAF7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V="1">
            <a:off x="5054448" y="3277062"/>
            <a:ext cx="474980" cy="81649"/>
          </a:xfrm>
          <a:prstGeom prst="line">
            <a:avLst/>
          </a:prstGeom>
          <a:noFill/>
          <a:ln w="15875">
            <a:solidFill>
              <a:srgbClr val="1BAF7A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529428" y="3277062"/>
            <a:ext cx="474980" cy="20412"/>
          </a:xfrm>
          <a:prstGeom prst="line">
            <a:avLst/>
          </a:prstGeom>
          <a:noFill/>
          <a:ln w="15875">
            <a:solidFill>
              <a:srgbClr val="1BAF7A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V="1">
            <a:off x="6004408" y="3195412"/>
            <a:ext cx="474980" cy="102062"/>
          </a:xfrm>
          <a:prstGeom prst="line">
            <a:avLst/>
          </a:prstGeom>
          <a:noFill/>
          <a:ln w="15875">
            <a:solidFill>
              <a:srgbClr val="1BAF7A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V="1">
            <a:off x="6479388" y="3134175"/>
            <a:ext cx="474980" cy="61237"/>
          </a:xfrm>
          <a:prstGeom prst="line">
            <a:avLst/>
          </a:prstGeom>
          <a:noFill/>
          <a:ln w="15875">
            <a:solidFill>
              <a:srgbClr val="1BAF7A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954368" y="3134175"/>
            <a:ext cx="474980" cy="20412"/>
          </a:xfrm>
          <a:prstGeom prst="line">
            <a:avLst/>
          </a:prstGeom>
          <a:noFill/>
          <a:ln w="15875">
            <a:solidFill>
              <a:srgbClr val="1BAF7A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flipV="1">
            <a:off x="7429348" y="3032113"/>
            <a:ext cx="474980" cy="122474"/>
          </a:xfrm>
          <a:prstGeom prst="line">
            <a:avLst/>
          </a:prstGeom>
          <a:noFill/>
          <a:ln w="15875">
            <a:solidFill>
              <a:srgbClr val="1BAF7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flipV="1">
            <a:off x="7904328" y="2950464"/>
            <a:ext cx="474980" cy="81649"/>
          </a:xfrm>
          <a:prstGeom prst="line">
            <a:avLst/>
          </a:prstGeom>
          <a:noFill/>
          <a:ln w="15875">
            <a:solidFill>
              <a:srgbClr val="1BAF7A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379308" y="2950464"/>
            <a:ext cx="474980" cy="20412"/>
          </a:xfrm>
          <a:prstGeom prst="line">
            <a:avLst/>
          </a:prstGeom>
          <a:noFill/>
          <a:ln w="15875">
            <a:solidFill>
              <a:srgbClr val="1BAF7A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605378" y="3375406"/>
            <a:ext cx="48260" cy="48260"/>
          </a:xfrm>
          <a:prstGeom prst="ellipse">
            <a:avLst/>
          </a:prstGeom>
          <a:solidFill>
            <a:srgbClr val="E34948"/>
          </a:solidFill>
          <a:ln/>
        </p:spPr>
      </p:sp>
      <p:sp>
        <p:nvSpPr>
          <p:cNvPr id="32" name="Shape 30"/>
          <p:cNvSpPr/>
          <p:nvPr/>
        </p:nvSpPr>
        <p:spPr>
          <a:xfrm>
            <a:off x="8355178" y="2926334"/>
            <a:ext cx="48260" cy="48260"/>
          </a:xfrm>
          <a:prstGeom prst="ellipse">
            <a:avLst/>
          </a:prstGeom>
          <a:solidFill>
            <a:srgbClr val="1A9E6E"/>
          </a:solidFill>
          <a:ln/>
        </p:spPr>
      </p:sp>
      <p:sp>
        <p:nvSpPr>
          <p:cNvPr id="33" name="Shape 31"/>
          <p:cNvSpPr/>
          <p:nvPr/>
        </p:nvSpPr>
        <p:spPr>
          <a:xfrm>
            <a:off x="8827618" y="2944206"/>
            <a:ext cx="53340" cy="53340"/>
          </a:xfrm>
          <a:prstGeom prst="ellipse">
            <a:avLst/>
          </a:prstGeom>
          <a:solidFill>
            <a:srgbClr val="1BAF7A"/>
          </a:solidFill>
          <a:ln/>
        </p:spPr>
      </p:sp>
      <p:sp>
        <p:nvSpPr>
          <p:cNvPr id="34" name="Text 32"/>
          <p:cNvSpPr/>
          <p:nvPr/>
        </p:nvSpPr>
        <p:spPr>
          <a:xfrm>
            <a:off x="8905088" y="2875626"/>
            <a:ext cx="2387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3047848" y="3867150"/>
            <a:ext cx="5054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Churn %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3629508" y="3737864"/>
            <a:ext cx="468745" cy="56134"/>
          </a:xfrm>
          <a:prstGeom prst="line">
            <a:avLst/>
          </a:prstGeom>
          <a:noFill/>
          <a:ln w="15875">
            <a:solidFill>
              <a:srgbClr val="EDA10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 flipV="1">
            <a:off x="4098253" y="3775287"/>
            <a:ext cx="468745" cy="18711"/>
          </a:xfrm>
          <a:prstGeom prst="line">
            <a:avLst/>
          </a:prstGeom>
          <a:noFill/>
          <a:ln w="15875">
            <a:solidFill>
              <a:srgbClr val="EDA10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4566999" y="3775287"/>
            <a:ext cx="468745" cy="93557"/>
          </a:xfrm>
          <a:prstGeom prst="line">
            <a:avLst/>
          </a:prstGeom>
          <a:noFill/>
          <a:ln w="15875">
            <a:solidFill>
              <a:srgbClr val="EDA10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 flipV="1">
            <a:off x="5035744" y="3831421"/>
            <a:ext cx="468745" cy="37423"/>
          </a:xfrm>
          <a:prstGeom prst="line">
            <a:avLst/>
          </a:prstGeom>
          <a:noFill/>
          <a:ln w="15875">
            <a:solidFill>
              <a:srgbClr val="EDA100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5504489" y="3831421"/>
            <a:ext cx="468745" cy="112268"/>
          </a:xfrm>
          <a:prstGeom prst="line">
            <a:avLst/>
          </a:prstGeom>
          <a:noFill/>
          <a:ln w="15875">
            <a:solidFill>
              <a:srgbClr val="EDA10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73235" y="3943689"/>
            <a:ext cx="468745" cy="37423"/>
          </a:xfrm>
          <a:prstGeom prst="line">
            <a:avLst/>
          </a:prstGeom>
          <a:noFill/>
          <a:ln w="15875">
            <a:solidFill>
              <a:srgbClr val="EDA10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 flipV="1">
            <a:off x="6441980" y="3962400"/>
            <a:ext cx="468745" cy="18711"/>
          </a:xfrm>
          <a:prstGeom prst="line">
            <a:avLst/>
          </a:prstGeom>
          <a:noFill/>
          <a:ln w="15875">
            <a:solidFill>
              <a:srgbClr val="EDA10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6910726" y="3962400"/>
            <a:ext cx="468745" cy="112268"/>
          </a:xfrm>
          <a:prstGeom prst="line">
            <a:avLst/>
          </a:prstGeom>
          <a:noFill/>
          <a:ln w="15875">
            <a:solidFill>
              <a:srgbClr val="EDA100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7379471" y="4074668"/>
            <a:ext cx="468745" cy="37423"/>
          </a:xfrm>
          <a:prstGeom prst="line">
            <a:avLst/>
          </a:prstGeom>
          <a:noFill/>
          <a:ln w="15875">
            <a:solidFill>
              <a:srgbClr val="EDA100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7848217" y="4112091"/>
            <a:ext cx="468745" cy="37423"/>
          </a:xfrm>
          <a:prstGeom prst="line">
            <a:avLst/>
          </a:prstGeom>
          <a:noFill/>
          <a:ln w="15875">
            <a:solidFill>
              <a:srgbClr val="EDA100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8316962" y="4149513"/>
            <a:ext cx="468745" cy="37423"/>
          </a:xfrm>
          <a:prstGeom prst="line">
            <a:avLst/>
          </a:prstGeom>
          <a:noFill/>
          <a:ln w="15875">
            <a:solidFill>
              <a:srgbClr val="EDA100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8761578" y="4162806"/>
            <a:ext cx="48260" cy="48260"/>
          </a:xfrm>
          <a:prstGeom prst="ellipse">
            <a:avLst/>
          </a:prstGeom>
          <a:solidFill>
            <a:srgbClr val="E34948"/>
          </a:solidFill>
          <a:ln/>
        </p:spPr>
      </p:sp>
      <p:sp>
        <p:nvSpPr>
          <p:cNvPr id="48" name="Shape 46"/>
          <p:cNvSpPr/>
          <p:nvPr/>
        </p:nvSpPr>
        <p:spPr>
          <a:xfrm>
            <a:off x="3605378" y="3713734"/>
            <a:ext cx="48260" cy="48260"/>
          </a:xfrm>
          <a:prstGeom prst="ellipse">
            <a:avLst/>
          </a:prstGeom>
          <a:solidFill>
            <a:srgbClr val="1A9E6E"/>
          </a:solidFill>
          <a:ln/>
        </p:spPr>
      </p:sp>
      <p:sp>
        <p:nvSpPr>
          <p:cNvPr id="49" name="Shape 47"/>
          <p:cNvSpPr/>
          <p:nvPr/>
        </p:nvSpPr>
        <p:spPr>
          <a:xfrm>
            <a:off x="8759038" y="4160266"/>
            <a:ext cx="53340" cy="53340"/>
          </a:xfrm>
          <a:prstGeom prst="ellipse">
            <a:avLst/>
          </a:prstGeom>
          <a:solidFill>
            <a:srgbClr val="EDA100"/>
          </a:solidFill>
          <a:ln/>
        </p:spPr>
      </p:sp>
      <p:sp>
        <p:nvSpPr>
          <p:cNvPr id="50" name="Text 48"/>
          <p:cNvSpPr/>
          <p:nvPr/>
        </p:nvSpPr>
        <p:spPr>
          <a:xfrm>
            <a:off x="8836508" y="4091686"/>
            <a:ext cx="3073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EDA1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2.7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3047848" y="4654550"/>
            <a:ext cx="231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NPS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 flipV="1">
            <a:off x="3355188" y="4938410"/>
            <a:ext cx="499918" cy="35926"/>
          </a:xfrm>
          <a:prstGeom prst="line">
            <a:avLst/>
          </a:prstGeom>
          <a:noFill/>
          <a:ln w="15875">
            <a:solidFill>
              <a:srgbClr val="008300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3855106" y="4938410"/>
            <a:ext cx="499918" cy="17963"/>
          </a:xfrm>
          <a:prstGeom prst="line">
            <a:avLst/>
          </a:prstGeom>
          <a:noFill/>
          <a:ln w="15875">
            <a:solidFill>
              <a:srgbClr val="008300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 flipV="1">
            <a:off x="4355024" y="4884522"/>
            <a:ext cx="499918" cy="71852"/>
          </a:xfrm>
          <a:prstGeom prst="line">
            <a:avLst/>
          </a:prstGeom>
          <a:noFill/>
          <a:ln w="15875">
            <a:solidFill>
              <a:srgbClr val="008300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 flipV="1">
            <a:off x="4854942" y="4830633"/>
            <a:ext cx="499918" cy="53889"/>
          </a:xfrm>
          <a:prstGeom prst="line">
            <a:avLst/>
          </a:prstGeom>
          <a:noFill/>
          <a:ln w="15875">
            <a:solidFill>
              <a:srgbClr val="008300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 flipV="1">
            <a:off x="5354860" y="4794707"/>
            <a:ext cx="499918" cy="35926"/>
          </a:xfrm>
          <a:prstGeom prst="line">
            <a:avLst/>
          </a:prstGeom>
          <a:noFill/>
          <a:ln w="15875">
            <a:solidFill>
              <a:srgbClr val="008300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5854779" y="4794707"/>
            <a:ext cx="499918" cy="17963"/>
          </a:xfrm>
          <a:prstGeom prst="line">
            <a:avLst/>
          </a:prstGeom>
          <a:noFill/>
          <a:ln w="15875">
            <a:solidFill>
              <a:srgbClr val="008300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 flipV="1">
            <a:off x="6354697" y="4722856"/>
            <a:ext cx="499918" cy="89814"/>
          </a:xfrm>
          <a:prstGeom prst="line">
            <a:avLst/>
          </a:prstGeom>
          <a:noFill/>
          <a:ln w="15875">
            <a:solidFill>
              <a:srgbClr val="008300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 flipV="1">
            <a:off x="6854615" y="4668967"/>
            <a:ext cx="499918" cy="53889"/>
          </a:xfrm>
          <a:prstGeom prst="line">
            <a:avLst/>
          </a:prstGeom>
          <a:noFill/>
          <a:ln w="15875">
            <a:solidFill>
              <a:srgbClr val="008300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7354533" y="4668967"/>
            <a:ext cx="499918" cy="17963"/>
          </a:xfrm>
          <a:prstGeom prst="line">
            <a:avLst/>
          </a:prstGeom>
          <a:noFill/>
          <a:ln w="15875">
            <a:solidFill>
              <a:srgbClr val="008300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 flipV="1">
            <a:off x="7854451" y="4579153"/>
            <a:ext cx="499918" cy="107777"/>
          </a:xfrm>
          <a:prstGeom prst="line">
            <a:avLst/>
          </a:prstGeom>
          <a:noFill/>
          <a:ln w="15875">
            <a:solidFill>
              <a:srgbClr val="008300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 flipV="1">
            <a:off x="8354369" y="4525264"/>
            <a:ext cx="499918" cy="53889"/>
          </a:xfrm>
          <a:prstGeom prst="line">
            <a:avLst/>
          </a:prstGeom>
          <a:noFill/>
          <a:ln w="15875">
            <a:solidFill>
              <a:srgbClr val="008300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3331058" y="4950206"/>
            <a:ext cx="48260" cy="48260"/>
          </a:xfrm>
          <a:prstGeom prst="ellipse">
            <a:avLst/>
          </a:prstGeom>
          <a:solidFill>
            <a:srgbClr val="E34948"/>
          </a:solidFill>
          <a:ln/>
        </p:spPr>
      </p:sp>
      <p:sp>
        <p:nvSpPr>
          <p:cNvPr id="64" name="Shape 62"/>
          <p:cNvSpPr/>
          <p:nvPr/>
        </p:nvSpPr>
        <p:spPr>
          <a:xfrm>
            <a:off x="8830158" y="4501134"/>
            <a:ext cx="48260" cy="48260"/>
          </a:xfrm>
          <a:prstGeom prst="ellipse">
            <a:avLst/>
          </a:prstGeom>
          <a:solidFill>
            <a:srgbClr val="1A9E6E"/>
          </a:solidFill>
          <a:ln/>
        </p:spPr>
      </p:sp>
      <p:sp>
        <p:nvSpPr>
          <p:cNvPr id="65" name="Shape 63"/>
          <p:cNvSpPr/>
          <p:nvPr/>
        </p:nvSpPr>
        <p:spPr>
          <a:xfrm>
            <a:off x="8827618" y="4498594"/>
            <a:ext cx="53340" cy="53340"/>
          </a:xfrm>
          <a:prstGeom prst="ellipse">
            <a:avLst/>
          </a:prstGeom>
          <a:solidFill>
            <a:srgbClr val="008300"/>
          </a:solidFill>
          <a:ln/>
        </p:spPr>
      </p:sp>
      <p:sp>
        <p:nvSpPr>
          <p:cNvPr id="66" name="Text 64"/>
          <p:cNvSpPr/>
          <p:nvPr/>
        </p:nvSpPr>
        <p:spPr>
          <a:xfrm>
            <a:off x="8905088" y="4430014"/>
            <a:ext cx="2387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083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428848" y="1397000"/>
            <a:ext cx="5334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Monthly sales (radial bars)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121758" y="2594610"/>
            <a:ext cx="1948180" cy="1948180"/>
          </a:xfrm>
          <a:prstGeom prst="ellipse">
            <a:avLst/>
          </a:prstGeom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133948" y="251841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444848" y="1917700"/>
            <a:ext cx="3302000" cy="3302000"/>
          </a:xfrm>
          <a:prstGeom prst="ellipse">
            <a:avLst/>
          </a:prstGeom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133948" y="184150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257140" y="2729992"/>
            <a:ext cx="1677416" cy="1677416"/>
          </a:xfrm>
          <a:custGeom>
            <a:avLst/>
            <a:gdLst/>
            <a:ahLst/>
            <a:cxnLst/>
            <a:rect l="l" t="t" r="r" b="b"/>
            <a:pathLst>
              <a:path w="1677416" h="1677416">
                <a:moveTo>
                  <a:pt x="878217" y="931"/>
                </a:moveTo>
                <a:lnTo>
                  <a:pt x="960608" y="8906"/>
                </a:lnTo>
                <a:lnTo>
                  <a:pt x="1041813" y="24964"/>
                </a:lnTo>
                <a:lnTo>
                  <a:pt x="1121039" y="48948"/>
                </a:lnTo>
                <a:lnTo>
                  <a:pt x="1197515" y="80626"/>
                </a:lnTo>
                <a:lnTo>
                  <a:pt x="1270495" y="119687"/>
                </a:lnTo>
                <a:lnTo>
                  <a:pt x="1339270" y="165753"/>
                </a:lnTo>
                <a:lnTo>
                  <a:pt x="1403169" y="218373"/>
                </a:lnTo>
                <a:lnTo>
                  <a:pt x="1038714" y="618904"/>
                </a:lnTo>
                <a:lnTo>
                  <a:pt x="1016073" y="600259"/>
                </a:lnTo>
                <a:lnTo>
                  <a:pt x="991703" y="583937"/>
                </a:lnTo>
                <a:lnTo>
                  <a:pt x="965844" y="570096"/>
                </a:lnTo>
                <a:lnTo>
                  <a:pt x="938746" y="558872"/>
                </a:lnTo>
                <a:lnTo>
                  <a:pt x="910674" y="550373"/>
                </a:lnTo>
                <a:lnTo>
                  <a:pt x="881901" y="544684"/>
                </a:lnTo>
                <a:lnTo>
                  <a:pt x="852707" y="541858"/>
                </a:lnTo>
                <a:close/>
              </a:path>
            </a:pathLst>
          </a:cu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756818" y="1884075"/>
            <a:ext cx="2565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Jan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054067" y="2526919"/>
            <a:ext cx="2083562" cy="2083562"/>
          </a:xfrm>
          <a:custGeom>
            <a:avLst/>
            <a:gdLst/>
            <a:ahLst/>
            <a:cxnLst/>
            <a:rect l="l" t="t" r="r" b="b"/>
            <a:pathLst>
              <a:path w="2083562" h="2083562">
                <a:moveTo>
                  <a:pt x="1812315" y="340649"/>
                </a:moveTo>
                <a:lnTo>
                  <a:pt x="1877676" y="420020"/>
                </a:lnTo>
                <a:lnTo>
                  <a:pt x="1934895" y="505447"/>
                </a:lnTo>
                <a:lnTo>
                  <a:pt x="1983415" y="596098"/>
                </a:lnTo>
                <a:lnTo>
                  <a:pt x="2022762" y="691091"/>
                </a:lnTo>
                <a:lnTo>
                  <a:pt x="2052554" y="789499"/>
                </a:lnTo>
                <a:lnTo>
                  <a:pt x="2072500" y="890365"/>
                </a:lnTo>
                <a:lnTo>
                  <a:pt x="2082405" y="992706"/>
                </a:lnTo>
                <a:lnTo>
                  <a:pt x="1338631" y="1027782"/>
                </a:lnTo>
                <a:lnTo>
                  <a:pt x="1335805" y="998588"/>
                </a:lnTo>
                <a:lnTo>
                  <a:pt x="1330116" y="969815"/>
                </a:lnTo>
                <a:lnTo>
                  <a:pt x="1321617" y="941743"/>
                </a:lnTo>
                <a:lnTo>
                  <a:pt x="1310393" y="914645"/>
                </a:lnTo>
                <a:lnTo>
                  <a:pt x="1296552" y="888786"/>
                </a:lnTo>
                <a:lnTo>
                  <a:pt x="1280230" y="864416"/>
                </a:lnTo>
                <a:lnTo>
                  <a:pt x="1261585" y="841775"/>
                </a:lnTo>
                <a:close/>
              </a:path>
            </a:pathLst>
          </a:cu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691572" y="2818829"/>
            <a:ext cx="2565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Feb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392522" y="2865374"/>
            <a:ext cx="1406652" cy="1406652"/>
          </a:xfrm>
          <a:custGeom>
            <a:avLst/>
            <a:gdLst/>
            <a:ahLst/>
            <a:cxnLst/>
            <a:rect l="l" t="t" r="r" b="b"/>
            <a:pathLst>
              <a:path w="1406652" h="1406652">
                <a:moveTo>
                  <a:pt x="1405871" y="736457"/>
                </a:moveTo>
                <a:lnTo>
                  <a:pt x="1399184" y="805550"/>
                </a:lnTo>
                <a:lnTo>
                  <a:pt x="1385718" y="873646"/>
                </a:lnTo>
                <a:lnTo>
                  <a:pt x="1365605" y="940084"/>
                </a:lnTo>
                <a:lnTo>
                  <a:pt x="1339041" y="1004215"/>
                </a:lnTo>
                <a:lnTo>
                  <a:pt x="1306284" y="1065415"/>
                </a:lnTo>
                <a:lnTo>
                  <a:pt x="1267655" y="1123089"/>
                </a:lnTo>
                <a:lnTo>
                  <a:pt x="1223528" y="1176673"/>
                </a:lnTo>
                <a:lnTo>
                  <a:pt x="923130" y="903332"/>
                </a:lnTo>
                <a:lnTo>
                  <a:pt x="941775" y="880691"/>
                </a:lnTo>
                <a:lnTo>
                  <a:pt x="958097" y="856321"/>
                </a:lnTo>
                <a:lnTo>
                  <a:pt x="971938" y="830462"/>
                </a:lnTo>
                <a:lnTo>
                  <a:pt x="983162" y="803364"/>
                </a:lnTo>
                <a:lnTo>
                  <a:pt x="991661" y="775292"/>
                </a:lnTo>
                <a:lnTo>
                  <a:pt x="997350" y="746519"/>
                </a:lnTo>
                <a:lnTo>
                  <a:pt x="1000176" y="717325"/>
                </a:lnTo>
                <a:close/>
              </a:path>
            </a:pathLst>
          </a:cu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691572" y="4140771"/>
            <a:ext cx="2565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850994" y="2323846"/>
            <a:ext cx="2489708" cy="2489708"/>
          </a:xfrm>
          <a:custGeom>
            <a:avLst/>
            <a:gdLst/>
            <a:ahLst/>
            <a:cxnLst/>
            <a:rect l="l" t="t" r="r" b="b"/>
            <a:pathLst>
              <a:path w="2489708" h="2489708">
                <a:moveTo>
                  <a:pt x="2082656" y="2165587"/>
                </a:moveTo>
                <a:lnTo>
                  <a:pt x="1987814" y="2243689"/>
                </a:lnTo>
                <a:lnTo>
                  <a:pt x="1885735" y="2312062"/>
                </a:lnTo>
                <a:lnTo>
                  <a:pt x="1777413" y="2370039"/>
                </a:lnTo>
                <a:lnTo>
                  <a:pt x="1663904" y="2417056"/>
                </a:lnTo>
                <a:lnTo>
                  <a:pt x="1546313" y="2452655"/>
                </a:lnTo>
                <a:lnTo>
                  <a:pt x="1425785" y="2476489"/>
                </a:lnTo>
                <a:lnTo>
                  <a:pt x="1303495" y="2488326"/>
                </a:lnTo>
                <a:lnTo>
                  <a:pt x="1258853" y="1541704"/>
                </a:lnTo>
                <a:lnTo>
                  <a:pt x="1288047" y="1538878"/>
                </a:lnTo>
                <a:lnTo>
                  <a:pt x="1316820" y="1533189"/>
                </a:lnTo>
                <a:lnTo>
                  <a:pt x="1344892" y="1524690"/>
                </a:lnTo>
                <a:lnTo>
                  <a:pt x="1371990" y="1513466"/>
                </a:lnTo>
                <a:lnTo>
                  <a:pt x="1397849" y="1499625"/>
                </a:lnTo>
                <a:lnTo>
                  <a:pt x="1422219" y="1483303"/>
                </a:lnTo>
                <a:lnTo>
                  <a:pt x="1444860" y="1464658"/>
                </a:lnTo>
                <a:close/>
              </a:path>
            </a:pathLst>
          </a:cu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756818" y="5075525"/>
            <a:ext cx="2565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Apr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959299" y="2432152"/>
            <a:ext cx="2273097" cy="2273097"/>
          </a:xfrm>
          <a:custGeom>
            <a:avLst/>
            <a:gdLst/>
            <a:ahLst/>
            <a:cxnLst/>
            <a:rect l="l" t="t" r="r" b="b"/>
            <a:pathLst>
              <a:path w="2273097" h="2273097">
                <a:moveTo>
                  <a:pt x="1083010" y="2271835"/>
                </a:moveTo>
                <a:lnTo>
                  <a:pt x="971359" y="2261028"/>
                </a:lnTo>
                <a:lnTo>
                  <a:pt x="861318" y="2239268"/>
                </a:lnTo>
                <a:lnTo>
                  <a:pt x="753957" y="2206766"/>
                </a:lnTo>
                <a:lnTo>
                  <a:pt x="650323" y="2163840"/>
                </a:lnTo>
                <a:lnTo>
                  <a:pt x="551426" y="2110906"/>
                </a:lnTo>
                <a:lnTo>
                  <a:pt x="458228" y="2048482"/>
                </a:lnTo>
                <a:lnTo>
                  <a:pt x="371637" y="1977175"/>
                </a:lnTo>
                <a:lnTo>
                  <a:pt x="936543" y="1356352"/>
                </a:lnTo>
                <a:lnTo>
                  <a:pt x="959184" y="1374997"/>
                </a:lnTo>
                <a:lnTo>
                  <a:pt x="983553" y="1391320"/>
                </a:lnTo>
                <a:lnTo>
                  <a:pt x="1009412" y="1405160"/>
                </a:lnTo>
                <a:lnTo>
                  <a:pt x="1036510" y="1416385"/>
                </a:lnTo>
                <a:lnTo>
                  <a:pt x="1064582" y="1424883"/>
                </a:lnTo>
                <a:lnTo>
                  <a:pt x="1093355" y="1430573"/>
                </a:lnTo>
                <a:lnTo>
                  <a:pt x="1122549" y="1433398"/>
                </a:lnTo>
                <a:close/>
              </a:path>
            </a:pathLst>
          </a:custGeom>
          <a:solidFill>
            <a:srgbClr val="4A3AA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178337" y="5075525"/>
            <a:ext cx="2565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May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148834" y="2621686"/>
            <a:ext cx="1894027" cy="1894027"/>
          </a:xfrm>
          <a:custGeom>
            <a:avLst/>
            <a:gdLst/>
            <a:ahLst/>
            <a:cxnLst/>
            <a:rect l="l" t="t" r="r" b="b"/>
            <a:pathLst>
              <a:path w="1894027" h="1894027">
                <a:moveTo>
                  <a:pt x="246573" y="1584366"/>
                </a:moveTo>
                <a:lnTo>
                  <a:pt x="187157" y="1512215"/>
                </a:lnTo>
                <a:lnTo>
                  <a:pt x="135143" y="1434559"/>
                </a:lnTo>
                <a:lnTo>
                  <a:pt x="91037" y="1352154"/>
                </a:lnTo>
                <a:lnTo>
                  <a:pt x="55269" y="1265803"/>
                </a:lnTo>
                <a:lnTo>
                  <a:pt x="28188" y="1176346"/>
                </a:lnTo>
                <a:lnTo>
                  <a:pt x="10056" y="1084655"/>
                </a:lnTo>
                <a:lnTo>
                  <a:pt x="1051" y="991624"/>
                </a:lnTo>
                <a:lnTo>
                  <a:pt x="650164" y="961013"/>
                </a:lnTo>
                <a:lnTo>
                  <a:pt x="652989" y="990207"/>
                </a:lnTo>
                <a:lnTo>
                  <a:pt x="658679" y="1018980"/>
                </a:lnTo>
                <a:lnTo>
                  <a:pt x="667177" y="1047052"/>
                </a:lnTo>
                <a:lnTo>
                  <a:pt x="678402" y="1074150"/>
                </a:lnTo>
                <a:lnTo>
                  <a:pt x="692242" y="1100009"/>
                </a:lnTo>
                <a:lnTo>
                  <a:pt x="708565" y="1124378"/>
                </a:lnTo>
                <a:lnTo>
                  <a:pt x="727210" y="1147019"/>
                </a:lnTo>
                <a:close/>
              </a:path>
            </a:pathLst>
          </a:custGeom>
          <a:solidFill>
            <a:srgbClr val="E3494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243583" y="4140771"/>
            <a:ext cx="2565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Jun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715612" y="2188464"/>
            <a:ext cx="2760472" cy="2760472"/>
          </a:xfrm>
          <a:custGeom>
            <a:avLst/>
            <a:gdLst/>
            <a:ahLst/>
            <a:cxnLst/>
            <a:rect l="l" t="t" r="r" b="b"/>
            <a:pathLst>
              <a:path w="2760472" h="2760472">
                <a:moveTo>
                  <a:pt x="1532" y="1315218"/>
                </a:moveTo>
                <a:lnTo>
                  <a:pt x="14656" y="1179628"/>
                </a:lnTo>
                <a:lnTo>
                  <a:pt x="41082" y="1045993"/>
                </a:lnTo>
                <a:lnTo>
                  <a:pt x="80553" y="915613"/>
                </a:lnTo>
                <a:lnTo>
                  <a:pt x="132683" y="789759"/>
                </a:lnTo>
                <a:lnTo>
                  <a:pt x="196966" y="669657"/>
                </a:lnTo>
                <a:lnTo>
                  <a:pt x="272774" y="556476"/>
                </a:lnTo>
                <a:lnTo>
                  <a:pt x="359371" y="451320"/>
                </a:lnTo>
                <a:lnTo>
                  <a:pt x="1160432" y="1180230"/>
                </a:lnTo>
                <a:lnTo>
                  <a:pt x="1141787" y="1202871"/>
                </a:lnTo>
                <a:lnTo>
                  <a:pt x="1125465" y="1227241"/>
                </a:lnTo>
                <a:lnTo>
                  <a:pt x="1111624" y="1253100"/>
                </a:lnTo>
                <a:lnTo>
                  <a:pt x="1100400" y="1280198"/>
                </a:lnTo>
                <a:lnTo>
                  <a:pt x="1091901" y="1308270"/>
                </a:lnTo>
                <a:lnTo>
                  <a:pt x="1086212" y="1337043"/>
                </a:lnTo>
                <a:lnTo>
                  <a:pt x="1083386" y="1366237"/>
                </a:lnTo>
                <a:close/>
              </a:path>
            </a:pathLst>
          </a:custGeom>
          <a:solidFill>
            <a:srgbClr val="E87BA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243583" y="2818829"/>
            <a:ext cx="2565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Jul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324831" y="2797683"/>
            <a:ext cx="1542034" cy="1542034"/>
          </a:xfrm>
          <a:custGeom>
            <a:avLst/>
            <a:gdLst/>
            <a:ahLst/>
            <a:cxnLst/>
            <a:rect l="l" t="t" r="r" b="b"/>
            <a:pathLst>
              <a:path w="1542034" h="1542034">
                <a:moveTo>
                  <a:pt x="252113" y="200749"/>
                </a:moveTo>
                <a:lnTo>
                  <a:pt x="310855" y="152375"/>
                </a:lnTo>
                <a:lnTo>
                  <a:pt x="374079" y="110027"/>
                </a:lnTo>
                <a:lnTo>
                  <a:pt x="441169" y="74118"/>
                </a:lnTo>
                <a:lnTo>
                  <a:pt x="511473" y="44998"/>
                </a:lnTo>
                <a:lnTo>
                  <a:pt x="584305" y="22949"/>
                </a:lnTo>
                <a:lnTo>
                  <a:pt x="658955" y="8187"/>
                </a:lnTo>
                <a:lnTo>
                  <a:pt x="734697" y="856"/>
                </a:lnTo>
                <a:lnTo>
                  <a:pt x="757018" y="474167"/>
                </a:lnTo>
                <a:lnTo>
                  <a:pt x="727824" y="476993"/>
                </a:lnTo>
                <a:lnTo>
                  <a:pt x="699051" y="482682"/>
                </a:lnTo>
                <a:lnTo>
                  <a:pt x="670979" y="491181"/>
                </a:lnTo>
                <a:lnTo>
                  <a:pt x="643881" y="502405"/>
                </a:lnTo>
                <a:lnTo>
                  <a:pt x="618022" y="516246"/>
                </a:lnTo>
                <a:lnTo>
                  <a:pt x="593652" y="532568"/>
                </a:lnTo>
                <a:lnTo>
                  <a:pt x="571011" y="551213"/>
                </a:lnTo>
                <a:close/>
              </a:path>
            </a:pathLst>
          </a:custGeom>
          <a:solidFill>
            <a:srgbClr val="EB683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178337" y="1884075"/>
            <a:ext cx="2565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Aug</a:t>
            </a:r>
            <a:endParaRPr lang="en-US" sz="1000" dirty="0"/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174848" y="1397000"/>
            <a:ext cx="5842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Team capability (stacked radar)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648574" y="3153833"/>
            <a:ext cx="894547" cy="1032933"/>
          </a:xfrm>
          <a:custGeom>
            <a:avLst/>
            <a:gdLst/>
            <a:ahLst/>
            <a:cxnLst/>
            <a:rect l="l" t="t" r="r" b="b"/>
            <a:pathLst>
              <a:path w="894547" h="1032933">
                <a:moveTo>
                  <a:pt x="447273" y="0"/>
                </a:moveTo>
                <a:lnTo>
                  <a:pt x="894547" y="258233"/>
                </a:lnTo>
                <a:lnTo>
                  <a:pt x="894547" y="774700"/>
                </a:lnTo>
                <a:lnTo>
                  <a:pt x="447273" y="1032933"/>
                </a:lnTo>
                <a:lnTo>
                  <a:pt x="0" y="774700"/>
                </a:lnTo>
                <a:lnTo>
                  <a:pt x="0" y="258233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133948" y="3077633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5201301" y="2637367"/>
            <a:ext cx="1789093" cy="2065867"/>
          </a:xfrm>
          <a:custGeom>
            <a:avLst/>
            <a:gdLst/>
            <a:ahLst/>
            <a:cxnLst/>
            <a:rect l="l" t="t" r="r" b="b"/>
            <a:pathLst>
              <a:path w="1789093" h="2065867">
                <a:moveTo>
                  <a:pt x="894547" y="0"/>
                </a:moveTo>
                <a:lnTo>
                  <a:pt x="1789093" y="516467"/>
                </a:lnTo>
                <a:lnTo>
                  <a:pt x="1789093" y="1549400"/>
                </a:lnTo>
                <a:lnTo>
                  <a:pt x="894547" y="2065867"/>
                </a:lnTo>
                <a:lnTo>
                  <a:pt x="0" y="1549400"/>
                </a:lnTo>
                <a:lnTo>
                  <a:pt x="0" y="516467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133948" y="2561167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4754028" y="2120900"/>
            <a:ext cx="2683640" cy="3098800"/>
          </a:xfrm>
          <a:custGeom>
            <a:avLst/>
            <a:gdLst/>
            <a:ahLst/>
            <a:cxnLst/>
            <a:rect l="l" t="t" r="r" b="b"/>
            <a:pathLst>
              <a:path w="2683640" h="3098800">
                <a:moveTo>
                  <a:pt x="1341820" y="0"/>
                </a:moveTo>
                <a:lnTo>
                  <a:pt x="2683640" y="774700"/>
                </a:lnTo>
                <a:lnTo>
                  <a:pt x="2683640" y="2324100"/>
                </a:lnTo>
                <a:lnTo>
                  <a:pt x="1341820" y="3098800"/>
                </a:lnTo>
                <a:lnTo>
                  <a:pt x="0" y="2324100"/>
                </a:lnTo>
                <a:lnTo>
                  <a:pt x="0" y="774700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133948" y="204470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6095848" y="2120900"/>
            <a:ext cx="0" cy="1549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796128" y="1866900"/>
            <a:ext cx="5994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Strategy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 flipV="1">
            <a:off x="6095848" y="2895600"/>
            <a:ext cx="1341820" cy="7747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503658" y="2768600"/>
            <a:ext cx="5994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Delivery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095848" y="3670300"/>
            <a:ext cx="1341820" cy="7747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503658" y="4394200"/>
            <a:ext cx="4622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Design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095848" y="3670300"/>
            <a:ext cx="0" cy="1549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33288" y="5295900"/>
            <a:ext cx="3251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 flipV="1">
            <a:off x="4754028" y="3670300"/>
            <a:ext cx="1341820" cy="7747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294337" y="4394200"/>
            <a:ext cx="3937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Comms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754028" y="2895600"/>
            <a:ext cx="1341820" cy="7747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431497" y="2768600"/>
            <a:ext cx="2565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738029" y="3257127"/>
            <a:ext cx="805092" cy="671407"/>
          </a:xfrm>
          <a:custGeom>
            <a:avLst/>
            <a:gdLst/>
            <a:ahLst/>
            <a:cxnLst/>
            <a:rect l="l" t="t" r="r" b="b"/>
            <a:pathLst>
              <a:path w="805092" h="671407">
                <a:moveTo>
                  <a:pt x="357819" y="0"/>
                </a:moveTo>
                <a:lnTo>
                  <a:pt x="626183" y="258233"/>
                </a:lnTo>
                <a:lnTo>
                  <a:pt x="805092" y="671407"/>
                </a:lnTo>
                <a:lnTo>
                  <a:pt x="357819" y="619760"/>
                </a:lnTo>
                <a:lnTo>
                  <a:pt x="0" y="619760"/>
                </a:lnTo>
                <a:lnTo>
                  <a:pt x="89455" y="258233"/>
                </a:lnTo>
                <a:lnTo>
                  <a:pt x="357819" y="413173"/>
                </a:lnTo>
                <a:lnTo>
                  <a:pt x="357819" y="413173"/>
                </a:lnTo>
                <a:lnTo>
                  <a:pt x="357819" y="413173"/>
                </a:lnTo>
                <a:lnTo>
                  <a:pt x="357819" y="413173"/>
                </a:lnTo>
                <a:lnTo>
                  <a:pt x="357819" y="413173"/>
                </a:lnTo>
                <a:lnTo>
                  <a:pt x="357819" y="413173"/>
                </a:lnTo>
                <a:close/>
              </a:path>
            </a:pathLst>
          </a:custGeom>
          <a:solidFill>
            <a:srgbClr val="2A78D6">
              <a:alpha val="55000"/>
            </a:srgbClr>
          </a:solidFill>
          <a:ln w="15240">
            <a:solidFill>
              <a:srgbClr val="2A78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469665" y="2947247"/>
            <a:ext cx="1252365" cy="1446107"/>
          </a:xfrm>
          <a:custGeom>
            <a:avLst/>
            <a:gdLst/>
            <a:ahLst/>
            <a:cxnLst/>
            <a:rect l="l" t="t" r="r" b="b"/>
            <a:pathLst>
              <a:path w="1252365" h="1446107">
                <a:moveTo>
                  <a:pt x="626183" y="0"/>
                </a:moveTo>
                <a:lnTo>
                  <a:pt x="1252365" y="361527"/>
                </a:lnTo>
                <a:lnTo>
                  <a:pt x="1252365" y="1084580"/>
                </a:lnTo>
                <a:lnTo>
                  <a:pt x="626183" y="1446107"/>
                </a:lnTo>
                <a:lnTo>
                  <a:pt x="0" y="1084580"/>
                </a:lnTo>
                <a:lnTo>
                  <a:pt x="0" y="361527"/>
                </a:lnTo>
                <a:lnTo>
                  <a:pt x="357819" y="568113"/>
                </a:lnTo>
                <a:lnTo>
                  <a:pt x="268364" y="929640"/>
                </a:lnTo>
                <a:lnTo>
                  <a:pt x="626183" y="929640"/>
                </a:lnTo>
                <a:lnTo>
                  <a:pt x="1073456" y="981287"/>
                </a:lnTo>
                <a:lnTo>
                  <a:pt x="894547" y="568113"/>
                </a:lnTo>
                <a:lnTo>
                  <a:pt x="626183" y="309880"/>
                </a:lnTo>
                <a:close/>
              </a:path>
            </a:pathLst>
          </a:custGeom>
          <a:solidFill>
            <a:srgbClr val="1BAF7A">
              <a:alpha val="55000"/>
            </a:srgbClr>
          </a:solidFill>
          <a:ln w="15240">
            <a:solidFill>
              <a:srgbClr val="1BAF7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022392" y="2740660"/>
            <a:ext cx="1968002" cy="1962573"/>
          </a:xfrm>
          <a:custGeom>
            <a:avLst/>
            <a:gdLst/>
            <a:ahLst/>
            <a:cxnLst/>
            <a:rect l="l" t="t" r="r" b="b"/>
            <a:pathLst>
              <a:path w="1968002" h="1962573">
                <a:moveTo>
                  <a:pt x="1073456" y="0"/>
                </a:moveTo>
                <a:lnTo>
                  <a:pt x="1968002" y="413173"/>
                </a:lnTo>
                <a:lnTo>
                  <a:pt x="1968002" y="1446107"/>
                </a:lnTo>
                <a:lnTo>
                  <a:pt x="1073456" y="1962573"/>
                </a:lnTo>
                <a:lnTo>
                  <a:pt x="0" y="1549400"/>
                </a:lnTo>
                <a:lnTo>
                  <a:pt x="268364" y="464820"/>
                </a:lnTo>
                <a:lnTo>
                  <a:pt x="447273" y="568113"/>
                </a:lnTo>
                <a:lnTo>
                  <a:pt x="447273" y="1291167"/>
                </a:lnTo>
                <a:lnTo>
                  <a:pt x="1073456" y="1652693"/>
                </a:lnTo>
                <a:lnTo>
                  <a:pt x="1699638" y="1291167"/>
                </a:lnTo>
                <a:lnTo>
                  <a:pt x="1699638" y="568113"/>
                </a:lnTo>
                <a:lnTo>
                  <a:pt x="1073456" y="206587"/>
                </a:lnTo>
                <a:close/>
              </a:path>
            </a:pathLst>
          </a:custGeom>
          <a:solidFill>
            <a:srgbClr val="EDA100">
              <a:alpha val="55000"/>
            </a:srgbClr>
          </a:solidFill>
          <a:ln w="15240">
            <a:solidFill>
              <a:srgbClr val="EDA10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174848" y="17208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Text 23"/>
          <p:cNvSpPr/>
          <p:nvPr/>
        </p:nvSpPr>
        <p:spPr>
          <a:xfrm>
            <a:off x="3301848" y="1676400"/>
            <a:ext cx="4191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Alice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797148" y="17208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7" name="Text 25"/>
          <p:cNvSpPr/>
          <p:nvPr/>
        </p:nvSpPr>
        <p:spPr>
          <a:xfrm>
            <a:off x="3924148" y="1676400"/>
            <a:ext cx="2819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Bob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282288" y="172085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" name="Text 27"/>
          <p:cNvSpPr/>
          <p:nvPr/>
        </p:nvSpPr>
        <p:spPr>
          <a:xfrm>
            <a:off x="4409288" y="1676400"/>
            <a:ext cx="3505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Cara</a:t>
            </a:r>
            <a:endParaRPr lang="en-US" sz="1000" dirty="0"/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174848" y="1397000"/>
            <a:ext cx="5842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Region share (angle = revenue, radius = margin)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482948" y="1955800"/>
            <a:ext cx="3225800" cy="3225800"/>
          </a:xfrm>
          <a:prstGeom prst="pie">
            <a:avLst>
              <a:gd name="adj1" fmla="val 16200000"/>
              <a:gd name="adj2" fmla="val 4320000"/>
            </a:avLst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7701434" y="3303473"/>
            <a:ext cx="68990" cy="10927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89239" y="3205243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 45%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796567" y="2269419"/>
            <a:ext cx="2598561" cy="2598561"/>
          </a:xfrm>
          <a:prstGeom prst="pie">
            <a:avLst>
              <a:gd name="adj1" fmla="val 4320000"/>
              <a:gd name="adj2" fmla="val 10800000"/>
            </a:avLst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V="1">
            <a:off x="5283628" y="4630115"/>
            <a:ext cx="41057" cy="5651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398671" y="4606786"/>
            <a:ext cx="8737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 30%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662159" y="2135011"/>
            <a:ext cx="2867378" cy="2867378"/>
          </a:xfrm>
          <a:prstGeom prst="pie">
            <a:avLst>
              <a:gd name="adj1" fmla="val 10800000"/>
              <a:gd name="adj2" fmla="val 14688000"/>
            </a:avLst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815645" y="2756259"/>
            <a:ext cx="58976" cy="37428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200120" y="2650801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 18%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930975" y="2403828"/>
            <a:ext cx="2329744" cy="2329744"/>
          </a:xfrm>
          <a:prstGeom prst="pie">
            <a:avLst>
              <a:gd name="adj1" fmla="val 14688000"/>
              <a:gd name="adj2" fmla="val 16200000"/>
            </a:avLst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823731" y="2351320"/>
            <a:ext cx="15237" cy="68168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220135" y="2237479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LatAm 7%</a:t>
            </a:r>
            <a:endParaRPr lang="en-US" sz="1000" dirty="0"/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174848" y="1397000"/>
            <a:ext cx="5842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Correlation matrix (size = magnitude)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619348" y="1676400"/>
            <a:ext cx="10744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693768" y="1676400"/>
            <a:ext cx="10744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768188" y="1676400"/>
            <a:ext cx="10744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Head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842608" y="1676400"/>
            <a:ext cx="10744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NPS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917028" y="1676400"/>
            <a:ext cx="10744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Churn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174848" y="1866900"/>
            <a:ext cx="393700" cy="6426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835248" y="1866900"/>
            <a:ext cx="629920" cy="6299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Shape 8"/>
          <p:cNvSpPr/>
          <p:nvPr/>
        </p:nvSpPr>
        <p:spPr>
          <a:xfrm>
            <a:off x="4942919" y="1900151"/>
            <a:ext cx="563418" cy="563418"/>
          </a:xfrm>
          <a:prstGeom prst="rect">
            <a:avLst/>
          </a:prstGeom>
          <a:solidFill>
            <a:srgbClr val="81A0DF"/>
          </a:solidFill>
          <a:ln/>
        </p:spPr>
      </p:sp>
      <p:sp>
        <p:nvSpPr>
          <p:cNvPr id="11" name="Shape 9"/>
          <p:cNvSpPr/>
          <p:nvPr/>
        </p:nvSpPr>
        <p:spPr>
          <a:xfrm>
            <a:off x="6055081" y="1937893"/>
            <a:ext cx="487934" cy="487934"/>
          </a:xfrm>
          <a:prstGeom prst="rect">
            <a:avLst/>
          </a:prstGeom>
          <a:solidFill>
            <a:srgbClr val="ACBEE8"/>
          </a:solidFill>
          <a:ln/>
        </p:spPr>
      </p:sp>
      <p:sp>
        <p:nvSpPr>
          <p:cNvPr id="12" name="Shape 10"/>
          <p:cNvSpPr/>
          <p:nvPr/>
        </p:nvSpPr>
        <p:spPr>
          <a:xfrm>
            <a:off x="7150757" y="1959150"/>
            <a:ext cx="445421" cy="445421"/>
          </a:xfrm>
          <a:prstGeom prst="rect">
            <a:avLst/>
          </a:prstGeom>
          <a:solidFill>
            <a:srgbClr val="BDCBEC"/>
          </a:solidFill>
          <a:ln/>
        </p:spPr>
      </p:sp>
      <p:sp>
        <p:nvSpPr>
          <p:cNvPr id="13" name="Shape 11"/>
          <p:cNvSpPr/>
          <p:nvPr/>
        </p:nvSpPr>
        <p:spPr>
          <a:xfrm>
            <a:off x="8184373" y="1918346"/>
            <a:ext cx="527029" cy="527029"/>
          </a:xfrm>
          <a:prstGeom prst="rect">
            <a:avLst/>
          </a:prstGeom>
          <a:solidFill>
            <a:srgbClr val="EC9F9F"/>
          </a:solidFill>
          <a:ln/>
        </p:spPr>
      </p:sp>
      <p:sp>
        <p:nvSpPr>
          <p:cNvPr id="14" name="Text 12"/>
          <p:cNvSpPr/>
          <p:nvPr/>
        </p:nvSpPr>
        <p:spPr>
          <a:xfrm>
            <a:off x="3174848" y="2509520"/>
            <a:ext cx="393700" cy="6426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868499" y="2542771"/>
            <a:ext cx="563418" cy="563418"/>
          </a:xfrm>
          <a:prstGeom prst="rect">
            <a:avLst/>
          </a:prstGeom>
          <a:solidFill>
            <a:srgbClr val="81A0DF"/>
          </a:solidFill>
          <a:ln/>
        </p:spPr>
      </p:sp>
      <p:sp>
        <p:nvSpPr>
          <p:cNvPr id="16" name="Shape 14"/>
          <p:cNvSpPr/>
          <p:nvPr/>
        </p:nvSpPr>
        <p:spPr>
          <a:xfrm>
            <a:off x="4909668" y="2509520"/>
            <a:ext cx="629920" cy="6299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7" name="Shape 15"/>
          <p:cNvSpPr/>
          <p:nvPr/>
        </p:nvSpPr>
        <p:spPr>
          <a:xfrm>
            <a:off x="6035533" y="2560966"/>
            <a:ext cx="527029" cy="527029"/>
          </a:xfrm>
          <a:prstGeom prst="rect">
            <a:avLst/>
          </a:prstGeom>
          <a:solidFill>
            <a:srgbClr val="98B0E3"/>
          </a:solidFill>
          <a:ln/>
        </p:spPr>
      </p:sp>
      <p:sp>
        <p:nvSpPr>
          <p:cNvPr id="18" name="Shape 16"/>
          <p:cNvSpPr/>
          <p:nvPr/>
        </p:nvSpPr>
        <p:spPr>
          <a:xfrm>
            <a:off x="7273869" y="2724881"/>
            <a:ext cx="199198" cy="199198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9" name="Shape 17"/>
          <p:cNvSpPr/>
          <p:nvPr/>
        </p:nvSpPr>
        <p:spPr>
          <a:xfrm>
            <a:off x="8275377" y="2651969"/>
            <a:ext cx="345021" cy="345021"/>
          </a:xfrm>
          <a:prstGeom prst="rect">
            <a:avLst/>
          </a:prstGeom>
          <a:solidFill>
            <a:srgbClr val="F7DDDD"/>
          </a:solidFill>
          <a:ln/>
        </p:spPr>
      </p:sp>
      <p:sp>
        <p:nvSpPr>
          <p:cNvPr id="20" name="Text 18"/>
          <p:cNvSpPr/>
          <p:nvPr/>
        </p:nvSpPr>
        <p:spPr>
          <a:xfrm>
            <a:off x="3174848" y="3152140"/>
            <a:ext cx="393700" cy="6426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Head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906241" y="3223133"/>
            <a:ext cx="487934" cy="487934"/>
          </a:xfrm>
          <a:prstGeom prst="rect">
            <a:avLst/>
          </a:prstGeom>
          <a:solidFill>
            <a:srgbClr val="ACBEE8"/>
          </a:solidFill>
          <a:ln/>
        </p:spPr>
      </p:sp>
      <p:sp>
        <p:nvSpPr>
          <p:cNvPr id="22" name="Shape 20"/>
          <p:cNvSpPr/>
          <p:nvPr/>
        </p:nvSpPr>
        <p:spPr>
          <a:xfrm>
            <a:off x="4961113" y="3203586"/>
            <a:ext cx="527029" cy="527029"/>
          </a:xfrm>
          <a:prstGeom prst="rect">
            <a:avLst/>
          </a:prstGeom>
          <a:solidFill>
            <a:srgbClr val="98B0E3"/>
          </a:solidFill>
          <a:ln/>
        </p:spPr>
      </p:sp>
      <p:sp>
        <p:nvSpPr>
          <p:cNvPr id="23" name="Shape 21"/>
          <p:cNvSpPr/>
          <p:nvPr/>
        </p:nvSpPr>
        <p:spPr>
          <a:xfrm>
            <a:off x="5984088" y="3152140"/>
            <a:ext cx="629920" cy="6299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4" name="Shape 22"/>
          <p:cNvSpPr/>
          <p:nvPr/>
        </p:nvSpPr>
        <p:spPr>
          <a:xfrm>
            <a:off x="7232613" y="3326246"/>
            <a:ext cx="281709" cy="281709"/>
          </a:xfrm>
          <a:prstGeom prst="rect">
            <a:avLst/>
          </a:prstGeom>
          <a:solidFill>
            <a:srgbClr val="E8ECF8"/>
          </a:solidFill>
          <a:ln/>
        </p:spPr>
      </p:sp>
      <p:sp>
        <p:nvSpPr>
          <p:cNvPr id="25" name="Shape 23"/>
          <p:cNvSpPr/>
          <p:nvPr/>
        </p:nvSpPr>
        <p:spPr>
          <a:xfrm>
            <a:off x="8307033" y="3326246"/>
            <a:ext cx="281709" cy="281709"/>
          </a:xfrm>
          <a:prstGeom prst="rect">
            <a:avLst/>
          </a:prstGeom>
          <a:solidFill>
            <a:srgbClr val="FAE9E9"/>
          </a:solidFill>
          <a:ln/>
        </p:spPr>
      </p:sp>
      <p:sp>
        <p:nvSpPr>
          <p:cNvPr id="26" name="Text 24"/>
          <p:cNvSpPr/>
          <p:nvPr/>
        </p:nvSpPr>
        <p:spPr>
          <a:xfrm>
            <a:off x="3174848" y="3794760"/>
            <a:ext cx="393700" cy="6426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NPS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927497" y="3887010"/>
            <a:ext cx="445421" cy="445421"/>
          </a:xfrm>
          <a:prstGeom prst="rect">
            <a:avLst/>
          </a:prstGeom>
          <a:solidFill>
            <a:srgbClr val="BDCBEC"/>
          </a:solidFill>
          <a:ln/>
        </p:spPr>
      </p:sp>
      <p:sp>
        <p:nvSpPr>
          <p:cNvPr id="28" name="Shape 26"/>
          <p:cNvSpPr/>
          <p:nvPr/>
        </p:nvSpPr>
        <p:spPr>
          <a:xfrm>
            <a:off x="5125029" y="4010121"/>
            <a:ext cx="199198" cy="199198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29" name="Shape 27"/>
          <p:cNvSpPr/>
          <p:nvPr/>
        </p:nvSpPr>
        <p:spPr>
          <a:xfrm>
            <a:off x="6158193" y="3968866"/>
            <a:ext cx="281709" cy="281709"/>
          </a:xfrm>
          <a:prstGeom prst="rect">
            <a:avLst/>
          </a:prstGeom>
          <a:solidFill>
            <a:srgbClr val="E8ECF8"/>
          </a:solidFill>
          <a:ln/>
        </p:spPr>
      </p:sp>
      <p:sp>
        <p:nvSpPr>
          <p:cNvPr id="30" name="Shape 28"/>
          <p:cNvSpPr/>
          <p:nvPr/>
        </p:nvSpPr>
        <p:spPr>
          <a:xfrm>
            <a:off x="7058508" y="3794760"/>
            <a:ext cx="629920" cy="6299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Shape 29"/>
          <p:cNvSpPr/>
          <p:nvPr/>
        </p:nvSpPr>
        <p:spPr>
          <a:xfrm>
            <a:off x="8149090" y="3810923"/>
            <a:ext cx="597595" cy="597595"/>
          </a:xfrm>
          <a:prstGeom prst="rect">
            <a:avLst/>
          </a:prstGeom>
          <a:solidFill>
            <a:srgbClr val="E66F6F"/>
          </a:solidFill>
          <a:ln/>
        </p:spPr>
      </p:sp>
      <p:sp>
        <p:nvSpPr>
          <p:cNvPr id="32" name="Text 30"/>
          <p:cNvSpPr/>
          <p:nvPr/>
        </p:nvSpPr>
        <p:spPr>
          <a:xfrm>
            <a:off x="3174848" y="4437380"/>
            <a:ext cx="393700" cy="6426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Churn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3886693" y="4488826"/>
            <a:ext cx="527029" cy="527029"/>
          </a:xfrm>
          <a:prstGeom prst="rect">
            <a:avLst/>
          </a:prstGeom>
          <a:solidFill>
            <a:srgbClr val="EC9F9F"/>
          </a:solidFill>
          <a:ln/>
        </p:spPr>
      </p:sp>
      <p:sp>
        <p:nvSpPr>
          <p:cNvPr id="34" name="Shape 32"/>
          <p:cNvSpPr/>
          <p:nvPr/>
        </p:nvSpPr>
        <p:spPr>
          <a:xfrm>
            <a:off x="5052117" y="4579829"/>
            <a:ext cx="345021" cy="345021"/>
          </a:xfrm>
          <a:prstGeom prst="rect">
            <a:avLst/>
          </a:prstGeom>
          <a:solidFill>
            <a:srgbClr val="F7DDDD"/>
          </a:solidFill>
          <a:ln/>
        </p:spPr>
      </p:sp>
      <p:sp>
        <p:nvSpPr>
          <p:cNvPr id="35" name="Shape 33"/>
          <p:cNvSpPr/>
          <p:nvPr/>
        </p:nvSpPr>
        <p:spPr>
          <a:xfrm>
            <a:off x="6158193" y="4611486"/>
            <a:ext cx="281709" cy="281709"/>
          </a:xfrm>
          <a:prstGeom prst="rect">
            <a:avLst/>
          </a:prstGeom>
          <a:solidFill>
            <a:srgbClr val="FAE9E9"/>
          </a:solidFill>
          <a:ln/>
        </p:spPr>
      </p:sp>
      <p:sp>
        <p:nvSpPr>
          <p:cNvPr id="36" name="Shape 34"/>
          <p:cNvSpPr/>
          <p:nvPr/>
        </p:nvSpPr>
        <p:spPr>
          <a:xfrm>
            <a:off x="7074670" y="4453543"/>
            <a:ext cx="597595" cy="597595"/>
          </a:xfrm>
          <a:prstGeom prst="rect">
            <a:avLst/>
          </a:prstGeom>
          <a:solidFill>
            <a:srgbClr val="E66F6F"/>
          </a:solidFill>
          <a:ln/>
        </p:spPr>
      </p:sp>
      <p:sp>
        <p:nvSpPr>
          <p:cNvPr id="37" name="Shape 35"/>
          <p:cNvSpPr/>
          <p:nvPr/>
        </p:nvSpPr>
        <p:spPr>
          <a:xfrm>
            <a:off x="8132928" y="4437380"/>
            <a:ext cx="629920" cy="6299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8" name="Shape 36"/>
          <p:cNvSpPr/>
          <p:nvPr/>
        </p:nvSpPr>
        <p:spPr>
          <a:xfrm>
            <a:off x="3619348" y="5156200"/>
            <a:ext cx="80433" cy="114300"/>
          </a:xfrm>
          <a:prstGeom prst="rect">
            <a:avLst/>
          </a:prstGeom>
          <a:solidFill>
            <a:srgbClr val="E66F6F"/>
          </a:solidFill>
          <a:ln/>
        </p:spPr>
      </p:sp>
      <p:sp>
        <p:nvSpPr>
          <p:cNvPr id="39" name="Shape 37"/>
          <p:cNvSpPr/>
          <p:nvPr/>
        </p:nvSpPr>
        <p:spPr>
          <a:xfrm>
            <a:off x="3693431" y="5156200"/>
            <a:ext cx="80433" cy="114300"/>
          </a:xfrm>
          <a:prstGeom prst="rect">
            <a:avLst/>
          </a:prstGeom>
          <a:solidFill>
            <a:srgbClr val="E88685"/>
          </a:solidFill>
          <a:ln/>
        </p:spPr>
      </p:sp>
      <p:sp>
        <p:nvSpPr>
          <p:cNvPr id="40" name="Shape 38"/>
          <p:cNvSpPr/>
          <p:nvPr/>
        </p:nvSpPr>
        <p:spPr>
          <a:xfrm>
            <a:off x="3767514" y="5156200"/>
            <a:ext cx="80433" cy="114300"/>
          </a:xfrm>
          <a:prstGeom prst="rect">
            <a:avLst/>
          </a:prstGeom>
          <a:solidFill>
            <a:srgbClr val="EB9898"/>
          </a:solidFill>
          <a:ln/>
        </p:spPr>
      </p:sp>
      <p:sp>
        <p:nvSpPr>
          <p:cNvPr id="41" name="Shape 39"/>
          <p:cNvSpPr/>
          <p:nvPr/>
        </p:nvSpPr>
        <p:spPr>
          <a:xfrm>
            <a:off x="3841598" y="5156200"/>
            <a:ext cx="80433" cy="114300"/>
          </a:xfrm>
          <a:prstGeom prst="rect">
            <a:avLst/>
          </a:prstGeom>
          <a:solidFill>
            <a:srgbClr val="EDA8A8"/>
          </a:solidFill>
          <a:ln/>
        </p:spPr>
      </p:sp>
      <p:sp>
        <p:nvSpPr>
          <p:cNvPr id="42" name="Shape 40"/>
          <p:cNvSpPr/>
          <p:nvPr/>
        </p:nvSpPr>
        <p:spPr>
          <a:xfrm>
            <a:off x="3915681" y="5156200"/>
            <a:ext cx="80433" cy="114300"/>
          </a:xfrm>
          <a:prstGeom prst="rect">
            <a:avLst/>
          </a:prstGeom>
          <a:solidFill>
            <a:srgbClr val="F0B6B6"/>
          </a:solidFill>
          <a:ln/>
        </p:spPr>
      </p:sp>
      <p:sp>
        <p:nvSpPr>
          <p:cNvPr id="43" name="Shape 41"/>
          <p:cNvSpPr/>
          <p:nvPr/>
        </p:nvSpPr>
        <p:spPr>
          <a:xfrm>
            <a:off x="3989764" y="5156200"/>
            <a:ext cx="80433" cy="114300"/>
          </a:xfrm>
          <a:prstGeom prst="rect">
            <a:avLst/>
          </a:prstGeom>
          <a:solidFill>
            <a:srgbClr val="F2C3C3"/>
          </a:solidFill>
          <a:ln/>
        </p:spPr>
      </p:sp>
      <p:sp>
        <p:nvSpPr>
          <p:cNvPr id="44" name="Shape 42"/>
          <p:cNvSpPr/>
          <p:nvPr/>
        </p:nvSpPr>
        <p:spPr>
          <a:xfrm>
            <a:off x="4063848" y="5156200"/>
            <a:ext cx="80433" cy="114300"/>
          </a:xfrm>
          <a:prstGeom prst="rect">
            <a:avLst/>
          </a:prstGeom>
          <a:solidFill>
            <a:srgbClr val="F4CFCF"/>
          </a:solidFill>
          <a:ln/>
        </p:spPr>
      </p:sp>
      <p:sp>
        <p:nvSpPr>
          <p:cNvPr id="45" name="Shape 43"/>
          <p:cNvSpPr/>
          <p:nvPr/>
        </p:nvSpPr>
        <p:spPr>
          <a:xfrm>
            <a:off x="4137931" y="5156200"/>
            <a:ext cx="80433" cy="114300"/>
          </a:xfrm>
          <a:prstGeom prst="rect">
            <a:avLst/>
          </a:prstGeom>
          <a:solidFill>
            <a:srgbClr val="F6DADA"/>
          </a:solidFill>
          <a:ln/>
        </p:spPr>
      </p:sp>
      <p:sp>
        <p:nvSpPr>
          <p:cNvPr id="46" name="Shape 44"/>
          <p:cNvSpPr/>
          <p:nvPr/>
        </p:nvSpPr>
        <p:spPr>
          <a:xfrm>
            <a:off x="4212014" y="5156200"/>
            <a:ext cx="80433" cy="114300"/>
          </a:xfrm>
          <a:prstGeom prst="rect">
            <a:avLst/>
          </a:prstGeom>
          <a:solidFill>
            <a:srgbClr val="F9E4E4"/>
          </a:solidFill>
          <a:ln/>
        </p:spPr>
      </p:sp>
      <p:sp>
        <p:nvSpPr>
          <p:cNvPr id="47" name="Shape 45"/>
          <p:cNvSpPr/>
          <p:nvPr/>
        </p:nvSpPr>
        <p:spPr>
          <a:xfrm>
            <a:off x="4286098" y="5156200"/>
            <a:ext cx="80433" cy="114300"/>
          </a:xfrm>
          <a:prstGeom prst="rect">
            <a:avLst/>
          </a:prstGeom>
          <a:solidFill>
            <a:srgbClr val="FBEEEE"/>
          </a:solidFill>
          <a:ln/>
        </p:spPr>
      </p:sp>
      <p:sp>
        <p:nvSpPr>
          <p:cNvPr id="48" name="Shape 46"/>
          <p:cNvSpPr/>
          <p:nvPr/>
        </p:nvSpPr>
        <p:spPr>
          <a:xfrm>
            <a:off x="4360181" y="5156200"/>
            <a:ext cx="80433" cy="114300"/>
          </a:xfrm>
          <a:prstGeom prst="rect">
            <a:avLst/>
          </a:prstGeom>
          <a:solidFill>
            <a:srgbClr val="FDF7F7"/>
          </a:solidFill>
          <a:ln/>
        </p:spPr>
      </p:sp>
      <p:sp>
        <p:nvSpPr>
          <p:cNvPr id="49" name="Shape 47"/>
          <p:cNvSpPr/>
          <p:nvPr/>
        </p:nvSpPr>
        <p:spPr>
          <a:xfrm>
            <a:off x="4434264" y="5156200"/>
            <a:ext cx="80433" cy="114300"/>
          </a:xfrm>
          <a:prstGeom prst="rect">
            <a:avLst/>
          </a:prstGeom>
          <a:solidFill>
            <a:srgbClr val="FEFEFF"/>
          </a:solidFill>
          <a:ln/>
        </p:spPr>
      </p:sp>
      <p:sp>
        <p:nvSpPr>
          <p:cNvPr id="50" name="Shape 48"/>
          <p:cNvSpPr/>
          <p:nvPr/>
        </p:nvSpPr>
        <p:spPr>
          <a:xfrm>
            <a:off x="4508348" y="5156200"/>
            <a:ext cx="80433" cy="114300"/>
          </a:xfrm>
          <a:prstGeom prst="rect">
            <a:avLst/>
          </a:prstGeom>
          <a:solidFill>
            <a:srgbClr val="F5F7FC"/>
          </a:solidFill>
          <a:ln/>
        </p:spPr>
      </p:sp>
      <p:sp>
        <p:nvSpPr>
          <p:cNvPr id="51" name="Shape 49"/>
          <p:cNvSpPr/>
          <p:nvPr/>
        </p:nvSpPr>
        <p:spPr>
          <a:xfrm>
            <a:off x="4582431" y="5156200"/>
            <a:ext cx="80433" cy="114300"/>
          </a:xfrm>
          <a:prstGeom prst="rect">
            <a:avLst/>
          </a:prstGeom>
          <a:solidFill>
            <a:srgbClr val="EBEEF9"/>
          </a:solidFill>
          <a:ln/>
        </p:spPr>
      </p:sp>
      <p:sp>
        <p:nvSpPr>
          <p:cNvPr id="52" name="Shape 50"/>
          <p:cNvSpPr/>
          <p:nvPr/>
        </p:nvSpPr>
        <p:spPr>
          <a:xfrm>
            <a:off x="4656514" y="5156200"/>
            <a:ext cx="80433" cy="114300"/>
          </a:xfrm>
          <a:prstGeom prst="rect">
            <a:avLst/>
          </a:prstGeom>
          <a:solidFill>
            <a:srgbClr val="E1E6F5"/>
          </a:solidFill>
          <a:ln/>
        </p:spPr>
      </p:sp>
      <p:sp>
        <p:nvSpPr>
          <p:cNvPr id="53" name="Shape 51"/>
          <p:cNvSpPr/>
          <p:nvPr/>
        </p:nvSpPr>
        <p:spPr>
          <a:xfrm>
            <a:off x="4730598" y="5156200"/>
            <a:ext cx="80433" cy="114300"/>
          </a:xfrm>
          <a:prstGeom prst="rect">
            <a:avLst/>
          </a:prstGeom>
          <a:solidFill>
            <a:srgbClr val="D5DDF2"/>
          </a:solidFill>
          <a:ln/>
        </p:spPr>
      </p:sp>
      <p:sp>
        <p:nvSpPr>
          <p:cNvPr id="54" name="Shape 52"/>
          <p:cNvSpPr/>
          <p:nvPr/>
        </p:nvSpPr>
        <p:spPr>
          <a:xfrm>
            <a:off x="4804681" y="5156200"/>
            <a:ext cx="80433" cy="114300"/>
          </a:xfrm>
          <a:prstGeom prst="rect">
            <a:avLst/>
          </a:prstGeom>
          <a:solidFill>
            <a:srgbClr val="CAD4EF"/>
          </a:solidFill>
          <a:ln/>
        </p:spPr>
      </p:sp>
      <p:sp>
        <p:nvSpPr>
          <p:cNvPr id="55" name="Shape 53"/>
          <p:cNvSpPr/>
          <p:nvPr/>
        </p:nvSpPr>
        <p:spPr>
          <a:xfrm>
            <a:off x="4878764" y="5156200"/>
            <a:ext cx="80433" cy="114300"/>
          </a:xfrm>
          <a:prstGeom prst="rect">
            <a:avLst/>
          </a:prstGeom>
          <a:solidFill>
            <a:srgbClr val="BDCAEC"/>
          </a:solidFill>
          <a:ln/>
        </p:spPr>
      </p:sp>
      <p:sp>
        <p:nvSpPr>
          <p:cNvPr id="56" name="Shape 54"/>
          <p:cNvSpPr/>
          <p:nvPr/>
        </p:nvSpPr>
        <p:spPr>
          <a:xfrm>
            <a:off x="4952848" y="5156200"/>
            <a:ext cx="80433" cy="114300"/>
          </a:xfrm>
          <a:prstGeom prst="rect">
            <a:avLst/>
          </a:prstGeom>
          <a:solidFill>
            <a:srgbClr val="AFBFE8"/>
          </a:solidFill>
          <a:ln/>
        </p:spPr>
      </p:sp>
      <p:sp>
        <p:nvSpPr>
          <p:cNvPr id="57" name="Shape 55"/>
          <p:cNvSpPr/>
          <p:nvPr/>
        </p:nvSpPr>
        <p:spPr>
          <a:xfrm>
            <a:off x="5026931" y="5156200"/>
            <a:ext cx="80433" cy="114300"/>
          </a:xfrm>
          <a:prstGeom prst="rect">
            <a:avLst/>
          </a:prstGeom>
          <a:solidFill>
            <a:srgbClr val="9FB4E5"/>
          </a:solidFill>
          <a:ln/>
        </p:spPr>
      </p:sp>
      <p:sp>
        <p:nvSpPr>
          <p:cNvPr id="58" name="Shape 56"/>
          <p:cNvSpPr/>
          <p:nvPr/>
        </p:nvSpPr>
        <p:spPr>
          <a:xfrm>
            <a:off x="5101014" y="5156200"/>
            <a:ext cx="80433" cy="114300"/>
          </a:xfrm>
          <a:prstGeom prst="rect">
            <a:avLst/>
          </a:prstGeom>
          <a:solidFill>
            <a:srgbClr val="8DA8E1"/>
          </a:solidFill>
          <a:ln/>
        </p:spPr>
      </p:sp>
      <p:sp>
        <p:nvSpPr>
          <p:cNvPr id="59" name="Shape 57"/>
          <p:cNvSpPr/>
          <p:nvPr/>
        </p:nvSpPr>
        <p:spPr>
          <a:xfrm>
            <a:off x="5175098" y="5156200"/>
            <a:ext cx="80433" cy="114300"/>
          </a:xfrm>
          <a:prstGeom prst="rect">
            <a:avLst/>
          </a:prstGeom>
          <a:solidFill>
            <a:srgbClr val="779ADD"/>
          </a:solidFill>
          <a:ln/>
        </p:spPr>
      </p:sp>
      <p:sp>
        <p:nvSpPr>
          <p:cNvPr id="60" name="Shape 58"/>
          <p:cNvSpPr/>
          <p:nvPr/>
        </p:nvSpPr>
        <p:spPr>
          <a:xfrm>
            <a:off x="5249181" y="5156200"/>
            <a:ext cx="80433" cy="114300"/>
          </a:xfrm>
          <a:prstGeom prst="rect">
            <a:avLst/>
          </a:prstGeom>
          <a:solidFill>
            <a:srgbClr val="5B8ADA"/>
          </a:solidFill>
          <a:ln/>
        </p:spPr>
      </p:sp>
      <p:sp>
        <p:nvSpPr>
          <p:cNvPr id="61" name="Shape 59"/>
          <p:cNvSpPr/>
          <p:nvPr/>
        </p:nvSpPr>
        <p:spPr>
          <a:xfrm>
            <a:off x="5323264" y="5156200"/>
            <a:ext cx="80433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2" name="Text 60"/>
          <p:cNvSpPr/>
          <p:nvPr/>
        </p:nvSpPr>
        <p:spPr>
          <a:xfrm>
            <a:off x="3619348" y="5276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-0.9</a:t>
            </a:r>
            <a:endParaRPr lang="en-US" sz="850" dirty="0"/>
          </a:p>
        </p:txBody>
      </p:sp>
      <p:sp>
        <p:nvSpPr>
          <p:cNvPr id="63" name="Text 61"/>
          <p:cNvSpPr/>
          <p:nvPr/>
        </p:nvSpPr>
        <p:spPr>
          <a:xfrm>
            <a:off x="4508348" y="5276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1.0</a:t>
            </a:r>
            <a:endParaRPr lang="en-US" sz="850" dirty="0"/>
          </a:p>
        </p:txBody>
      </p:sp>
      <p:sp>
        <p:nvSpPr>
          <p:cNvPr id="64" name="Text 62"/>
          <p:cNvSpPr/>
          <p:nvPr/>
        </p:nvSpPr>
        <p:spPr>
          <a:xfrm>
            <a:off x="4334558" y="5276850"/>
            <a:ext cx="254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850" dirty="0"/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920848" y="1397000"/>
            <a:ext cx="6350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Region KPIs (rows clustered)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010508" y="1676400"/>
            <a:ext cx="130873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319243" y="1676400"/>
            <a:ext cx="130873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627978" y="1676400"/>
            <a:ext cx="130873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936713" y="1676400"/>
            <a:ext cx="130873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428848" y="1866900"/>
            <a:ext cx="530860" cy="5355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010508" y="1866900"/>
            <a:ext cx="1296035" cy="522817"/>
          </a:xfrm>
          <a:prstGeom prst="rect">
            <a:avLst/>
          </a:prstGeom>
          <a:solidFill>
            <a:srgbClr val="7197DD"/>
          </a:solidFill>
          <a:ln/>
        </p:spPr>
      </p:sp>
      <p:sp>
        <p:nvSpPr>
          <p:cNvPr id="9" name="Text 7"/>
          <p:cNvSpPr/>
          <p:nvPr/>
        </p:nvSpPr>
        <p:spPr>
          <a:xfrm>
            <a:off x="4010508" y="1866900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78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319243" y="1866900"/>
            <a:ext cx="1296035" cy="522817"/>
          </a:xfrm>
          <a:prstGeom prst="rect">
            <a:avLst/>
          </a:prstGeom>
          <a:solidFill>
            <a:srgbClr val="6992DC"/>
          </a:solidFill>
          <a:ln/>
        </p:spPr>
      </p:sp>
      <p:sp>
        <p:nvSpPr>
          <p:cNvPr id="11" name="Text 9"/>
          <p:cNvSpPr/>
          <p:nvPr/>
        </p:nvSpPr>
        <p:spPr>
          <a:xfrm>
            <a:off x="5319243" y="1866900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627978" y="1866900"/>
            <a:ext cx="1296035" cy="522817"/>
          </a:xfrm>
          <a:prstGeom prst="rect">
            <a:avLst/>
          </a:prstGeom>
          <a:solidFill>
            <a:srgbClr val="5C8BDA"/>
          </a:solidFill>
          <a:ln/>
        </p:spPr>
      </p:sp>
      <p:sp>
        <p:nvSpPr>
          <p:cNvPr id="13" name="Text 11"/>
          <p:cNvSpPr/>
          <p:nvPr/>
        </p:nvSpPr>
        <p:spPr>
          <a:xfrm>
            <a:off x="6627978" y="1866900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936713" y="1866900"/>
            <a:ext cx="1296035" cy="52281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7936713" y="1866900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90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428848" y="2402417"/>
            <a:ext cx="530860" cy="5355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010508" y="2402417"/>
            <a:ext cx="1296035" cy="522817"/>
          </a:xfrm>
          <a:prstGeom prst="rect">
            <a:avLst/>
          </a:prstGeom>
          <a:solidFill>
            <a:srgbClr val="6992DC"/>
          </a:solidFill>
          <a:ln/>
        </p:spPr>
      </p:sp>
      <p:sp>
        <p:nvSpPr>
          <p:cNvPr id="18" name="Text 16"/>
          <p:cNvSpPr/>
          <p:nvPr/>
        </p:nvSpPr>
        <p:spPr>
          <a:xfrm>
            <a:off x="4010508" y="2402417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319243" y="2402417"/>
            <a:ext cx="1296035" cy="522817"/>
          </a:xfrm>
          <a:prstGeom prst="rect">
            <a:avLst/>
          </a:prstGeom>
          <a:solidFill>
            <a:srgbClr val="618DDB"/>
          </a:solidFill>
          <a:ln/>
        </p:spPr>
      </p:sp>
      <p:sp>
        <p:nvSpPr>
          <p:cNvPr id="20" name="Text 18"/>
          <p:cNvSpPr/>
          <p:nvPr/>
        </p:nvSpPr>
        <p:spPr>
          <a:xfrm>
            <a:off x="5319243" y="2402417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82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627978" y="2402417"/>
            <a:ext cx="1296035" cy="522817"/>
          </a:xfrm>
          <a:prstGeom prst="rect">
            <a:avLst/>
          </a:prstGeom>
          <a:solidFill>
            <a:srgbClr val="5186D9"/>
          </a:solidFill>
          <a:ln/>
        </p:spPr>
      </p:sp>
      <p:sp>
        <p:nvSpPr>
          <p:cNvPr id="22" name="Text 20"/>
          <p:cNvSpPr/>
          <p:nvPr/>
        </p:nvSpPr>
        <p:spPr>
          <a:xfrm>
            <a:off x="6627978" y="2402417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85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936713" y="2402417"/>
            <a:ext cx="1296035" cy="522817"/>
          </a:xfrm>
          <a:prstGeom prst="rect">
            <a:avLst/>
          </a:prstGeom>
          <a:solidFill>
            <a:srgbClr val="3D7ED7"/>
          </a:solidFill>
          <a:ln/>
        </p:spPr>
      </p:sp>
      <p:sp>
        <p:nvSpPr>
          <p:cNvPr id="24" name="Text 22"/>
          <p:cNvSpPr/>
          <p:nvPr/>
        </p:nvSpPr>
        <p:spPr>
          <a:xfrm>
            <a:off x="7936713" y="2402417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88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428848" y="2937933"/>
            <a:ext cx="530860" cy="5355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Metro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010508" y="2937933"/>
            <a:ext cx="1296035" cy="522817"/>
          </a:xfrm>
          <a:prstGeom prst="rect">
            <a:avLst/>
          </a:prstGeom>
          <a:solidFill>
            <a:srgbClr val="6590DB"/>
          </a:solidFill>
          <a:ln/>
        </p:spPr>
      </p:sp>
      <p:sp>
        <p:nvSpPr>
          <p:cNvPr id="27" name="Text 25"/>
          <p:cNvSpPr/>
          <p:nvPr/>
        </p:nvSpPr>
        <p:spPr>
          <a:xfrm>
            <a:off x="4010508" y="2937933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81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5319243" y="2937933"/>
            <a:ext cx="1296035" cy="522817"/>
          </a:xfrm>
          <a:prstGeom prst="rect">
            <a:avLst/>
          </a:prstGeom>
          <a:solidFill>
            <a:srgbClr val="6D94DC"/>
          </a:solidFill>
          <a:ln/>
        </p:spPr>
      </p:sp>
      <p:sp>
        <p:nvSpPr>
          <p:cNvPr id="29" name="Text 27"/>
          <p:cNvSpPr/>
          <p:nvPr/>
        </p:nvSpPr>
        <p:spPr>
          <a:xfrm>
            <a:off x="5319243" y="2937933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79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627978" y="2937933"/>
            <a:ext cx="1296035" cy="522817"/>
          </a:xfrm>
          <a:prstGeom prst="rect">
            <a:avLst/>
          </a:prstGeom>
          <a:solidFill>
            <a:srgbClr val="4B83D8"/>
          </a:solidFill>
          <a:ln/>
        </p:spPr>
      </p:sp>
      <p:sp>
        <p:nvSpPr>
          <p:cNvPr id="31" name="Text 29"/>
          <p:cNvSpPr/>
          <p:nvPr/>
        </p:nvSpPr>
        <p:spPr>
          <a:xfrm>
            <a:off x="6627978" y="2937933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86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936713" y="2937933"/>
            <a:ext cx="1296035" cy="522817"/>
          </a:xfrm>
          <a:prstGeom prst="rect">
            <a:avLst/>
          </a:prstGeom>
          <a:solidFill>
            <a:srgbClr val="4581D8"/>
          </a:solidFill>
          <a:ln/>
        </p:spPr>
      </p:sp>
      <p:sp>
        <p:nvSpPr>
          <p:cNvPr id="33" name="Text 31"/>
          <p:cNvSpPr/>
          <p:nvPr/>
        </p:nvSpPr>
        <p:spPr>
          <a:xfrm>
            <a:off x="7936713" y="2937933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87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3428848" y="3473450"/>
            <a:ext cx="530860" cy="5355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Central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4010508" y="3473450"/>
            <a:ext cx="1296035" cy="522817"/>
          </a:xfrm>
          <a:prstGeom prst="rect">
            <a:avLst/>
          </a:prstGeom>
          <a:solidFill>
            <a:srgbClr val="BBC9EC"/>
          </a:solidFill>
          <a:ln/>
        </p:spPr>
      </p:sp>
      <p:sp>
        <p:nvSpPr>
          <p:cNvPr id="36" name="Text 34"/>
          <p:cNvSpPr/>
          <p:nvPr/>
        </p:nvSpPr>
        <p:spPr>
          <a:xfrm>
            <a:off x="4010508" y="3473450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5319243" y="3473450"/>
            <a:ext cx="1296035" cy="522817"/>
          </a:xfrm>
          <a:prstGeom prst="rect">
            <a:avLst/>
          </a:prstGeom>
          <a:solidFill>
            <a:srgbClr val="B7C6EA"/>
          </a:solidFill>
          <a:ln/>
        </p:spPr>
      </p:sp>
      <p:sp>
        <p:nvSpPr>
          <p:cNvPr id="38" name="Text 36"/>
          <p:cNvSpPr/>
          <p:nvPr/>
        </p:nvSpPr>
        <p:spPr>
          <a:xfrm>
            <a:off x="5319243" y="3473450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6627978" y="3473450"/>
            <a:ext cx="1296035" cy="522817"/>
          </a:xfrm>
          <a:prstGeom prst="rect">
            <a:avLst/>
          </a:prstGeom>
          <a:solidFill>
            <a:srgbClr val="BFCCED"/>
          </a:solidFill>
          <a:ln/>
        </p:spPr>
      </p:sp>
      <p:sp>
        <p:nvSpPr>
          <p:cNvPr id="40" name="Text 38"/>
          <p:cNvSpPr/>
          <p:nvPr/>
        </p:nvSpPr>
        <p:spPr>
          <a:xfrm>
            <a:off x="6627978" y="3473450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7936713" y="3473450"/>
            <a:ext cx="1296035" cy="522817"/>
          </a:xfrm>
          <a:prstGeom prst="rect">
            <a:avLst/>
          </a:prstGeom>
          <a:solidFill>
            <a:srgbClr val="B1C1E9"/>
          </a:solidFill>
          <a:ln/>
        </p:spPr>
      </p:sp>
      <p:sp>
        <p:nvSpPr>
          <p:cNvPr id="42" name="Text 40"/>
          <p:cNvSpPr/>
          <p:nvPr/>
        </p:nvSpPr>
        <p:spPr>
          <a:xfrm>
            <a:off x="7936713" y="3473450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3428848" y="4008967"/>
            <a:ext cx="530860" cy="5355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4010508" y="4008967"/>
            <a:ext cx="1296035" cy="522817"/>
          </a:xfrm>
          <a:prstGeom prst="rect">
            <a:avLst/>
          </a:prstGeom>
          <a:solidFill>
            <a:srgbClr val="EEF2FA"/>
          </a:solidFill>
          <a:ln/>
        </p:spPr>
      </p:sp>
      <p:sp>
        <p:nvSpPr>
          <p:cNvPr id="45" name="Text 43"/>
          <p:cNvSpPr/>
          <p:nvPr/>
        </p:nvSpPr>
        <p:spPr>
          <a:xfrm>
            <a:off x="4010508" y="4008967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5319243" y="4008967"/>
            <a:ext cx="1296035" cy="522817"/>
          </a:xfrm>
          <a:prstGeom prst="rect">
            <a:avLst/>
          </a:prstGeom>
          <a:solidFill>
            <a:srgbClr val="EBEFF9"/>
          </a:solidFill>
          <a:ln/>
        </p:spPr>
      </p:sp>
      <p:sp>
        <p:nvSpPr>
          <p:cNvPr id="47" name="Text 45"/>
          <p:cNvSpPr/>
          <p:nvPr/>
        </p:nvSpPr>
        <p:spPr>
          <a:xfrm>
            <a:off x="5319243" y="4008967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6627978" y="4008967"/>
            <a:ext cx="1296035" cy="522817"/>
          </a:xfrm>
          <a:prstGeom prst="rect">
            <a:avLst/>
          </a:prstGeom>
          <a:solidFill>
            <a:srgbClr val="F0F3FB"/>
          </a:solidFill>
          <a:ln/>
        </p:spPr>
      </p:sp>
      <p:sp>
        <p:nvSpPr>
          <p:cNvPr id="49" name="Text 47"/>
          <p:cNvSpPr/>
          <p:nvPr/>
        </p:nvSpPr>
        <p:spPr>
          <a:xfrm>
            <a:off x="6627978" y="4008967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7936713" y="4008967"/>
            <a:ext cx="1296035" cy="522817"/>
          </a:xfrm>
          <a:prstGeom prst="rect">
            <a:avLst/>
          </a:prstGeom>
          <a:solidFill>
            <a:srgbClr val="E7ECF8"/>
          </a:solidFill>
          <a:ln/>
        </p:spPr>
      </p:sp>
      <p:sp>
        <p:nvSpPr>
          <p:cNvPr id="51" name="Text 49"/>
          <p:cNvSpPr/>
          <p:nvPr/>
        </p:nvSpPr>
        <p:spPr>
          <a:xfrm>
            <a:off x="7936713" y="4008967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1000" dirty="0"/>
          </a:p>
        </p:txBody>
      </p:sp>
      <p:sp>
        <p:nvSpPr>
          <p:cNvPr id="52" name="Text 50"/>
          <p:cNvSpPr/>
          <p:nvPr/>
        </p:nvSpPr>
        <p:spPr>
          <a:xfrm>
            <a:off x="3428848" y="4544483"/>
            <a:ext cx="530860" cy="5355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West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4010508" y="4544483"/>
            <a:ext cx="1296035" cy="522817"/>
          </a:xfrm>
          <a:prstGeom prst="rect">
            <a:avLst/>
          </a:prstGeom>
          <a:solidFill>
            <a:srgbClr val="EBEFF9"/>
          </a:solidFill>
          <a:ln/>
        </p:spPr>
      </p:sp>
      <p:sp>
        <p:nvSpPr>
          <p:cNvPr id="54" name="Text 52"/>
          <p:cNvSpPr/>
          <p:nvPr/>
        </p:nvSpPr>
        <p:spPr>
          <a:xfrm>
            <a:off x="4010508" y="4544483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5319243" y="4544483"/>
            <a:ext cx="1296035" cy="522817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56" name="Text 54"/>
          <p:cNvSpPr/>
          <p:nvPr/>
        </p:nvSpPr>
        <p:spPr>
          <a:xfrm>
            <a:off x="5319243" y="4544483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6627978" y="4544483"/>
            <a:ext cx="1296035" cy="522817"/>
          </a:xfrm>
          <a:prstGeom prst="rect">
            <a:avLst/>
          </a:prstGeom>
          <a:solidFill>
            <a:srgbClr val="E8EDF8"/>
          </a:solidFill>
          <a:ln/>
        </p:spPr>
      </p:sp>
      <p:sp>
        <p:nvSpPr>
          <p:cNvPr id="58" name="Text 56"/>
          <p:cNvSpPr/>
          <p:nvPr/>
        </p:nvSpPr>
        <p:spPr>
          <a:xfrm>
            <a:off x="6627978" y="4544483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24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7936713" y="4544483"/>
            <a:ext cx="1296035" cy="522817"/>
          </a:xfrm>
          <a:prstGeom prst="rect">
            <a:avLst/>
          </a:prstGeom>
          <a:solidFill>
            <a:srgbClr val="EDF0FA"/>
          </a:solidFill>
          <a:ln/>
        </p:spPr>
      </p:sp>
      <p:sp>
        <p:nvSpPr>
          <p:cNvPr id="60" name="Text 58"/>
          <p:cNvSpPr/>
          <p:nvPr/>
        </p:nvSpPr>
        <p:spPr>
          <a:xfrm>
            <a:off x="7936713" y="4544483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21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4010508" y="5156200"/>
            <a:ext cx="80433" cy="114300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62" name="Shape 60"/>
          <p:cNvSpPr/>
          <p:nvPr/>
        </p:nvSpPr>
        <p:spPr>
          <a:xfrm>
            <a:off x="4084591" y="5156200"/>
            <a:ext cx="80433" cy="114300"/>
          </a:xfrm>
          <a:prstGeom prst="rect">
            <a:avLst/>
          </a:prstGeom>
          <a:solidFill>
            <a:srgbClr val="ECF0FA"/>
          </a:solidFill>
          <a:ln/>
        </p:spPr>
      </p:sp>
      <p:sp>
        <p:nvSpPr>
          <p:cNvPr id="63" name="Shape 61"/>
          <p:cNvSpPr/>
          <p:nvPr/>
        </p:nvSpPr>
        <p:spPr>
          <a:xfrm>
            <a:off x="4158674" y="5156200"/>
            <a:ext cx="80433" cy="114300"/>
          </a:xfrm>
          <a:prstGeom prst="rect">
            <a:avLst/>
          </a:prstGeom>
          <a:solidFill>
            <a:srgbClr val="E8ECF8"/>
          </a:solidFill>
          <a:ln/>
        </p:spPr>
      </p:sp>
      <p:sp>
        <p:nvSpPr>
          <p:cNvPr id="64" name="Shape 62"/>
          <p:cNvSpPr/>
          <p:nvPr/>
        </p:nvSpPr>
        <p:spPr>
          <a:xfrm>
            <a:off x="4232758" y="5156200"/>
            <a:ext cx="80433" cy="114300"/>
          </a:xfrm>
          <a:prstGeom prst="rect">
            <a:avLst/>
          </a:prstGeom>
          <a:solidFill>
            <a:srgbClr val="E3E9F7"/>
          </a:solidFill>
          <a:ln/>
        </p:spPr>
      </p:sp>
      <p:sp>
        <p:nvSpPr>
          <p:cNvPr id="65" name="Shape 63"/>
          <p:cNvSpPr/>
          <p:nvPr/>
        </p:nvSpPr>
        <p:spPr>
          <a:xfrm>
            <a:off x="4306841" y="5156200"/>
            <a:ext cx="80433" cy="114300"/>
          </a:xfrm>
          <a:prstGeom prst="rect">
            <a:avLst/>
          </a:prstGeom>
          <a:solidFill>
            <a:srgbClr val="DEE5F5"/>
          </a:solidFill>
          <a:ln/>
        </p:spPr>
      </p:sp>
      <p:sp>
        <p:nvSpPr>
          <p:cNvPr id="66" name="Shape 64"/>
          <p:cNvSpPr/>
          <p:nvPr/>
        </p:nvSpPr>
        <p:spPr>
          <a:xfrm>
            <a:off x="4380924" y="5156200"/>
            <a:ext cx="80433" cy="114300"/>
          </a:xfrm>
          <a:prstGeom prst="rect">
            <a:avLst/>
          </a:prstGeom>
          <a:solidFill>
            <a:srgbClr val="D9E0F4"/>
          </a:solidFill>
          <a:ln/>
        </p:spPr>
      </p:sp>
      <p:sp>
        <p:nvSpPr>
          <p:cNvPr id="67" name="Shape 65"/>
          <p:cNvSpPr/>
          <p:nvPr/>
        </p:nvSpPr>
        <p:spPr>
          <a:xfrm>
            <a:off x="4455008" y="5156200"/>
            <a:ext cx="80433" cy="11430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68" name="Shape 66"/>
          <p:cNvSpPr/>
          <p:nvPr/>
        </p:nvSpPr>
        <p:spPr>
          <a:xfrm>
            <a:off x="4529091" y="5156200"/>
            <a:ext cx="80433" cy="114300"/>
          </a:xfrm>
          <a:prstGeom prst="rect">
            <a:avLst/>
          </a:prstGeom>
          <a:solidFill>
            <a:srgbClr val="CED8F1"/>
          </a:solidFill>
          <a:ln/>
        </p:spPr>
      </p:sp>
      <p:sp>
        <p:nvSpPr>
          <p:cNvPr id="69" name="Shape 67"/>
          <p:cNvSpPr/>
          <p:nvPr/>
        </p:nvSpPr>
        <p:spPr>
          <a:xfrm>
            <a:off x="4603174" y="5156200"/>
            <a:ext cx="80433" cy="114300"/>
          </a:xfrm>
          <a:prstGeom prst="rect">
            <a:avLst/>
          </a:prstGeom>
          <a:solidFill>
            <a:srgbClr val="C9D4EF"/>
          </a:solidFill>
          <a:ln/>
        </p:spPr>
      </p:sp>
      <p:sp>
        <p:nvSpPr>
          <p:cNvPr id="70" name="Shape 68"/>
          <p:cNvSpPr/>
          <p:nvPr/>
        </p:nvSpPr>
        <p:spPr>
          <a:xfrm>
            <a:off x="4677258" y="5156200"/>
            <a:ext cx="80433" cy="114300"/>
          </a:xfrm>
          <a:prstGeom prst="rect">
            <a:avLst/>
          </a:prstGeom>
          <a:solidFill>
            <a:srgbClr val="C3CFED"/>
          </a:solidFill>
          <a:ln/>
        </p:spPr>
      </p:sp>
      <p:sp>
        <p:nvSpPr>
          <p:cNvPr id="71" name="Shape 69"/>
          <p:cNvSpPr/>
          <p:nvPr/>
        </p:nvSpPr>
        <p:spPr>
          <a:xfrm>
            <a:off x="4751341" y="5156200"/>
            <a:ext cx="80433" cy="114300"/>
          </a:xfrm>
          <a:prstGeom prst="rect">
            <a:avLst/>
          </a:prstGeom>
          <a:solidFill>
            <a:srgbClr val="BDCAEC"/>
          </a:solidFill>
          <a:ln/>
        </p:spPr>
      </p:sp>
      <p:sp>
        <p:nvSpPr>
          <p:cNvPr id="72" name="Shape 70"/>
          <p:cNvSpPr/>
          <p:nvPr/>
        </p:nvSpPr>
        <p:spPr>
          <a:xfrm>
            <a:off x="4825424" y="5156200"/>
            <a:ext cx="80433" cy="114300"/>
          </a:xfrm>
          <a:prstGeom prst="rect">
            <a:avLst/>
          </a:prstGeom>
          <a:solidFill>
            <a:srgbClr val="B6C6EA"/>
          </a:solidFill>
          <a:ln/>
        </p:spPr>
      </p:sp>
      <p:sp>
        <p:nvSpPr>
          <p:cNvPr id="73" name="Shape 71"/>
          <p:cNvSpPr/>
          <p:nvPr/>
        </p:nvSpPr>
        <p:spPr>
          <a:xfrm>
            <a:off x="4899508" y="5156200"/>
            <a:ext cx="80433" cy="114300"/>
          </a:xfrm>
          <a:prstGeom prst="rect">
            <a:avLst/>
          </a:prstGeom>
          <a:solidFill>
            <a:srgbClr val="B0C1E9"/>
          </a:solidFill>
          <a:ln/>
        </p:spPr>
      </p:sp>
      <p:sp>
        <p:nvSpPr>
          <p:cNvPr id="74" name="Shape 72"/>
          <p:cNvSpPr/>
          <p:nvPr/>
        </p:nvSpPr>
        <p:spPr>
          <a:xfrm>
            <a:off x="4973591" y="5156200"/>
            <a:ext cx="80433" cy="114300"/>
          </a:xfrm>
          <a:prstGeom prst="rect">
            <a:avLst/>
          </a:prstGeom>
          <a:solidFill>
            <a:srgbClr val="A9BBE7"/>
          </a:solidFill>
          <a:ln/>
        </p:spPr>
      </p:sp>
      <p:sp>
        <p:nvSpPr>
          <p:cNvPr id="75" name="Shape 73"/>
          <p:cNvSpPr/>
          <p:nvPr/>
        </p:nvSpPr>
        <p:spPr>
          <a:xfrm>
            <a:off x="5047674" y="5156200"/>
            <a:ext cx="80433" cy="114300"/>
          </a:xfrm>
          <a:prstGeom prst="rect">
            <a:avLst/>
          </a:prstGeom>
          <a:solidFill>
            <a:srgbClr val="A1B6E5"/>
          </a:solidFill>
          <a:ln/>
        </p:spPr>
      </p:sp>
      <p:sp>
        <p:nvSpPr>
          <p:cNvPr id="76" name="Shape 74"/>
          <p:cNvSpPr/>
          <p:nvPr/>
        </p:nvSpPr>
        <p:spPr>
          <a:xfrm>
            <a:off x="5121758" y="5156200"/>
            <a:ext cx="80433" cy="114300"/>
          </a:xfrm>
          <a:prstGeom prst="rect">
            <a:avLst/>
          </a:prstGeom>
          <a:solidFill>
            <a:srgbClr val="9AB1E4"/>
          </a:solidFill>
          <a:ln/>
        </p:spPr>
      </p:sp>
      <p:sp>
        <p:nvSpPr>
          <p:cNvPr id="77" name="Shape 75"/>
          <p:cNvSpPr/>
          <p:nvPr/>
        </p:nvSpPr>
        <p:spPr>
          <a:xfrm>
            <a:off x="5195841" y="5156200"/>
            <a:ext cx="80433" cy="114300"/>
          </a:xfrm>
          <a:prstGeom prst="rect">
            <a:avLst/>
          </a:prstGeom>
          <a:solidFill>
            <a:srgbClr val="91ABE2"/>
          </a:solidFill>
          <a:ln/>
        </p:spPr>
      </p:sp>
      <p:sp>
        <p:nvSpPr>
          <p:cNvPr id="78" name="Shape 76"/>
          <p:cNvSpPr/>
          <p:nvPr/>
        </p:nvSpPr>
        <p:spPr>
          <a:xfrm>
            <a:off x="5269924" y="5156200"/>
            <a:ext cx="80433" cy="114300"/>
          </a:xfrm>
          <a:prstGeom prst="rect">
            <a:avLst/>
          </a:prstGeom>
          <a:solidFill>
            <a:srgbClr val="88A5E0"/>
          </a:solidFill>
          <a:ln/>
        </p:spPr>
      </p:sp>
      <p:sp>
        <p:nvSpPr>
          <p:cNvPr id="79" name="Shape 77"/>
          <p:cNvSpPr/>
          <p:nvPr/>
        </p:nvSpPr>
        <p:spPr>
          <a:xfrm>
            <a:off x="5344008" y="5156200"/>
            <a:ext cx="80433" cy="114300"/>
          </a:xfrm>
          <a:prstGeom prst="rect">
            <a:avLst/>
          </a:prstGeom>
          <a:solidFill>
            <a:srgbClr val="7E9EDF"/>
          </a:solidFill>
          <a:ln/>
        </p:spPr>
      </p:sp>
      <p:sp>
        <p:nvSpPr>
          <p:cNvPr id="80" name="Shape 78"/>
          <p:cNvSpPr/>
          <p:nvPr/>
        </p:nvSpPr>
        <p:spPr>
          <a:xfrm>
            <a:off x="5418091" y="5156200"/>
            <a:ext cx="80433" cy="114300"/>
          </a:xfrm>
          <a:prstGeom prst="rect">
            <a:avLst/>
          </a:prstGeom>
          <a:solidFill>
            <a:srgbClr val="7398DD"/>
          </a:solidFill>
          <a:ln/>
        </p:spPr>
      </p:sp>
      <p:sp>
        <p:nvSpPr>
          <p:cNvPr id="81" name="Shape 79"/>
          <p:cNvSpPr/>
          <p:nvPr/>
        </p:nvSpPr>
        <p:spPr>
          <a:xfrm>
            <a:off x="5492174" y="5156200"/>
            <a:ext cx="80433" cy="114300"/>
          </a:xfrm>
          <a:prstGeom prst="rect">
            <a:avLst/>
          </a:prstGeom>
          <a:solidFill>
            <a:srgbClr val="6791DB"/>
          </a:solidFill>
          <a:ln/>
        </p:spPr>
      </p:sp>
      <p:sp>
        <p:nvSpPr>
          <p:cNvPr id="82" name="Shape 80"/>
          <p:cNvSpPr/>
          <p:nvPr/>
        </p:nvSpPr>
        <p:spPr>
          <a:xfrm>
            <a:off x="5566258" y="5156200"/>
            <a:ext cx="80433" cy="114300"/>
          </a:xfrm>
          <a:prstGeom prst="rect">
            <a:avLst/>
          </a:prstGeom>
          <a:solidFill>
            <a:srgbClr val="5889DA"/>
          </a:solidFill>
          <a:ln/>
        </p:spPr>
      </p:sp>
      <p:sp>
        <p:nvSpPr>
          <p:cNvPr id="83" name="Shape 81"/>
          <p:cNvSpPr/>
          <p:nvPr/>
        </p:nvSpPr>
        <p:spPr>
          <a:xfrm>
            <a:off x="5640341" y="5156200"/>
            <a:ext cx="80433" cy="114300"/>
          </a:xfrm>
          <a:prstGeom prst="rect">
            <a:avLst/>
          </a:prstGeom>
          <a:solidFill>
            <a:srgbClr val="4681D8"/>
          </a:solidFill>
          <a:ln/>
        </p:spPr>
      </p:sp>
      <p:sp>
        <p:nvSpPr>
          <p:cNvPr id="84" name="Shape 82"/>
          <p:cNvSpPr/>
          <p:nvPr/>
        </p:nvSpPr>
        <p:spPr>
          <a:xfrm>
            <a:off x="5714424" y="5156200"/>
            <a:ext cx="80433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5" name="Text 83"/>
          <p:cNvSpPr/>
          <p:nvPr/>
        </p:nvSpPr>
        <p:spPr>
          <a:xfrm>
            <a:off x="4010508" y="5276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850" dirty="0"/>
          </a:p>
        </p:txBody>
      </p:sp>
      <p:sp>
        <p:nvSpPr>
          <p:cNvPr id="86" name="Text 84"/>
          <p:cNvSpPr/>
          <p:nvPr/>
        </p:nvSpPr>
        <p:spPr>
          <a:xfrm>
            <a:off x="4899508" y="5276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90</a:t>
            </a:r>
            <a:endParaRPr lang="en-US" sz="850" dirty="0"/>
          </a:p>
        </p:txBody>
      </p:sp>
      <p:sp>
        <p:nvSpPr>
          <p:cNvPr id="87" name="Shape 85"/>
          <p:cNvSpPr/>
          <p:nvPr/>
        </p:nvSpPr>
        <p:spPr>
          <a:xfrm>
            <a:off x="3375954" y="2670175"/>
            <a:ext cx="14794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3375954" y="3205692"/>
            <a:ext cx="14794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3375954" y="2670175"/>
            <a:ext cx="0" cy="535517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3370908" y="2134658"/>
            <a:ext cx="1984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3370908" y="2937933"/>
            <a:ext cx="5046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3370908" y="2134658"/>
            <a:ext cx="0" cy="803275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3357394" y="4276725"/>
            <a:ext cx="33354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3357394" y="4812242"/>
            <a:ext cx="33354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3357394" y="4276725"/>
            <a:ext cx="0" cy="535517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3134294" y="3741208"/>
            <a:ext cx="256454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3134294" y="4544483"/>
            <a:ext cx="22310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3134294" y="3741208"/>
            <a:ext cx="0" cy="803275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2946248" y="2536296"/>
            <a:ext cx="42466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2946248" y="4142846"/>
            <a:ext cx="188046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2946248" y="2536296"/>
            <a:ext cx="0" cy="160655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93848" y="1397000"/>
            <a:ext cx="6604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Revenue mix (stacked area) + margin %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2819248" y="5270500"/>
            <a:ext cx="9711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790374" y="5270500"/>
            <a:ext cx="9711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Feb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761501" y="5270500"/>
            <a:ext cx="9711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732628" y="5270500"/>
            <a:ext cx="9711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Apr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703754" y="5270500"/>
            <a:ext cx="9711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May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674881" y="5270500"/>
            <a:ext cx="9711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Jun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304811" y="4365202"/>
            <a:ext cx="46814" cy="86719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Shape 8"/>
          <p:cNvSpPr/>
          <p:nvPr/>
        </p:nvSpPr>
        <p:spPr>
          <a:xfrm>
            <a:off x="3345275" y="4358005"/>
            <a:ext cx="46814" cy="87439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" name="Shape 9"/>
          <p:cNvSpPr/>
          <p:nvPr/>
        </p:nvSpPr>
        <p:spPr>
          <a:xfrm>
            <a:off x="3385738" y="4350808"/>
            <a:ext cx="46814" cy="88159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Shape 10"/>
          <p:cNvSpPr/>
          <p:nvPr/>
        </p:nvSpPr>
        <p:spPr>
          <a:xfrm>
            <a:off x="3426202" y="4343612"/>
            <a:ext cx="46814" cy="88878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Shape 11"/>
          <p:cNvSpPr/>
          <p:nvPr/>
        </p:nvSpPr>
        <p:spPr>
          <a:xfrm>
            <a:off x="3466665" y="4336415"/>
            <a:ext cx="46814" cy="89598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" name="Shape 12"/>
          <p:cNvSpPr/>
          <p:nvPr/>
        </p:nvSpPr>
        <p:spPr>
          <a:xfrm>
            <a:off x="3507129" y="4329218"/>
            <a:ext cx="46814" cy="90318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Shape 13"/>
          <p:cNvSpPr/>
          <p:nvPr/>
        </p:nvSpPr>
        <p:spPr>
          <a:xfrm>
            <a:off x="3547593" y="4322022"/>
            <a:ext cx="46814" cy="91037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Shape 14"/>
          <p:cNvSpPr/>
          <p:nvPr/>
        </p:nvSpPr>
        <p:spPr>
          <a:xfrm>
            <a:off x="3588056" y="4314825"/>
            <a:ext cx="46814" cy="91757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7" name="Shape 15"/>
          <p:cNvSpPr/>
          <p:nvPr/>
        </p:nvSpPr>
        <p:spPr>
          <a:xfrm>
            <a:off x="3628520" y="4307628"/>
            <a:ext cx="46814" cy="92477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Shape 16"/>
          <p:cNvSpPr/>
          <p:nvPr/>
        </p:nvSpPr>
        <p:spPr>
          <a:xfrm>
            <a:off x="3668983" y="4300432"/>
            <a:ext cx="46814" cy="93196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Shape 17"/>
          <p:cNvSpPr/>
          <p:nvPr/>
        </p:nvSpPr>
        <p:spPr>
          <a:xfrm>
            <a:off x="3709447" y="4293235"/>
            <a:ext cx="46814" cy="93916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Shape 18"/>
          <p:cNvSpPr/>
          <p:nvPr/>
        </p:nvSpPr>
        <p:spPr>
          <a:xfrm>
            <a:off x="3749911" y="4286038"/>
            <a:ext cx="46814" cy="9463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Shape 19"/>
          <p:cNvSpPr/>
          <p:nvPr/>
        </p:nvSpPr>
        <p:spPr>
          <a:xfrm>
            <a:off x="3790374" y="4278842"/>
            <a:ext cx="46814" cy="95355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Shape 20"/>
          <p:cNvSpPr/>
          <p:nvPr/>
        </p:nvSpPr>
        <p:spPr>
          <a:xfrm>
            <a:off x="3830838" y="4271645"/>
            <a:ext cx="46814" cy="96075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Shape 21"/>
          <p:cNvSpPr/>
          <p:nvPr/>
        </p:nvSpPr>
        <p:spPr>
          <a:xfrm>
            <a:off x="3871301" y="4264448"/>
            <a:ext cx="46814" cy="9679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4" name="Shape 22"/>
          <p:cNvSpPr/>
          <p:nvPr/>
        </p:nvSpPr>
        <p:spPr>
          <a:xfrm>
            <a:off x="3911765" y="4257252"/>
            <a:ext cx="46814" cy="97514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Shape 23"/>
          <p:cNvSpPr/>
          <p:nvPr/>
        </p:nvSpPr>
        <p:spPr>
          <a:xfrm>
            <a:off x="3952229" y="4250055"/>
            <a:ext cx="46814" cy="98234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6" name="Shape 24"/>
          <p:cNvSpPr/>
          <p:nvPr/>
        </p:nvSpPr>
        <p:spPr>
          <a:xfrm>
            <a:off x="3992692" y="4242858"/>
            <a:ext cx="46814" cy="98954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Shape 25"/>
          <p:cNvSpPr/>
          <p:nvPr/>
        </p:nvSpPr>
        <p:spPr>
          <a:xfrm>
            <a:off x="4033156" y="4235662"/>
            <a:ext cx="46814" cy="99673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8" name="Shape 26"/>
          <p:cNvSpPr/>
          <p:nvPr/>
        </p:nvSpPr>
        <p:spPr>
          <a:xfrm>
            <a:off x="4073620" y="4228465"/>
            <a:ext cx="46814" cy="100393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9" name="Shape 27"/>
          <p:cNvSpPr/>
          <p:nvPr/>
        </p:nvSpPr>
        <p:spPr>
          <a:xfrm>
            <a:off x="4114083" y="4221268"/>
            <a:ext cx="46814" cy="101113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Shape 28"/>
          <p:cNvSpPr/>
          <p:nvPr/>
        </p:nvSpPr>
        <p:spPr>
          <a:xfrm>
            <a:off x="4154547" y="4214072"/>
            <a:ext cx="46814" cy="101832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Shape 29"/>
          <p:cNvSpPr/>
          <p:nvPr/>
        </p:nvSpPr>
        <p:spPr>
          <a:xfrm>
            <a:off x="4195010" y="4206875"/>
            <a:ext cx="46814" cy="102552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2" name="Shape 30"/>
          <p:cNvSpPr/>
          <p:nvPr/>
        </p:nvSpPr>
        <p:spPr>
          <a:xfrm>
            <a:off x="4235474" y="4199678"/>
            <a:ext cx="46814" cy="103272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Shape 31"/>
          <p:cNvSpPr/>
          <p:nvPr/>
        </p:nvSpPr>
        <p:spPr>
          <a:xfrm>
            <a:off x="4275938" y="4192482"/>
            <a:ext cx="46814" cy="103991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4" name="Shape 32"/>
          <p:cNvSpPr/>
          <p:nvPr/>
        </p:nvSpPr>
        <p:spPr>
          <a:xfrm>
            <a:off x="4316401" y="4185285"/>
            <a:ext cx="46814" cy="104711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Shape 33"/>
          <p:cNvSpPr/>
          <p:nvPr/>
        </p:nvSpPr>
        <p:spPr>
          <a:xfrm>
            <a:off x="4356865" y="4178088"/>
            <a:ext cx="46814" cy="105431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6" name="Shape 34"/>
          <p:cNvSpPr/>
          <p:nvPr/>
        </p:nvSpPr>
        <p:spPr>
          <a:xfrm>
            <a:off x="4397328" y="4170892"/>
            <a:ext cx="46814" cy="106150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7" name="Shape 35"/>
          <p:cNvSpPr/>
          <p:nvPr/>
        </p:nvSpPr>
        <p:spPr>
          <a:xfrm>
            <a:off x="4437792" y="4163695"/>
            <a:ext cx="46814" cy="106870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8" name="Shape 36"/>
          <p:cNvSpPr/>
          <p:nvPr/>
        </p:nvSpPr>
        <p:spPr>
          <a:xfrm>
            <a:off x="4478256" y="4156498"/>
            <a:ext cx="46814" cy="107590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9" name="Shape 37"/>
          <p:cNvSpPr/>
          <p:nvPr/>
        </p:nvSpPr>
        <p:spPr>
          <a:xfrm>
            <a:off x="4518719" y="4149302"/>
            <a:ext cx="46814" cy="108309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0" name="Shape 38"/>
          <p:cNvSpPr/>
          <p:nvPr/>
        </p:nvSpPr>
        <p:spPr>
          <a:xfrm>
            <a:off x="4559183" y="4142105"/>
            <a:ext cx="46814" cy="109029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1" name="Shape 39"/>
          <p:cNvSpPr/>
          <p:nvPr/>
        </p:nvSpPr>
        <p:spPr>
          <a:xfrm>
            <a:off x="4599646" y="4134908"/>
            <a:ext cx="46814" cy="109749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2" name="Shape 40"/>
          <p:cNvSpPr/>
          <p:nvPr/>
        </p:nvSpPr>
        <p:spPr>
          <a:xfrm>
            <a:off x="4640110" y="4127712"/>
            <a:ext cx="46814" cy="110468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3" name="Shape 41"/>
          <p:cNvSpPr/>
          <p:nvPr/>
        </p:nvSpPr>
        <p:spPr>
          <a:xfrm>
            <a:off x="4680574" y="4120515"/>
            <a:ext cx="46814" cy="111188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4" name="Shape 42"/>
          <p:cNvSpPr/>
          <p:nvPr/>
        </p:nvSpPr>
        <p:spPr>
          <a:xfrm>
            <a:off x="4721037" y="4113318"/>
            <a:ext cx="46814" cy="111908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5" name="Shape 43"/>
          <p:cNvSpPr/>
          <p:nvPr/>
        </p:nvSpPr>
        <p:spPr>
          <a:xfrm>
            <a:off x="4761501" y="4106122"/>
            <a:ext cx="46814" cy="112627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6" name="Shape 44"/>
          <p:cNvSpPr/>
          <p:nvPr/>
        </p:nvSpPr>
        <p:spPr>
          <a:xfrm>
            <a:off x="4801965" y="4098925"/>
            <a:ext cx="46814" cy="113347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7" name="Shape 45"/>
          <p:cNvSpPr/>
          <p:nvPr/>
        </p:nvSpPr>
        <p:spPr>
          <a:xfrm>
            <a:off x="4842428" y="4091728"/>
            <a:ext cx="46814" cy="114067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8" name="Shape 46"/>
          <p:cNvSpPr/>
          <p:nvPr/>
        </p:nvSpPr>
        <p:spPr>
          <a:xfrm>
            <a:off x="4882892" y="4084532"/>
            <a:ext cx="46814" cy="114786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4923355" y="4077335"/>
            <a:ext cx="46814" cy="115506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0" name="Shape 48"/>
          <p:cNvSpPr/>
          <p:nvPr/>
        </p:nvSpPr>
        <p:spPr>
          <a:xfrm>
            <a:off x="4963819" y="4070138"/>
            <a:ext cx="46814" cy="11622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1" name="Shape 49"/>
          <p:cNvSpPr/>
          <p:nvPr/>
        </p:nvSpPr>
        <p:spPr>
          <a:xfrm>
            <a:off x="5004283" y="4062942"/>
            <a:ext cx="46814" cy="116945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2" name="Shape 50"/>
          <p:cNvSpPr/>
          <p:nvPr/>
        </p:nvSpPr>
        <p:spPr>
          <a:xfrm>
            <a:off x="5044746" y="4055745"/>
            <a:ext cx="46814" cy="117665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3" name="Shape 51"/>
          <p:cNvSpPr/>
          <p:nvPr/>
        </p:nvSpPr>
        <p:spPr>
          <a:xfrm>
            <a:off x="5085210" y="4048548"/>
            <a:ext cx="46814" cy="11838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4" name="Shape 52"/>
          <p:cNvSpPr/>
          <p:nvPr/>
        </p:nvSpPr>
        <p:spPr>
          <a:xfrm>
            <a:off x="5125673" y="4041352"/>
            <a:ext cx="46814" cy="119104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5" name="Shape 53"/>
          <p:cNvSpPr/>
          <p:nvPr/>
        </p:nvSpPr>
        <p:spPr>
          <a:xfrm>
            <a:off x="5166137" y="4034155"/>
            <a:ext cx="46814" cy="119824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6" name="Shape 54"/>
          <p:cNvSpPr/>
          <p:nvPr/>
        </p:nvSpPr>
        <p:spPr>
          <a:xfrm>
            <a:off x="5206601" y="4026958"/>
            <a:ext cx="46814" cy="120544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7" name="Shape 55"/>
          <p:cNvSpPr/>
          <p:nvPr/>
        </p:nvSpPr>
        <p:spPr>
          <a:xfrm>
            <a:off x="5247064" y="4021561"/>
            <a:ext cx="46814" cy="121083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8" name="Shape 56"/>
          <p:cNvSpPr/>
          <p:nvPr/>
        </p:nvSpPr>
        <p:spPr>
          <a:xfrm>
            <a:off x="5287528" y="4017962"/>
            <a:ext cx="46814" cy="121443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9" name="Shape 57"/>
          <p:cNvSpPr/>
          <p:nvPr/>
        </p:nvSpPr>
        <p:spPr>
          <a:xfrm>
            <a:off x="5327991" y="4014364"/>
            <a:ext cx="46814" cy="121803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0" name="Shape 58"/>
          <p:cNvSpPr/>
          <p:nvPr/>
        </p:nvSpPr>
        <p:spPr>
          <a:xfrm>
            <a:off x="5368455" y="4010766"/>
            <a:ext cx="46814" cy="122163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1" name="Shape 59"/>
          <p:cNvSpPr/>
          <p:nvPr/>
        </p:nvSpPr>
        <p:spPr>
          <a:xfrm>
            <a:off x="5408919" y="4007168"/>
            <a:ext cx="46814" cy="122523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2" name="Shape 60"/>
          <p:cNvSpPr/>
          <p:nvPr/>
        </p:nvSpPr>
        <p:spPr>
          <a:xfrm>
            <a:off x="5449382" y="4003569"/>
            <a:ext cx="46814" cy="122883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3" name="Shape 61"/>
          <p:cNvSpPr/>
          <p:nvPr/>
        </p:nvSpPr>
        <p:spPr>
          <a:xfrm>
            <a:off x="5489846" y="3999971"/>
            <a:ext cx="46814" cy="123242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4" name="Shape 62"/>
          <p:cNvSpPr/>
          <p:nvPr/>
        </p:nvSpPr>
        <p:spPr>
          <a:xfrm>
            <a:off x="5530310" y="3996373"/>
            <a:ext cx="46814" cy="123602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5" name="Shape 63"/>
          <p:cNvSpPr/>
          <p:nvPr/>
        </p:nvSpPr>
        <p:spPr>
          <a:xfrm>
            <a:off x="5570773" y="3992774"/>
            <a:ext cx="46814" cy="123962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6" name="Shape 64"/>
          <p:cNvSpPr/>
          <p:nvPr/>
        </p:nvSpPr>
        <p:spPr>
          <a:xfrm>
            <a:off x="5611237" y="3989176"/>
            <a:ext cx="46814" cy="124322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7" name="Shape 65"/>
          <p:cNvSpPr/>
          <p:nvPr/>
        </p:nvSpPr>
        <p:spPr>
          <a:xfrm>
            <a:off x="5651700" y="3985577"/>
            <a:ext cx="46814" cy="124682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8" name="Shape 66"/>
          <p:cNvSpPr/>
          <p:nvPr/>
        </p:nvSpPr>
        <p:spPr>
          <a:xfrm>
            <a:off x="5692164" y="3981979"/>
            <a:ext cx="46814" cy="125042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9" name="Shape 67"/>
          <p:cNvSpPr/>
          <p:nvPr/>
        </p:nvSpPr>
        <p:spPr>
          <a:xfrm>
            <a:off x="5732628" y="3978381"/>
            <a:ext cx="46814" cy="125401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0" name="Shape 68"/>
          <p:cNvSpPr/>
          <p:nvPr/>
        </p:nvSpPr>
        <p:spPr>
          <a:xfrm>
            <a:off x="5773091" y="3974783"/>
            <a:ext cx="46814" cy="125761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1" name="Shape 69"/>
          <p:cNvSpPr/>
          <p:nvPr/>
        </p:nvSpPr>
        <p:spPr>
          <a:xfrm>
            <a:off x="5813555" y="3971184"/>
            <a:ext cx="46814" cy="126121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2" name="Shape 70"/>
          <p:cNvSpPr/>
          <p:nvPr/>
        </p:nvSpPr>
        <p:spPr>
          <a:xfrm>
            <a:off x="5854018" y="3967586"/>
            <a:ext cx="46814" cy="126481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3" name="Shape 71"/>
          <p:cNvSpPr/>
          <p:nvPr/>
        </p:nvSpPr>
        <p:spPr>
          <a:xfrm>
            <a:off x="5894482" y="3963988"/>
            <a:ext cx="46814" cy="126841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4" name="Shape 72"/>
          <p:cNvSpPr/>
          <p:nvPr/>
        </p:nvSpPr>
        <p:spPr>
          <a:xfrm>
            <a:off x="5934946" y="3960389"/>
            <a:ext cx="46814" cy="127201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5" name="Shape 73"/>
          <p:cNvSpPr/>
          <p:nvPr/>
        </p:nvSpPr>
        <p:spPr>
          <a:xfrm>
            <a:off x="5975409" y="3956791"/>
            <a:ext cx="46814" cy="127560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6" name="Shape 74"/>
          <p:cNvSpPr/>
          <p:nvPr/>
        </p:nvSpPr>
        <p:spPr>
          <a:xfrm>
            <a:off x="6015873" y="3953192"/>
            <a:ext cx="46814" cy="127920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7" name="Shape 75"/>
          <p:cNvSpPr/>
          <p:nvPr/>
        </p:nvSpPr>
        <p:spPr>
          <a:xfrm>
            <a:off x="6056336" y="3949594"/>
            <a:ext cx="46814" cy="128280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8" name="Shape 76"/>
          <p:cNvSpPr/>
          <p:nvPr/>
        </p:nvSpPr>
        <p:spPr>
          <a:xfrm>
            <a:off x="6096800" y="3945996"/>
            <a:ext cx="46814" cy="128640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9" name="Shape 77"/>
          <p:cNvSpPr/>
          <p:nvPr/>
        </p:nvSpPr>
        <p:spPr>
          <a:xfrm>
            <a:off x="6137264" y="3942398"/>
            <a:ext cx="46814" cy="129000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0" name="Shape 78"/>
          <p:cNvSpPr/>
          <p:nvPr/>
        </p:nvSpPr>
        <p:spPr>
          <a:xfrm>
            <a:off x="6177727" y="3938799"/>
            <a:ext cx="46814" cy="129360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1" name="Shape 79"/>
          <p:cNvSpPr/>
          <p:nvPr/>
        </p:nvSpPr>
        <p:spPr>
          <a:xfrm>
            <a:off x="6218191" y="3932502"/>
            <a:ext cx="46814" cy="129989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2" name="Shape 80"/>
          <p:cNvSpPr/>
          <p:nvPr/>
        </p:nvSpPr>
        <p:spPr>
          <a:xfrm>
            <a:off x="6258655" y="3923506"/>
            <a:ext cx="46814" cy="1308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3" name="Shape 81"/>
          <p:cNvSpPr/>
          <p:nvPr/>
        </p:nvSpPr>
        <p:spPr>
          <a:xfrm>
            <a:off x="6299118" y="3914510"/>
            <a:ext cx="46814" cy="131789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4" name="Shape 82"/>
          <p:cNvSpPr/>
          <p:nvPr/>
        </p:nvSpPr>
        <p:spPr>
          <a:xfrm>
            <a:off x="6339582" y="3905515"/>
            <a:ext cx="46814" cy="132688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5" name="Shape 83"/>
          <p:cNvSpPr/>
          <p:nvPr/>
        </p:nvSpPr>
        <p:spPr>
          <a:xfrm>
            <a:off x="6380045" y="3896519"/>
            <a:ext cx="46814" cy="133588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6" name="Shape 84"/>
          <p:cNvSpPr/>
          <p:nvPr/>
        </p:nvSpPr>
        <p:spPr>
          <a:xfrm>
            <a:off x="6420509" y="3887523"/>
            <a:ext cx="46814" cy="134487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7" name="Shape 85"/>
          <p:cNvSpPr/>
          <p:nvPr/>
        </p:nvSpPr>
        <p:spPr>
          <a:xfrm>
            <a:off x="6460973" y="3878527"/>
            <a:ext cx="46814" cy="135387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8" name="Shape 86"/>
          <p:cNvSpPr/>
          <p:nvPr/>
        </p:nvSpPr>
        <p:spPr>
          <a:xfrm>
            <a:off x="6501436" y="3869531"/>
            <a:ext cx="46814" cy="136286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9" name="Shape 87"/>
          <p:cNvSpPr/>
          <p:nvPr/>
        </p:nvSpPr>
        <p:spPr>
          <a:xfrm>
            <a:off x="6541900" y="3860535"/>
            <a:ext cx="46814" cy="137186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0" name="Shape 88"/>
          <p:cNvSpPr/>
          <p:nvPr/>
        </p:nvSpPr>
        <p:spPr>
          <a:xfrm>
            <a:off x="6582363" y="3851540"/>
            <a:ext cx="46814" cy="13808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1" name="Shape 89"/>
          <p:cNvSpPr/>
          <p:nvPr/>
        </p:nvSpPr>
        <p:spPr>
          <a:xfrm>
            <a:off x="6622827" y="3842544"/>
            <a:ext cx="46814" cy="138985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2" name="Shape 90"/>
          <p:cNvSpPr/>
          <p:nvPr/>
        </p:nvSpPr>
        <p:spPr>
          <a:xfrm>
            <a:off x="6663291" y="3833548"/>
            <a:ext cx="46814" cy="13988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3" name="Shape 91"/>
          <p:cNvSpPr/>
          <p:nvPr/>
        </p:nvSpPr>
        <p:spPr>
          <a:xfrm>
            <a:off x="6703754" y="3824552"/>
            <a:ext cx="46814" cy="140784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4" name="Shape 92"/>
          <p:cNvSpPr/>
          <p:nvPr/>
        </p:nvSpPr>
        <p:spPr>
          <a:xfrm>
            <a:off x="6744218" y="3815556"/>
            <a:ext cx="46814" cy="141684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5" name="Shape 93"/>
          <p:cNvSpPr/>
          <p:nvPr/>
        </p:nvSpPr>
        <p:spPr>
          <a:xfrm>
            <a:off x="6784681" y="3806560"/>
            <a:ext cx="46814" cy="142584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6" name="Shape 94"/>
          <p:cNvSpPr/>
          <p:nvPr/>
        </p:nvSpPr>
        <p:spPr>
          <a:xfrm>
            <a:off x="6825145" y="3797565"/>
            <a:ext cx="46814" cy="143483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7" name="Shape 95"/>
          <p:cNvSpPr/>
          <p:nvPr/>
        </p:nvSpPr>
        <p:spPr>
          <a:xfrm>
            <a:off x="6865609" y="3788569"/>
            <a:ext cx="46814" cy="144383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8" name="Shape 96"/>
          <p:cNvSpPr/>
          <p:nvPr/>
        </p:nvSpPr>
        <p:spPr>
          <a:xfrm>
            <a:off x="6906072" y="3779573"/>
            <a:ext cx="46814" cy="145282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9" name="Shape 97"/>
          <p:cNvSpPr/>
          <p:nvPr/>
        </p:nvSpPr>
        <p:spPr>
          <a:xfrm>
            <a:off x="6946536" y="3770577"/>
            <a:ext cx="46814" cy="146182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0" name="Shape 98"/>
          <p:cNvSpPr/>
          <p:nvPr/>
        </p:nvSpPr>
        <p:spPr>
          <a:xfrm>
            <a:off x="6987000" y="3761581"/>
            <a:ext cx="46814" cy="147081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1" name="Shape 99"/>
          <p:cNvSpPr/>
          <p:nvPr/>
        </p:nvSpPr>
        <p:spPr>
          <a:xfrm>
            <a:off x="7027463" y="3752585"/>
            <a:ext cx="46814" cy="147981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2" name="Shape 100"/>
          <p:cNvSpPr/>
          <p:nvPr/>
        </p:nvSpPr>
        <p:spPr>
          <a:xfrm>
            <a:off x="7067927" y="3743590"/>
            <a:ext cx="46814" cy="148881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3" name="Shape 101"/>
          <p:cNvSpPr/>
          <p:nvPr/>
        </p:nvSpPr>
        <p:spPr>
          <a:xfrm>
            <a:off x="7108390" y="3734594"/>
            <a:ext cx="46814" cy="149780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4" name="Shape 102"/>
          <p:cNvSpPr/>
          <p:nvPr/>
        </p:nvSpPr>
        <p:spPr>
          <a:xfrm>
            <a:off x="7148854" y="3725598"/>
            <a:ext cx="46814" cy="150680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5" name="Shape 103"/>
          <p:cNvSpPr/>
          <p:nvPr/>
        </p:nvSpPr>
        <p:spPr>
          <a:xfrm>
            <a:off x="7189318" y="3716602"/>
            <a:ext cx="46814" cy="151579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6" name="Shape 104"/>
          <p:cNvSpPr/>
          <p:nvPr/>
        </p:nvSpPr>
        <p:spPr>
          <a:xfrm>
            <a:off x="7229781" y="3707606"/>
            <a:ext cx="46814" cy="15247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7" name="Shape 105"/>
          <p:cNvSpPr/>
          <p:nvPr/>
        </p:nvSpPr>
        <p:spPr>
          <a:xfrm>
            <a:off x="7270245" y="3698610"/>
            <a:ext cx="46814" cy="153379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8" name="Shape 106"/>
          <p:cNvSpPr/>
          <p:nvPr/>
        </p:nvSpPr>
        <p:spPr>
          <a:xfrm>
            <a:off x="7310708" y="3689615"/>
            <a:ext cx="46814" cy="154278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9" name="Shape 107"/>
          <p:cNvSpPr/>
          <p:nvPr/>
        </p:nvSpPr>
        <p:spPr>
          <a:xfrm>
            <a:off x="7351172" y="3680619"/>
            <a:ext cx="46814" cy="155178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0" name="Shape 108"/>
          <p:cNvSpPr/>
          <p:nvPr/>
        </p:nvSpPr>
        <p:spPr>
          <a:xfrm>
            <a:off x="7391636" y="3671623"/>
            <a:ext cx="46814" cy="156077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1" name="Shape 109"/>
          <p:cNvSpPr/>
          <p:nvPr/>
        </p:nvSpPr>
        <p:spPr>
          <a:xfrm>
            <a:off x="7432099" y="3662627"/>
            <a:ext cx="46814" cy="156977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2" name="Shape 110"/>
          <p:cNvSpPr/>
          <p:nvPr/>
        </p:nvSpPr>
        <p:spPr>
          <a:xfrm>
            <a:off x="7472563" y="3653631"/>
            <a:ext cx="46814" cy="157876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3" name="Shape 111"/>
          <p:cNvSpPr/>
          <p:nvPr/>
        </p:nvSpPr>
        <p:spPr>
          <a:xfrm>
            <a:off x="7513026" y="3644635"/>
            <a:ext cx="46814" cy="158776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4" name="Shape 112"/>
          <p:cNvSpPr/>
          <p:nvPr/>
        </p:nvSpPr>
        <p:spPr>
          <a:xfrm>
            <a:off x="7553490" y="3635640"/>
            <a:ext cx="46814" cy="15967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5" name="Shape 113"/>
          <p:cNvSpPr/>
          <p:nvPr/>
        </p:nvSpPr>
        <p:spPr>
          <a:xfrm>
            <a:off x="7593954" y="3626644"/>
            <a:ext cx="46814" cy="160575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6" name="Shape 114"/>
          <p:cNvSpPr/>
          <p:nvPr/>
        </p:nvSpPr>
        <p:spPr>
          <a:xfrm>
            <a:off x="7634417" y="3617648"/>
            <a:ext cx="46814" cy="1614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7" name="Shape 115"/>
          <p:cNvSpPr/>
          <p:nvPr/>
        </p:nvSpPr>
        <p:spPr>
          <a:xfrm>
            <a:off x="7674881" y="3608652"/>
            <a:ext cx="46814" cy="162374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8" name="Shape 116"/>
          <p:cNvSpPr/>
          <p:nvPr/>
        </p:nvSpPr>
        <p:spPr>
          <a:xfrm>
            <a:off x="7715345" y="3599656"/>
            <a:ext cx="46814" cy="163274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9" name="Shape 117"/>
          <p:cNvSpPr/>
          <p:nvPr/>
        </p:nvSpPr>
        <p:spPr>
          <a:xfrm>
            <a:off x="7755808" y="3590660"/>
            <a:ext cx="46814" cy="164174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0" name="Shape 118"/>
          <p:cNvSpPr/>
          <p:nvPr/>
        </p:nvSpPr>
        <p:spPr>
          <a:xfrm>
            <a:off x="7796272" y="3581665"/>
            <a:ext cx="46814" cy="165073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1" name="Shape 119"/>
          <p:cNvSpPr/>
          <p:nvPr/>
        </p:nvSpPr>
        <p:spPr>
          <a:xfrm>
            <a:off x="7836735" y="3572669"/>
            <a:ext cx="46814" cy="165973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2" name="Shape 120"/>
          <p:cNvSpPr/>
          <p:nvPr/>
        </p:nvSpPr>
        <p:spPr>
          <a:xfrm>
            <a:off x="7877199" y="3563673"/>
            <a:ext cx="46814" cy="166872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3" name="Shape 121"/>
          <p:cNvSpPr/>
          <p:nvPr/>
        </p:nvSpPr>
        <p:spPr>
          <a:xfrm>
            <a:off x="7917663" y="3554677"/>
            <a:ext cx="46814" cy="167772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4" name="Shape 122"/>
          <p:cNvSpPr/>
          <p:nvPr/>
        </p:nvSpPr>
        <p:spPr>
          <a:xfrm>
            <a:off x="7958126" y="3545681"/>
            <a:ext cx="46814" cy="168671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5" name="Shape 123"/>
          <p:cNvSpPr/>
          <p:nvPr/>
        </p:nvSpPr>
        <p:spPr>
          <a:xfrm>
            <a:off x="7998590" y="3536685"/>
            <a:ext cx="46814" cy="169571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6" name="Shape 124"/>
          <p:cNvSpPr/>
          <p:nvPr/>
        </p:nvSpPr>
        <p:spPr>
          <a:xfrm>
            <a:off x="8039053" y="3527690"/>
            <a:ext cx="46814" cy="170471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7" name="Shape 125"/>
          <p:cNvSpPr/>
          <p:nvPr/>
        </p:nvSpPr>
        <p:spPr>
          <a:xfrm>
            <a:off x="8079517" y="3518694"/>
            <a:ext cx="46814" cy="171370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8" name="Shape 126"/>
          <p:cNvSpPr/>
          <p:nvPr/>
        </p:nvSpPr>
        <p:spPr>
          <a:xfrm>
            <a:off x="8119981" y="3509698"/>
            <a:ext cx="46814" cy="172270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9" name="Shape 127"/>
          <p:cNvSpPr/>
          <p:nvPr/>
        </p:nvSpPr>
        <p:spPr>
          <a:xfrm>
            <a:off x="3304811" y="3718401"/>
            <a:ext cx="46814" cy="6468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0" name="Shape 128"/>
          <p:cNvSpPr/>
          <p:nvPr/>
        </p:nvSpPr>
        <p:spPr>
          <a:xfrm>
            <a:off x="3345275" y="3713004"/>
            <a:ext cx="46814" cy="64500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1" name="Shape 129"/>
          <p:cNvSpPr/>
          <p:nvPr/>
        </p:nvSpPr>
        <p:spPr>
          <a:xfrm>
            <a:off x="3385738" y="3707606"/>
            <a:ext cx="46814" cy="64320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2" name="Shape 130"/>
          <p:cNvSpPr/>
          <p:nvPr/>
        </p:nvSpPr>
        <p:spPr>
          <a:xfrm>
            <a:off x="3426202" y="3702209"/>
            <a:ext cx="46814" cy="64140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3" name="Shape 131"/>
          <p:cNvSpPr/>
          <p:nvPr/>
        </p:nvSpPr>
        <p:spPr>
          <a:xfrm>
            <a:off x="3466665" y="3696811"/>
            <a:ext cx="46814" cy="63960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4" name="Shape 132"/>
          <p:cNvSpPr/>
          <p:nvPr/>
        </p:nvSpPr>
        <p:spPr>
          <a:xfrm>
            <a:off x="3507129" y="3691414"/>
            <a:ext cx="46814" cy="63780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5" name="Shape 133"/>
          <p:cNvSpPr/>
          <p:nvPr/>
        </p:nvSpPr>
        <p:spPr>
          <a:xfrm>
            <a:off x="3547593" y="3686016"/>
            <a:ext cx="46814" cy="63600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6" name="Shape 134"/>
          <p:cNvSpPr/>
          <p:nvPr/>
        </p:nvSpPr>
        <p:spPr>
          <a:xfrm>
            <a:off x="3588056" y="3680619"/>
            <a:ext cx="46814" cy="63420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7" name="Shape 135"/>
          <p:cNvSpPr/>
          <p:nvPr/>
        </p:nvSpPr>
        <p:spPr>
          <a:xfrm>
            <a:off x="3628520" y="3675221"/>
            <a:ext cx="46814" cy="63240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8" name="Shape 136"/>
          <p:cNvSpPr/>
          <p:nvPr/>
        </p:nvSpPr>
        <p:spPr>
          <a:xfrm>
            <a:off x="3668983" y="3669824"/>
            <a:ext cx="46814" cy="63060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9" name="Shape 137"/>
          <p:cNvSpPr/>
          <p:nvPr/>
        </p:nvSpPr>
        <p:spPr>
          <a:xfrm>
            <a:off x="3709447" y="3664426"/>
            <a:ext cx="46814" cy="62880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0" name="Shape 138"/>
          <p:cNvSpPr/>
          <p:nvPr/>
        </p:nvSpPr>
        <p:spPr>
          <a:xfrm>
            <a:off x="3749911" y="3659029"/>
            <a:ext cx="46814" cy="62701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1" name="Shape 139"/>
          <p:cNvSpPr/>
          <p:nvPr/>
        </p:nvSpPr>
        <p:spPr>
          <a:xfrm>
            <a:off x="3790374" y="3653631"/>
            <a:ext cx="46814" cy="62521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2" name="Shape 140"/>
          <p:cNvSpPr/>
          <p:nvPr/>
        </p:nvSpPr>
        <p:spPr>
          <a:xfrm>
            <a:off x="3830838" y="3648234"/>
            <a:ext cx="46814" cy="62341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3" name="Shape 141"/>
          <p:cNvSpPr/>
          <p:nvPr/>
        </p:nvSpPr>
        <p:spPr>
          <a:xfrm>
            <a:off x="3871301" y="3642836"/>
            <a:ext cx="46814" cy="62161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4" name="Shape 142"/>
          <p:cNvSpPr/>
          <p:nvPr/>
        </p:nvSpPr>
        <p:spPr>
          <a:xfrm>
            <a:off x="3911765" y="3637439"/>
            <a:ext cx="46814" cy="61981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5" name="Shape 143"/>
          <p:cNvSpPr/>
          <p:nvPr/>
        </p:nvSpPr>
        <p:spPr>
          <a:xfrm>
            <a:off x="3952229" y="3632041"/>
            <a:ext cx="46814" cy="61801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6" name="Shape 144"/>
          <p:cNvSpPr/>
          <p:nvPr/>
        </p:nvSpPr>
        <p:spPr>
          <a:xfrm>
            <a:off x="3992692" y="3626644"/>
            <a:ext cx="46814" cy="61621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7" name="Shape 145"/>
          <p:cNvSpPr/>
          <p:nvPr/>
        </p:nvSpPr>
        <p:spPr>
          <a:xfrm>
            <a:off x="4033156" y="3621246"/>
            <a:ext cx="46814" cy="61441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8" name="Shape 146"/>
          <p:cNvSpPr/>
          <p:nvPr/>
        </p:nvSpPr>
        <p:spPr>
          <a:xfrm>
            <a:off x="4073620" y="3615849"/>
            <a:ext cx="46814" cy="61261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9" name="Shape 147"/>
          <p:cNvSpPr/>
          <p:nvPr/>
        </p:nvSpPr>
        <p:spPr>
          <a:xfrm>
            <a:off x="4114083" y="3610451"/>
            <a:ext cx="46814" cy="61081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0" name="Shape 148"/>
          <p:cNvSpPr/>
          <p:nvPr/>
        </p:nvSpPr>
        <p:spPr>
          <a:xfrm>
            <a:off x="4154547" y="3605054"/>
            <a:ext cx="46814" cy="60901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1" name="Shape 149"/>
          <p:cNvSpPr/>
          <p:nvPr/>
        </p:nvSpPr>
        <p:spPr>
          <a:xfrm>
            <a:off x="4195010" y="3599656"/>
            <a:ext cx="46814" cy="60721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2" name="Shape 150"/>
          <p:cNvSpPr/>
          <p:nvPr/>
        </p:nvSpPr>
        <p:spPr>
          <a:xfrm>
            <a:off x="4235474" y="3594259"/>
            <a:ext cx="46814" cy="60542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3" name="Shape 151"/>
          <p:cNvSpPr/>
          <p:nvPr/>
        </p:nvSpPr>
        <p:spPr>
          <a:xfrm>
            <a:off x="4275938" y="3586162"/>
            <a:ext cx="46814" cy="60631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4" name="Shape 152"/>
          <p:cNvSpPr/>
          <p:nvPr/>
        </p:nvSpPr>
        <p:spPr>
          <a:xfrm>
            <a:off x="4316401" y="3575368"/>
            <a:ext cx="46814" cy="60991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5" name="Shape 153"/>
          <p:cNvSpPr/>
          <p:nvPr/>
        </p:nvSpPr>
        <p:spPr>
          <a:xfrm>
            <a:off x="4356865" y="3564573"/>
            <a:ext cx="46814" cy="61351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6" name="Shape 154"/>
          <p:cNvSpPr/>
          <p:nvPr/>
        </p:nvSpPr>
        <p:spPr>
          <a:xfrm>
            <a:off x="4397328" y="3553778"/>
            <a:ext cx="46814" cy="61711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7" name="Shape 155"/>
          <p:cNvSpPr/>
          <p:nvPr/>
        </p:nvSpPr>
        <p:spPr>
          <a:xfrm>
            <a:off x="4437792" y="3542982"/>
            <a:ext cx="46814" cy="62071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8" name="Shape 156"/>
          <p:cNvSpPr/>
          <p:nvPr/>
        </p:nvSpPr>
        <p:spPr>
          <a:xfrm>
            <a:off x="4478256" y="3532187"/>
            <a:ext cx="46814" cy="62431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9" name="Shape 157"/>
          <p:cNvSpPr/>
          <p:nvPr/>
        </p:nvSpPr>
        <p:spPr>
          <a:xfrm>
            <a:off x="4518719" y="3521393"/>
            <a:ext cx="46814" cy="62790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0" name="Shape 158"/>
          <p:cNvSpPr/>
          <p:nvPr/>
        </p:nvSpPr>
        <p:spPr>
          <a:xfrm>
            <a:off x="4559183" y="3510598"/>
            <a:ext cx="46814" cy="63150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1" name="Shape 159"/>
          <p:cNvSpPr/>
          <p:nvPr/>
        </p:nvSpPr>
        <p:spPr>
          <a:xfrm>
            <a:off x="4599646" y="3499802"/>
            <a:ext cx="46814" cy="63510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2" name="Shape 160"/>
          <p:cNvSpPr/>
          <p:nvPr/>
        </p:nvSpPr>
        <p:spPr>
          <a:xfrm>
            <a:off x="4640110" y="3489008"/>
            <a:ext cx="46814" cy="63870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3" name="Shape 161"/>
          <p:cNvSpPr/>
          <p:nvPr/>
        </p:nvSpPr>
        <p:spPr>
          <a:xfrm>
            <a:off x="4680574" y="3478213"/>
            <a:ext cx="46814" cy="64230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4" name="Shape 162"/>
          <p:cNvSpPr/>
          <p:nvPr/>
        </p:nvSpPr>
        <p:spPr>
          <a:xfrm>
            <a:off x="4721037" y="3467417"/>
            <a:ext cx="46814" cy="64590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5" name="Shape 163"/>
          <p:cNvSpPr/>
          <p:nvPr/>
        </p:nvSpPr>
        <p:spPr>
          <a:xfrm>
            <a:off x="4761501" y="3456622"/>
            <a:ext cx="46814" cy="64949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6" name="Shape 164"/>
          <p:cNvSpPr/>
          <p:nvPr/>
        </p:nvSpPr>
        <p:spPr>
          <a:xfrm>
            <a:off x="4801965" y="3445827"/>
            <a:ext cx="46814" cy="65309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7" name="Shape 165"/>
          <p:cNvSpPr/>
          <p:nvPr/>
        </p:nvSpPr>
        <p:spPr>
          <a:xfrm>
            <a:off x="4842428" y="3435032"/>
            <a:ext cx="46814" cy="6566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8" name="Shape 166"/>
          <p:cNvSpPr/>
          <p:nvPr/>
        </p:nvSpPr>
        <p:spPr>
          <a:xfrm>
            <a:off x="4882892" y="3424238"/>
            <a:ext cx="46814" cy="6602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9" name="Shape 167"/>
          <p:cNvSpPr/>
          <p:nvPr/>
        </p:nvSpPr>
        <p:spPr>
          <a:xfrm>
            <a:off x="4923355" y="3413442"/>
            <a:ext cx="46814" cy="6638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0" name="Shape 168"/>
          <p:cNvSpPr/>
          <p:nvPr/>
        </p:nvSpPr>
        <p:spPr>
          <a:xfrm>
            <a:off x="4963819" y="3402647"/>
            <a:ext cx="46814" cy="66749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1" name="Shape 169"/>
          <p:cNvSpPr/>
          <p:nvPr/>
        </p:nvSpPr>
        <p:spPr>
          <a:xfrm>
            <a:off x="5004283" y="3391852"/>
            <a:ext cx="46814" cy="67108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2" name="Shape 170"/>
          <p:cNvSpPr/>
          <p:nvPr/>
        </p:nvSpPr>
        <p:spPr>
          <a:xfrm>
            <a:off x="5044746" y="3381057"/>
            <a:ext cx="46814" cy="67468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3" name="Shape 171"/>
          <p:cNvSpPr/>
          <p:nvPr/>
        </p:nvSpPr>
        <p:spPr>
          <a:xfrm>
            <a:off x="5085210" y="3370262"/>
            <a:ext cx="46814" cy="67828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4" name="Shape 172"/>
          <p:cNvSpPr/>
          <p:nvPr/>
        </p:nvSpPr>
        <p:spPr>
          <a:xfrm>
            <a:off x="5125673" y="3359467"/>
            <a:ext cx="46814" cy="68188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5" name="Shape 173"/>
          <p:cNvSpPr/>
          <p:nvPr/>
        </p:nvSpPr>
        <p:spPr>
          <a:xfrm>
            <a:off x="5166137" y="3348672"/>
            <a:ext cx="46814" cy="68548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6" name="Shape 174"/>
          <p:cNvSpPr/>
          <p:nvPr/>
        </p:nvSpPr>
        <p:spPr>
          <a:xfrm>
            <a:off x="5206601" y="3337877"/>
            <a:ext cx="46814" cy="68908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7" name="Shape 175"/>
          <p:cNvSpPr/>
          <p:nvPr/>
        </p:nvSpPr>
        <p:spPr>
          <a:xfrm>
            <a:off x="5247064" y="3331580"/>
            <a:ext cx="46814" cy="6899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8" name="Shape 176"/>
          <p:cNvSpPr/>
          <p:nvPr/>
        </p:nvSpPr>
        <p:spPr>
          <a:xfrm>
            <a:off x="5287528" y="3329781"/>
            <a:ext cx="46814" cy="68818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9" name="Shape 177"/>
          <p:cNvSpPr/>
          <p:nvPr/>
        </p:nvSpPr>
        <p:spPr>
          <a:xfrm>
            <a:off x="5327991" y="3327982"/>
            <a:ext cx="46814" cy="68638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0" name="Shape 178"/>
          <p:cNvSpPr/>
          <p:nvPr/>
        </p:nvSpPr>
        <p:spPr>
          <a:xfrm>
            <a:off x="5368455" y="3326183"/>
            <a:ext cx="46814" cy="68458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1" name="Shape 179"/>
          <p:cNvSpPr/>
          <p:nvPr/>
        </p:nvSpPr>
        <p:spPr>
          <a:xfrm>
            <a:off x="5408919" y="3324384"/>
            <a:ext cx="46814" cy="68278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2" name="Shape 180"/>
          <p:cNvSpPr/>
          <p:nvPr/>
        </p:nvSpPr>
        <p:spPr>
          <a:xfrm>
            <a:off x="5449382" y="3322585"/>
            <a:ext cx="46814" cy="68098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3" name="Shape 181"/>
          <p:cNvSpPr/>
          <p:nvPr/>
        </p:nvSpPr>
        <p:spPr>
          <a:xfrm>
            <a:off x="5489846" y="3320785"/>
            <a:ext cx="46814" cy="67918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4" name="Shape 182"/>
          <p:cNvSpPr/>
          <p:nvPr/>
        </p:nvSpPr>
        <p:spPr>
          <a:xfrm>
            <a:off x="5530310" y="3318986"/>
            <a:ext cx="46814" cy="67738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5" name="Shape 183"/>
          <p:cNvSpPr/>
          <p:nvPr/>
        </p:nvSpPr>
        <p:spPr>
          <a:xfrm>
            <a:off x="5570773" y="3317187"/>
            <a:ext cx="46814" cy="67558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6" name="Shape 184"/>
          <p:cNvSpPr/>
          <p:nvPr/>
        </p:nvSpPr>
        <p:spPr>
          <a:xfrm>
            <a:off x="5611237" y="3315388"/>
            <a:ext cx="46814" cy="67378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7" name="Shape 185"/>
          <p:cNvSpPr/>
          <p:nvPr/>
        </p:nvSpPr>
        <p:spPr>
          <a:xfrm>
            <a:off x="5651700" y="3313589"/>
            <a:ext cx="46814" cy="67198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8" name="Shape 186"/>
          <p:cNvSpPr/>
          <p:nvPr/>
        </p:nvSpPr>
        <p:spPr>
          <a:xfrm>
            <a:off x="5692164" y="3311790"/>
            <a:ext cx="46814" cy="67019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9" name="Shape 187"/>
          <p:cNvSpPr/>
          <p:nvPr/>
        </p:nvSpPr>
        <p:spPr>
          <a:xfrm>
            <a:off x="5732628" y="3309990"/>
            <a:ext cx="46814" cy="66839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0" name="Shape 188"/>
          <p:cNvSpPr/>
          <p:nvPr/>
        </p:nvSpPr>
        <p:spPr>
          <a:xfrm>
            <a:off x="5773091" y="3308191"/>
            <a:ext cx="46814" cy="66659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1" name="Shape 189"/>
          <p:cNvSpPr/>
          <p:nvPr/>
        </p:nvSpPr>
        <p:spPr>
          <a:xfrm>
            <a:off x="5813555" y="3306392"/>
            <a:ext cx="46814" cy="66479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2" name="Shape 190"/>
          <p:cNvSpPr/>
          <p:nvPr/>
        </p:nvSpPr>
        <p:spPr>
          <a:xfrm>
            <a:off x="5854018" y="3304593"/>
            <a:ext cx="46814" cy="6629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3" name="Shape 191"/>
          <p:cNvSpPr/>
          <p:nvPr/>
        </p:nvSpPr>
        <p:spPr>
          <a:xfrm>
            <a:off x="5894482" y="3302794"/>
            <a:ext cx="46814" cy="6611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4" name="Shape 192"/>
          <p:cNvSpPr/>
          <p:nvPr/>
        </p:nvSpPr>
        <p:spPr>
          <a:xfrm>
            <a:off x="5934946" y="3300995"/>
            <a:ext cx="46814" cy="65939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5" name="Shape 193"/>
          <p:cNvSpPr/>
          <p:nvPr/>
        </p:nvSpPr>
        <p:spPr>
          <a:xfrm>
            <a:off x="5975409" y="3299195"/>
            <a:ext cx="46814" cy="65759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6" name="Shape 194"/>
          <p:cNvSpPr/>
          <p:nvPr/>
        </p:nvSpPr>
        <p:spPr>
          <a:xfrm>
            <a:off x="6015873" y="3297396"/>
            <a:ext cx="46814" cy="6557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7" name="Shape 195"/>
          <p:cNvSpPr/>
          <p:nvPr/>
        </p:nvSpPr>
        <p:spPr>
          <a:xfrm>
            <a:off x="6056336" y="3295597"/>
            <a:ext cx="46814" cy="65399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8" name="Shape 196"/>
          <p:cNvSpPr/>
          <p:nvPr/>
        </p:nvSpPr>
        <p:spPr>
          <a:xfrm>
            <a:off x="6096800" y="3293798"/>
            <a:ext cx="46814" cy="65219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9" name="Shape 197"/>
          <p:cNvSpPr/>
          <p:nvPr/>
        </p:nvSpPr>
        <p:spPr>
          <a:xfrm>
            <a:off x="6137264" y="3291999"/>
            <a:ext cx="46814" cy="65039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0" name="Shape 198"/>
          <p:cNvSpPr/>
          <p:nvPr/>
        </p:nvSpPr>
        <p:spPr>
          <a:xfrm>
            <a:off x="6177727" y="3290200"/>
            <a:ext cx="46814" cy="6486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1" name="Shape 199"/>
          <p:cNvSpPr/>
          <p:nvPr/>
        </p:nvSpPr>
        <p:spPr>
          <a:xfrm>
            <a:off x="6218191" y="3283003"/>
            <a:ext cx="46814" cy="64949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2" name="Shape 200"/>
          <p:cNvSpPr/>
          <p:nvPr/>
        </p:nvSpPr>
        <p:spPr>
          <a:xfrm>
            <a:off x="6258655" y="3270409"/>
            <a:ext cx="46814" cy="65309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3" name="Shape 201"/>
          <p:cNvSpPr/>
          <p:nvPr/>
        </p:nvSpPr>
        <p:spPr>
          <a:xfrm>
            <a:off x="6299118" y="3257815"/>
            <a:ext cx="46814" cy="6566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4" name="Shape 202"/>
          <p:cNvSpPr/>
          <p:nvPr/>
        </p:nvSpPr>
        <p:spPr>
          <a:xfrm>
            <a:off x="6339582" y="3245220"/>
            <a:ext cx="46814" cy="6602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5" name="Shape 203"/>
          <p:cNvSpPr/>
          <p:nvPr/>
        </p:nvSpPr>
        <p:spPr>
          <a:xfrm>
            <a:off x="6380045" y="3232626"/>
            <a:ext cx="46814" cy="6638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6" name="Shape 204"/>
          <p:cNvSpPr/>
          <p:nvPr/>
        </p:nvSpPr>
        <p:spPr>
          <a:xfrm>
            <a:off x="6420509" y="3220032"/>
            <a:ext cx="46814" cy="66749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7" name="Shape 205"/>
          <p:cNvSpPr/>
          <p:nvPr/>
        </p:nvSpPr>
        <p:spPr>
          <a:xfrm>
            <a:off x="6460973" y="3207438"/>
            <a:ext cx="46814" cy="67108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8" name="Shape 206"/>
          <p:cNvSpPr/>
          <p:nvPr/>
        </p:nvSpPr>
        <p:spPr>
          <a:xfrm>
            <a:off x="6501436" y="3194844"/>
            <a:ext cx="46814" cy="67468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9" name="Shape 207"/>
          <p:cNvSpPr/>
          <p:nvPr/>
        </p:nvSpPr>
        <p:spPr>
          <a:xfrm>
            <a:off x="6541900" y="3182250"/>
            <a:ext cx="46814" cy="67828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10" name="Shape 208"/>
          <p:cNvSpPr/>
          <p:nvPr/>
        </p:nvSpPr>
        <p:spPr>
          <a:xfrm>
            <a:off x="6582363" y="3169655"/>
            <a:ext cx="46814" cy="68188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11" name="Shape 209"/>
          <p:cNvSpPr/>
          <p:nvPr/>
        </p:nvSpPr>
        <p:spPr>
          <a:xfrm>
            <a:off x="6622827" y="3157061"/>
            <a:ext cx="46814" cy="68548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12" name="Shape 210"/>
          <p:cNvSpPr/>
          <p:nvPr/>
        </p:nvSpPr>
        <p:spPr>
          <a:xfrm>
            <a:off x="6663291" y="3144467"/>
            <a:ext cx="46814" cy="68908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13" name="Shape 211"/>
          <p:cNvSpPr/>
          <p:nvPr/>
        </p:nvSpPr>
        <p:spPr>
          <a:xfrm>
            <a:off x="6703754" y="3131873"/>
            <a:ext cx="46814" cy="69267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14" name="Shape 212"/>
          <p:cNvSpPr/>
          <p:nvPr/>
        </p:nvSpPr>
        <p:spPr>
          <a:xfrm>
            <a:off x="6744218" y="3119279"/>
            <a:ext cx="46814" cy="69627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15" name="Shape 213"/>
          <p:cNvSpPr/>
          <p:nvPr/>
        </p:nvSpPr>
        <p:spPr>
          <a:xfrm>
            <a:off x="6784681" y="3106685"/>
            <a:ext cx="46814" cy="69987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16" name="Shape 214"/>
          <p:cNvSpPr/>
          <p:nvPr/>
        </p:nvSpPr>
        <p:spPr>
          <a:xfrm>
            <a:off x="6825145" y="3094090"/>
            <a:ext cx="46814" cy="70347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17" name="Shape 215"/>
          <p:cNvSpPr/>
          <p:nvPr/>
        </p:nvSpPr>
        <p:spPr>
          <a:xfrm>
            <a:off x="6865609" y="3081496"/>
            <a:ext cx="46814" cy="70707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18" name="Shape 216"/>
          <p:cNvSpPr/>
          <p:nvPr/>
        </p:nvSpPr>
        <p:spPr>
          <a:xfrm>
            <a:off x="6906072" y="3068902"/>
            <a:ext cx="46814" cy="71067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19" name="Shape 217"/>
          <p:cNvSpPr/>
          <p:nvPr/>
        </p:nvSpPr>
        <p:spPr>
          <a:xfrm>
            <a:off x="6946536" y="3056308"/>
            <a:ext cx="46814" cy="71426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20" name="Shape 218"/>
          <p:cNvSpPr/>
          <p:nvPr/>
        </p:nvSpPr>
        <p:spPr>
          <a:xfrm>
            <a:off x="6987000" y="3043714"/>
            <a:ext cx="46814" cy="71786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21" name="Shape 219"/>
          <p:cNvSpPr/>
          <p:nvPr/>
        </p:nvSpPr>
        <p:spPr>
          <a:xfrm>
            <a:off x="7027463" y="3031120"/>
            <a:ext cx="46814" cy="72146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22" name="Shape 220"/>
          <p:cNvSpPr/>
          <p:nvPr/>
        </p:nvSpPr>
        <p:spPr>
          <a:xfrm>
            <a:off x="7067927" y="3018525"/>
            <a:ext cx="46814" cy="72506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23" name="Shape 221"/>
          <p:cNvSpPr/>
          <p:nvPr/>
        </p:nvSpPr>
        <p:spPr>
          <a:xfrm>
            <a:off x="7108390" y="3005931"/>
            <a:ext cx="46814" cy="72866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24" name="Shape 222"/>
          <p:cNvSpPr/>
          <p:nvPr/>
        </p:nvSpPr>
        <p:spPr>
          <a:xfrm>
            <a:off x="7148854" y="2993337"/>
            <a:ext cx="46814" cy="73226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25" name="Shape 223"/>
          <p:cNvSpPr/>
          <p:nvPr/>
        </p:nvSpPr>
        <p:spPr>
          <a:xfrm>
            <a:off x="7189318" y="2981642"/>
            <a:ext cx="46814" cy="73496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26" name="Shape 224"/>
          <p:cNvSpPr/>
          <p:nvPr/>
        </p:nvSpPr>
        <p:spPr>
          <a:xfrm>
            <a:off x="7229781" y="2970847"/>
            <a:ext cx="46814" cy="73675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27" name="Shape 225"/>
          <p:cNvSpPr/>
          <p:nvPr/>
        </p:nvSpPr>
        <p:spPr>
          <a:xfrm>
            <a:off x="7270245" y="2960052"/>
            <a:ext cx="46814" cy="73855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28" name="Shape 226"/>
          <p:cNvSpPr/>
          <p:nvPr/>
        </p:nvSpPr>
        <p:spPr>
          <a:xfrm>
            <a:off x="7310708" y="2949258"/>
            <a:ext cx="46814" cy="74035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29" name="Shape 227"/>
          <p:cNvSpPr/>
          <p:nvPr/>
        </p:nvSpPr>
        <p:spPr>
          <a:xfrm>
            <a:off x="7351172" y="2938463"/>
            <a:ext cx="46814" cy="74215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30" name="Shape 228"/>
          <p:cNvSpPr/>
          <p:nvPr/>
        </p:nvSpPr>
        <p:spPr>
          <a:xfrm>
            <a:off x="7391636" y="2927668"/>
            <a:ext cx="46814" cy="74395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31" name="Shape 229"/>
          <p:cNvSpPr/>
          <p:nvPr/>
        </p:nvSpPr>
        <p:spPr>
          <a:xfrm>
            <a:off x="7432099" y="2916872"/>
            <a:ext cx="46814" cy="74575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32" name="Shape 230"/>
          <p:cNvSpPr/>
          <p:nvPr/>
        </p:nvSpPr>
        <p:spPr>
          <a:xfrm>
            <a:off x="7472563" y="2906077"/>
            <a:ext cx="46814" cy="74755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33" name="Shape 231"/>
          <p:cNvSpPr/>
          <p:nvPr/>
        </p:nvSpPr>
        <p:spPr>
          <a:xfrm>
            <a:off x="7513026" y="2895283"/>
            <a:ext cx="46814" cy="74935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34" name="Shape 232"/>
          <p:cNvSpPr/>
          <p:nvPr/>
        </p:nvSpPr>
        <p:spPr>
          <a:xfrm>
            <a:off x="7553490" y="2884487"/>
            <a:ext cx="46814" cy="75115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35" name="Shape 233"/>
          <p:cNvSpPr/>
          <p:nvPr/>
        </p:nvSpPr>
        <p:spPr>
          <a:xfrm>
            <a:off x="7593954" y="2873693"/>
            <a:ext cx="46814" cy="75295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36" name="Shape 234"/>
          <p:cNvSpPr/>
          <p:nvPr/>
        </p:nvSpPr>
        <p:spPr>
          <a:xfrm>
            <a:off x="7634417" y="2862898"/>
            <a:ext cx="46814" cy="75475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37" name="Shape 235"/>
          <p:cNvSpPr/>
          <p:nvPr/>
        </p:nvSpPr>
        <p:spPr>
          <a:xfrm>
            <a:off x="7674881" y="2852102"/>
            <a:ext cx="46814" cy="75655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38" name="Shape 236"/>
          <p:cNvSpPr/>
          <p:nvPr/>
        </p:nvSpPr>
        <p:spPr>
          <a:xfrm>
            <a:off x="7715345" y="2841307"/>
            <a:ext cx="46814" cy="75834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39" name="Shape 237"/>
          <p:cNvSpPr/>
          <p:nvPr/>
        </p:nvSpPr>
        <p:spPr>
          <a:xfrm>
            <a:off x="7755808" y="2830512"/>
            <a:ext cx="46814" cy="76014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40" name="Shape 238"/>
          <p:cNvSpPr/>
          <p:nvPr/>
        </p:nvSpPr>
        <p:spPr>
          <a:xfrm>
            <a:off x="7796272" y="2819718"/>
            <a:ext cx="46814" cy="76194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41" name="Shape 239"/>
          <p:cNvSpPr/>
          <p:nvPr/>
        </p:nvSpPr>
        <p:spPr>
          <a:xfrm>
            <a:off x="7836735" y="2808923"/>
            <a:ext cx="46814" cy="76374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42" name="Shape 240"/>
          <p:cNvSpPr/>
          <p:nvPr/>
        </p:nvSpPr>
        <p:spPr>
          <a:xfrm>
            <a:off x="7877199" y="2798128"/>
            <a:ext cx="46814" cy="76554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43" name="Shape 241"/>
          <p:cNvSpPr/>
          <p:nvPr/>
        </p:nvSpPr>
        <p:spPr>
          <a:xfrm>
            <a:off x="7917663" y="2787333"/>
            <a:ext cx="46814" cy="76734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44" name="Shape 242"/>
          <p:cNvSpPr/>
          <p:nvPr/>
        </p:nvSpPr>
        <p:spPr>
          <a:xfrm>
            <a:off x="7958126" y="2776537"/>
            <a:ext cx="46814" cy="76914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45" name="Shape 243"/>
          <p:cNvSpPr/>
          <p:nvPr/>
        </p:nvSpPr>
        <p:spPr>
          <a:xfrm>
            <a:off x="7998590" y="2765743"/>
            <a:ext cx="46814" cy="77094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46" name="Shape 244"/>
          <p:cNvSpPr/>
          <p:nvPr/>
        </p:nvSpPr>
        <p:spPr>
          <a:xfrm>
            <a:off x="8039053" y="2754948"/>
            <a:ext cx="46814" cy="77274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47" name="Shape 245"/>
          <p:cNvSpPr/>
          <p:nvPr/>
        </p:nvSpPr>
        <p:spPr>
          <a:xfrm>
            <a:off x="8079517" y="2744153"/>
            <a:ext cx="46814" cy="77454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48" name="Shape 246"/>
          <p:cNvSpPr/>
          <p:nvPr/>
        </p:nvSpPr>
        <p:spPr>
          <a:xfrm>
            <a:off x="8119981" y="2733358"/>
            <a:ext cx="46814" cy="77634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49" name="Shape 247"/>
          <p:cNvSpPr/>
          <p:nvPr/>
        </p:nvSpPr>
        <p:spPr>
          <a:xfrm>
            <a:off x="3304811" y="3285702"/>
            <a:ext cx="46814" cy="4327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0" name="Shape 248"/>
          <p:cNvSpPr/>
          <p:nvPr/>
        </p:nvSpPr>
        <p:spPr>
          <a:xfrm>
            <a:off x="3345275" y="3278505"/>
            <a:ext cx="46814" cy="43449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1" name="Shape 249"/>
          <p:cNvSpPr/>
          <p:nvPr/>
        </p:nvSpPr>
        <p:spPr>
          <a:xfrm>
            <a:off x="3385738" y="3271308"/>
            <a:ext cx="46814" cy="436298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2" name="Shape 250"/>
          <p:cNvSpPr/>
          <p:nvPr/>
        </p:nvSpPr>
        <p:spPr>
          <a:xfrm>
            <a:off x="3426202" y="3264112"/>
            <a:ext cx="46814" cy="43809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3" name="Shape 251"/>
          <p:cNvSpPr/>
          <p:nvPr/>
        </p:nvSpPr>
        <p:spPr>
          <a:xfrm>
            <a:off x="3466665" y="3256915"/>
            <a:ext cx="46814" cy="43989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4" name="Shape 252"/>
          <p:cNvSpPr/>
          <p:nvPr/>
        </p:nvSpPr>
        <p:spPr>
          <a:xfrm>
            <a:off x="3507129" y="3249718"/>
            <a:ext cx="46814" cy="44169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5" name="Shape 253"/>
          <p:cNvSpPr/>
          <p:nvPr/>
        </p:nvSpPr>
        <p:spPr>
          <a:xfrm>
            <a:off x="3547593" y="3242522"/>
            <a:ext cx="46814" cy="44349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6" name="Shape 254"/>
          <p:cNvSpPr/>
          <p:nvPr/>
        </p:nvSpPr>
        <p:spPr>
          <a:xfrm>
            <a:off x="3588056" y="3235325"/>
            <a:ext cx="46814" cy="4452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7" name="Shape 255"/>
          <p:cNvSpPr/>
          <p:nvPr/>
        </p:nvSpPr>
        <p:spPr>
          <a:xfrm>
            <a:off x="3628520" y="3228128"/>
            <a:ext cx="46814" cy="44709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8" name="Shape 256"/>
          <p:cNvSpPr/>
          <p:nvPr/>
        </p:nvSpPr>
        <p:spPr>
          <a:xfrm>
            <a:off x="3668983" y="3220932"/>
            <a:ext cx="46814" cy="448892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9" name="Shape 257"/>
          <p:cNvSpPr/>
          <p:nvPr/>
        </p:nvSpPr>
        <p:spPr>
          <a:xfrm>
            <a:off x="3709447" y="3213735"/>
            <a:ext cx="46814" cy="45069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60" name="Shape 258"/>
          <p:cNvSpPr/>
          <p:nvPr/>
        </p:nvSpPr>
        <p:spPr>
          <a:xfrm>
            <a:off x="3749911" y="3206538"/>
            <a:ext cx="46814" cy="45249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61" name="Shape 259"/>
          <p:cNvSpPr/>
          <p:nvPr/>
        </p:nvSpPr>
        <p:spPr>
          <a:xfrm>
            <a:off x="3790374" y="3199342"/>
            <a:ext cx="46814" cy="45429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62" name="Shape 260"/>
          <p:cNvSpPr/>
          <p:nvPr/>
        </p:nvSpPr>
        <p:spPr>
          <a:xfrm>
            <a:off x="3830838" y="3192145"/>
            <a:ext cx="46814" cy="45608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63" name="Shape 261"/>
          <p:cNvSpPr/>
          <p:nvPr/>
        </p:nvSpPr>
        <p:spPr>
          <a:xfrm>
            <a:off x="3871301" y="3184948"/>
            <a:ext cx="46814" cy="457888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64" name="Shape 262"/>
          <p:cNvSpPr/>
          <p:nvPr/>
        </p:nvSpPr>
        <p:spPr>
          <a:xfrm>
            <a:off x="3911765" y="3177752"/>
            <a:ext cx="46814" cy="45968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65" name="Shape 263"/>
          <p:cNvSpPr/>
          <p:nvPr/>
        </p:nvSpPr>
        <p:spPr>
          <a:xfrm>
            <a:off x="3952229" y="3170555"/>
            <a:ext cx="46814" cy="46148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66" name="Shape 264"/>
          <p:cNvSpPr/>
          <p:nvPr/>
        </p:nvSpPr>
        <p:spPr>
          <a:xfrm>
            <a:off x="3992692" y="3163358"/>
            <a:ext cx="46814" cy="46328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67" name="Shape 265"/>
          <p:cNvSpPr/>
          <p:nvPr/>
        </p:nvSpPr>
        <p:spPr>
          <a:xfrm>
            <a:off x="4033156" y="3156162"/>
            <a:ext cx="46814" cy="46508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68" name="Shape 266"/>
          <p:cNvSpPr/>
          <p:nvPr/>
        </p:nvSpPr>
        <p:spPr>
          <a:xfrm>
            <a:off x="4073620" y="3148965"/>
            <a:ext cx="46814" cy="46688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69" name="Shape 267"/>
          <p:cNvSpPr/>
          <p:nvPr/>
        </p:nvSpPr>
        <p:spPr>
          <a:xfrm>
            <a:off x="4114083" y="3141768"/>
            <a:ext cx="46814" cy="46868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70" name="Shape 268"/>
          <p:cNvSpPr/>
          <p:nvPr/>
        </p:nvSpPr>
        <p:spPr>
          <a:xfrm>
            <a:off x="4154547" y="3134572"/>
            <a:ext cx="46814" cy="470482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71" name="Shape 269"/>
          <p:cNvSpPr/>
          <p:nvPr/>
        </p:nvSpPr>
        <p:spPr>
          <a:xfrm>
            <a:off x="4195010" y="3127375"/>
            <a:ext cx="46814" cy="47228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72" name="Shape 270"/>
          <p:cNvSpPr/>
          <p:nvPr/>
        </p:nvSpPr>
        <p:spPr>
          <a:xfrm>
            <a:off x="4235474" y="3120178"/>
            <a:ext cx="46814" cy="47408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73" name="Shape 271"/>
          <p:cNvSpPr/>
          <p:nvPr/>
        </p:nvSpPr>
        <p:spPr>
          <a:xfrm>
            <a:off x="4275938" y="3110283"/>
            <a:ext cx="46814" cy="47588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74" name="Shape 272"/>
          <p:cNvSpPr/>
          <p:nvPr/>
        </p:nvSpPr>
        <p:spPr>
          <a:xfrm>
            <a:off x="4316401" y="3097689"/>
            <a:ext cx="46814" cy="47767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75" name="Shape 273"/>
          <p:cNvSpPr/>
          <p:nvPr/>
        </p:nvSpPr>
        <p:spPr>
          <a:xfrm>
            <a:off x="4356865" y="3085095"/>
            <a:ext cx="46814" cy="479478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76" name="Shape 274"/>
          <p:cNvSpPr/>
          <p:nvPr/>
        </p:nvSpPr>
        <p:spPr>
          <a:xfrm>
            <a:off x="4397328" y="3072500"/>
            <a:ext cx="46814" cy="48127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77" name="Shape 275"/>
          <p:cNvSpPr/>
          <p:nvPr/>
        </p:nvSpPr>
        <p:spPr>
          <a:xfrm>
            <a:off x="4437792" y="3059906"/>
            <a:ext cx="46814" cy="48307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78" name="Shape 276"/>
          <p:cNvSpPr/>
          <p:nvPr/>
        </p:nvSpPr>
        <p:spPr>
          <a:xfrm>
            <a:off x="4478256" y="3047312"/>
            <a:ext cx="46814" cy="48487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79" name="Shape 277"/>
          <p:cNvSpPr/>
          <p:nvPr/>
        </p:nvSpPr>
        <p:spPr>
          <a:xfrm>
            <a:off x="4518719" y="3034718"/>
            <a:ext cx="46814" cy="48667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80" name="Shape 278"/>
          <p:cNvSpPr/>
          <p:nvPr/>
        </p:nvSpPr>
        <p:spPr>
          <a:xfrm>
            <a:off x="4559183" y="3022124"/>
            <a:ext cx="46814" cy="48847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81" name="Shape 279"/>
          <p:cNvSpPr/>
          <p:nvPr/>
        </p:nvSpPr>
        <p:spPr>
          <a:xfrm>
            <a:off x="4599646" y="3009530"/>
            <a:ext cx="46814" cy="49027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82" name="Shape 280"/>
          <p:cNvSpPr/>
          <p:nvPr/>
        </p:nvSpPr>
        <p:spPr>
          <a:xfrm>
            <a:off x="4640110" y="2996935"/>
            <a:ext cx="46814" cy="492072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83" name="Shape 281"/>
          <p:cNvSpPr/>
          <p:nvPr/>
        </p:nvSpPr>
        <p:spPr>
          <a:xfrm>
            <a:off x="4680574" y="2984341"/>
            <a:ext cx="46814" cy="49387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84" name="Shape 282"/>
          <p:cNvSpPr/>
          <p:nvPr/>
        </p:nvSpPr>
        <p:spPr>
          <a:xfrm>
            <a:off x="4721037" y="2971747"/>
            <a:ext cx="46814" cy="49567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85" name="Shape 283"/>
          <p:cNvSpPr/>
          <p:nvPr/>
        </p:nvSpPr>
        <p:spPr>
          <a:xfrm>
            <a:off x="4761501" y="2959153"/>
            <a:ext cx="46814" cy="49747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86" name="Shape 284"/>
          <p:cNvSpPr/>
          <p:nvPr/>
        </p:nvSpPr>
        <p:spPr>
          <a:xfrm>
            <a:off x="4801965" y="2946559"/>
            <a:ext cx="46814" cy="49926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87" name="Shape 285"/>
          <p:cNvSpPr/>
          <p:nvPr/>
        </p:nvSpPr>
        <p:spPr>
          <a:xfrm>
            <a:off x="4842428" y="2933965"/>
            <a:ext cx="46814" cy="501068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88" name="Shape 286"/>
          <p:cNvSpPr/>
          <p:nvPr/>
        </p:nvSpPr>
        <p:spPr>
          <a:xfrm>
            <a:off x="4882892" y="2921370"/>
            <a:ext cx="46814" cy="50286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89" name="Shape 287"/>
          <p:cNvSpPr/>
          <p:nvPr/>
        </p:nvSpPr>
        <p:spPr>
          <a:xfrm>
            <a:off x="4923355" y="2908776"/>
            <a:ext cx="46814" cy="50466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0" name="Shape 288"/>
          <p:cNvSpPr/>
          <p:nvPr/>
        </p:nvSpPr>
        <p:spPr>
          <a:xfrm>
            <a:off x="4963819" y="2896182"/>
            <a:ext cx="46814" cy="50646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1" name="Shape 289"/>
          <p:cNvSpPr/>
          <p:nvPr/>
        </p:nvSpPr>
        <p:spPr>
          <a:xfrm>
            <a:off x="5004283" y="2883588"/>
            <a:ext cx="46814" cy="50826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2" name="Shape 290"/>
          <p:cNvSpPr/>
          <p:nvPr/>
        </p:nvSpPr>
        <p:spPr>
          <a:xfrm>
            <a:off x="5044746" y="2870994"/>
            <a:ext cx="46814" cy="51006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3" name="Shape 291"/>
          <p:cNvSpPr/>
          <p:nvPr/>
        </p:nvSpPr>
        <p:spPr>
          <a:xfrm>
            <a:off x="5085210" y="2858400"/>
            <a:ext cx="46814" cy="51186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4" name="Shape 292"/>
          <p:cNvSpPr/>
          <p:nvPr/>
        </p:nvSpPr>
        <p:spPr>
          <a:xfrm>
            <a:off x="5125673" y="2845805"/>
            <a:ext cx="46814" cy="513662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5" name="Shape 293"/>
          <p:cNvSpPr/>
          <p:nvPr/>
        </p:nvSpPr>
        <p:spPr>
          <a:xfrm>
            <a:off x="5166137" y="2833211"/>
            <a:ext cx="46814" cy="51546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6" name="Shape 294"/>
          <p:cNvSpPr/>
          <p:nvPr/>
        </p:nvSpPr>
        <p:spPr>
          <a:xfrm>
            <a:off x="5206601" y="2820617"/>
            <a:ext cx="46814" cy="51726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7" name="Shape 295"/>
          <p:cNvSpPr/>
          <p:nvPr/>
        </p:nvSpPr>
        <p:spPr>
          <a:xfrm>
            <a:off x="5247064" y="2811621"/>
            <a:ext cx="46814" cy="51995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8" name="Shape 296"/>
          <p:cNvSpPr/>
          <p:nvPr/>
        </p:nvSpPr>
        <p:spPr>
          <a:xfrm>
            <a:off x="5287528" y="2806224"/>
            <a:ext cx="46814" cy="52355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9" name="Shape 297"/>
          <p:cNvSpPr/>
          <p:nvPr/>
        </p:nvSpPr>
        <p:spPr>
          <a:xfrm>
            <a:off x="5327991" y="2800826"/>
            <a:ext cx="46814" cy="52715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00" name="Shape 298"/>
          <p:cNvSpPr/>
          <p:nvPr/>
        </p:nvSpPr>
        <p:spPr>
          <a:xfrm>
            <a:off x="5368455" y="2795429"/>
            <a:ext cx="46814" cy="53075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01" name="Shape 299"/>
          <p:cNvSpPr/>
          <p:nvPr/>
        </p:nvSpPr>
        <p:spPr>
          <a:xfrm>
            <a:off x="5408919" y="2790031"/>
            <a:ext cx="46814" cy="534352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02" name="Shape 300"/>
          <p:cNvSpPr/>
          <p:nvPr/>
        </p:nvSpPr>
        <p:spPr>
          <a:xfrm>
            <a:off x="5449382" y="2784634"/>
            <a:ext cx="46814" cy="53795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03" name="Shape 301"/>
          <p:cNvSpPr/>
          <p:nvPr/>
        </p:nvSpPr>
        <p:spPr>
          <a:xfrm>
            <a:off x="5489846" y="2779236"/>
            <a:ext cx="46814" cy="54154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04" name="Shape 302"/>
          <p:cNvSpPr/>
          <p:nvPr/>
        </p:nvSpPr>
        <p:spPr>
          <a:xfrm>
            <a:off x="5530310" y="2773839"/>
            <a:ext cx="46814" cy="54514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05" name="Shape 303"/>
          <p:cNvSpPr/>
          <p:nvPr/>
        </p:nvSpPr>
        <p:spPr>
          <a:xfrm>
            <a:off x="5570773" y="2768441"/>
            <a:ext cx="46814" cy="54874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06" name="Shape 304"/>
          <p:cNvSpPr/>
          <p:nvPr/>
        </p:nvSpPr>
        <p:spPr>
          <a:xfrm>
            <a:off x="5611237" y="2763044"/>
            <a:ext cx="46814" cy="55234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07" name="Shape 305"/>
          <p:cNvSpPr/>
          <p:nvPr/>
        </p:nvSpPr>
        <p:spPr>
          <a:xfrm>
            <a:off x="5651700" y="2757646"/>
            <a:ext cx="46814" cy="555942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08" name="Shape 306"/>
          <p:cNvSpPr/>
          <p:nvPr/>
        </p:nvSpPr>
        <p:spPr>
          <a:xfrm>
            <a:off x="5692164" y="2752249"/>
            <a:ext cx="46814" cy="55954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09" name="Shape 307"/>
          <p:cNvSpPr/>
          <p:nvPr/>
        </p:nvSpPr>
        <p:spPr>
          <a:xfrm>
            <a:off x="5732628" y="2746851"/>
            <a:ext cx="46814" cy="56313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10" name="Shape 308"/>
          <p:cNvSpPr/>
          <p:nvPr/>
        </p:nvSpPr>
        <p:spPr>
          <a:xfrm>
            <a:off x="5773091" y="2741454"/>
            <a:ext cx="46814" cy="56673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11" name="Shape 309"/>
          <p:cNvSpPr/>
          <p:nvPr/>
        </p:nvSpPr>
        <p:spPr>
          <a:xfrm>
            <a:off x="5813555" y="2736056"/>
            <a:ext cx="46814" cy="57033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12" name="Shape 310"/>
          <p:cNvSpPr/>
          <p:nvPr/>
        </p:nvSpPr>
        <p:spPr>
          <a:xfrm>
            <a:off x="5854018" y="2730659"/>
            <a:ext cx="46814" cy="57393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13" name="Shape 311"/>
          <p:cNvSpPr/>
          <p:nvPr/>
        </p:nvSpPr>
        <p:spPr>
          <a:xfrm>
            <a:off x="5894482" y="2725261"/>
            <a:ext cx="46814" cy="57753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14" name="Shape 312"/>
          <p:cNvSpPr/>
          <p:nvPr/>
        </p:nvSpPr>
        <p:spPr>
          <a:xfrm>
            <a:off x="5934946" y="2719864"/>
            <a:ext cx="46814" cy="58113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15" name="Shape 313"/>
          <p:cNvSpPr/>
          <p:nvPr/>
        </p:nvSpPr>
        <p:spPr>
          <a:xfrm>
            <a:off x="5975409" y="2714466"/>
            <a:ext cx="46814" cy="58472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16" name="Shape 314"/>
          <p:cNvSpPr/>
          <p:nvPr/>
        </p:nvSpPr>
        <p:spPr>
          <a:xfrm>
            <a:off x="6015873" y="2709069"/>
            <a:ext cx="46814" cy="588328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17" name="Shape 315"/>
          <p:cNvSpPr/>
          <p:nvPr/>
        </p:nvSpPr>
        <p:spPr>
          <a:xfrm>
            <a:off x="6056336" y="2703671"/>
            <a:ext cx="46814" cy="59192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18" name="Shape 316"/>
          <p:cNvSpPr/>
          <p:nvPr/>
        </p:nvSpPr>
        <p:spPr>
          <a:xfrm>
            <a:off x="6096800" y="2698274"/>
            <a:ext cx="46814" cy="59552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19" name="Shape 317"/>
          <p:cNvSpPr/>
          <p:nvPr/>
        </p:nvSpPr>
        <p:spPr>
          <a:xfrm>
            <a:off x="6137264" y="2692876"/>
            <a:ext cx="46814" cy="59912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20" name="Shape 318"/>
          <p:cNvSpPr/>
          <p:nvPr/>
        </p:nvSpPr>
        <p:spPr>
          <a:xfrm>
            <a:off x="6177727" y="2687479"/>
            <a:ext cx="46814" cy="60272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21" name="Shape 319"/>
          <p:cNvSpPr/>
          <p:nvPr/>
        </p:nvSpPr>
        <p:spPr>
          <a:xfrm>
            <a:off x="6218191" y="2679382"/>
            <a:ext cx="46814" cy="60362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22" name="Shape 320"/>
          <p:cNvSpPr/>
          <p:nvPr/>
        </p:nvSpPr>
        <p:spPr>
          <a:xfrm>
            <a:off x="6258655" y="2668587"/>
            <a:ext cx="46814" cy="60182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23" name="Shape 321"/>
          <p:cNvSpPr/>
          <p:nvPr/>
        </p:nvSpPr>
        <p:spPr>
          <a:xfrm>
            <a:off x="6299118" y="2657792"/>
            <a:ext cx="46814" cy="600022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24" name="Shape 322"/>
          <p:cNvSpPr/>
          <p:nvPr/>
        </p:nvSpPr>
        <p:spPr>
          <a:xfrm>
            <a:off x="6339582" y="2646998"/>
            <a:ext cx="46814" cy="59822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25" name="Shape 323"/>
          <p:cNvSpPr/>
          <p:nvPr/>
        </p:nvSpPr>
        <p:spPr>
          <a:xfrm>
            <a:off x="6380045" y="2636202"/>
            <a:ext cx="46814" cy="59642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26" name="Shape 324"/>
          <p:cNvSpPr/>
          <p:nvPr/>
        </p:nvSpPr>
        <p:spPr>
          <a:xfrm>
            <a:off x="6420509" y="2625407"/>
            <a:ext cx="46814" cy="59462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27" name="Shape 325"/>
          <p:cNvSpPr/>
          <p:nvPr/>
        </p:nvSpPr>
        <p:spPr>
          <a:xfrm>
            <a:off x="6460973" y="2614612"/>
            <a:ext cx="46814" cy="59282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28" name="Shape 326"/>
          <p:cNvSpPr/>
          <p:nvPr/>
        </p:nvSpPr>
        <p:spPr>
          <a:xfrm>
            <a:off x="6501436" y="2603817"/>
            <a:ext cx="46814" cy="59102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29" name="Shape 327"/>
          <p:cNvSpPr/>
          <p:nvPr/>
        </p:nvSpPr>
        <p:spPr>
          <a:xfrm>
            <a:off x="6541900" y="2593023"/>
            <a:ext cx="46814" cy="58922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30" name="Shape 328"/>
          <p:cNvSpPr/>
          <p:nvPr/>
        </p:nvSpPr>
        <p:spPr>
          <a:xfrm>
            <a:off x="6582363" y="2582227"/>
            <a:ext cx="46814" cy="587428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31" name="Shape 329"/>
          <p:cNvSpPr/>
          <p:nvPr/>
        </p:nvSpPr>
        <p:spPr>
          <a:xfrm>
            <a:off x="6622827" y="2571432"/>
            <a:ext cx="46814" cy="58562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32" name="Shape 330"/>
          <p:cNvSpPr/>
          <p:nvPr/>
        </p:nvSpPr>
        <p:spPr>
          <a:xfrm>
            <a:off x="6663291" y="2560637"/>
            <a:ext cx="46814" cy="58383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33" name="Shape 331"/>
          <p:cNvSpPr/>
          <p:nvPr/>
        </p:nvSpPr>
        <p:spPr>
          <a:xfrm>
            <a:off x="6703754" y="2549842"/>
            <a:ext cx="46814" cy="58203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34" name="Shape 332"/>
          <p:cNvSpPr/>
          <p:nvPr/>
        </p:nvSpPr>
        <p:spPr>
          <a:xfrm>
            <a:off x="6744218" y="2539047"/>
            <a:ext cx="46814" cy="58023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35" name="Shape 333"/>
          <p:cNvSpPr/>
          <p:nvPr/>
        </p:nvSpPr>
        <p:spPr>
          <a:xfrm>
            <a:off x="6784681" y="2528252"/>
            <a:ext cx="46814" cy="578432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36" name="Shape 334"/>
          <p:cNvSpPr/>
          <p:nvPr/>
        </p:nvSpPr>
        <p:spPr>
          <a:xfrm>
            <a:off x="6825145" y="2517458"/>
            <a:ext cx="46814" cy="57663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37" name="Shape 335"/>
          <p:cNvSpPr/>
          <p:nvPr/>
        </p:nvSpPr>
        <p:spPr>
          <a:xfrm>
            <a:off x="6865609" y="2506663"/>
            <a:ext cx="46814" cy="57483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38" name="Shape 336"/>
          <p:cNvSpPr/>
          <p:nvPr/>
        </p:nvSpPr>
        <p:spPr>
          <a:xfrm>
            <a:off x="6906072" y="2495867"/>
            <a:ext cx="46814" cy="57303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39" name="Shape 337"/>
          <p:cNvSpPr/>
          <p:nvPr/>
        </p:nvSpPr>
        <p:spPr>
          <a:xfrm>
            <a:off x="6946536" y="2485073"/>
            <a:ext cx="46814" cy="57123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40" name="Shape 338"/>
          <p:cNvSpPr/>
          <p:nvPr/>
        </p:nvSpPr>
        <p:spPr>
          <a:xfrm>
            <a:off x="6987000" y="2474277"/>
            <a:ext cx="46814" cy="56943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41" name="Shape 339"/>
          <p:cNvSpPr/>
          <p:nvPr/>
        </p:nvSpPr>
        <p:spPr>
          <a:xfrm>
            <a:off x="7027463" y="2463483"/>
            <a:ext cx="46814" cy="56763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42" name="Shape 340"/>
          <p:cNvSpPr/>
          <p:nvPr/>
        </p:nvSpPr>
        <p:spPr>
          <a:xfrm>
            <a:off x="7067927" y="2452688"/>
            <a:ext cx="46814" cy="565838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43" name="Shape 341"/>
          <p:cNvSpPr/>
          <p:nvPr/>
        </p:nvSpPr>
        <p:spPr>
          <a:xfrm>
            <a:off x="7108390" y="2441893"/>
            <a:ext cx="46814" cy="56403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44" name="Shape 342"/>
          <p:cNvSpPr/>
          <p:nvPr/>
        </p:nvSpPr>
        <p:spPr>
          <a:xfrm>
            <a:off x="7148854" y="2431097"/>
            <a:ext cx="46814" cy="56224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45" name="Shape 343"/>
          <p:cNvSpPr/>
          <p:nvPr/>
        </p:nvSpPr>
        <p:spPr>
          <a:xfrm>
            <a:off x="7189318" y="2418503"/>
            <a:ext cx="46814" cy="56313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46" name="Shape 344"/>
          <p:cNvSpPr/>
          <p:nvPr/>
        </p:nvSpPr>
        <p:spPr>
          <a:xfrm>
            <a:off x="7229781" y="2404110"/>
            <a:ext cx="46814" cy="56673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47" name="Shape 345"/>
          <p:cNvSpPr/>
          <p:nvPr/>
        </p:nvSpPr>
        <p:spPr>
          <a:xfrm>
            <a:off x="7270245" y="2389717"/>
            <a:ext cx="46814" cy="57033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48" name="Shape 346"/>
          <p:cNvSpPr/>
          <p:nvPr/>
        </p:nvSpPr>
        <p:spPr>
          <a:xfrm>
            <a:off x="7310708" y="2375323"/>
            <a:ext cx="46814" cy="57393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49" name="Shape 347"/>
          <p:cNvSpPr/>
          <p:nvPr/>
        </p:nvSpPr>
        <p:spPr>
          <a:xfrm>
            <a:off x="7351172" y="2360930"/>
            <a:ext cx="46814" cy="577532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50" name="Shape 348"/>
          <p:cNvSpPr/>
          <p:nvPr/>
        </p:nvSpPr>
        <p:spPr>
          <a:xfrm>
            <a:off x="7391636" y="2346537"/>
            <a:ext cx="46814" cy="58113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51" name="Shape 349"/>
          <p:cNvSpPr/>
          <p:nvPr/>
        </p:nvSpPr>
        <p:spPr>
          <a:xfrm>
            <a:off x="7432099" y="2332143"/>
            <a:ext cx="46814" cy="58472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52" name="Shape 350"/>
          <p:cNvSpPr/>
          <p:nvPr/>
        </p:nvSpPr>
        <p:spPr>
          <a:xfrm>
            <a:off x="7472563" y="2317750"/>
            <a:ext cx="46814" cy="58832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53" name="Shape 351"/>
          <p:cNvSpPr/>
          <p:nvPr/>
        </p:nvSpPr>
        <p:spPr>
          <a:xfrm>
            <a:off x="7513026" y="2303357"/>
            <a:ext cx="46814" cy="59192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54" name="Shape 352"/>
          <p:cNvSpPr/>
          <p:nvPr/>
        </p:nvSpPr>
        <p:spPr>
          <a:xfrm>
            <a:off x="7553490" y="2288963"/>
            <a:ext cx="46814" cy="59552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55" name="Shape 353"/>
          <p:cNvSpPr/>
          <p:nvPr/>
        </p:nvSpPr>
        <p:spPr>
          <a:xfrm>
            <a:off x="7593954" y="2274570"/>
            <a:ext cx="46814" cy="59912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56" name="Shape 354"/>
          <p:cNvSpPr/>
          <p:nvPr/>
        </p:nvSpPr>
        <p:spPr>
          <a:xfrm>
            <a:off x="7634417" y="2260177"/>
            <a:ext cx="46814" cy="60272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57" name="Shape 355"/>
          <p:cNvSpPr/>
          <p:nvPr/>
        </p:nvSpPr>
        <p:spPr>
          <a:xfrm>
            <a:off x="7674881" y="2245783"/>
            <a:ext cx="46814" cy="60631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58" name="Shape 356"/>
          <p:cNvSpPr/>
          <p:nvPr/>
        </p:nvSpPr>
        <p:spPr>
          <a:xfrm>
            <a:off x="7715345" y="2231390"/>
            <a:ext cx="46814" cy="60991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59" name="Shape 357"/>
          <p:cNvSpPr/>
          <p:nvPr/>
        </p:nvSpPr>
        <p:spPr>
          <a:xfrm>
            <a:off x="7755808" y="2216997"/>
            <a:ext cx="46814" cy="61351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60" name="Shape 358"/>
          <p:cNvSpPr/>
          <p:nvPr/>
        </p:nvSpPr>
        <p:spPr>
          <a:xfrm>
            <a:off x="7796272" y="2202603"/>
            <a:ext cx="46814" cy="61711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61" name="Shape 359"/>
          <p:cNvSpPr/>
          <p:nvPr/>
        </p:nvSpPr>
        <p:spPr>
          <a:xfrm>
            <a:off x="7836735" y="2188210"/>
            <a:ext cx="46814" cy="62071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62" name="Shape 360"/>
          <p:cNvSpPr/>
          <p:nvPr/>
        </p:nvSpPr>
        <p:spPr>
          <a:xfrm>
            <a:off x="7877199" y="2173817"/>
            <a:ext cx="46814" cy="62431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63" name="Shape 361"/>
          <p:cNvSpPr/>
          <p:nvPr/>
        </p:nvSpPr>
        <p:spPr>
          <a:xfrm>
            <a:off x="7917663" y="2159423"/>
            <a:ext cx="46814" cy="62790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64" name="Shape 362"/>
          <p:cNvSpPr/>
          <p:nvPr/>
        </p:nvSpPr>
        <p:spPr>
          <a:xfrm>
            <a:off x="7958126" y="2145030"/>
            <a:ext cx="46814" cy="63150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65" name="Shape 363"/>
          <p:cNvSpPr/>
          <p:nvPr/>
        </p:nvSpPr>
        <p:spPr>
          <a:xfrm>
            <a:off x="7998590" y="2130637"/>
            <a:ext cx="46814" cy="63510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66" name="Shape 364"/>
          <p:cNvSpPr/>
          <p:nvPr/>
        </p:nvSpPr>
        <p:spPr>
          <a:xfrm>
            <a:off x="8039053" y="2116243"/>
            <a:ext cx="46814" cy="63870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67" name="Shape 365"/>
          <p:cNvSpPr/>
          <p:nvPr/>
        </p:nvSpPr>
        <p:spPr>
          <a:xfrm>
            <a:off x="8079517" y="2101850"/>
            <a:ext cx="46814" cy="64230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68" name="Shape 366"/>
          <p:cNvSpPr/>
          <p:nvPr/>
        </p:nvSpPr>
        <p:spPr>
          <a:xfrm>
            <a:off x="8119981" y="2087457"/>
            <a:ext cx="46814" cy="64590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69" name="Shape 367"/>
          <p:cNvSpPr/>
          <p:nvPr/>
        </p:nvSpPr>
        <p:spPr>
          <a:xfrm>
            <a:off x="2819248" y="5232400"/>
            <a:ext cx="582676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70" name="Text 368"/>
          <p:cNvSpPr/>
          <p:nvPr/>
        </p:nvSpPr>
        <p:spPr>
          <a:xfrm>
            <a:off x="8696808" y="2318385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Services</a:t>
            </a:r>
            <a:endParaRPr lang="en-US" sz="1000" dirty="0"/>
          </a:p>
        </p:txBody>
      </p:sp>
      <p:sp>
        <p:nvSpPr>
          <p:cNvPr id="371" name="Text 369"/>
          <p:cNvSpPr/>
          <p:nvPr/>
        </p:nvSpPr>
        <p:spPr>
          <a:xfrm>
            <a:off x="8696808" y="3030855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Licenses</a:t>
            </a:r>
            <a:endParaRPr lang="en-US" sz="1000" dirty="0"/>
          </a:p>
        </p:txBody>
      </p:sp>
      <p:sp>
        <p:nvSpPr>
          <p:cNvPr id="372" name="Text 370"/>
          <p:cNvSpPr/>
          <p:nvPr/>
        </p:nvSpPr>
        <p:spPr>
          <a:xfrm>
            <a:off x="8696808" y="4283075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1000" dirty="0"/>
          </a:p>
        </p:txBody>
      </p:sp>
      <p:sp>
        <p:nvSpPr>
          <p:cNvPr id="373" name="Text 371"/>
          <p:cNvSpPr/>
          <p:nvPr/>
        </p:nvSpPr>
        <p:spPr>
          <a:xfrm>
            <a:off x="8671408" y="51435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374" name="Text 372"/>
          <p:cNvSpPr/>
          <p:nvPr/>
        </p:nvSpPr>
        <p:spPr>
          <a:xfrm>
            <a:off x="8671408" y="3992033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375" name="Text 373"/>
          <p:cNvSpPr/>
          <p:nvPr/>
        </p:nvSpPr>
        <p:spPr>
          <a:xfrm>
            <a:off x="8671408" y="2840567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376" name="Text 374"/>
          <p:cNvSpPr/>
          <p:nvPr/>
        </p:nvSpPr>
        <p:spPr>
          <a:xfrm>
            <a:off x="8671408" y="16891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377" name="Shape 375"/>
          <p:cNvSpPr/>
          <p:nvPr/>
        </p:nvSpPr>
        <p:spPr>
          <a:xfrm>
            <a:off x="3274331" y="2668693"/>
            <a:ext cx="60960" cy="60960"/>
          </a:xfrm>
          <a:prstGeom prst="rect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8" name="Text 376"/>
          <p:cNvSpPr/>
          <p:nvPr/>
        </p:nvSpPr>
        <p:spPr>
          <a:xfrm>
            <a:off x="2923811" y="2489623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379" name="Shape 377"/>
          <p:cNvSpPr/>
          <p:nvPr/>
        </p:nvSpPr>
        <p:spPr>
          <a:xfrm flipV="1">
            <a:off x="3304811" y="2468880"/>
            <a:ext cx="971127" cy="230293"/>
          </a:xfrm>
          <a:prstGeom prst="line">
            <a:avLst/>
          </a:prstGeom>
          <a:noFill/>
          <a:ln w="25400">
            <a:solidFill>
              <a:srgbClr val="008300"/>
            </a:solidFill>
            <a:prstDash val="solid"/>
          </a:ln>
        </p:spPr>
      </p:sp>
      <p:sp>
        <p:nvSpPr>
          <p:cNvPr id="380" name="Shape 378"/>
          <p:cNvSpPr/>
          <p:nvPr/>
        </p:nvSpPr>
        <p:spPr>
          <a:xfrm>
            <a:off x="4245458" y="2438400"/>
            <a:ext cx="60960" cy="60960"/>
          </a:xfrm>
          <a:prstGeom prst="rect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1" name="Text 379"/>
          <p:cNvSpPr/>
          <p:nvPr/>
        </p:nvSpPr>
        <p:spPr>
          <a:xfrm>
            <a:off x="3894938" y="225933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24</a:t>
            </a:r>
            <a:endParaRPr lang="en-US" sz="1000" dirty="0"/>
          </a:p>
        </p:txBody>
      </p:sp>
      <p:sp>
        <p:nvSpPr>
          <p:cNvPr id="382" name="Shape 380"/>
          <p:cNvSpPr/>
          <p:nvPr/>
        </p:nvSpPr>
        <p:spPr>
          <a:xfrm flipV="1">
            <a:off x="4275938" y="2238587"/>
            <a:ext cx="971127" cy="230293"/>
          </a:xfrm>
          <a:prstGeom prst="line">
            <a:avLst/>
          </a:prstGeom>
          <a:noFill/>
          <a:ln w="25400">
            <a:solidFill>
              <a:srgbClr val="008300"/>
            </a:solidFill>
            <a:prstDash val="solid"/>
          </a:ln>
        </p:spPr>
      </p:sp>
      <p:sp>
        <p:nvSpPr>
          <p:cNvPr id="383" name="Shape 381"/>
          <p:cNvSpPr/>
          <p:nvPr/>
        </p:nvSpPr>
        <p:spPr>
          <a:xfrm>
            <a:off x="5216584" y="2208107"/>
            <a:ext cx="60960" cy="60960"/>
          </a:xfrm>
          <a:prstGeom prst="rect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4" name="Text 382"/>
          <p:cNvSpPr/>
          <p:nvPr/>
        </p:nvSpPr>
        <p:spPr>
          <a:xfrm>
            <a:off x="4866064" y="2029037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385" name="Shape 383"/>
          <p:cNvSpPr/>
          <p:nvPr/>
        </p:nvSpPr>
        <p:spPr>
          <a:xfrm>
            <a:off x="5247064" y="2238587"/>
            <a:ext cx="971127" cy="115147"/>
          </a:xfrm>
          <a:prstGeom prst="line">
            <a:avLst/>
          </a:prstGeom>
          <a:noFill/>
          <a:ln w="25400">
            <a:solidFill>
              <a:srgbClr val="008300"/>
            </a:solidFill>
            <a:prstDash val="solid"/>
          </a:ln>
        </p:spPr>
      </p:sp>
      <p:sp>
        <p:nvSpPr>
          <p:cNvPr id="386" name="Shape 384"/>
          <p:cNvSpPr/>
          <p:nvPr/>
        </p:nvSpPr>
        <p:spPr>
          <a:xfrm>
            <a:off x="6187711" y="2323253"/>
            <a:ext cx="60960" cy="60960"/>
          </a:xfrm>
          <a:prstGeom prst="rect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7" name="Text 385"/>
          <p:cNvSpPr/>
          <p:nvPr/>
        </p:nvSpPr>
        <p:spPr>
          <a:xfrm>
            <a:off x="5837191" y="2144183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1000" dirty="0"/>
          </a:p>
        </p:txBody>
      </p:sp>
      <p:sp>
        <p:nvSpPr>
          <p:cNvPr id="388" name="Shape 386"/>
          <p:cNvSpPr/>
          <p:nvPr/>
        </p:nvSpPr>
        <p:spPr>
          <a:xfrm flipV="1">
            <a:off x="6218191" y="2008293"/>
            <a:ext cx="971127" cy="345440"/>
          </a:xfrm>
          <a:prstGeom prst="line">
            <a:avLst/>
          </a:prstGeom>
          <a:noFill/>
          <a:ln w="25400">
            <a:solidFill>
              <a:srgbClr val="008300"/>
            </a:solidFill>
            <a:prstDash val="solid"/>
          </a:ln>
        </p:spPr>
      </p:sp>
      <p:sp>
        <p:nvSpPr>
          <p:cNvPr id="389" name="Shape 387"/>
          <p:cNvSpPr/>
          <p:nvPr/>
        </p:nvSpPr>
        <p:spPr>
          <a:xfrm>
            <a:off x="7158838" y="1977813"/>
            <a:ext cx="60960" cy="60960"/>
          </a:xfrm>
          <a:prstGeom prst="rect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0" name="Text 388"/>
          <p:cNvSpPr/>
          <p:nvPr/>
        </p:nvSpPr>
        <p:spPr>
          <a:xfrm>
            <a:off x="6808318" y="1798743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28</a:t>
            </a:r>
            <a:endParaRPr lang="en-US" sz="1000" dirty="0"/>
          </a:p>
        </p:txBody>
      </p:sp>
      <p:sp>
        <p:nvSpPr>
          <p:cNvPr id="391" name="Shape 389"/>
          <p:cNvSpPr/>
          <p:nvPr/>
        </p:nvSpPr>
        <p:spPr>
          <a:xfrm flipV="1">
            <a:off x="7189318" y="1778000"/>
            <a:ext cx="971127" cy="230293"/>
          </a:xfrm>
          <a:prstGeom prst="line">
            <a:avLst/>
          </a:prstGeom>
          <a:noFill/>
          <a:ln w="25400">
            <a:solidFill>
              <a:srgbClr val="008300"/>
            </a:solidFill>
            <a:prstDash val="solid"/>
          </a:ln>
        </p:spPr>
      </p:sp>
      <p:sp>
        <p:nvSpPr>
          <p:cNvPr id="392" name="Shape 390"/>
          <p:cNvSpPr/>
          <p:nvPr/>
        </p:nvSpPr>
        <p:spPr>
          <a:xfrm>
            <a:off x="8129964" y="1747520"/>
            <a:ext cx="60960" cy="60960"/>
          </a:xfrm>
          <a:prstGeom prst="rect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3" name="Text 391"/>
          <p:cNvSpPr/>
          <p:nvPr/>
        </p:nvSpPr>
        <p:spPr>
          <a:xfrm>
            <a:off x="7779444" y="156845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394" name="Text 392"/>
          <p:cNvSpPr/>
          <p:nvPr/>
        </p:nvSpPr>
        <p:spPr>
          <a:xfrm>
            <a:off x="8696808" y="1504950"/>
            <a:ext cx="7010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Margin %</a:t>
            </a:r>
            <a:endParaRPr lang="en-US" sz="1000" dirty="0"/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158848" y="1778000"/>
            <a:ext cx="7874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Programme plan — cost and effort beside the bars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794862" y="2260600"/>
            <a:ext cx="0" cy="2743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490062" y="2057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706550" y="2260600"/>
            <a:ext cx="0" cy="2743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01750" y="2057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7618239" y="2260600"/>
            <a:ext cx="0" cy="2743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3439" y="2057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9529928" y="2260600"/>
            <a:ext cx="0" cy="2743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225128" y="2057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158848" y="2273300"/>
            <a:ext cx="7874000" cy="431800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12" name="Text 10"/>
          <p:cNvSpPr/>
          <p:nvPr/>
        </p:nvSpPr>
        <p:spPr>
          <a:xfrm>
            <a:off x="2158848" y="2393950"/>
            <a:ext cx="7874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Discovery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794862" y="2453640"/>
            <a:ext cx="1911689" cy="71120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14" name="Shape 12"/>
          <p:cNvSpPr/>
          <p:nvPr/>
        </p:nvSpPr>
        <p:spPr>
          <a:xfrm>
            <a:off x="3794862" y="2453640"/>
            <a:ext cx="0" cy="135128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706550" y="2453640"/>
            <a:ext cx="0" cy="135128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285848" y="2851150"/>
            <a:ext cx="5410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Research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9606128" y="2851150"/>
            <a:ext cx="3505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Ana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794862" y="2717800"/>
            <a:ext cx="5735066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794862" y="2857500"/>
            <a:ext cx="1147013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Text 18"/>
          <p:cNvSpPr/>
          <p:nvPr/>
        </p:nvSpPr>
        <p:spPr>
          <a:xfrm>
            <a:off x="3794862" y="2857500"/>
            <a:ext cx="114701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0–3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2285848" y="3308350"/>
            <a:ext cx="5410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Concept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9606128" y="3308350"/>
            <a:ext cx="3505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Ana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794862" y="3175000"/>
            <a:ext cx="5735066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941875" y="3314700"/>
            <a:ext cx="764675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Text 23"/>
          <p:cNvSpPr/>
          <p:nvPr/>
        </p:nvSpPr>
        <p:spPr>
          <a:xfrm>
            <a:off x="4941875" y="3314700"/>
            <a:ext cx="7646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3–5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2158848" y="3644900"/>
            <a:ext cx="7874000" cy="431800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27" name="Text 25"/>
          <p:cNvSpPr/>
          <p:nvPr/>
        </p:nvSpPr>
        <p:spPr>
          <a:xfrm>
            <a:off x="2158848" y="3765550"/>
            <a:ext cx="7874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Delivery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5706550" y="3825240"/>
            <a:ext cx="3441040" cy="71120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29" name="Shape 27"/>
          <p:cNvSpPr/>
          <p:nvPr/>
        </p:nvSpPr>
        <p:spPr>
          <a:xfrm>
            <a:off x="5706550" y="3825240"/>
            <a:ext cx="0" cy="135128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9147590" y="3825240"/>
            <a:ext cx="0" cy="135128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285848" y="4222750"/>
            <a:ext cx="5410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9606128" y="4222750"/>
            <a:ext cx="3505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Ben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3794862" y="4089400"/>
            <a:ext cx="5735066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706550" y="4229100"/>
            <a:ext cx="2294026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Text 33"/>
          <p:cNvSpPr/>
          <p:nvPr/>
        </p:nvSpPr>
        <p:spPr>
          <a:xfrm>
            <a:off x="5706550" y="4229100"/>
            <a:ext cx="229402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5–11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2285848" y="4679950"/>
            <a:ext cx="5410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QA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9606128" y="4679950"/>
            <a:ext cx="3505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Cara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3794862" y="4546600"/>
            <a:ext cx="5735066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8000577" y="4686300"/>
            <a:ext cx="1147013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0" name="Text 38"/>
          <p:cNvSpPr/>
          <p:nvPr/>
        </p:nvSpPr>
        <p:spPr>
          <a:xfrm>
            <a:off x="8000577" y="4686300"/>
            <a:ext cx="114701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11–14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2903068" y="2057400"/>
            <a:ext cx="482854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 k€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2903068" y="2393950"/>
            <a:ext cx="48285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2903068" y="2851150"/>
            <a:ext cx="48285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2903068" y="3308350"/>
            <a:ext cx="48285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75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2903068" y="3765550"/>
            <a:ext cx="48285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260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2903068" y="4222750"/>
            <a:ext cx="48285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191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2903068" y="4679950"/>
            <a:ext cx="48285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3462122" y="2057400"/>
            <a:ext cx="25654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FTE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3462122" y="2393950"/>
            <a:ext cx="2565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2.0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3462122" y="2851150"/>
            <a:ext cx="2565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1.0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3462122" y="3308350"/>
            <a:ext cx="2565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1.0</a:t>
            </a:r>
            <a:endParaRPr lang="en-US" sz="1000" dirty="0"/>
          </a:p>
        </p:txBody>
      </p:sp>
      <p:sp>
        <p:nvSpPr>
          <p:cNvPr id="52" name="Text 50"/>
          <p:cNvSpPr/>
          <p:nvPr/>
        </p:nvSpPr>
        <p:spPr>
          <a:xfrm>
            <a:off x="3462122" y="3765550"/>
            <a:ext cx="2565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3.0</a:t>
            </a:r>
            <a:endParaRPr lang="en-US" sz="1000" dirty="0"/>
          </a:p>
        </p:txBody>
      </p:sp>
      <p:sp>
        <p:nvSpPr>
          <p:cNvPr id="53" name="Text 51"/>
          <p:cNvSpPr/>
          <p:nvPr/>
        </p:nvSpPr>
        <p:spPr>
          <a:xfrm>
            <a:off x="3462122" y="4222750"/>
            <a:ext cx="2565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2.0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3462122" y="4679950"/>
            <a:ext cx="2565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1.0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110</Slides>
  <Notes>110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110</vt:i4>
      </vt:variant>
    </vt:vector>
  </HeadingPairs>
  <TitlesOfParts>
    <vt:vector size="1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  <vt:lpstr>Slide 101</vt:lpstr>
      <vt:lpstr>Slide 102</vt:lpstr>
      <vt:lpstr>Slide 103</vt:lpstr>
      <vt:lpstr>Slide 104</vt:lpstr>
      <vt:lpstr>Slide 105</vt:lpstr>
      <vt:lpstr>Slide 106</vt:lpstr>
      <vt:lpstr>Slide 107</vt:lpstr>
      <vt:lpstr>Slide 108</vt:lpstr>
      <vt:lpstr>Slide 109</vt:lpstr>
      <vt:lpstr>Slide 110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2026-07-16T19:42:50Z</dcterms:created>
  <dcterms:modified xsi:type="dcterms:W3CDTF">2026-07-16T19:42:50Z</dcterms:modified>
</cp:coreProperties>
</file>
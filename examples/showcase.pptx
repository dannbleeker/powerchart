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— Revenue by segment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4059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543648" y="23424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2027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— Sales by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45339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065145"/>
            <a:ext cx="453390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399002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45339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77003" y="2905125"/>
            <a:ext cx="453390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5126203" y="391001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453390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75273" y="2785110"/>
            <a:ext cx="453390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524473" y="385000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45339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73543" y="2305050"/>
            <a:ext cx="453390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922743" y="360997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— Channel mix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8579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9833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1088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2005" y="3345180"/>
            <a:ext cx="87503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1205" y="413004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2005" y="2385060"/>
            <a:ext cx="875030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1205" y="276987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200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20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04550" y="3537204"/>
            <a:ext cx="875030" cy="156819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50" y="422605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04550" y="2385060"/>
            <a:ext cx="875030" cy="115214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3750" y="286588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0455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5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17095" y="3697224"/>
            <a:ext cx="875030" cy="140817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6295" y="430606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17095" y="2385060"/>
            <a:ext cx="875030" cy="131216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66295" y="294589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1709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629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229640" y="3889248"/>
            <a:ext cx="875030" cy="121615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840" y="440207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229640" y="2385060"/>
            <a:ext cx="875030" cy="15041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78840" y="304190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22964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884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2501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74228" y="205930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74228" y="305142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74228" y="441159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— EBITDA 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3270504"/>
            <a:ext cx="668867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40927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3270504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971800"/>
            <a:ext cx="668867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30259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779776"/>
            <a:ext cx="668867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78053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779776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779776"/>
            <a:ext cx="668867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81254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3035808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3035808"/>
            <a:ext cx="668867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85165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3121152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3121152"/>
            <a:ext cx="668867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4018026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575050"/>
            <a:ext cx="1632527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244975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554817"/>
            <a:ext cx="1632527" cy="10202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969683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073248" y="2044700"/>
            <a:ext cx="1632527" cy="510117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2204508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22448" y="186055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31175" y="3575050"/>
            <a:ext cx="213783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5775" y="4244975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31175" y="2740314"/>
            <a:ext cx="2137833" cy="83473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5775" y="3062432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31175" y="2044700"/>
            <a:ext cx="2137833" cy="69561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5775" y="2297257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80375" y="186055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94408" y="4318363"/>
            <a:ext cx="1360439" cy="7870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69008" y="4616631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94408" y="3356429"/>
            <a:ext cx="1360439" cy="96193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9008" y="3742146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94408" y="2044700"/>
            <a:ext cx="1360439" cy="131172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69008" y="2605314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43608" y="186055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— Revenue by region and segment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22448" y="514350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(32%)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80375" y="514350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(42%)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43608" y="514350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(27%)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05648" y="261483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05648" y="375167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05648" y="462615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 — Gross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— Active users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673346"/>
            <a:ext cx="47858" cy="4320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662678"/>
            <a:ext cx="47858" cy="442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652010"/>
            <a:ext cx="47858" cy="4533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641342"/>
            <a:ext cx="47858" cy="4640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630674"/>
            <a:ext cx="47858" cy="4747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620006"/>
            <a:ext cx="47858" cy="4853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609338"/>
            <a:ext cx="47858" cy="4960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598670"/>
            <a:ext cx="47858" cy="5067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588002"/>
            <a:ext cx="47858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577334"/>
            <a:ext cx="47858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566666"/>
            <a:ext cx="47858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555998"/>
            <a:ext cx="47858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545330"/>
            <a:ext cx="47858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534662"/>
            <a:ext cx="47858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523994"/>
            <a:ext cx="47858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513326"/>
            <a:ext cx="47858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502658"/>
            <a:ext cx="47858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91990"/>
            <a:ext cx="47858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81322"/>
            <a:ext cx="47858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70654"/>
            <a:ext cx="47858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59986"/>
            <a:ext cx="47858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49318"/>
            <a:ext cx="47858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38650"/>
            <a:ext cx="47858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7982"/>
            <a:ext cx="47858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416870"/>
            <a:ext cx="47858" cy="6885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405313"/>
            <a:ext cx="47858" cy="7000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393756"/>
            <a:ext cx="47858" cy="7116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382199"/>
            <a:ext cx="47858" cy="7232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370642"/>
            <a:ext cx="47858" cy="734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359085"/>
            <a:ext cx="47858" cy="7463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347528"/>
            <a:ext cx="47858" cy="7578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335971"/>
            <a:ext cx="47858" cy="7694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324414"/>
            <a:ext cx="47858" cy="7809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312857"/>
            <a:ext cx="47858" cy="7925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301300"/>
            <a:ext cx="47858" cy="8041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289743"/>
            <a:ext cx="47858" cy="8156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278186"/>
            <a:ext cx="47858" cy="8272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266629"/>
            <a:ext cx="47858" cy="838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255072"/>
            <a:ext cx="47858" cy="8503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243515"/>
            <a:ext cx="47858" cy="861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231958"/>
            <a:ext cx="47858" cy="8734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220401"/>
            <a:ext cx="47858" cy="885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208844"/>
            <a:ext cx="47858" cy="8965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97287"/>
            <a:ext cx="47858" cy="9081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85730"/>
            <a:ext cx="47858" cy="9196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74173"/>
            <a:ext cx="47858" cy="9312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62616"/>
            <a:ext cx="47858" cy="9427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51059"/>
            <a:ext cx="47858" cy="9543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4138613"/>
            <a:ext cx="47858" cy="9667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4125278"/>
            <a:ext cx="47858" cy="9801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4111943"/>
            <a:ext cx="47858" cy="993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4098608"/>
            <a:ext cx="47858" cy="10067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4085273"/>
            <a:ext cx="47858" cy="10201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4071938"/>
            <a:ext cx="47858" cy="10334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4058603"/>
            <a:ext cx="47858" cy="1046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4045268"/>
            <a:ext cx="47858" cy="10601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4031933"/>
            <a:ext cx="47858" cy="10734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4018598"/>
            <a:ext cx="47858" cy="1086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4005263"/>
            <a:ext cx="47858" cy="11001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991927"/>
            <a:ext cx="47858" cy="11134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978593"/>
            <a:ext cx="47858" cy="1126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965257"/>
            <a:ext cx="47858" cy="11401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951923"/>
            <a:ext cx="47858" cy="11534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938588"/>
            <a:ext cx="47858" cy="1166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925253"/>
            <a:ext cx="47858" cy="1180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911918"/>
            <a:ext cx="47858" cy="11934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98583"/>
            <a:ext cx="47858" cy="12068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85248"/>
            <a:ext cx="47858" cy="1220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71913"/>
            <a:ext cx="47858" cy="12334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58578"/>
            <a:ext cx="47858" cy="12468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45243"/>
            <a:ext cx="47858" cy="12601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31908"/>
            <a:ext cx="47858" cy="127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819017"/>
            <a:ext cx="47858" cy="12863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806571"/>
            <a:ext cx="47858" cy="12988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794125"/>
            <a:ext cx="47858" cy="1311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781679"/>
            <a:ext cx="47858" cy="13237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769233"/>
            <a:ext cx="47858" cy="13361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756787"/>
            <a:ext cx="47858" cy="13486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744341"/>
            <a:ext cx="47858" cy="1361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731895"/>
            <a:ext cx="47858" cy="13735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719449"/>
            <a:ext cx="47858" cy="13859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707003"/>
            <a:ext cx="47858" cy="13983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694557"/>
            <a:ext cx="47858" cy="14108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682111"/>
            <a:ext cx="47858" cy="14232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669665"/>
            <a:ext cx="47858" cy="14357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657219"/>
            <a:ext cx="47858" cy="14481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644773"/>
            <a:ext cx="47858" cy="14606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632327"/>
            <a:ext cx="47858" cy="1473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619881"/>
            <a:ext cx="47858" cy="14855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607435"/>
            <a:ext cx="47858" cy="14979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94989"/>
            <a:ext cx="47858" cy="15104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82543"/>
            <a:ext cx="47858" cy="15228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70097"/>
            <a:ext cx="47858" cy="15353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57651"/>
            <a:ext cx="47858" cy="15477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45205"/>
            <a:ext cx="47858" cy="15601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32759"/>
            <a:ext cx="47858" cy="15726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925697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913251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900805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888359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875913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863467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8510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838575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826129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813683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801237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788791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776345"/>
            <a:ext cx="47858" cy="7689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763899"/>
            <a:ext cx="47858" cy="770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751453"/>
            <a:ext cx="47858" cy="772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739007"/>
            <a:ext cx="47858" cy="774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726561"/>
            <a:ext cx="47858" cy="776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714115"/>
            <a:ext cx="47858" cy="777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701669"/>
            <a:ext cx="47858" cy="779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89223"/>
            <a:ext cx="47858" cy="781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76777"/>
            <a:ext cx="47858" cy="783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64331"/>
            <a:ext cx="47858" cy="784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51885"/>
            <a:ext cx="47858" cy="786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9439"/>
            <a:ext cx="47858" cy="788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627882"/>
            <a:ext cx="47858" cy="7889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617214"/>
            <a:ext cx="47858" cy="7880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606546"/>
            <a:ext cx="47858" cy="7872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595878"/>
            <a:ext cx="47858" cy="7863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585210"/>
            <a:ext cx="47858" cy="785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574542"/>
            <a:ext cx="47858" cy="784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563874"/>
            <a:ext cx="47858" cy="7836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553206"/>
            <a:ext cx="47858" cy="782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542538"/>
            <a:ext cx="47858" cy="781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531870"/>
            <a:ext cx="47858" cy="780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521202"/>
            <a:ext cx="47858" cy="780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510534"/>
            <a:ext cx="47858" cy="779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499866"/>
            <a:ext cx="47858" cy="778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489198"/>
            <a:ext cx="47858" cy="777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478530"/>
            <a:ext cx="47858" cy="7765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467862"/>
            <a:ext cx="47858" cy="775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457194"/>
            <a:ext cx="47858" cy="774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446526"/>
            <a:ext cx="47858" cy="773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435858"/>
            <a:ext cx="47858" cy="7729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425190"/>
            <a:ext cx="47858" cy="772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414522"/>
            <a:ext cx="47858" cy="7712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403854"/>
            <a:ext cx="47858" cy="770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93186"/>
            <a:ext cx="47858" cy="7694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82518"/>
            <a:ext cx="47858" cy="768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371405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359849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348292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336735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325178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3136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302064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290507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278950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267392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255836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244279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232722"/>
            <a:ext cx="47858" cy="7458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221165"/>
            <a:ext cx="47858" cy="744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209608"/>
            <a:ext cx="47858" cy="7423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198051"/>
            <a:ext cx="47858" cy="7405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186493"/>
            <a:ext cx="47858" cy="738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174937"/>
            <a:ext cx="47858" cy="7369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163380"/>
            <a:ext cx="47858" cy="7352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151823"/>
            <a:ext cx="47858" cy="7334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140265"/>
            <a:ext cx="47858" cy="7316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128709"/>
            <a:ext cx="47858" cy="7298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117152"/>
            <a:ext cx="47858" cy="7280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105595"/>
            <a:ext cx="47858" cy="7263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3095371"/>
            <a:ext cx="47858" cy="72364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3086481"/>
            <a:ext cx="47858" cy="7200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3077591"/>
            <a:ext cx="47858" cy="71653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3068701"/>
            <a:ext cx="47858" cy="71297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3059811"/>
            <a:ext cx="47858" cy="70942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3050921"/>
            <a:ext cx="47858" cy="7058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3042031"/>
            <a:ext cx="47858" cy="7023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3033141"/>
            <a:ext cx="47858" cy="6987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3024251"/>
            <a:ext cx="47858" cy="6951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3015361"/>
            <a:ext cx="47858" cy="6916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3006471"/>
            <a:ext cx="47858" cy="6880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997581"/>
            <a:ext cx="47858" cy="6845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988691"/>
            <a:ext cx="47858" cy="68097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979801"/>
            <a:ext cx="47858" cy="6774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970911"/>
            <a:ext cx="47858" cy="6738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962021"/>
            <a:ext cx="47858" cy="6703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953131"/>
            <a:ext cx="47858" cy="6667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944241"/>
            <a:ext cx="47858" cy="6631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935351"/>
            <a:ext cx="47858" cy="65963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926461"/>
            <a:ext cx="47858" cy="6560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917571"/>
            <a:ext cx="47858" cy="6525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908681"/>
            <a:ext cx="47858" cy="64897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99791"/>
            <a:ext cx="47858" cy="6454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90901"/>
            <a:ext cx="47858" cy="6418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— Headcount by age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4709" y="2140373"/>
            <a:ext cx="124348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4604709" y="226187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343498" y="2140373"/>
            <a:ext cx="112506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6343498" y="226187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42178" y="2790613"/>
            <a:ext cx="180601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042178" y="291211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3498" y="2790613"/>
            <a:ext cx="1924447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6343498" y="291211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49426" y="3440853"/>
            <a:ext cx="159877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249426" y="356235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43498" y="3440853"/>
            <a:ext cx="1776413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" name="Text 17"/>
          <p:cNvSpPr/>
          <p:nvPr/>
        </p:nvSpPr>
        <p:spPr>
          <a:xfrm>
            <a:off x="6343498" y="356235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00778" y="4091093"/>
            <a:ext cx="947420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900778" y="421259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43498" y="4091093"/>
            <a:ext cx="1213882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6343498" y="421259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92915" y="4741333"/>
            <a:ext cx="355282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5492915" y="486283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43498" y="4741333"/>
            <a:ext cx="473710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9" name="Text 27"/>
          <p:cNvSpPr/>
          <p:nvPr/>
        </p:nvSpPr>
        <p:spPr>
          <a:xfrm>
            <a:off x="6343498" y="486283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Price vs.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75938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79860" y="301466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22848" y="350583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65835" y="244792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52563" y="377031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86953" y="282575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27523" y="426148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79108" y="320357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77538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281460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24448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367435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854163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056093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629123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880708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— Market map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23360" y="3906647"/>
            <a:ext cx="181356" cy="18135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36604" y="2871407"/>
            <a:ext cx="362712" cy="36271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88914" y="3271901"/>
            <a:ext cx="544068" cy="54406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60561" y="2342650"/>
            <a:ext cx="286749" cy="286749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78004" y="3595754"/>
            <a:ext cx="425318" cy="42531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385141" y="2623939"/>
            <a:ext cx="479823" cy="479823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54565" y="4188528"/>
            <a:ext cx="222115" cy="22211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647565" y="3072032"/>
            <a:ext cx="339286" cy="339286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58382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854281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028721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424716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012251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472710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702080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430116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Programme plan (weeks)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490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35010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5915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435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26340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5860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2364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8867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4908" y="265684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739994" y="290195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35369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4908" y="330708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047848" y="41871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4908" y="395732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4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10–13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265939" y="420243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28" name="Text 26"/>
          <p:cNvSpPr/>
          <p:nvPr/>
        </p:nvSpPr>
        <p:spPr>
          <a:xfrm>
            <a:off x="3047848" y="48374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4908" y="460756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13–15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987638" y="485267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— Revenue and margin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314604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83997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032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20747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6782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07613" y="412610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7093" y="394703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3738093" y="4064762"/>
            <a:ext cx="1329690" cy="9182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7303" y="4034282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6783" y="385521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5067783" y="3942334"/>
            <a:ext cx="1329690" cy="12242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6993" y="391185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16473" y="373278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6397473" y="3728085"/>
            <a:ext cx="1329690" cy="21424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96683" y="3697605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46163" y="3518535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442808" y="3524885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Pie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30589" y="2917318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39821" y="4391153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21218" y="318491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Doughnut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290588" y="2621881"/>
            <a:ext cx="55687" cy="4216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61463" y="25151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27370" y="5061517"/>
            <a:ext cx="6130" cy="6958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35172" y="5054824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6307" y="3077473"/>
            <a:ext cx="66336" cy="2187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88775" y="297625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278603" y="2751455"/>
            <a:ext cx="1634490" cy="163449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5352898" y="3454400"/>
            <a:ext cx="14859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— Delivery days by region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81323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1323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07658" y="33985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0765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95401" y="382524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95401" y="4251960"/>
            <a:ext cx="77184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5401" y="406146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84673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84673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11008" y="25450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11008" y="44653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98751" y="3185160"/>
            <a:ext cx="771843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98751" y="361188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98751" y="342138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98802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8802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4358" y="36118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14358" y="489204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02101" y="403860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02101" y="446532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02101" y="427482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391373" y="297180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91373" y="42519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17708" y="297180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770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05451" y="361188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05451" y="403860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05451" y="384810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— Capability assessment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10380" y="2816860"/>
            <a:ext cx="1724568" cy="1422400"/>
          </a:xfrm>
          <a:custGeom>
            <a:avLst/>
            <a:gdLst/>
            <a:ahLst/>
            <a:cxnLst/>
            <a:rect l="l" t="t" r="r" b="b"/>
            <a:pathLst>
              <a:path w="1724568" h="1422400">
                <a:moveTo>
                  <a:pt x="985468" y="0"/>
                </a:moveTo>
                <a:lnTo>
                  <a:pt x="1478201" y="568960"/>
                </a:lnTo>
                <a:lnTo>
                  <a:pt x="1724568" y="1280160"/>
                </a:lnTo>
                <a:lnTo>
                  <a:pt x="985468" y="1422400"/>
                </a:lnTo>
                <a:lnTo>
                  <a:pt x="0" y="1422400"/>
                </a:lnTo>
                <a:lnTo>
                  <a:pt x="246367" y="426720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58101" y="33553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04468" y="40665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79900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6267" y="321310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64013" y="2532380"/>
            <a:ext cx="2217302" cy="1991360"/>
          </a:xfrm>
          <a:custGeom>
            <a:avLst/>
            <a:gdLst/>
            <a:ahLst/>
            <a:cxnLst/>
            <a:rect l="l" t="t" r="r" b="b"/>
            <a:pathLst>
              <a:path w="2217302" h="1991360">
                <a:moveTo>
                  <a:pt x="1231835" y="0"/>
                </a:moveTo>
                <a:lnTo>
                  <a:pt x="2217302" y="568960"/>
                </a:lnTo>
                <a:lnTo>
                  <a:pt x="2217302" y="1706880"/>
                </a:lnTo>
                <a:lnTo>
                  <a:pt x="1231835" y="1991360"/>
                </a:lnTo>
                <a:lnTo>
                  <a:pt x="0" y="1849120"/>
                </a:lnTo>
                <a:lnTo>
                  <a:pt x="246367" y="568960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65368" y="250190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65368" y="44932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Text 34"/>
          <p:cNvSpPr/>
          <p:nvPr/>
        </p:nvSpPr>
        <p:spPr>
          <a:xfrm>
            <a:off x="3174848" y="1803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67014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8" name="Text 36"/>
          <p:cNvSpPr/>
          <p:nvPr/>
        </p:nvSpPr>
        <p:spPr>
          <a:xfrm>
            <a:off x="379714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— Sales by region and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solidFill>
            <a:srgbClr val="83A1E0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73367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solidFill>
            <a:srgbClr val="BECBEC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solidFill>
            <a:srgbClr val="C7D3EF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47345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solidFill>
            <a:srgbClr val="E2E7F6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solidFill>
            <a:srgbClr val="D9E1F4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solidFill>
            <a:srgbClr val="C1CEED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047848" y="421322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36" name="Text 34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8" name="Text 36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solidFill>
            <a:srgbClr val="E4EAF7"/>
          </a:solidFill>
          <a:ln/>
        </p:spPr>
      </p:sp>
      <p:sp>
        <p:nvSpPr>
          <p:cNvPr id="40" name="Text 38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42" name="Text 40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45" name="Shape 43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6" name="Shape 44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47" name="Shape 45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48" name="Shape 46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49" name="Shape 47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0" name="Shape 48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1" name="Shape 49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2" name="Shape 50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3" name="Shape 51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4" name="Shape 52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56" name="Shape 54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57" name="Shape 55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58" name="Shape 56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59" name="Shape 57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1" name="Shape 59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2" name="Shape 60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3" name="Shape 61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4" name="Shape 62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65" name="Shape 63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66" name="Shape 64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Text 65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— Revenue by market (€m)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5710879" y="1828800"/>
            <a:ext cx="369094" cy="369094"/>
          </a:xfrm>
          <a:prstGeom prst="rect">
            <a:avLst/>
          </a:prstGeom>
          <a:solidFill>
            <a:srgbClr val="E4E9F7"/>
          </a:solidFill>
          <a:ln/>
        </p:spPr>
      </p:sp>
      <p:sp>
        <p:nvSpPr>
          <p:cNvPr id="6" name="Text 4"/>
          <p:cNvSpPr/>
          <p:nvPr/>
        </p:nvSpPr>
        <p:spPr>
          <a:xfrm>
            <a:off x="5710879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988" dirty="0"/>
          </a:p>
        </p:txBody>
      </p:sp>
      <p:sp>
        <p:nvSpPr>
          <p:cNvPr id="7" name="Text 5"/>
          <p:cNvSpPr/>
          <p:nvPr/>
        </p:nvSpPr>
        <p:spPr>
          <a:xfrm>
            <a:off x="5710879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111723" y="1828800"/>
            <a:ext cx="369094" cy="369094"/>
          </a:xfrm>
          <a:prstGeom prst="rect">
            <a:avLst/>
          </a:prstGeom>
          <a:solidFill>
            <a:srgbClr val="D3DCF2"/>
          </a:solidFill>
          <a:ln/>
        </p:spPr>
      </p:sp>
      <p:sp>
        <p:nvSpPr>
          <p:cNvPr id="9" name="Text 7"/>
          <p:cNvSpPr/>
          <p:nvPr/>
        </p:nvSpPr>
        <p:spPr>
          <a:xfrm>
            <a:off x="6111723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</a:t>
            </a:r>
            <a:endParaRPr lang="en-US" sz="988" dirty="0"/>
          </a:p>
        </p:txBody>
      </p:sp>
      <p:sp>
        <p:nvSpPr>
          <p:cNvPr id="10" name="Text 8"/>
          <p:cNvSpPr/>
          <p:nvPr/>
        </p:nvSpPr>
        <p:spPr>
          <a:xfrm>
            <a:off x="6111723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12566" y="1828800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6512566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6512566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5" name="Text 13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EE</a:t>
            </a:r>
            <a:endParaRPr lang="en-US" sz="988" dirty="0"/>
          </a:p>
        </p:txBody>
      </p:sp>
      <p:sp>
        <p:nvSpPr>
          <p:cNvPr id="16" name="Shape 14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7" name="Text 15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IE</a:t>
            </a:r>
            <a:endParaRPr lang="en-US" sz="988" dirty="0"/>
          </a:p>
        </p:txBody>
      </p:sp>
      <p:sp>
        <p:nvSpPr>
          <p:cNvPr id="18" name="Shape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88A4E0"/>
          </a:solidFill>
          <a:ln/>
        </p:spPr>
      </p:sp>
      <p:sp>
        <p:nvSpPr>
          <p:cNvPr id="19" name="Text 17"/>
          <p:cNvSpPr/>
          <p:nvPr/>
        </p:nvSpPr>
        <p:spPr>
          <a:xfrm>
            <a:off x="4508348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GB</a:t>
            </a:r>
            <a:endParaRPr lang="en-US" sz="988" dirty="0"/>
          </a:p>
        </p:txBody>
      </p:sp>
      <p:sp>
        <p:nvSpPr>
          <p:cNvPr id="20" name="Text 18"/>
          <p:cNvSpPr/>
          <p:nvPr/>
        </p:nvSpPr>
        <p:spPr>
          <a:xfrm>
            <a:off x="4508348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112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NL</a:t>
            </a:r>
            <a:endParaRPr lang="en-US" sz="988" dirty="0"/>
          </a:p>
        </p:txBody>
      </p:sp>
      <p:sp>
        <p:nvSpPr>
          <p:cNvPr id="23" name="Text 21"/>
          <p:cNvSpPr/>
          <p:nvPr/>
        </p:nvSpPr>
        <p:spPr>
          <a:xfrm>
            <a:off x="5310035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66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25" name="Text 23"/>
          <p:cNvSpPr/>
          <p:nvPr/>
        </p:nvSpPr>
        <p:spPr>
          <a:xfrm>
            <a:off x="5710879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DK</a:t>
            </a:r>
            <a:endParaRPr lang="en-US" sz="988" dirty="0"/>
          </a:p>
        </p:txBody>
      </p:sp>
      <p:sp>
        <p:nvSpPr>
          <p:cNvPr id="26" name="Text 24"/>
          <p:cNvSpPr/>
          <p:nvPr/>
        </p:nvSpPr>
        <p:spPr>
          <a:xfrm>
            <a:off x="5710879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LV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0" name="Text 28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</a:t>
            </a:r>
            <a:endParaRPr lang="en-US" sz="988" dirty="0"/>
          </a:p>
        </p:txBody>
      </p:sp>
      <p:sp>
        <p:nvSpPr>
          <p:cNvPr id="31" name="Shape 29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Text 30"/>
          <p:cNvSpPr/>
          <p:nvPr/>
        </p:nvSpPr>
        <p:spPr>
          <a:xfrm>
            <a:off x="5710879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33" name="Text 31"/>
          <p:cNvSpPr/>
          <p:nvPr/>
        </p:nvSpPr>
        <p:spPr>
          <a:xfrm>
            <a:off x="5710879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CZ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37" name="Text 35"/>
          <p:cNvSpPr/>
          <p:nvPr/>
        </p:nvSpPr>
        <p:spPr>
          <a:xfrm>
            <a:off x="6512566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</a:t>
            </a:r>
            <a:endParaRPr lang="en-US" sz="988" dirty="0"/>
          </a:p>
        </p:txBody>
      </p:sp>
      <p:sp>
        <p:nvSpPr>
          <p:cNvPr id="38" name="Text 36"/>
          <p:cNvSpPr/>
          <p:nvPr/>
        </p:nvSpPr>
        <p:spPr>
          <a:xfrm>
            <a:off x="6512566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0" name="Text 38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LT</a:t>
            </a:r>
            <a:endParaRPr lang="en-US" sz="988" dirty="0"/>
          </a:p>
        </p:txBody>
      </p:sp>
      <p:sp>
        <p:nvSpPr>
          <p:cNvPr id="41" name="Shape 3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2" name="Text 40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</a:t>
            </a:r>
            <a:endParaRPr lang="en-US" sz="988" dirty="0"/>
          </a:p>
        </p:txBody>
      </p:sp>
      <p:sp>
        <p:nvSpPr>
          <p:cNvPr id="43" name="Shape 4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4" name="Text 42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</a:t>
            </a:r>
            <a:endParaRPr lang="en-US" sz="988" dirty="0"/>
          </a:p>
        </p:txBody>
      </p:sp>
      <p:sp>
        <p:nvSpPr>
          <p:cNvPr id="45" name="Shape 4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</a:t>
            </a:r>
            <a:endParaRPr lang="en-US" sz="988" dirty="0"/>
          </a:p>
        </p:txBody>
      </p:sp>
      <p:sp>
        <p:nvSpPr>
          <p:cNvPr id="47" name="Text 45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9" name="Text 47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</a:t>
            </a:r>
            <a:endParaRPr lang="en-US" sz="988" dirty="0"/>
          </a:p>
        </p:txBody>
      </p:sp>
      <p:sp>
        <p:nvSpPr>
          <p:cNvPr id="50" name="Shape 4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1" name="Text 49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</a:t>
            </a:r>
            <a:endParaRPr lang="en-US" sz="988" dirty="0"/>
          </a:p>
        </p:txBody>
      </p:sp>
      <p:sp>
        <p:nvSpPr>
          <p:cNvPr id="52" name="Shape 5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3" name="Text 51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</a:t>
            </a:r>
            <a:endParaRPr lang="en-US" sz="988" dirty="0"/>
          </a:p>
        </p:txBody>
      </p:sp>
      <p:sp>
        <p:nvSpPr>
          <p:cNvPr id="54" name="Shape 5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5" name="Text 53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</a:t>
            </a:r>
            <a:endParaRPr lang="en-US" sz="988" dirty="0"/>
          </a:p>
        </p:txBody>
      </p:sp>
      <p:sp>
        <p:nvSpPr>
          <p:cNvPr id="56" name="Shape 5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7" name="Text 55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</a:t>
            </a:r>
            <a:endParaRPr lang="en-US" sz="988" dirty="0"/>
          </a:p>
        </p:txBody>
      </p:sp>
      <p:sp>
        <p:nvSpPr>
          <p:cNvPr id="58" name="Shape 5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9" name="Text 57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</a:t>
            </a:r>
            <a:endParaRPr lang="en-US" sz="988" dirty="0"/>
          </a:p>
        </p:txBody>
      </p:sp>
      <p:sp>
        <p:nvSpPr>
          <p:cNvPr id="60" name="Shape 58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</a:t>
            </a:r>
            <a:endParaRPr lang="en-US" sz="988" dirty="0"/>
          </a:p>
        </p:txBody>
      </p:sp>
      <p:sp>
        <p:nvSpPr>
          <p:cNvPr id="64" name="Text 62"/>
          <p:cNvSpPr/>
          <p:nvPr/>
        </p:nvSpPr>
        <p:spPr>
          <a:xfrm>
            <a:off x="4508348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6" name="Text 6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</a:t>
            </a:r>
            <a:endParaRPr lang="en-US" sz="988" dirty="0"/>
          </a:p>
        </p:txBody>
      </p:sp>
      <p:sp>
        <p:nvSpPr>
          <p:cNvPr id="67" name="Shape 6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</a:t>
            </a:r>
            <a:endParaRPr lang="en-US" sz="988" dirty="0"/>
          </a:p>
        </p:txBody>
      </p:sp>
      <p:sp>
        <p:nvSpPr>
          <p:cNvPr id="79" name="Text 77"/>
          <p:cNvSpPr/>
          <p:nvPr/>
        </p:nvSpPr>
        <p:spPr>
          <a:xfrm>
            <a:off x="5310035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Text 79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</a:t>
            </a:r>
            <a:endParaRPr lang="en-US" sz="988" dirty="0"/>
          </a:p>
        </p:txBody>
      </p:sp>
      <p:sp>
        <p:nvSpPr>
          <p:cNvPr id="82" name="Shape 80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Text 81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84" name="Shape 82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Text 83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MK</a:t>
            </a:r>
            <a:endParaRPr lang="en-US" sz="988" dirty="0"/>
          </a:p>
        </p:txBody>
      </p:sp>
      <p:sp>
        <p:nvSpPr>
          <p:cNvPr id="86" name="Shape 84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Text 85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</a:t>
            </a:r>
            <a:endParaRPr lang="en-US" sz="988" dirty="0"/>
          </a:p>
        </p:txBody>
      </p:sp>
      <p:sp>
        <p:nvSpPr>
          <p:cNvPr id="88" name="Shape 86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Text 87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90" name="Shape 88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Text 89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92" name="Shape 90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Text 91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</a:t>
            </a:r>
            <a:endParaRPr lang="en-US" sz="988" dirty="0"/>
          </a:p>
        </p:txBody>
      </p:sp>
      <p:sp>
        <p:nvSpPr>
          <p:cNvPr id="94" name="Shape 92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Text 93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</a:t>
            </a:r>
            <a:endParaRPr lang="en-US" sz="988" dirty="0"/>
          </a:p>
        </p:txBody>
      </p:sp>
      <p:sp>
        <p:nvSpPr>
          <p:cNvPr id="96" name="Shape 94"/>
          <p:cNvSpPr/>
          <p:nvPr/>
        </p:nvSpPr>
        <p:spPr>
          <a:xfrm>
            <a:off x="4107504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7" name="Shape 95"/>
          <p:cNvSpPr/>
          <p:nvPr/>
        </p:nvSpPr>
        <p:spPr>
          <a:xfrm>
            <a:off x="4171004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98" name="Shape 96"/>
          <p:cNvSpPr/>
          <p:nvPr/>
        </p:nvSpPr>
        <p:spPr>
          <a:xfrm>
            <a:off x="4234504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99" name="Shape 97"/>
          <p:cNvSpPr/>
          <p:nvPr/>
        </p:nvSpPr>
        <p:spPr>
          <a:xfrm>
            <a:off x="4298004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00" name="Shape 98"/>
          <p:cNvSpPr/>
          <p:nvPr/>
        </p:nvSpPr>
        <p:spPr>
          <a:xfrm>
            <a:off x="4361504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5004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488504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552004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615504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679004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742504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806004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869504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933004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996504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11" name="Shape 109"/>
          <p:cNvSpPr/>
          <p:nvPr/>
        </p:nvSpPr>
        <p:spPr>
          <a:xfrm>
            <a:off x="5060004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23504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5187004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250504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314004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377504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441004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504504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568004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Text 118"/>
          <p:cNvSpPr/>
          <p:nvPr/>
        </p:nvSpPr>
        <p:spPr>
          <a:xfrm>
            <a:off x="4107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4869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5758504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23" name="Text 121"/>
          <p:cNvSpPr/>
          <p:nvPr/>
        </p:nvSpPr>
        <p:spPr>
          <a:xfrm>
            <a:off x="5898204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Cascade — Support volume breakdown — April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4" name="Text 2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6" name="Text 4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Incidents &amp; Service Requests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41256" y="2070100"/>
            <a:ext cx="1375283" cy="3048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166656" y="261874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contacts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66656" y="349885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4,986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52556" y="2070100"/>
            <a:ext cx="1375283" cy="28218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" name="Text 9"/>
          <p:cNvSpPr/>
          <p:nvPr/>
        </p:nvSpPr>
        <p:spPr>
          <a:xfrm>
            <a:off x="4677956" y="257802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77956" y="338575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4,616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677956" y="356990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(92.6%)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52556" y="4891915"/>
            <a:ext cx="1375283" cy="226185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77956" y="4891915"/>
            <a:ext cx="1324483" cy="2261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370 (7.4%)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84548" y="5130800"/>
            <a:ext cx="15113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Dropped contacts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163856" y="2070100"/>
            <a:ext cx="1375283" cy="208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189256" y="2444773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 case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89256" y="301560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3,405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89256" y="319975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(73.8%)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63856" y="4151616"/>
            <a:ext cx="1375283" cy="740298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89256" y="435031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a case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89256" y="452176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1,211 (26.2%)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675156" y="2070100"/>
            <a:ext cx="1375283" cy="1641372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5" name="Text 23"/>
          <p:cNvSpPr/>
          <p:nvPr/>
        </p:nvSpPr>
        <p:spPr>
          <a:xfrm>
            <a:off x="7700556" y="236554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Solved in support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00556" y="279553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2,685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700556" y="297968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(78.9%)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675156" y="3711472"/>
            <a:ext cx="1375283" cy="440144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00556" y="376009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solved in support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700556" y="393154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 (21.1%)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service desk logs, Apr 2026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Decorations — totals, CAGR, difference, value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2535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543648" y="21900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0503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178148" y="3595455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165948" y="2799673"/>
            <a:ext cx="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02448" y="27361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5" name="Text 43"/>
          <p:cNvSpPr/>
          <p:nvPr/>
        </p:nvSpPr>
        <p:spPr>
          <a:xfrm>
            <a:off x="8204048" y="3102314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+53%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073248" y="3233272"/>
            <a:ext cx="5181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3098648" y="3042772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Ø 92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Level difference (series) + label content Value+%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34 46%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18 24%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40 48%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26 31%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17 20%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47 48%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31 32%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19 20%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56 50%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35 31%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22 19%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178148" y="4411641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165948" y="3962739"/>
            <a:ext cx="0" cy="448903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02448" y="3899239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8" name="Text 36"/>
          <p:cNvSpPr/>
          <p:nvPr/>
        </p:nvSpPr>
        <p:spPr>
          <a:xfrm>
            <a:off x="8204048" y="4091940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+65%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orientation + segment order descending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3653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31718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9782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47847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376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55076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896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451596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7410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0110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23768" y="2191808"/>
            <a:ext cx="1175647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2968" y="2365375"/>
            <a:ext cx="12772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99415" y="2191808"/>
            <a:ext cx="760713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8615" y="236537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60128" y="2191808"/>
            <a:ext cx="622402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9328" y="2365375"/>
            <a:ext cx="72400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20630" y="2365375"/>
            <a:ext cx="312321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23768" y="2998258"/>
            <a:ext cx="1383115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72968" y="3171825"/>
            <a:ext cx="148471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6882" y="2998258"/>
            <a:ext cx="8990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6082" y="3171825"/>
            <a:ext cx="10006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05907" y="2998258"/>
            <a:ext cx="587824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55107" y="3171825"/>
            <a:ext cx="6894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31831" y="3171825"/>
            <a:ext cx="28120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23768" y="3804708"/>
            <a:ext cx="1625160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72968" y="3978275"/>
            <a:ext cx="1726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48927" y="3804708"/>
            <a:ext cx="1071914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98127" y="3978275"/>
            <a:ext cx="11735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0841" y="3804708"/>
            <a:ext cx="656979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70041" y="3978275"/>
            <a:ext cx="75857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15921" y="3978275"/>
            <a:ext cx="23279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23768" y="4611158"/>
            <a:ext cx="1936361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72968" y="4784725"/>
            <a:ext cx="20379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60128" y="4611158"/>
            <a:ext cx="12102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9328" y="4784725"/>
            <a:ext cx="1311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70353" y="4611158"/>
            <a:ext cx="760713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19553" y="478472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69167" y="4784725"/>
            <a:ext cx="17746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2376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sort descending + pinned axis + de-DE locale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85167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064933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0447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0,0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962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976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955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734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672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610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78614" y="3962739"/>
            <a:ext cx="795867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27814" y="4438819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56,0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78614" y="3248575"/>
            <a:ext cx="795867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27814" y="351040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35,0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78614" y="2799673"/>
            <a:ext cx="795867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7814" y="2928874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79648" y="261552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113,0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72414" y="4146381"/>
            <a:ext cx="795867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1614" y="45306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47,0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72414" y="3513836"/>
            <a:ext cx="7958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1614" y="3734858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31,0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72414" y="3126147"/>
            <a:ext cx="7958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1614" y="322474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19,0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73448" y="2941997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66214" y="4289213"/>
            <a:ext cx="7958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15414" y="460205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40,0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66214" y="3758692"/>
            <a:ext cx="7958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15414" y="3928703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26,0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66214" y="3411813"/>
            <a:ext cx="7958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15414" y="349000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17,0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867248" y="322766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83,0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260014" y="4411641"/>
            <a:ext cx="795867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09214" y="4663271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34,0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260014" y="3962739"/>
            <a:ext cx="7958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09214" y="40919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260014" y="3595455"/>
            <a:ext cx="7958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09214" y="368384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18,0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61048" y="3411305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74,0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05648" y="369337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305648" y="4101465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305648" y="467279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Clustered-stacked (stack groups)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2975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505683" y="3575050"/>
            <a:ext cx="839470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54883" y="4244975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505683" y="2962910"/>
            <a:ext cx="839470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4883" y="317373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57853" y="3779097"/>
            <a:ext cx="839470" cy="13263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7053" y="434699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57853" y="3268980"/>
            <a:ext cx="839470" cy="51011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7053" y="342878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8533" y="277876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300703" y="308483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62193" y="3268980"/>
            <a:ext cx="83947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11393" y="409194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62193" y="2452793"/>
            <a:ext cx="839470" cy="81618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11393" y="2765637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14363" y="3422015"/>
            <a:ext cx="839470" cy="168338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63563" y="416845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14363" y="2707852"/>
            <a:ext cx="839470" cy="71416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63563" y="2969683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05043" y="2268643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857213" y="2523702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073248" y="5105400"/>
            <a:ext cx="51130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37068" y="2775162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Services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37068" y="2979208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Services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37068" y="410146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Product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37068" y="427291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Product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Axis break (620 outlier) + axis title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3910584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821684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714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€m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4684227"/>
            <a:ext cx="922867" cy="4211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47995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4553864"/>
            <a:ext cx="922867" cy="5515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4734382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3710026"/>
            <a:ext cx="922867" cy="1395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4312463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4493697"/>
            <a:ext cx="922867" cy="6117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470429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54248" y="4111142"/>
            <a:ext cx="5664200" cy="1920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 flipV="1">
            <a:off x="3428848" y="4271416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3428848" y="4079392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scale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3053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5052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7051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10,000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714500"/>
            <a:ext cx="54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$m (log)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19889" y="4623692"/>
            <a:ext cx="922867" cy="4817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669089" y="476929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123239" y="3823592"/>
            <a:ext cx="922867" cy="1281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072439" y="436924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26589" y="3231228"/>
            <a:ext cx="922867" cy="1874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6475789" y="40730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29939" y="2482069"/>
            <a:ext cx="922867" cy="26233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7879139" y="3698485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100%= row (columns short of 100%)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825240"/>
            <a:ext cx="1242907" cy="1280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37007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2865120"/>
            <a:ext cx="1242907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499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2545080"/>
            <a:ext cx="1242907" cy="8001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284988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12694" y="2865120"/>
            <a:ext cx="1242907" cy="2240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61894" y="389001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12694" y="222504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61894" y="24498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17128" y="245935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717128" y="389953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waterfall + value-line-anchored difference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1116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Organic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4908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M&amp;A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8700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2492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62901" y="4085167"/>
            <a:ext cx="758613" cy="10202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86701" y="45000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62901" y="3350599"/>
            <a:ext cx="758613" cy="73456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86701" y="36226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21514" y="3350599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400821" y="3187361"/>
            <a:ext cx="758613" cy="1632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4621" y="3173730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00821" y="3064933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59434" y="3064933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5538741" y="2962910"/>
            <a:ext cx="758613" cy="10202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8741" y="2779268"/>
            <a:ext cx="758613" cy="18364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62541" y="2775839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97354" y="2779268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676661" y="2779268"/>
            <a:ext cx="758613" cy="12242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6661" y="2901696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35274" y="3024124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814581" y="3024124"/>
            <a:ext cx="758613" cy="2081276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38381" y="3969512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5689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46914" y="3064933"/>
            <a:ext cx="470408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8700194" y="3024124"/>
            <a:ext cx="0" cy="40809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36694" y="2960624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8738294" y="2949279"/>
            <a:ext cx="4055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+2.0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3064933"/>
            <a:ext cx="5689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098648" y="2874433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Rotated waterfall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679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26352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2025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37697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43370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49043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0928" y="1974144"/>
            <a:ext cx="3128061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484728" y="2067983"/>
            <a:ext cx="32804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88988" y="23523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688988" y="2541411"/>
            <a:ext cx="509219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6612788" y="2635250"/>
            <a:ext cx="6616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98208" y="29195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7198208" y="3108678"/>
            <a:ext cx="327355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122008" y="3202517"/>
            <a:ext cx="4797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525563" y="3486856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7089089" y="3675944"/>
            <a:ext cx="436474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7012889" y="3769783"/>
            <a:ext cx="5888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89089" y="40541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943598" y="4243211"/>
            <a:ext cx="145491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14489" y="4337050"/>
            <a:ext cx="508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3598" y="46213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3560928" y="4810478"/>
            <a:ext cx="3382670" cy="37817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3484728" y="4904317"/>
            <a:ext cx="3535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60928" y="1879600"/>
            <a:ext cx="0" cy="3403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98088" y="2057400"/>
            <a:ext cx="1875628" cy="1587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72688" y="2755900"/>
            <a:ext cx="19264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573716" y="2057400"/>
            <a:ext cx="1250419" cy="1587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548316" y="2755900"/>
            <a:ext cx="13012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24135" y="2057400"/>
            <a:ext cx="625209" cy="1587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98735" y="2755900"/>
            <a:ext cx="67600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87444" y="2755900"/>
            <a:ext cx="165640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98088" y="3670300"/>
            <a:ext cx="2456180" cy="952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2688" y="4051300"/>
            <a:ext cx="25069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4268" y="3670300"/>
            <a:ext cx="1339735" cy="952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8868" y="405130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94002" y="3670300"/>
            <a:ext cx="1116445" cy="952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68602" y="4051300"/>
            <a:ext cx="116724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48548" y="40513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98088" y="4648200"/>
            <a:ext cx="803841" cy="6350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2688" y="4870450"/>
            <a:ext cx="8546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01928" y="4648200"/>
            <a:ext cx="982472" cy="6350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6528" y="4870450"/>
            <a:ext cx="103327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4400" y="4648200"/>
            <a:ext cx="1339735" cy="6350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59000" y="487045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62235" y="4870450"/>
            <a:ext cx="22816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with units (X extent) — rotated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47848" y="27559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40513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047848" y="487045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9808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9808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Text 27"/>
          <p:cNvSpPr/>
          <p:nvPr/>
        </p:nvSpPr>
        <p:spPr>
          <a:xfrm>
            <a:off x="382508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2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1" name="Text 29"/>
          <p:cNvSpPr/>
          <p:nvPr/>
        </p:nvSpPr>
        <p:spPr>
          <a:xfrm>
            <a:off x="479028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14842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" name="Text 31"/>
          <p:cNvSpPr/>
          <p:nvPr/>
        </p:nvSpPr>
        <p:spPr>
          <a:xfrm>
            <a:off x="527542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+ secondary axis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79679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63042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3635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19350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3988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740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417408" y="44043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7408" y="37922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417408" y="31800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7408" y="25679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740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707613" y="317728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57093" y="299821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3738093" y="3024124"/>
            <a:ext cx="1329690" cy="183642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37303" y="299364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6783" y="2814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067783" y="2779268"/>
            <a:ext cx="1329690" cy="244856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66993" y="274878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16473" y="256971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 flipV="1">
            <a:off x="6397473" y="2350770"/>
            <a:ext cx="1329690" cy="42849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96683" y="232029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46163" y="214122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42808" y="214757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partition lines, trend, groups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8610" y="2108200"/>
            <a:ext cx="0" cy="3022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3479648" y="2450745"/>
            <a:ext cx="5562600" cy="234683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7757008" y="2501545"/>
            <a:ext cx="12852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0.99, p &lt; 0.001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75938" y="44126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79860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22848" y="365696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65835" y="312801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2563" y="301466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86953" y="252349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36816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61251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67435" y="308356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297021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47904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sections, owners, remarks, deps, today, holiday, bracket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25193" y="1993900"/>
            <a:ext cx="894651" cy="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25193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19845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25193" y="1822450"/>
            <a:ext cx="89465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564230" y="2247900"/>
            <a:ext cx="63904" cy="2882900"/>
          </a:xfrm>
          <a:prstGeom prst="rect">
            <a:avLst/>
          </a:prstGeom>
          <a:solidFill>
            <a:srgbClr val="EFE7E7"/>
          </a:solidFill>
          <a:ln/>
        </p:spPr>
      </p:sp>
      <p:sp>
        <p:nvSpPr>
          <p:cNvPr id="8" name="Shape 6"/>
          <p:cNvSpPr/>
          <p:nvPr/>
        </p:nvSpPr>
        <p:spPr>
          <a:xfrm>
            <a:off x="479738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5244712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0" name="Shape 8"/>
          <p:cNvSpPr/>
          <p:nvPr/>
        </p:nvSpPr>
        <p:spPr>
          <a:xfrm>
            <a:off x="5692037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1" name="Shape 9"/>
          <p:cNvSpPr/>
          <p:nvPr/>
        </p:nvSpPr>
        <p:spPr>
          <a:xfrm>
            <a:off x="6139363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6689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3" name="Shape 11"/>
          <p:cNvSpPr/>
          <p:nvPr/>
        </p:nvSpPr>
        <p:spPr>
          <a:xfrm>
            <a:off x="7034015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4" name="Shape 12"/>
          <p:cNvSpPr/>
          <p:nvPr/>
        </p:nvSpPr>
        <p:spPr>
          <a:xfrm>
            <a:off x="7481340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5" name="Shape 13"/>
          <p:cNvSpPr/>
          <p:nvPr/>
        </p:nvSpPr>
        <p:spPr>
          <a:xfrm>
            <a:off x="792866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6" name="Shape 14"/>
          <p:cNvSpPr/>
          <p:nvPr/>
        </p:nvSpPr>
        <p:spPr>
          <a:xfrm>
            <a:off x="447786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7306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25193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0393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72519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67719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819845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15045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67171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2371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9696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61822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7022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60914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0434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Feb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056474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51674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Feb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047848" y="226060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3047848" y="244094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— Discovery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174848" y="301752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132674" y="301752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33994" y="302387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done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77868" y="282448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Text 39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Jan–23 Jan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174848" y="359410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Synthesis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132674" y="359410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477868" y="340106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819845" y="3600450"/>
            <a:ext cx="702940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6442775" y="360934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47" name="Shape 45"/>
          <p:cNvSpPr/>
          <p:nvPr/>
        </p:nvSpPr>
        <p:spPr>
          <a:xfrm>
            <a:off x="3047848" y="399034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8" name="Text 46"/>
          <p:cNvSpPr/>
          <p:nvPr/>
        </p:nvSpPr>
        <p:spPr>
          <a:xfrm>
            <a:off x="3047848" y="417068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— Delivery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3174848" y="474726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8132674" y="474726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Cato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533994" y="475361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risk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477868" y="455422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Text 52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Jan–20 Feb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84753" y="476250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56" name="Shape 54"/>
          <p:cNvSpPr/>
          <p:nvPr/>
        </p:nvSpPr>
        <p:spPr>
          <a:xfrm>
            <a:off x="6075460" y="3112770"/>
            <a:ext cx="0" cy="57658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794445" y="368935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rot="16200000">
            <a:off x="5762695" y="3644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59" name="Shape 57"/>
          <p:cNvSpPr/>
          <p:nvPr/>
        </p:nvSpPr>
        <p:spPr>
          <a:xfrm>
            <a:off x="6522785" y="3689350"/>
            <a:ext cx="0" cy="115316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241771" y="484251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rot="16200000">
            <a:off x="6210021" y="479806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2" name="Shape 60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3" name="Text 61"/>
          <p:cNvSpPr/>
          <p:nvPr/>
        </p:nvSpPr>
        <p:spPr>
          <a:xfrm>
            <a:off x="6409696" y="5143500"/>
            <a:ext cx="6096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8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label nudge (labelOffsets)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393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Connector lines + footnote (source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283964"/>
            <a:ext cx="863600" cy="6563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51688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859276"/>
            <a:ext cx="863600" cy="4246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39763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11804"/>
            <a:ext cx="863600" cy="34747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59029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327654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168140"/>
            <a:ext cx="863600" cy="772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4589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666236"/>
            <a:ext cx="863600" cy="50190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8219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338068"/>
            <a:ext cx="863600" cy="32816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069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15391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033012"/>
            <a:ext cx="863600" cy="90728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3914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434588"/>
            <a:ext cx="863600" cy="59842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6385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067812"/>
            <a:ext cx="863600" cy="366776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1559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883662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859276"/>
            <a:ext cx="863600" cy="108102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3045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183636"/>
            <a:ext cx="863600" cy="6756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4262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58948"/>
            <a:ext cx="863600" cy="42468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8760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7479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4152748" y="4168140"/>
            <a:ext cx="431800" cy="11582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52748" y="3666236"/>
            <a:ext cx="431800" cy="193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152748" y="3338068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5448148" y="4033012"/>
            <a:ext cx="431800" cy="1351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448148" y="3434588"/>
            <a:ext cx="431800" cy="23164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5448148" y="3067812"/>
            <a:ext cx="431800" cy="2702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6743548" y="3859276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743548" y="3183636"/>
            <a:ext cx="431800" cy="25095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6743548" y="2758948"/>
            <a:ext cx="431800" cy="30886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3248" y="49403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5648" y="2885567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305648" y="343573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5648" y="431406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Statistics Denmark, 2024</a:t>
            </a:r>
            <a:endParaRPr lang="en-US" sz="8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highlight + speech-bubble callout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6293" y="3505200"/>
            <a:ext cx="932180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5493" y="421005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6293" y="3185160"/>
            <a:ext cx="932180" cy="3200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55493" y="324993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4563" y="3345180"/>
            <a:ext cx="93218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3763" y="413004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4563" y="2945130"/>
            <a:ext cx="932180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3763" y="304990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2833" y="3225165"/>
            <a:ext cx="932180" cy="188023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2033" y="407003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2833" y="2385060"/>
            <a:ext cx="932180" cy="840105"/>
          </a:xfrm>
          <a:prstGeom prst="rect">
            <a:avLst/>
          </a:prstGeom>
          <a:solidFill>
            <a:srgbClr val="E3494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52033" y="270986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1103" y="3025140"/>
            <a:ext cx="932180" cy="20802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0303" y="397002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501103" y="2465070"/>
            <a:ext cx="932180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0303" y="264985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V="1">
            <a:off x="4238473" y="3345180"/>
            <a:ext cx="466090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238473" y="2945130"/>
            <a:ext cx="466090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5636743" y="3225165"/>
            <a:ext cx="466090" cy="12001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636743" y="2385060"/>
            <a:ext cx="466090" cy="56007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7035013" y="3025140"/>
            <a:ext cx="466090" cy="20002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5013" y="2385060"/>
            <a:ext cx="466090" cy="800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17128" y="265938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17128" y="397954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6568923" y="1959610"/>
            <a:ext cx="381000" cy="400050"/>
          </a:xfrm>
          <a:prstGeom prst="line">
            <a:avLst/>
          </a:prstGeom>
          <a:noFill/>
          <a:ln w="9525">
            <a:solidFill>
              <a:srgbClr val="0B0B0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One-off boost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9648" y="2438400"/>
            <a:ext cx="5613400" cy="5334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3" name="Text 1"/>
          <p:cNvSpPr/>
          <p:nvPr/>
        </p:nvSpPr>
        <p:spPr>
          <a:xfrm>
            <a:off x="3517748" y="2451100"/>
            <a:ext cx="5537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range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band (target range) + line highlight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3078480"/>
            <a:ext cx="922867" cy="2026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399669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2705100"/>
            <a:ext cx="922867" cy="2400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381000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2331720"/>
            <a:ext cx="922867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362331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2491740"/>
            <a:ext cx="922867" cy="26136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370332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background bands (quadrant regions)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956273" y="1879600"/>
            <a:ext cx="2085975" cy="3251200"/>
          </a:xfrm>
          <a:prstGeom prst="rect">
            <a:avLst/>
          </a:prstGeom>
          <a:solidFill>
            <a:srgbClr val="E8F0E4"/>
          </a:solidFill>
          <a:ln/>
        </p:spPr>
      </p:sp>
      <p:sp>
        <p:nvSpPr>
          <p:cNvPr id="4" name="Text 2"/>
          <p:cNvSpPr/>
          <p:nvPr/>
        </p:nvSpPr>
        <p:spPr>
          <a:xfrm>
            <a:off x="6994373" y="1892300"/>
            <a:ext cx="20097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84535" y="4279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7523" y="3263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70510" y="3670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13498" y="2654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56485" y="2247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86135" y="4235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629123" y="3219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672110" y="3625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15098" y="2609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58085" y="2203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Exploding slice + slice color + 100% = note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6200000"/>
              <a:gd name="adj2" fmla="val 4536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90764" y="32818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46%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26508" y="2173627"/>
            <a:ext cx="2806700" cy="2806700"/>
          </a:xfrm>
          <a:prstGeom prst="pie">
            <a:avLst>
              <a:gd name="adj1" fmla="val 4536000"/>
              <a:gd name="adj2" fmla="val 10584000"/>
            </a:avLst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0140" y="4185634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28%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0584000"/>
              <a:gd name="adj2" fmla="val 14472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62223" y="2971737"/>
            <a:ext cx="942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18%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4472000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6319" y="2046932"/>
            <a:ext cx="17371" cy="676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2142" y="19332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= 100   ·   Source: annual report FY24</a:t>
            </a:r>
            <a:endParaRPr lang="en-US" sz="8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 fills (SVG/preview; solid in PPT)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505200"/>
            <a:ext cx="1242907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21005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3105150"/>
            <a:ext cx="1242907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099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974" y="2865120"/>
            <a:ext cx="1242907" cy="24003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3174" y="288988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248334" y="2785110"/>
            <a:ext cx="1242907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97534" y="296989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48334" y="2465070"/>
            <a:ext cx="1242907" cy="32004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97534" y="25298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12694" y="3105150"/>
            <a:ext cx="1242907" cy="20002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61894" y="40100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12694" y="246507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61894" y="268986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12694" y="2105025"/>
            <a:ext cx="1242907" cy="36004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61894" y="2189798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flipV="1">
            <a:off x="4626881" y="3345180"/>
            <a:ext cx="621453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26881" y="278511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626881" y="2465070"/>
            <a:ext cx="621453" cy="4000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6491241" y="3105150"/>
            <a:ext cx="621453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491241" y="246507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6491241" y="2105025"/>
            <a:ext cx="621453" cy="36004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17128" y="21993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717128" y="269938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17128" y="401955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from raw samples (Tukey whiskers, outliers)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39852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3985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0520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39014" y="352298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7274" y="187706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86348" y="25450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6348" y="329184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4795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71786" y="2651760"/>
            <a:ext cx="102912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71786" y="29718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0148" y="2906607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71786" y="27813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57481" y="36118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2919" y="371856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81281" y="373634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29541" y="209042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boxplot (same shared axis, rotated)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187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870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1907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30035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47848" y="38163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47848" y="46291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702148" y="22860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28948" y="22860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387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289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97248" y="20624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65548" y="20624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84548" y="18910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07048" y="30988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97248" y="30988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119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972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33848" y="2875280"/>
            <a:ext cx="14732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70448" y="28752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89448" y="27038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333848" y="39116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60648" y="39116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704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606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28948" y="36880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97248" y="36880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16248" y="35166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70448" y="47244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28948" y="47244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753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289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65548" y="45008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33848" y="45008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52848" y="43294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923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 bars (Error / Error+ / Error- rows)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27762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19889" y="3121152"/>
            <a:ext cx="922867" cy="13441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669089" y="369798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3239" y="2705100"/>
            <a:ext cx="922867" cy="17602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5072439" y="348996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526589" y="2929128"/>
            <a:ext cx="922867" cy="15361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475789" y="360197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929939" y="2513076"/>
            <a:ext cx="922867" cy="19522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879139" y="339394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79648" y="446532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81323" y="2961132"/>
            <a:ext cx="0" cy="32004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7823" y="296113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7823" y="32811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84673" y="2481072"/>
            <a:ext cx="0" cy="448056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1173" y="24810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1173" y="292912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88023" y="2641092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24523" y="264109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24523" y="302514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91373" y="2385060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7873" y="238506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27873" y="276910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Datamark axis (Tufte range frame)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51054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165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28848" y="19050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18161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Diverging heatmap (YoY change, 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solidFill>
            <a:srgbClr val="F9E6E6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-2.0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solidFill>
            <a:srgbClr val="6690DB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980267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solidFill>
            <a:srgbClr val="F6D8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-3.0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solidFill>
            <a:srgbClr val="E5EAF7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966633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solidFill>
            <a:srgbClr val="D6DEF2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solidFill>
            <a:srgbClr val="B4C3E9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35" name="Shape 33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36" name="Shape 34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F4CDCC"/>
          </a:solidFill>
          <a:ln/>
        </p:spPr>
      </p:sp>
      <p:sp>
        <p:nvSpPr>
          <p:cNvPr id="37" name="Shape 35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F6D6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F7DEDE"/>
          </a:solidFill>
          <a:ln/>
        </p:spPr>
      </p:sp>
      <p:sp>
        <p:nvSpPr>
          <p:cNvPr id="39" name="Shape 37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F9E7E7"/>
          </a:solidFill>
          <a:ln/>
        </p:spPr>
      </p:sp>
      <p:sp>
        <p:nvSpPr>
          <p:cNvPr id="40" name="Shape 38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FBEFEF"/>
          </a:solidFill>
          <a:ln/>
        </p:spPr>
      </p:sp>
      <p:sp>
        <p:nvSpPr>
          <p:cNvPr id="41" name="Shape 39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FDF6F6"/>
          </a:solidFill>
          <a:ln/>
        </p:spPr>
      </p:sp>
      <p:sp>
        <p:nvSpPr>
          <p:cNvPr id="42" name="Shape 40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FFFDFD"/>
          </a:solidFill>
          <a:ln/>
        </p:spPr>
      </p:sp>
      <p:sp>
        <p:nvSpPr>
          <p:cNvPr id="43" name="Shape 41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F9FAFD"/>
          </a:solidFill>
          <a:ln/>
        </p:spPr>
      </p:sp>
      <p:sp>
        <p:nvSpPr>
          <p:cNvPr id="44" name="Shape 42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5" name="Shape 43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E9EDF8"/>
          </a:solidFill>
          <a:ln/>
        </p:spPr>
      </p:sp>
      <p:sp>
        <p:nvSpPr>
          <p:cNvPr id="46" name="Shape 44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47" name="Shape 45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48" name="Shape 46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49" name="Shape 47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C4CFED"/>
          </a:solidFill>
          <a:ln/>
        </p:spPr>
      </p:sp>
      <p:sp>
        <p:nvSpPr>
          <p:cNvPr id="50" name="Shape 48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B9C7EB"/>
          </a:solidFill>
          <a:ln/>
        </p:spPr>
      </p:sp>
      <p:sp>
        <p:nvSpPr>
          <p:cNvPr id="51" name="Shape 49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ADBEE8"/>
          </a:solidFill>
          <a:ln/>
        </p:spPr>
      </p:sp>
      <p:sp>
        <p:nvSpPr>
          <p:cNvPr id="52" name="Shape 50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53" name="Shape 51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92ABE2"/>
          </a:solidFill>
          <a:ln/>
        </p:spPr>
      </p:sp>
      <p:sp>
        <p:nvSpPr>
          <p:cNvPr id="54" name="Shape 52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55" name="Shape 53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6E94DC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5487D9"/>
          </a:solidFill>
          <a:ln/>
        </p:spPr>
      </p:sp>
      <p:sp>
        <p:nvSpPr>
          <p:cNvPr id="57" name="Shape 55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000348" y="5149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tile map (auto-detected layout)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988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988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DFE6F5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5441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8115941" y="241419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0750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988" dirty="0"/>
          </a:p>
        </p:txBody>
      </p:sp>
      <p:sp>
        <p:nvSpPr>
          <p:cNvPr id="16" name="Text 14"/>
          <p:cNvSpPr/>
          <p:nvPr/>
        </p:nvSpPr>
        <p:spPr>
          <a:xfrm>
            <a:off x="410750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8" name="Text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19" name="Shape 17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0" name="Text 18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988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988" dirty="0"/>
          </a:p>
        </p:txBody>
      </p:sp>
      <p:sp>
        <p:nvSpPr>
          <p:cNvPr id="23" name="Shape 21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4" name="Text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988" dirty="0"/>
          </a:p>
        </p:txBody>
      </p:sp>
      <p:sp>
        <p:nvSpPr>
          <p:cNvPr id="25" name="Shape 23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6" name="Text 24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988" dirty="0"/>
          </a:p>
        </p:txBody>
      </p:sp>
      <p:sp>
        <p:nvSpPr>
          <p:cNvPr id="27" name="Shape 25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96AEE3"/>
          </a:solidFill>
          <a:ln/>
        </p:spPr>
      </p:sp>
      <p:sp>
        <p:nvSpPr>
          <p:cNvPr id="30" name="Text 28"/>
          <p:cNvSpPr/>
          <p:nvPr/>
        </p:nvSpPr>
        <p:spPr>
          <a:xfrm>
            <a:off x="731425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988" dirty="0"/>
          </a:p>
        </p:txBody>
      </p:sp>
      <p:sp>
        <p:nvSpPr>
          <p:cNvPr id="31" name="Text 29"/>
          <p:cNvSpPr/>
          <p:nvPr/>
        </p:nvSpPr>
        <p:spPr>
          <a:xfrm>
            <a:off x="731425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988" dirty="0"/>
          </a:p>
        </p:txBody>
      </p:sp>
      <p:sp>
        <p:nvSpPr>
          <p:cNvPr id="34" name="Shape 32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7" name="Text 35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988" dirty="0"/>
          </a:p>
        </p:txBody>
      </p:sp>
      <p:sp>
        <p:nvSpPr>
          <p:cNvPr id="38" name="Shape 36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9" name="Text 37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988" dirty="0"/>
          </a:p>
        </p:txBody>
      </p:sp>
      <p:sp>
        <p:nvSpPr>
          <p:cNvPr id="40" name="Shape 38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1" name="Text 39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988" dirty="0"/>
          </a:p>
        </p:txBody>
      </p:sp>
      <p:sp>
        <p:nvSpPr>
          <p:cNvPr id="42" name="Shape 40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3" name="Text 41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988" dirty="0"/>
          </a:p>
        </p:txBody>
      </p:sp>
      <p:sp>
        <p:nvSpPr>
          <p:cNvPr id="44" name="Shape 42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5" name="Text 43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988" dirty="0"/>
          </a:p>
        </p:txBody>
      </p:sp>
      <p:sp>
        <p:nvSpPr>
          <p:cNvPr id="46" name="Shape 44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CFD9F1"/>
          </a:solidFill>
          <a:ln/>
        </p:spPr>
      </p:sp>
      <p:sp>
        <p:nvSpPr>
          <p:cNvPr id="47" name="Text 45"/>
          <p:cNvSpPr/>
          <p:nvPr/>
        </p:nvSpPr>
        <p:spPr>
          <a:xfrm>
            <a:off x="6111723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988" dirty="0"/>
          </a:p>
        </p:txBody>
      </p:sp>
      <p:sp>
        <p:nvSpPr>
          <p:cNvPr id="48" name="Text 46"/>
          <p:cNvSpPr/>
          <p:nvPr/>
        </p:nvSpPr>
        <p:spPr>
          <a:xfrm>
            <a:off x="6111723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0" name="Text 48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988" dirty="0"/>
          </a:p>
        </p:txBody>
      </p:sp>
      <p:sp>
        <p:nvSpPr>
          <p:cNvPr id="51" name="Shape 49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2" name="Text 50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988" dirty="0"/>
          </a:p>
        </p:txBody>
      </p:sp>
      <p:sp>
        <p:nvSpPr>
          <p:cNvPr id="53" name="Shape 51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4" name="Text 52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988" dirty="0"/>
          </a:p>
        </p:txBody>
      </p:sp>
      <p:sp>
        <p:nvSpPr>
          <p:cNvPr id="55" name="Shape 53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6" name="Text 54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988" dirty="0"/>
          </a:p>
        </p:txBody>
      </p:sp>
      <p:sp>
        <p:nvSpPr>
          <p:cNvPr id="57" name="Shape 55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706660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988" dirty="0"/>
          </a:p>
        </p:txBody>
      </p:sp>
      <p:sp>
        <p:nvSpPr>
          <p:cNvPr id="59" name="Text 57"/>
          <p:cNvSpPr/>
          <p:nvPr/>
        </p:nvSpPr>
        <p:spPr>
          <a:xfrm>
            <a:off x="3706660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988" dirty="0"/>
          </a:p>
        </p:txBody>
      </p:sp>
      <p:sp>
        <p:nvSpPr>
          <p:cNvPr id="64" name="Shape 62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E9EEF9"/>
          </a:solidFill>
          <a:ln/>
        </p:spPr>
      </p:sp>
      <p:sp>
        <p:nvSpPr>
          <p:cNvPr id="65" name="Text 63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988" dirty="0"/>
          </a:p>
        </p:txBody>
      </p:sp>
      <p:sp>
        <p:nvSpPr>
          <p:cNvPr id="66" name="Text 64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Text 7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9" name="Shape 7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Text 78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81" name="Shape 7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Text 8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988" dirty="0"/>
          </a:p>
        </p:txBody>
      </p:sp>
      <p:sp>
        <p:nvSpPr>
          <p:cNvPr id="83" name="Shape 8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Text 82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988" dirty="0"/>
          </a:p>
        </p:txBody>
      </p:sp>
      <p:sp>
        <p:nvSpPr>
          <p:cNvPr id="85" name="Shape 8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Text 8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988" dirty="0"/>
          </a:p>
        </p:txBody>
      </p:sp>
      <p:sp>
        <p:nvSpPr>
          <p:cNvPr id="87" name="Shape 8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Text 8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988" dirty="0"/>
          </a:p>
        </p:txBody>
      </p:sp>
      <p:sp>
        <p:nvSpPr>
          <p:cNvPr id="89" name="Shape 8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Text 8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988" dirty="0"/>
          </a:p>
        </p:txBody>
      </p:sp>
      <p:sp>
        <p:nvSpPr>
          <p:cNvPr id="91" name="Shape 8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Text 9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988" dirty="0"/>
          </a:p>
        </p:txBody>
      </p:sp>
      <p:sp>
        <p:nvSpPr>
          <p:cNvPr id="93" name="Shape 9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4" name="Text 92"/>
          <p:cNvSpPr/>
          <p:nvPr/>
        </p:nvSpPr>
        <p:spPr>
          <a:xfrm>
            <a:off x="6913410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988" dirty="0"/>
          </a:p>
        </p:txBody>
      </p:sp>
      <p:sp>
        <p:nvSpPr>
          <p:cNvPr id="95" name="Text 93"/>
          <p:cNvSpPr/>
          <p:nvPr/>
        </p:nvSpPr>
        <p:spPr>
          <a:xfrm>
            <a:off x="6913410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87A4E0"/>
          </a:solidFill>
          <a:ln/>
        </p:spPr>
      </p:sp>
      <p:sp>
        <p:nvSpPr>
          <p:cNvPr id="97" name="Text 95"/>
          <p:cNvSpPr/>
          <p:nvPr/>
        </p:nvSpPr>
        <p:spPr>
          <a:xfrm>
            <a:off x="4909191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988" dirty="0"/>
          </a:p>
        </p:txBody>
      </p:sp>
      <p:sp>
        <p:nvSpPr>
          <p:cNvPr id="98" name="Text 96"/>
          <p:cNvSpPr/>
          <p:nvPr/>
        </p:nvSpPr>
        <p:spPr>
          <a:xfrm>
            <a:off x="4909191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Text 98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988" dirty="0"/>
          </a:p>
        </p:txBody>
      </p:sp>
      <p:sp>
        <p:nvSpPr>
          <p:cNvPr id="101" name="Shape 99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Text 100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988" dirty="0"/>
          </a:p>
        </p:txBody>
      </p:sp>
      <p:sp>
        <p:nvSpPr>
          <p:cNvPr id="103" name="Shape 101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105" name="Shape 103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106" name="Text 104"/>
          <p:cNvSpPr/>
          <p:nvPr/>
        </p:nvSpPr>
        <p:spPr>
          <a:xfrm>
            <a:off x="6512566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988" dirty="0"/>
          </a:p>
        </p:txBody>
      </p:sp>
      <p:sp>
        <p:nvSpPr>
          <p:cNvPr id="107" name="Text 105"/>
          <p:cNvSpPr/>
          <p:nvPr/>
        </p:nvSpPr>
        <p:spPr>
          <a:xfrm>
            <a:off x="6512566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9" name="Text 10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988" dirty="0"/>
          </a:p>
        </p:txBody>
      </p:sp>
      <p:sp>
        <p:nvSpPr>
          <p:cNvPr id="110" name="Shape 108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11" name="Text 10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988" dirty="0"/>
          </a:p>
        </p:txBody>
      </p:sp>
      <p:sp>
        <p:nvSpPr>
          <p:cNvPr id="112" name="Shape 110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AEC0E8"/>
          </a:solidFill>
          <a:ln/>
        </p:spPr>
      </p:sp>
      <p:sp>
        <p:nvSpPr>
          <p:cNvPr id="113" name="Text 111"/>
          <p:cNvSpPr/>
          <p:nvPr/>
        </p:nvSpPr>
        <p:spPr>
          <a:xfrm>
            <a:off x="6512566" y="4660503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988" dirty="0"/>
          </a:p>
        </p:txBody>
      </p:sp>
      <p:sp>
        <p:nvSpPr>
          <p:cNvPr id="114" name="Text 112"/>
          <p:cNvSpPr/>
          <p:nvPr/>
        </p:nvSpPr>
        <p:spPr>
          <a:xfrm>
            <a:off x="6512566" y="481925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3706660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770160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833660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897160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960660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024160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087660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51160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214660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278160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341660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405160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468660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532160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595660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659160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722660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786160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49660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13160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6660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40160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103660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167160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Text 137"/>
          <p:cNvSpPr/>
          <p:nvPr/>
        </p:nvSpPr>
        <p:spPr>
          <a:xfrm>
            <a:off x="3706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0" name="Text 138"/>
          <p:cNvSpPr/>
          <p:nvPr/>
        </p:nvSpPr>
        <p:spPr>
          <a:xfrm>
            <a:off x="4468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1" name="Shape 139"/>
          <p:cNvSpPr/>
          <p:nvPr/>
        </p:nvSpPr>
        <p:spPr>
          <a:xfrm>
            <a:off x="5357660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2" name="Text 140"/>
          <p:cNvSpPr/>
          <p:nvPr/>
        </p:nvSpPr>
        <p:spPr>
          <a:xfrm>
            <a:off x="5497360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Highlighted max point (per-cell color on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44748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422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 flipV="1">
            <a:off x="3675228" y="2945130"/>
            <a:ext cx="1203960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8708" y="291465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8188" y="273558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4879188" y="2257044"/>
            <a:ext cx="1203960" cy="6880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9968" y="2213864"/>
            <a:ext cx="86360" cy="863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02148" y="204749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3148" y="2257044"/>
            <a:ext cx="1203960" cy="448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56628" y="26746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6108" y="24955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7287108" y="251307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60588" y="248259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10068" y="230352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2026-07-05T10:51:55Z</dcterms:created>
  <dcterms:modified xsi:type="dcterms:W3CDTF">2026-07-05T10:51:55Z</dcterms:modified>
</cp:coreProperties>
</file>
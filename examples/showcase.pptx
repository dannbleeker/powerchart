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3424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3346"/>
            <a:ext cx="47858" cy="4320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662678"/>
            <a:ext cx="47858" cy="44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652010"/>
            <a:ext cx="47858" cy="4533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641342"/>
            <a:ext cx="47858" cy="4640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630674"/>
            <a:ext cx="47858" cy="474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620006"/>
            <a:ext cx="47858" cy="4853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609338"/>
            <a:ext cx="47858" cy="496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598670"/>
            <a:ext cx="47858" cy="506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588002"/>
            <a:ext cx="47858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577334"/>
            <a:ext cx="47858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566666"/>
            <a:ext cx="47858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555998"/>
            <a:ext cx="47858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545330"/>
            <a:ext cx="47858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534662"/>
            <a:ext cx="47858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523994"/>
            <a:ext cx="47858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513326"/>
            <a:ext cx="47858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502658"/>
            <a:ext cx="47858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91990"/>
            <a:ext cx="47858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81322"/>
            <a:ext cx="47858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70654"/>
            <a:ext cx="47858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59986"/>
            <a:ext cx="47858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49318"/>
            <a:ext cx="47858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38650"/>
            <a:ext cx="47858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7982"/>
            <a:ext cx="47858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416870"/>
            <a:ext cx="47858" cy="6885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405313"/>
            <a:ext cx="47858" cy="7000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393756"/>
            <a:ext cx="47858" cy="7116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382199"/>
            <a:ext cx="47858" cy="7232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370642"/>
            <a:ext cx="47858" cy="734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359085"/>
            <a:ext cx="47858" cy="7463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347528"/>
            <a:ext cx="47858" cy="7578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335971"/>
            <a:ext cx="47858" cy="769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324414"/>
            <a:ext cx="47858" cy="7809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312857"/>
            <a:ext cx="47858" cy="792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301300"/>
            <a:ext cx="47858" cy="8041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289743"/>
            <a:ext cx="47858" cy="8156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278186"/>
            <a:ext cx="47858" cy="8272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266629"/>
            <a:ext cx="47858" cy="838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255072"/>
            <a:ext cx="47858" cy="850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243515"/>
            <a:ext cx="47858" cy="86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231958"/>
            <a:ext cx="47858" cy="873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220401"/>
            <a:ext cx="47858" cy="885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208844"/>
            <a:ext cx="47858" cy="8965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97287"/>
            <a:ext cx="47858" cy="908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85730"/>
            <a:ext cx="47858" cy="9196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74173"/>
            <a:ext cx="47858" cy="9312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62616"/>
            <a:ext cx="47858" cy="9427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51059"/>
            <a:ext cx="47858" cy="9543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4138613"/>
            <a:ext cx="47858" cy="9667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4125278"/>
            <a:ext cx="47858" cy="9801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4111943"/>
            <a:ext cx="47858" cy="993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4098608"/>
            <a:ext cx="47858" cy="10067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4085273"/>
            <a:ext cx="47858" cy="1020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4071938"/>
            <a:ext cx="47858" cy="1033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4058603"/>
            <a:ext cx="47858" cy="1046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4045268"/>
            <a:ext cx="47858" cy="1060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4031933"/>
            <a:ext cx="47858" cy="1073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4018598"/>
            <a:ext cx="47858" cy="108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4005263"/>
            <a:ext cx="47858" cy="11001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991927"/>
            <a:ext cx="47858" cy="11134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978593"/>
            <a:ext cx="47858" cy="1126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965257"/>
            <a:ext cx="47858" cy="1140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951923"/>
            <a:ext cx="47858" cy="11534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938588"/>
            <a:ext cx="47858" cy="1166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925253"/>
            <a:ext cx="47858" cy="1180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911918"/>
            <a:ext cx="47858" cy="11934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98583"/>
            <a:ext cx="47858" cy="1206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85248"/>
            <a:ext cx="47858" cy="1220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71913"/>
            <a:ext cx="47858" cy="12334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58578"/>
            <a:ext cx="47858" cy="1246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45243"/>
            <a:ext cx="47858" cy="1260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31908"/>
            <a:ext cx="47858" cy="127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819017"/>
            <a:ext cx="47858" cy="12863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806571"/>
            <a:ext cx="47858" cy="12988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794125"/>
            <a:ext cx="47858" cy="1311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781679"/>
            <a:ext cx="47858" cy="13237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769233"/>
            <a:ext cx="47858" cy="13361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756787"/>
            <a:ext cx="47858" cy="13486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744341"/>
            <a:ext cx="47858" cy="1361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731895"/>
            <a:ext cx="47858" cy="13735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719449"/>
            <a:ext cx="47858" cy="13859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707003"/>
            <a:ext cx="47858" cy="13983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694557"/>
            <a:ext cx="47858" cy="14108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682111"/>
            <a:ext cx="47858" cy="14232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669665"/>
            <a:ext cx="47858" cy="1435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657219"/>
            <a:ext cx="47858" cy="14481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644773"/>
            <a:ext cx="47858" cy="14606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632327"/>
            <a:ext cx="47858" cy="1473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619881"/>
            <a:ext cx="47858" cy="14855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607435"/>
            <a:ext cx="47858" cy="14979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94989"/>
            <a:ext cx="47858" cy="15104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82543"/>
            <a:ext cx="47858" cy="15228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70097"/>
            <a:ext cx="47858" cy="15353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57651"/>
            <a:ext cx="47858" cy="15477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45205"/>
            <a:ext cx="47858" cy="15601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32759"/>
            <a:ext cx="47858" cy="15726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925697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913251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900805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888359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875913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863467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8510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838575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826129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813683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801237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788791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776345"/>
            <a:ext cx="47858" cy="768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763899"/>
            <a:ext cx="47858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751453"/>
            <a:ext cx="47858" cy="772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739007"/>
            <a:ext cx="47858" cy="774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726561"/>
            <a:ext cx="47858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714115"/>
            <a:ext cx="47858" cy="777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701669"/>
            <a:ext cx="47858" cy="779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89223"/>
            <a:ext cx="47858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76777"/>
            <a:ext cx="47858" cy="783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64331"/>
            <a:ext cx="47858" cy="784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51885"/>
            <a:ext cx="47858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9439"/>
            <a:ext cx="47858" cy="788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627882"/>
            <a:ext cx="47858" cy="7889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617214"/>
            <a:ext cx="47858" cy="7880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606546"/>
            <a:ext cx="47858" cy="787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595878"/>
            <a:ext cx="47858" cy="7863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585210"/>
            <a:ext cx="47858" cy="785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574542"/>
            <a:ext cx="47858" cy="784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563874"/>
            <a:ext cx="47858" cy="7836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553206"/>
            <a:ext cx="47858" cy="782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542538"/>
            <a:ext cx="47858" cy="781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531870"/>
            <a:ext cx="47858" cy="780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521202"/>
            <a:ext cx="47858" cy="780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510534"/>
            <a:ext cx="47858" cy="779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499866"/>
            <a:ext cx="47858" cy="778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489198"/>
            <a:ext cx="47858" cy="777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478530"/>
            <a:ext cx="47858" cy="7765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467862"/>
            <a:ext cx="47858" cy="775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457194"/>
            <a:ext cx="47858" cy="774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446526"/>
            <a:ext cx="47858" cy="773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435858"/>
            <a:ext cx="47858" cy="7729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425190"/>
            <a:ext cx="47858" cy="772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414522"/>
            <a:ext cx="47858" cy="7712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403854"/>
            <a:ext cx="47858" cy="770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93186"/>
            <a:ext cx="47858" cy="769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82518"/>
            <a:ext cx="47858" cy="768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371405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359849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348292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336735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325178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3136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302064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290507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278950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267392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255836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244279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232722"/>
            <a:ext cx="47858" cy="745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221165"/>
            <a:ext cx="47858" cy="744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209608"/>
            <a:ext cx="47858" cy="742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198051"/>
            <a:ext cx="47858" cy="7405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186493"/>
            <a:ext cx="47858" cy="738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174937"/>
            <a:ext cx="47858" cy="7369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163380"/>
            <a:ext cx="47858" cy="7352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151823"/>
            <a:ext cx="47858" cy="7334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140265"/>
            <a:ext cx="47858" cy="7316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128709"/>
            <a:ext cx="47858" cy="7298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117152"/>
            <a:ext cx="47858" cy="7280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105595"/>
            <a:ext cx="47858" cy="7263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3095371"/>
            <a:ext cx="47858" cy="7236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3086481"/>
            <a:ext cx="47858" cy="7200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3077591"/>
            <a:ext cx="47858" cy="7165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3068701"/>
            <a:ext cx="47858" cy="7129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3059811"/>
            <a:ext cx="47858" cy="7094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3050921"/>
            <a:ext cx="47858" cy="7058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3042031"/>
            <a:ext cx="47858" cy="7023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3033141"/>
            <a:ext cx="47858" cy="6987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3024251"/>
            <a:ext cx="47858" cy="695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3015361"/>
            <a:ext cx="47858" cy="691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3006471"/>
            <a:ext cx="47858" cy="6880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997581"/>
            <a:ext cx="47858" cy="6845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988691"/>
            <a:ext cx="47858" cy="6809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979801"/>
            <a:ext cx="47858" cy="6774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970911"/>
            <a:ext cx="47858" cy="6738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962021"/>
            <a:ext cx="47858" cy="6703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953131"/>
            <a:ext cx="47858" cy="666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944241"/>
            <a:ext cx="47858" cy="663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935351"/>
            <a:ext cx="47858" cy="6596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926461"/>
            <a:ext cx="47858" cy="6560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917571"/>
            <a:ext cx="47858" cy="6525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908681"/>
            <a:ext cx="47858" cy="64897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99791"/>
            <a:ext cx="47858" cy="6454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90901"/>
            <a:ext cx="47858" cy="6418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417950" y="2120688"/>
            <a:ext cx="573498" cy="573498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17950" y="1949238"/>
            <a:ext cx="5734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10825" y="2288662"/>
            <a:ext cx="405524" cy="405524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10825" y="2033225"/>
            <a:ext cx="40552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223360" y="3906647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36604" y="2871407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88914" y="3271901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160561" y="2342650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578004" y="3595754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385141" y="262393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454565" y="4188528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647565" y="3072032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58382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854281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028721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424716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012251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472710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702080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430116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Text 34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 Support volume breakdown — April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4" name="Text 2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6" name="Text 4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&amp; Service Requests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41256" y="2070100"/>
            <a:ext cx="1375283" cy="304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166656" y="261874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contacts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66656" y="349885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4,986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2556" y="2070100"/>
            <a:ext cx="1375283" cy="28218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677956" y="257802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7956" y="338575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4,616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77956" y="356990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(92.6%)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52556" y="4891915"/>
            <a:ext cx="1375283" cy="226185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7956" y="4891915"/>
            <a:ext cx="1324483" cy="2261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370 (7.4%)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84548" y="5130800"/>
            <a:ext cx="15113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Dropped contacts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63856" y="2070100"/>
            <a:ext cx="1375283" cy="208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189256" y="2444773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 case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89256" y="301560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3,405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89256" y="319975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(73.8%)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63856" y="4151616"/>
            <a:ext cx="1375283" cy="740298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9256" y="435031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case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89256" y="452176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1,211 (26.2%)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75156" y="2070100"/>
            <a:ext cx="1375283" cy="1641372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700556" y="236554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Solved in support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00556" y="279553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2,685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00556" y="297968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(78.9%)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75156" y="3711472"/>
            <a:ext cx="1375283" cy="440144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00556" y="376009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solved in support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00556" y="393154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 (21.1%)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service desk logs, Apr 2026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Funnel — Sales pipeline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29228" y="1828800"/>
            <a:ext cx="5163820" cy="5384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200279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29228" y="2002790"/>
            <a:ext cx="5163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61992" y="2557780"/>
            <a:ext cx="3098292" cy="5384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" name="Text 5"/>
          <p:cNvSpPr/>
          <p:nvPr/>
        </p:nvSpPr>
        <p:spPr>
          <a:xfrm>
            <a:off x="3047848" y="273177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Qualified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61992" y="2731770"/>
            <a:ext cx="30982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03138" y="236728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60.0%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93533" y="3286760"/>
            <a:ext cx="1635210" cy="5384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Text 9"/>
          <p:cNvSpPr/>
          <p:nvPr/>
        </p:nvSpPr>
        <p:spPr>
          <a:xfrm>
            <a:off x="3047848" y="346075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93533" y="3460750"/>
            <a:ext cx="16352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03138" y="309626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52.8%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02335" y="4015740"/>
            <a:ext cx="817605" cy="53848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5" name="Text 13"/>
          <p:cNvSpPr/>
          <p:nvPr/>
        </p:nvSpPr>
        <p:spPr>
          <a:xfrm>
            <a:off x="3047848" y="418973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Negotiation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02335" y="4189730"/>
            <a:ext cx="81760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03138" y="382524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50.0%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252947" y="4744720"/>
            <a:ext cx="516382" cy="53848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491871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52947" y="4918710"/>
            <a:ext cx="5163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03138" y="455422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63.2%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Share of revenue under subscription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3" name="Text 101"/>
          <p:cNvSpPr/>
          <p:nvPr/>
        </p:nvSpPr>
        <p:spPr>
          <a:xfrm>
            <a:off x="6629248" y="3263900"/>
            <a:ext cx="24892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68%</a:t>
            </a:r>
            <a:endParaRPr lang="en-US" sz="2600" dirty="0"/>
          </a:p>
        </p:txBody>
      </p:sp>
      <p:sp>
        <p:nvSpPr>
          <p:cNvPr id="104" name="Text 102"/>
          <p:cNvSpPr/>
          <p:nvPr/>
        </p:nvSpPr>
        <p:spPr>
          <a:xfrm>
            <a:off x="6629248" y="3683000"/>
            <a:ext cx="2489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Subscription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1900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361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8992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29606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210560"/>
            <a:ext cx="958555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43" name="Text 41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64230" y="3787140"/>
            <a:ext cx="766844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8" name="Shape 46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819845" y="3600450"/>
            <a:ext cx="421764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1" name="Shape 49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52" name="Text 50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11556" y="4940300"/>
            <a:ext cx="1341977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58" name="Shape 56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267171" y="4753610"/>
            <a:ext cx="319518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60" name="Text 58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62" name="Shape 60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rot="16200000">
            <a:off x="576269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5" name="Shape 63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rot="16200000">
            <a:off x="621002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8" name="Shape 66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9" name="Text 67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4535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7523" y="3263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70510" y="3670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13498" y="2654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56485" y="2247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86135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629123" y="3219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72110" y="3625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15098" y="2609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58085" y="2203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6200000"/>
              <a:gd name="adj2" fmla="val 4536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prstGeom prst="pie">
            <a:avLst>
              <a:gd name="adj1" fmla="val 4536000"/>
              <a:gd name="adj2" fmla="val 10584000"/>
            </a:avLst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0584000"/>
              <a:gd name="adj2" fmla="val 14472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4472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Grouped boxplots (2024 vs 2025)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964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36066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3336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41603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87766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87766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48987" y="339852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48987" y="467868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79368" y="382524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79368" y="425196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58899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58899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20120" y="25450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20120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50501" y="3185160"/>
            <a:ext cx="616797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50501" y="361188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3003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3003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91253" y="36118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91253" y="489204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21634" y="403860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21634" y="446532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42663" y="31851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42663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03883" y="31851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03883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34264" y="361188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34264" y="403860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13796" y="233172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13796" y="382524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75017" y="23317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75017" y="42519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05398" y="2971800"/>
            <a:ext cx="616797" cy="85344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05398" y="339852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84929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84929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46150" y="33985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46150" y="46786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76531" y="382524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76531" y="425196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705225"/>
            <a:ext cx="6019800" cy="1400175"/>
          </a:xfrm>
          <a:prstGeom prst="rect">
            <a:avLst/>
          </a:prstGeom>
          <a:solidFill>
            <a:srgbClr val="E4E2DA"/>
          </a:solidFill>
          <a:ln/>
        </p:spPr>
      </p:sp>
      <p:sp>
        <p:nvSpPr>
          <p:cNvPr id="3" name="Shape 1"/>
          <p:cNvSpPr/>
          <p:nvPr/>
        </p:nvSpPr>
        <p:spPr>
          <a:xfrm>
            <a:off x="3073248" y="2905125"/>
            <a:ext cx="6019800" cy="800100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Bullet chart (Target row + range bands)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732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81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80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0423" y="3425190"/>
            <a:ext cx="99060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279623" y="4170045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35373" y="2905125"/>
            <a:ext cx="990600" cy="2200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784573" y="3910013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0323" y="3185160"/>
            <a:ext cx="99060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289523" y="4050030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845273" y="2665095"/>
            <a:ext cx="99060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794473" y="3789998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552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0047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5423" y="2905125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0373" y="278511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clustered columns +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188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71052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2704" y="2971800"/>
            <a:ext cx="593513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3331904" y="394335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988918" y="3078480"/>
            <a:ext cx="593513" cy="20269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3938118" y="39966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01344" y="2651760"/>
            <a:ext cx="593513" cy="24536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5150544" y="378333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07558" y="2545080"/>
            <a:ext cx="593513" cy="2560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5756758" y="37299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19984" y="2331720"/>
            <a:ext cx="593513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969184" y="362331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26198" y="2171700"/>
            <a:ext cx="593513" cy="29337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7575398" y="354330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79968" y="32035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79968" y="37242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54568" y="42164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55456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54568" y="26162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952088" y="259461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01568" y="241554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982568" y="2385060"/>
            <a:ext cx="1818640" cy="24003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70728" y="235458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20208" y="21755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5801208" y="2065020"/>
            <a:ext cx="1818640" cy="32004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89368" y="203454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38848" y="185547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79968" y="1652270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Dumbbell range (before vs after)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721583" y="345440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8583" y="34163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2383" y="3025140"/>
            <a:ext cx="0" cy="4800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21583" y="297434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8583" y="293624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19853" y="285432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46853" y="281622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0653" y="2705100"/>
            <a:ext cx="0" cy="20002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19853" y="265430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46853" y="26162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18123" y="313436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45123" y="309626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68923" y="3185160"/>
            <a:ext cx="0" cy="12001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18123" y="3254375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5123" y="321627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16393" y="261429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3393" y="257619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67193" y="2305050"/>
            <a:ext cx="0" cy="36004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16393" y="225425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3393" y="221615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17128" y="221932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17128" y="257937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with confidence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83148" y="3431858"/>
            <a:ext cx="56515" cy="733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9" name="Shape 7"/>
          <p:cNvSpPr/>
          <p:nvPr/>
        </p:nvSpPr>
        <p:spPr>
          <a:xfrm>
            <a:off x="6133313" y="3413189"/>
            <a:ext cx="56515" cy="2200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0" name="Shape 8"/>
          <p:cNvSpPr/>
          <p:nvPr/>
        </p:nvSpPr>
        <p:spPr>
          <a:xfrm>
            <a:off x="6183478" y="3394519"/>
            <a:ext cx="56515" cy="366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643" y="3375851"/>
            <a:ext cx="56515" cy="5134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2" name="Shape 10"/>
          <p:cNvSpPr/>
          <p:nvPr/>
        </p:nvSpPr>
        <p:spPr>
          <a:xfrm>
            <a:off x="6283808" y="3357182"/>
            <a:ext cx="56515" cy="6600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333973" y="3338513"/>
            <a:ext cx="56515" cy="806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4" name="Shape 12"/>
          <p:cNvSpPr/>
          <p:nvPr/>
        </p:nvSpPr>
        <p:spPr>
          <a:xfrm>
            <a:off x="6384138" y="3319844"/>
            <a:ext cx="56515" cy="953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434303" y="3301175"/>
            <a:ext cx="56515" cy="11001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484468" y="3282506"/>
            <a:ext cx="56515" cy="12468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4633" y="3263837"/>
            <a:ext cx="56515" cy="1393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4798" y="3245168"/>
            <a:ext cx="56515" cy="15401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634963" y="3226499"/>
            <a:ext cx="56515" cy="16868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0" name="Shape 18"/>
          <p:cNvSpPr/>
          <p:nvPr/>
        </p:nvSpPr>
        <p:spPr>
          <a:xfrm>
            <a:off x="6685128" y="3207830"/>
            <a:ext cx="56515" cy="18335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735293" y="3189161"/>
            <a:ext cx="56515" cy="19802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785458" y="3170492"/>
            <a:ext cx="56515" cy="21269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3" name="Shape 21"/>
          <p:cNvSpPr/>
          <p:nvPr/>
        </p:nvSpPr>
        <p:spPr>
          <a:xfrm>
            <a:off x="6835623" y="3151823"/>
            <a:ext cx="56515" cy="22736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4" name="Shape 22"/>
          <p:cNvSpPr/>
          <p:nvPr/>
        </p:nvSpPr>
        <p:spPr>
          <a:xfrm>
            <a:off x="6885788" y="3133154"/>
            <a:ext cx="56515" cy="24203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5" name="Shape 23"/>
          <p:cNvSpPr/>
          <p:nvPr/>
        </p:nvSpPr>
        <p:spPr>
          <a:xfrm>
            <a:off x="6935953" y="3114485"/>
            <a:ext cx="56515" cy="25669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986118" y="3095816"/>
            <a:ext cx="56515" cy="2713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036283" y="3077147"/>
            <a:ext cx="56515" cy="28603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448" y="3058478"/>
            <a:ext cx="56515" cy="30070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136613" y="3039809"/>
            <a:ext cx="56515" cy="3153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6778" y="3021140"/>
            <a:ext cx="56515" cy="33004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236943" y="3002471"/>
            <a:ext cx="56515" cy="34471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2" name="Shape 30"/>
          <p:cNvSpPr/>
          <p:nvPr/>
        </p:nvSpPr>
        <p:spPr>
          <a:xfrm>
            <a:off x="7287108" y="2982468"/>
            <a:ext cx="56515" cy="3600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3" name="Shape 31"/>
          <p:cNvSpPr/>
          <p:nvPr/>
        </p:nvSpPr>
        <p:spPr>
          <a:xfrm>
            <a:off x="7337273" y="2961132"/>
            <a:ext cx="56515" cy="37604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4" name="Shape 32"/>
          <p:cNvSpPr/>
          <p:nvPr/>
        </p:nvSpPr>
        <p:spPr>
          <a:xfrm>
            <a:off x="7387438" y="2939796"/>
            <a:ext cx="56515" cy="39204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437603" y="2918460"/>
            <a:ext cx="56515" cy="4080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87768" y="2897124"/>
            <a:ext cx="56515" cy="42405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7" name="Shape 35"/>
          <p:cNvSpPr/>
          <p:nvPr/>
        </p:nvSpPr>
        <p:spPr>
          <a:xfrm>
            <a:off x="7537933" y="2875788"/>
            <a:ext cx="56515" cy="44005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588098" y="2854452"/>
            <a:ext cx="56515" cy="45605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9" name="Shape 37"/>
          <p:cNvSpPr/>
          <p:nvPr/>
        </p:nvSpPr>
        <p:spPr>
          <a:xfrm>
            <a:off x="7638263" y="2833116"/>
            <a:ext cx="56515" cy="47205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0" name="Shape 38"/>
          <p:cNvSpPr/>
          <p:nvPr/>
        </p:nvSpPr>
        <p:spPr>
          <a:xfrm>
            <a:off x="7688428" y="2811780"/>
            <a:ext cx="56515" cy="48806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38593" y="2790444"/>
            <a:ext cx="56515" cy="50406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8758" y="2769108"/>
            <a:ext cx="56515" cy="52006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3" name="Shape 41"/>
          <p:cNvSpPr/>
          <p:nvPr/>
        </p:nvSpPr>
        <p:spPr>
          <a:xfrm>
            <a:off x="7838923" y="2747772"/>
            <a:ext cx="56515" cy="5360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4" name="Shape 42"/>
          <p:cNvSpPr/>
          <p:nvPr/>
        </p:nvSpPr>
        <p:spPr>
          <a:xfrm>
            <a:off x="7889088" y="2726436"/>
            <a:ext cx="56515" cy="55206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5" name="Shape 43"/>
          <p:cNvSpPr/>
          <p:nvPr/>
        </p:nvSpPr>
        <p:spPr>
          <a:xfrm>
            <a:off x="7939253" y="2705100"/>
            <a:ext cx="56515" cy="5680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89418" y="2683764"/>
            <a:ext cx="56515" cy="5840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39583" y="2662428"/>
            <a:ext cx="56515" cy="60007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8" name="Shape 46"/>
          <p:cNvSpPr/>
          <p:nvPr/>
        </p:nvSpPr>
        <p:spPr>
          <a:xfrm>
            <a:off x="8089748" y="2641092"/>
            <a:ext cx="56515" cy="6160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9" name="Shape 47"/>
          <p:cNvSpPr/>
          <p:nvPr/>
        </p:nvSpPr>
        <p:spPr>
          <a:xfrm>
            <a:off x="8139913" y="2619756"/>
            <a:ext cx="56515" cy="63207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0" name="Shape 48"/>
          <p:cNvSpPr/>
          <p:nvPr/>
        </p:nvSpPr>
        <p:spPr>
          <a:xfrm>
            <a:off x="8190078" y="2598420"/>
            <a:ext cx="56515" cy="64808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1" name="Shape 49"/>
          <p:cNvSpPr/>
          <p:nvPr/>
        </p:nvSpPr>
        <p:spPr>
          <a:xfrm>
            <a:off x="8240243" y="2577084"/>
            <a:ext cx="56515" cy="66408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2" name="Shape 50"/>
          <p:cNvSpPr/>
          <p:nvPr/>
        </p:nvSpPr>
        <p:spPr>
          <a:xfrm>
            <a:off x="8290408" y="2555748"/>
            <a:ext cx="56515" cy="68008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3" name="Shape 51"/>
          <p:cNvSpPr/>
          <p:nvPr/>
        </p:nvSpPr>
        <p:spPr>
          <a:xfrm>
            <a:off x="8340573" y="2534412"/>
            <a:ext cx="56515" cy="69608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4" name="Shape 52"/>
          <p:cNvSpPr/>
          <p:nvPr/>
        </p:nvSpPr>
        <p:spPr>
          <a:xfrm>
            <a:off x="8390738" y="2513076"/>
            <a:ext cx="56515" cy="71208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5" name="Shape 53"/>
          <p:cNvSpPr/>
          <p:nvPr/>
        </p:nvSpPr>
        <p:spPr>
          <a:xfrm>
            <a:off x="8440903" y="2491740"/>
            <a:ext cx="56515" cy="72809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6" name="Shape 54"/>
          <p:cNvSpPr/>
          <p:nvPr/>
        </p:nvSpPr>
        <p:spPr>
          <a:xfrm>
            <a:off x="6685128" y="1905000"/>
            <a:ext cx="0" cy="3200400"/>
          </a:xfrm>
          <a:prstGeom prst="line">
            <a:avLst/>
          </a:prstGeom>
          <a:noFill/>
          <a:ln w="12700">
            <a:solidFill>
              <a:srgbClr val="E1E0D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3644748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4228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 flipV="1">
            <a:off x="3675228" y="363321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48708" y="36027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98188" y="342366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 flipV="1">
            <a:off x="4879188" y="3441192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052668" y="3410712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02148" y="323164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 flipV="1">
            <a:off x="6083148" y="3185160"/>
            <a:ext cx="1203960" cy="256032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7256628" y="3154680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0610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 flipV="1">
            <a:off x="7287108" y="2897124"/>
            <a:ext cx="1203960" cy="288036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8460588" y="2866644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110068" y="2687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69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Budget-vs-actual bridge (gap to target)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73908" y="3270504"/>
            <a:ext cx="80264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3197708" y="40927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76548" y="3270504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4477868" y="2971800"/>
            <a:ext cx="80264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401668" y="30259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80508" y="2971800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5681828" y="2779776"/>
            <a:ext cx="80264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605628" y="2780538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84468" y="2779776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6885788" y="2779776"/>
            <a:ext cx="80264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6809588" y="281254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8428" y="3035808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089748" y="3035808"/>
            <a:ext cx="802640" cy="2069592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1" name="Text 19"/>
          <p:cNvSpPr/>
          <p:nvPr/>
        </p:nvSpPr>
        <p:spPr>
          <a:xfrm>
            <a:off x="8013548" y="3975354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60868" y="275844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89748" y="2758440"/>
            <a:ext cx="802640" cy="277368"/>
          </a:xfrm>
          <a:prstGeom prst="rect">
            <a:avLst/>
          </a:prstGeom>
          <a:solidFill>
            <a:srgbClr val="898781"/>
          </a:solidFill>
          <a:ln w="9525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38948" y="2567940"/>
            <a:ext cx="9042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 +13</a:t>
            </a:r>
            <a:endParaRPr lang="en-US" sz="9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with marginal totals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77187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5139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3092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solidFill>
            <a:srgbClr val="AABDE7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solidFill>
            <a:srgbClr val="8CA7E1"/>
          </a:solidFill>
          <a:ln/>
        </p:spPr>
      </p:sp>
      <p:sp>
        <p:nvSpPr>
          <p:cNvPr id="11" name="Text 9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solidFill>
            <a:srgbClr val="799BDE"/>
          </a:solidFill>
          <a:ln/>
        </p:spPr>
      </p:sp>
      <p:sp>
        <p:nvSpPr>
          <p:cNvPr id="13" name="Text 11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899833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20" name="Text 18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22" name="Text 20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solidFill>
            <a:srgbClr val="C3CFEE"/>
          </a:solidFill>
          <a:ln/>
        </p:spPr>
      </p:sp>
      <p:sp>
        <p:nvSpPr>
          <p:cNvPr id="24" name="Text 22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805767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29" name="Text 27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solidFill>
            <a:srgbClr val="DCE3F4"/>
          </a:solidFill>
          <a:ln/>
        </p:spPr>
      </p:sp>
      <p:sp>
        <p:nvSpPr>
          <p:cNvPr id="31" name="Text 29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solidFill>
            <a:srgbClr val="CED8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635848" y="1993900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8635848" y="1993900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199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35848" y="2899833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8635848" y="2899833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635848" y="3805767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9" name="Text 37"/>
          <p:cNvSpPr/>
          <p:nvPr/>
        </p:nvSpPr>
        <p:spPr>
          <a:xfrm>
            <a:off x="8635848" y="3805767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109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1" name="Text 39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3" name="Text 41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5" name="Text 43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111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7" name="Text 45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127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9" name="Shape 47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50" name="Shape 48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52" name="Shape 50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53" name="Shape 51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54" name="Shape 52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5" name="Shape 53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6" name="Shape 54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7" name="Shape 55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8" name="Shape 56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9" name="Shape 57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60" name="Shape 58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61" name="Shape 59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62" name="Shape 60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63" name="Shape 61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64" name="Shape 62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5" name="Shape 63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6" name="Shape 64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7" name="Shape 65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8" name="Shape 66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9" name="Shape 67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70" name="Shape 68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71" name="Shape 69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Text 70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Slope chart — market share, before vs after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27212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1012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91956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5756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41648" y="32013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272128" y="2288540"/>
            <a:ext cx="3647440" cy="9432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89088" y="22580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136566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995768" y="219329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31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41648" y="2662321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2128" y="2692801"/>
            <a:ext cx="3647440" cy="269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89088" y="293182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47848" y="2597551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995768" y="286705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41648" y="387510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272128" y="3501323"/>
            <a:ext cx="3647440" cy="4042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89088" y="347084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3810334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19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995768" y="3406073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22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41648" y="481838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72128" y="4040338"/>
            <a:ext cx="3647440" cy="808522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89088" y="4009858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47848" y="475361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95768" y="394508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internal market model, 2026</a:t>
            </a:r>
            <a:endParaRPr lang="en-US" sz="8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order mix by channel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248" y="3295650"/>
            <a:ext cx="11430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794348" y="32448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 52%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6629248" y="3511550"/>
            <a:ext cx="114300" cy="1143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Text 104"/>
          <p:cNvSpPr/>
          <p:nvPr/>
        </p:nvSpPr>
        <p:spPr>
          <a:xfrm>
            <a:off x="6794348" y="34607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 33%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629248" y="3727450"/>
            <a:ext cx="114300" cy="1143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8" name="Text 106"/>
          <p:cNvSpPr/>
          <p:nvPr/>
        </p:nvSpPr>
        <p:spPr>
          <a:xfrm>
            <a:off x="6794348" y="36766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 15%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Bar-of-pie — revenue with the long tail detailed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2160000"/>
              <a:gd name="adj2" fmla="val 7920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71744" y="437556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27%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7920000"/>
              <a:gd name="adj2" fmla="val 1512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52505" y="328485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33%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5120000"/>
              <a:gd name="adj2" fmla="val 19440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57232" y="261076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9440000"/>
              <a:gd name="adj2" fmla="val 2160000"/>
            </a:avLst>
          </a:prstGeom>
          <a:solidFill>
            <a:srgbClr val="89878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9722" y="3473450"/>
            <a:ext cx="668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20%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60272" y="2178812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060272" y="4428653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949288" y="2178812"/>
            <a:ext cx="355600" cy="926592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8388" y="254685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Nordics 7%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49288" y="3105404"/>
            <a:ext cx="355600" cy="694944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8388" y="3357626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Benelux 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49288" y="3800348"/>
            <a:ext cx="355600" cy="115824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8388" y="428421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DACH 8%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multiples — one panel per brand, shared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79648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796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58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120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81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32259" y="330461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3662739" y="2981036"/>
            <a:ext cx="366183" cy="3540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98443" y="295055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028923" y="2671233"/>
            <a:ext cx="366183" cy="30980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64626" y="26407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395106" y="2184400"/>
            <a:ext cx="366183" cy="48683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30809" y="2153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2181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53981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53981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3981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2181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22181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122181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22181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539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201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863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525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706593" y="3747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5737073" y="3689158"/>
            <a:ext cx="366183" cy="8851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72776" y="365867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03256" y="3689158"/>
            <a:ext cx="366183" cy="442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38959" y="370293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6469439" y="3556385"/>
            <a:ext cx="366183" cy="17703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05143" y="352590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553981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96514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628314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28314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28314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96514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196514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196514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196514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6283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9944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3606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7268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780926" y="454382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7811406" y="4308764"/>
            <a:ext cx="366183" cy="265545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147109" y="427828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8177589" y="3954703"/>
            <a:ext cx="366183" cy="3540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13293" y="392422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8543773" y="3290839"/>
            <a:ext cx="366183" cy="663864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879476" y="326035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628314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size legend + quadrant matrix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79600"/>
            <a:ext cx="2781300" cy="12192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4" name="Text 2"/>
          <p:cNvSpPr/>
          <p:nvPr/>
        </p:nvSpPr>
        <p:spPr>
          <a:xfrm>
            <a:off x="35304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marks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260948" y="1879600"/>
            <a:ext cx="2781300" cy="12192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6" name="Text 4"/>
          <p:cNvSpPr/>
          <p:nvPr/>
        </p:nvSpPr>
        <p:spPr>
          <a:xfrm>
            <a:off x="63117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098800"/>
            <a:ext cx="2781300" cy="20320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8" name="Text 6"/>
          <p:cNvSpPr/>
          <p:nvPr/>
        </p:nvSpPr>
        <p:spPr>
          <a:xfrm>
            <a:off x="35304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Dogs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60948" y="3098800"/>
            <a:ext cx="2781300" cy="20320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0" name="Text 8"/>
          <p:cNvSpPr/>
          <p:nvPr/>
        </p:nvSpPr>
        <p:spPr>
          <a:xfrm>
            <a:off x="63117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 cows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260948" y="1879600"/>
            <a:ext cx="0" cy="32512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479648" y="30988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2873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3998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512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6249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406232" y="1908861"/>
            <a:ext cx="585216" cy="58521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06232" y="1737411"/>
            <a:ext cx="58521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890821" y="2080267"/>
            <a:ext cx="413810" cy="41381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890821" y="1823114"/>
            <a:ext cx="4138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431900" y="3954532"/>
            <a:ext cx="320536" cy="3205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164841" y="2430683"/>
            <a:ext cx="523433" cy="52343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342790" y="3308913"/>
            <a:ext cx="392575" cy="3925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0860" y="1790192"/>
            <a:ext cx="585216" cy="58521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981204" y="2668947"/>
            <a:ext cx="453306" cy="45330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87160" y="2000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713674" y="26098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459911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760765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777836" y="4032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line (staircase)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8694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9424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0153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0883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51613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52816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83296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90593" y="29718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0113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90593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97889" y="24384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7409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7889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05186" y="24384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4706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5186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12483" y="19050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82003" y="1874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12483" y="19050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19779" y="1905000"/>
            <a:ext cx="0" cy="2667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889299" y="21412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79648" y="5105400"/>
            <a:ext cx="48437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74228" y="208597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rate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area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value ticks on both flanks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25606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3563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6392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2777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7178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1991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96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120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48198" y="224282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34023"/>
            <a:ext cx="124348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4282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34023"/>
            <a:ext cx="1125061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4282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848198" y="285496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042178" y="2746163"/>
            <a:ext cx="180601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4042178" y="285496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43498" y="2746163"/>
            <a:ext cx="1924447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6343498" y="285496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848198" y="34671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49426" y="3358303"/>
            <a:ext cx="1598771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249426" y="346710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43498" y="3358303"/>
            <a:ext cx="1776413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6343498" y="346710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848198" y="407924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900778" y="3970443"/>
            <a:ext cx="947420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4900778" y="407924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43498" y="3970443"/>
            <a:ext cx="1213882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6343498" y="407924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848198" y="469138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92915" y="4582583"/>
            <a:ext cx="355282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492915" y="469138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43498" y="4582583"/>
            <a:ext cx="473710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7" name="Text 35"/>
          <p:cNvSpPr/>
          <p:nvPr/>
        </p:nvSpPr>
        <p:spPr>
          <a:xfrm>
            <a:off x="6343498" y="469138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8481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34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322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1275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04016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71973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44802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31187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385588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90401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2637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4961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overlap (Excel-style, 45%)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588706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43416" y="3065145"/>
            <a:ext cx="588706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592616" y="399002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588706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41686" y="2905125"/>
            <a:ext cx="588706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4990886" y="391001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588706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39956" y="2785110"/>
            <a:ext cx="588706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389156" y="385000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588706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838226" y="2305050"/>
            <a:ext cx="588706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787426" y="360997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Narrow gap width (histogram look, gapWidth 0)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73248" y="4411641"/>
            <a:ext cx="12954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22448" y="4663271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73248" y="3962739"/>
            <a:ext cx="12954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22448" y="40919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73248" y="3595455"/>
            <a:ext cx="12954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22448" y="368384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68648" y="4289213"/>
            <a:ext cx="12954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7848" y="460205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68648" y="3758692"/>
            <a:ext cx="12954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7848" y="3928703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68648" y="3411813"/>
            <a:ext cx="12954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17848" y="349000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4048" y="4146381"/>
            <a:ext cx="12954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13248" y="45306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4048" y="3513836"/>
            <a:ext cx="12954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13248" y="3734858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4048" y="3126147"/>
            <a:ext cx="12954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13248" y="322474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959448" y="3962739"/>
            <a:ext cx="12954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08648" y="4438819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59448" y="3248575"/>
            <a:ext cx="12954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8648" y="351040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59448" y="2799673"/>
            <a:ext cx="12954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08648" y="2928874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with negative values (net income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46532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755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713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672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631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589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77581" y="3073146"/>
            <a:ext cx="39511" cy="7627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910742" y="3105150"/>
            <a:ext cx="39511" cy="752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43903" y="3137154"/>
            <a:ext cx="39511" cy="7414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977064" y="3169158"/>
            <a:ext cx="39511" cy="730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10225" y="3201162"/>
            <a:ext cx="39511" cy="720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043386" y="3233166"/>
            <a:ext cx="39511" cy="7094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076548" y="3265170"/>
            <a:ext cx="39511" cy="6987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109709" y="3297174"/>
            <a:ext cx="39511" cy="6880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42870" y="3329178"/>
            <a:ext cx="39511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176031" y="3361182"/>
            <a:ext cx="39511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209192" y="3393186"/>
            <a:ext cx="39511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242353" y="3425190"/>
            <a:ext cx="39511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275514" y="3457194"/>
            <a:ext cx="39511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308675" y="3489198"/>
            <a:ext cx="39511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341836" y="3521202"/>
            <a:ext cx="39511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374998" y="3553206"/>
            <a:ext cx="39511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408159" y="3585210"/>
            <a:ext cx="39511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1320" y="3617214"/>
            <a:ext cx="39511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474481" y="3649218"/>
            <a:ext cx="39511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507642" y="3681222"/>
            <a:ext cx="39511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540803" y="3713226"/>
            <a:ext cx="39511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573964" y="3745230"/>
            <a:ext cx="39511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607125" y="3777234"/>
            <a:ext cx="39511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640286" y="3809238"/>
            <a:ext cx="39511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4673448" y="3825240"/>
            <a:ext cx="39511" cy="5213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4706609" y="3825240"/>
            <a:ext cx="39511" cy="5400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739770" y="3825240"/>
            <a:ext cx="39511" cy="5587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772931" y="3825240"/>
            <a:ext cx="39511" cy="577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806092" y="3825240"/>
            <a:ext cx="39511" cy="596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4839253" y="3825240"/>
            <a:ext cx="39511" cy="614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4872414" y="3825240"/>
            <a:ext cx="39511" cy="6334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4905575" y="3825240"/>
            <a:ext cx="39511" cy="652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4938736" y="3825240"/>
            <a:ext cx="39511" cy="6707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4971898" y="3825240"/>
            <a:ext cx="39511" cy="6894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005059" y="3825240"/>
            <a:ext cx="39511" cy="7080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038220" y="3825240"/>
            <a:ext cx="39511" cy="726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071381" y="3825240"/>
            <a:ext cx="39511" cy="7454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104542" y="3825240"/>
            <a:ext cx="39511" cy="7640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137703" y="3825240"/>
            <a:ext cx="39511" cy="782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70864" y="3825240"/>
            <a:ext cx="39511" cy="8014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204025" y="3825240"/>
            <a:ext cx="39511" cy="8201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237186" y="3825240"/>
            <a:ext cx="39511" cy="8387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270348" y="3825240"/>
            <a:ext cx="39511" cy="8574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303509" y="3825240"/>
            <a:ext cx="39511" cy="8761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336670" y="3825240"/>
            <a:ext cx="39511" cy="8947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5369831" y="3825240"/>
            <a:ext cx="39511" cy="9134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5402992" y="3825240"/>
            <a:ext cx="39511" cy="9321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5436153" y="3825240"/>
            <a:ext cx="39511" cy="9507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5469314" y="3819906"/>
            <a:ext cx="39511" cy="9454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502475" y="3809238"/>
            <a:ext cx="39511" cy="916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535636" y="3798570"/>
            <a:ext cx="39511" cy="8867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568798" y="3787902"/>
            <a:ext cx="39511" cy="8574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5601959" y="3777234"/>
            <a:ext cx="39511" cy="8281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5635120" y="3766566"/>
            <a:ext cx="39511" cy="7987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5668281" y="3755898"/>
            <a:ext cx="39511" cy="7694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5701442" y="3745230"/>
            <a:ext cx="39511" cy="740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5734603" y="3734562"/>
            <a:ext cx="39511" cy="7107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5767764" y="3723894"/>
            <a:ext cx="39511" cy="6814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5800925" y="3713226"/>
            <a:ext cx="39511" cy="652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5834086" y="3702558"/>
            <a:ext cx="39511" cy="622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5867248" y="3691890"/>
            <a:ext cx="39511" cy="5934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5900409" y="3681222"/>
            <a:ext cx="39511" cy="564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5933570" y="3670554"/>
            <a:ext cx="39511" cy="5347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5966731" y="3659886"/>
            <a:ext cx="39511" cy="5053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5999892" y="3649218"/>
            <a:ext cx="39511" cy="476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033053" y="3638550"/>
            <a:ext cx="39511" cy="446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066214" y="3627882"/>
            <a:ext cx="39511" cy="4173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099375" y="3617214"/>
            <a:ext cx="39511" cy="3880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6132536" y="3606546"/>
            <a:ext cx="39511" cy="3587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6165698" y="3595878"/>
            <a:ext cx="39511" cy="329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6198859" y="3585210"/>
            <a:ext cx="39511" cy="3000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6232020" y="3574542"/>
            <a:ext cx="39511" cy="2707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6265181" y="3550539"/>
            <a:ext cx="39511" cy="2747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6298342" y="3513201"/>
            <a:ext cx="39511" cy="3120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6331503" y="3475863"/>
            <a:ext cx="39511" cy="3493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6364664" y="3438525"/>
            <a:ext cx="39511" cy="3867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6397825" y="3401187"/>
            <a:ext cx="39511" cy="4240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6430986" y="3363849"/>
            <a:ext cx="39511" cy="4613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6464148" y="3326511"/>
            <a:ext cx="39511" cy="4987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6497309" y="3289173"/>
            <a:ext cx="39511" cy="5360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6530470" y="3251835"/>
            <a:ext cx="39511" cy="5734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6563631" y="3214497"/>
            <a:ext cx="39511" cy="6107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596792" y="3177159"/>
            <a:ext cx="39511" cy="648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953" y="3139821"/>
            <a:ext cx="39511" cy="6854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6663114" y="3102483"/>
            <a:ext cx="39511" cy="7227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6696275" y="3065145"/>
            <a:ext cx="39511" cy="760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6729436" y="3027807"/>
            <a:ext cx="39511" cy="7974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762598" y="2990469"/>
            <a:ext cx="39511" cy="834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795759" y="2953131"/>
            <a:ext cx="39511" cy="8721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828920" y="2915793"/>
            <a:ext cx="39511" cy="909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862081" y="2878455"/>
            <a:ext cx="39511" cy="946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895242" y="2841117"/>
            <a:ext cx="39511" cy="9841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928403" y="2803779"/>
            <a:ext cx="39511" cy="10214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961564" y="2766441"/>
            <a:ext cx="39511" cy="10587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994725" y="2729103"/>
            <a:ext cx="39511" cy="109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027886" y="2691765"/>
            <a:ext cx="39511" cy="11334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061048" y="2662428"/>
            <a:ext cx="39511" cy="1162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094209" y="2641092"/>
            <a:ext cx="39511" cy="1184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127370" y="2619756"/>
            <a:ext cx="39511" cy="12054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160531" y="2598420"/>
            <a:ext cx="39511" cy="12268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7193692" y="2577084"/>
            <a:ext cx="39511" cy="12481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7226853" y="2555748"/>
            <a:ext cx="39511" cy="12694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7260014" y="2534412"/>
            <a:ext cx="39511" cy="12908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3" name="Shape 121"/>
          <p:cNvSpPr/>
          <p:nvPr/>
        </p:nvSpPr>
        <p:spPr>
          <a:xfrm>
            <a:off x="7293175" y="2513076"/>
            <a:ext cx="39511" cy="13121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4" name="Shape 122"/>
          <p:cNvSpPr/>
          <p:nvPr/>
        </p:nvSpPr>
        <p:spPr>
          <a:xfrm>
            <a:off x="7326336" y="2491740"/>
            <a:ext cx="39511" cy="13335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7359498" y="2470404"/>
            <a:ext cx="39511" cy="13548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6" name="Shape 124"/>
          <p:cNvSpPr/>
          <p:nvPr/>
        </p:nvSpPr>
        <p:spPr>
          <a:xfrm>
            <a:off x="7392659" y="2449068"/>
            <a:ext cx="39511" cy="1376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7" name="Shape 125"/>
          <p:cNvSpPr/>
          <p:nvPr/>
        </p:nvSpPr>
        <p:spPr>
          <a:xfrm>
            <a:off x="7425820" y="2427732"/>
            <a:ext cx="39511" cy="13975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8" name="Shape 126"/>
          <p:cNvSpPr/>
          <p:nvPr/>
        </p:nvSpPr>
        <p:spPr>
          <a:xfrm>
            <a:off x="7458981" y="2406396"/>
            <a:ext cx="39511" cy="1418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9" name="Shape 127"/>
          <p:cNvSpPr/>
          <p:nvPr/>
        </p:nvSpPr>
        <p:spPr>
          <a:xfrm>
            <a:off x="7492142" y="2385060"/>
            <a:ext cx="39511" cy="14401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Shape 128"/>
          <p:cNvSpPr/>
          <p:nvPr/>
        </p:nvSpPr>
        <p:spPr>
          <a:xfrm>
            <a:off x="7525303" y="2363724"/>
            <a:ext cx="39511" cy="146151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1" name="Shape 129"/>
          <p:cNvSpPr/>
          <p:nvPr/>
        </p:nvSpPr>
        <p:spPr>
          <a:xfrm>
            <a:off x="7558464" y="2342388"/>
            <a:ext cx="39511" cy="1482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2" name="Shape 130"/>
          <p:cNvSpPr/>
          <p:nvPr/>
        </p:nvSpPr>
        <p:spPr>
          <a:xfrm>
            <a:off x="7591625" y="2321052"/>
            <a:ext cx="39511" cy="15041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624786" y="2299716"/>
            <a:ext cx="39511" cy="15255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4" name="Shape 132"/>
          <p:cNvSpPr/>
          <p:nvPr/>
        </p:nvSpPr>
        <p:spPr>
          <a:xfrm>
            <a:off x="7657948" y="2278380"/>
            <a:ext cx="39511" cy="15468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5" name="Shape 133"/>
          <p:cNvSpPr/>
          <p:nvPr/>
        </p:nvSpPr>
        <p:spPr>
          <a:xfrm>
            <a:off x="7691109" y="2257044"/>
            <a:ext cx="39511" cy="15681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6" name="Shape 134"/>
          <p:cNvSpPr/>
          <p:nvPr/>
        </p:nvSpPr>
        <p:spPr>
          <a:xfrm>
            <a:off x="7724270" y="2235708"/>
            <a:ext cx="39511" cy="15895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757431" y="2214372"/>
            <a:ext cx="39511" cy="16108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790592" y="2193036"/>
            <a:ext cx="39511" cy="16322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823753" y="2171700"/>
            <a:ext cx="39511" cy="16535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479648" y="382524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8305648" y="290741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income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Trajectory trail (one entity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8832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33848" y="3911600"/>
            <a:ext cx="741680" cy="1625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6120000">
            <a:off x="5653888" y="394208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1" name="Shape 19"/>
          <p:cNvSpPr/>
          <p:nvPr/>
        </p:nvSpPr>
        <p:spPr>
          <a:xfrm flipV="1">
            <a:off x="6075528" y="3505200"/>
            <a:ext cx="463550" cy="5689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340000">
            <a:off x="6256503" y="373888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3" name="Shape 21"/>
          <p:cNvSpPr/>
          <p:nvPr/>
        </p:nvSpPr>
        <p:spPr>
          <a:xfrm>
            <a:off x="6539078" y="3505200"/>
            <a:ext cx="1112520" cy="8128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5640000">
            <a:off x="7044538" y="349504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5" name="Shape 23"/>
          <p:cNvSpPr/>
          <p:nvPr/>
        </p:nvSpPr>
        <p:spPr>
          <a:xfrm flipV="1">
            <a:off x="7651598" y="2895600"/>
            <a:ext cx="648970" cy="69088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2580000">
            <a:off x="7925283" y="319024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7" name="Shape 25"/>
          <p:cNvSpPr/>
          <p:nvPr/>
        </p:nvSpPr>
        <p:spPr>
          <a:xfrm flipV="1">
            <a:off x="8300568" y="2367280"/>
            <a:ext cx="741680" cy="52832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3300000">
            <a:off x="8620608" y="258064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9" name="Shape 27"/>
          <p:cNvSpPr/>
          <p:nvPr/>
        </p:nvSpPr>
        <p:spPr>
          <a:xfrm>
            <a:off x="5295748" y="38735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37428" y="40360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00978" y="34671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13498" y="35483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62468" y="28575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04148" y="23291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97348" y="3829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2019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39028" y="39916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602578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715098" y="350393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64068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679028" y="228473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with jittered raw-data dots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18516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1851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58540"/>
            <a:ext cx="1029123" cy="48006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9334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78869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7696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73224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58752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67578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53106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6193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47461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32989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86348" y="254508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86348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54795" y="38252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71786" y="2918460"/>
            <a:ext cx="1029123" cy="6934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1786" y="339852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4475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05000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58829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44357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29885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38712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24240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33066" y="29527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18594" y="27393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004122" y="25260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71786" y="320802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157481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642919" y="3825240"/>
            <a:ext cx="1029123" cy="4267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235608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921136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429963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11549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801018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309845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995373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504199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189727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875255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2026-07-05T14:09:59Z</dcterms:created>
  <dcterms:modified xsi:type="dcterms:W3CDTF">2026-07-05T14:09:59Z</dcterms:modified>
</cp:coreProperties>
</file>
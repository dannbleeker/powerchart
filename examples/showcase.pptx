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</p:sldIdLst>
  <p:notesMasterIdLst>
    <p:notesMasterId r:id="rId9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notesMaster" Target="notesMasters/notesMaster1.xml"/><Relationship Id="rId95" Type="http://schemas.openxmlformats.org/officeDocument/2006/relationships/presProps" Target="presProps.xml"/><Relationship Id="rId96" Type="http://schemas.openxmlformats.org/officeDocument/2006/relationships/viewProps" Target="viewProps.xml"/><Relationship Id="rId97" Type="http://schemas.openxmlformats.org/officeDocument/2006/relationships/theme" Target="theme/theme1.xml"/><Relationship Id="rId9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— Revenue by segment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4059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543648" y="23424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2027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— Sales by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45339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065145"/>
            <a:ext cx="453390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399002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45339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77003" y="2905125"/>
            <a:ext cx="453390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5126203" y="391001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453390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75273" y="2785110"/>
            <a:ext cx="453390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524473" y="385000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45339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73543" y="2305050"/>
            <a:ext cx="453390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922743" y="360997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— Channel mix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8579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9833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1088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2005" y="3345180"/>
            <a:ext cx="87503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1205" y="413004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2005" y="2385060"/>
            <a:ext cx="875030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1205" y="276987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200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20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4550" y="3537204"/>
            <a:ext cx="875030" cy="156819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50" y="422605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04550" y="2385060"/>
            <a:ext cx="875030" cy="115214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50" y="286588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0455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5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17095" y="3697224"/>
            <a:ext cx="875030" cy="140817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6295" y="430606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17095" y="2385060"/>
            <a:ext cx="875030" cy="131216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66295" y="294589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1709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629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29640" y="3889248"/>
            <a:ext cx="875030" cy="121615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840" y="440207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29640" y="2385060"/>
            <a:ext cx="875030" cy="15041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840" y="304190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2964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884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2501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74228" y="205930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74228" y="305142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74228" y="441159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— EBITDA 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3270504"/>
            <a:ext cx="668867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40927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3270504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971800"/>
            <a:ext cx="668867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30259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779776"/>
            <a:ext cx="668867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78053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779776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779776"/>
            <a:ext cx="668867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81254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3035808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3035808"/>
            <a:ext cx="668867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85165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3121152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3121152"/>
            <a:ext cx="668867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4018026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575050"/>
            <a:ext cx="1632527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244975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554817"/>
            <a:ext cx="1632527" cy="10202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969683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073248" y="2044700"/>
            <a:ext cx="1632527" cy="510117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2204508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22448" y="186055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31175" y="3575050"/>
            <a:ext cx="213783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5775" y="4244975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1175" y="2740314"/>
            <a:ext cx="2137833" cy="83473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5775" y="3062432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31175" y="2044700"/>
            <a:ext cx="2137833" cy="69561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5775" y="2297257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80375" y="186055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94408" y="4318363"/>
            <a:ext cx="1360439" cy="7870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69008" y="4616631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94408" y="3356429"/>
            <a:ext cx="1360439" cy="96193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9008" y="3742146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94408" y="2044700"/>
            <a:ext cx="1360439" cy="131172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69008" y="2605314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43608" y="186055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— Revenue by region and segment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22448" y="514350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(32%)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80375" y="514350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(42%)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43608" y="514350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(27%)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05648" y="261483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05648" y="375167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05648" y="462615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 — Gross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— Active users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673346"/>
            <a:ext cx="47858" cy="4320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662678"/>
            <a:ext cx="47858" cy="442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652010"/>
            <a:ext cx="47858" cy="4533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641342"/>
            <a:ext cx="47858" cy="4640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630674"/>
            <a:ext cx="47858" cy="4747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620006"/>
            <a:ext cx="47858" cy="4853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609338"/>
            <a:ext cx="47858" cy="4960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598670"/>
            <a:ext cx="47858" cy="5067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588002"/>
            <a:ext cx="47858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577334"/>
            <a:ext cx="47858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566666"/>
            <a:ext cx="47858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555998"/>
            <a:ext cx="47858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545330"/>
            <a:ext cx="47858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534662"/>
            <a:ext cx="47858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523994"/>
            <a:ext cx="47858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513326"/>
            <a:ext cx="47858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502658"/>
            <a:ext cx="47858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91990"/>
            <a:ext cx="47858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81322"/>
            <a:ext cx="47858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70654"/>
            <a:ext cx="47858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59986"/>
            <a:ext cx="47858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49318"/>
            <a:ext cx="47858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38650"/>
            <a:ext cx="47858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7982"/>
            <a:ext cx="47858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416870"/>
            <a:ext cx="47858" cy="6885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405313"/>
            <a:ext cx="47858" cy="7000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393756"/>
            <a:ext cx="47858" cy="7116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382199"/>
            <a:ext cx="47858" cy="7232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370642"/>
            <a:ext cx="47858" cy="734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359085"/>
            <a:ext cx="47858" cy="7463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347528"/>
            <a:ext cx="47858" cy="7578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335971"/>
            <a:ext cx="47858" cy="7694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324414"/>
            <a:ext cx="47858" cy="7809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312857"/>
            <a:ext cx="47858" cy="7925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301300"/>
            <a:ext cx="47858" cy="8041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289743"/>
            <a:ext cx="47858" cy="8156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278186"/>
            <a:ext cx="47858" cy="8272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266629"/>
            <a:ext cx="47858" cy="838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255072"/>
            <a:ext cx="47858" cy="8503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243515"/>
            <a:ext cx="47858" cy="861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231958"/>
            <a:ext cx="47858" cy="8734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220401"/>
            <a:ext cx="47858" cy="885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208844"/>
            <a:ext cx="47858" cy="8965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97287"/>
            <a:ext cx="47858" cy="9081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85730"/>
            <a:ext cx="47858" cy="9196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74173"/>
            <a:ext cx="47858" cy="9312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62616"/>
            <a:ext cx="47858" cy="9427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51059"/>
            <a:ext cx="47858" cy="9543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4138613"/>
            <a:ext cx="47858" cy="9667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4125278"/>
            <a:ext cx="47858" cy="9801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4111943"/>
            <a:ext cx="47858" cy="993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4098608"/>
            <a:ext cx="47858" cy="10067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4085273"/>
            <a:ext cx="47858" cy="10201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4071938"/>
            <a:ext cx="47858" cy="10334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4058603"/>
            <a:ext cx="47858" cy="1046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4045268"/>
            <a:ext cx="47858" cy="10601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4031933"/>
            <a:ext cx="47858" cy="10734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4018598"/>
            <a:ext cx="47858" cy="1086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4005263"/>
            <a:ext cx="47858" cy="11001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991927"/>
            <a:ext cx="47858" cy="11134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978593"/>
            <a:ext cx="47858" cy="1126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965257"/>
            <a:ext cx="47858" cy="11401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951923"/>
            <a:ext cx="47858" cy="11534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938588"/>
            <a:ext cx="47858" cy="1166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925253"/>
            <a:ext cx="47858" cy="1180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911918"/>
            <a:ext cx="47858" cy="11934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98583"/>
            <a:ext cx="47858" cy="12068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85248"/>
            <a:ext cx="47858" cy="1220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71913"/>
            <a:ext cx="47858" cy="12334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58578"/>
            <a:ext cx="47858" cy="12468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45243"/>
            <a:ext cx="47858" cy="12601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31908"/>
            <a:ext cx="47858" cy="127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819017"/>
            <a:ext cx="47858" cy="12863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806571"/>
            <a:ext cx="47858" cy="12988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794125"/>
            <a:ext cx="47858" cy="1311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781679"/>
            <a:ext cx="47858" cy="13237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769233"/>
            <a:ext cx="47858" cy="13361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756787"/>
            <a:ext cx="47858" cy="13486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744341"/>
            <a:ext cx="47858" cy="1361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731895"/>
            <a:ext cx="47858" cy="13735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719449"/>
            <a:ext cx="47858" cy="13859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707003"/>
            <a:ext cx="47858" cy="13983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694557"/>
            <a:ext cx="47858" cy="14108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682111"/>
            <a:ext cx="47858" cy="14232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669665"/>
            <a:ext cx="47858" cy="14357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657219"/>
            <a:ext cx="47858" cy="14481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644773"/>
            <a:ext cx="47858" cy="14606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632327"/>
            <a:ext cx="47858" cy="1473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619881"/>
            <a:ext cx="47858" cy="14855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607435"/>
            <a:ext cx="47858" cy="14979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94989"/>
            <a:ext cx="47858" cy="15104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82543"/>
            <a:ext cx="47858" cy="15228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70097"/>
            <a:ext cx="47858" cy="15353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57651"/>
            <a:ext cx="47858" cy="15477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45205"/>
            <a:ext cx="47858" cy="15601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32759"/>
            <a:ext cx="47858" cy="15726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925697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913251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900805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888359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875913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863467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8510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838575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826129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813683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801237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788791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776345"/>
            <a:ext cx="47858" cy="7689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763899"/>
            <a:ext cx="47858" cy="770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751453"/>
            <a:ext cx="47858" cy="772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739007"/>
            <a:ext cx="47858" cy="774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726561"/>
            <a:ext cx="47858" cy="776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714115"/>
            <a:ext cx="47858" cy="777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701669"/>
            <a:ext cx="47858" cy="779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89223"/>
            <a:ext cx="47858" cy="781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76777"/>
            <a:ext cx="47858" cy="783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64331"/>
            <a:ext cx="47858" cy="784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51885"/>
            <a:ext cx="47858" cy="786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9439"/>
            <a:ext cx="47858" cy="788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627882"/>
            <a:ext cx="47858" cy="7889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617214"/>
            <a:ext cx="47858" cy="7880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606546"/>
            <a:ext cx="47858" cy="7872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595878"/>
            <a:ext cx="47858" cy="7863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585210"/>
            <a:ext cx="47858" cy="785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574542"/>
            <a:ext cx="47858" cy="784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563874"/>
            <a:ext cx="47858" cy="7836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553206"/>
            <a:ext cx="47858" cy="782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542538"/>
            <a:ext cx="47858" cy="781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531870"/>
            <a:ext cx="47858" cy="780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521202"/>
            <a:ext cx="47858" cy="780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510534"/>
            <a:ext cx="47858" cy="779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499866"/>
            <a:ext cx="47858" cy="778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489198"/>
            <a:ext cx="47858" cy="777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478530"/>
            <a:ext cx="47858" cy="7765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467862"/>
            <a:ext cx="47858" cy="775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457194"/>
            <a:ext cx="47858" cy="774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446526"/>
            <a:ext cx="47858" cy="773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435858"/>
            <a:ext cx="47858" cy="7729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425190"/>
            <a:ext cx="47858" cy="772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414522"/>
            <a:ext cx="47858" cy="7712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403854"/>
            <a:ext cx="47858" cy="770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93186"/>
            <a:ext cx="47858" cy="7694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82518"/>
            <a:ext cx="47858" cy="768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371405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359849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348292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336735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325178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3136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302064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290507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278950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267392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255836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244279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232722"/>
            <a:ext cx="47858" cy="7458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221165"/>
            <a:ext cx="47858" cy="744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209608"/>
            <a:ext cx="47858" cy="7423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198051"/>
            <a:ext cx="47858" cy="7405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186493"/>
            <a:ext cx="47858" cy="738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174937"/>
            <a:ext cx="47858" cy="7369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163380"/>
            <a:ext cx="47858" cy="7352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151823"/>
            <a:ext cx="47858" cy="7334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140265"/>
            <a:ext cx="47858" cy="7316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128709"/>
            <a:ext cx="47858" cy="7298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117152"/>
            <a:ext cx="47858" cy="7280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105595"/>
            <a:ext cx="47858" cy="7263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3095371"/>
            <a:ext cx="47858" cy="72364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3086481"/>
            <a:ext cx="47858" cy="7200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3077591"/>
            <a:ext cx="47858" cy="71653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3068701"/>
            <a:ext cx="47858" cy="71297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3059811"/>
            <a:ext cx="47858" cy="70942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3050921"/>
            <a:ext cx="47858" cy="7058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3042031"/>
            <a:ext cx="47858" cy="7023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3033141"/>
            <a:ext cx="47858" cy="6987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3024251"/>
            <a:ext cx="47858" cy="6951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3015361"/>
            <a:ext cx="47858" cy="6916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3006471"/>
            <a:ext cx="47858" cy="6880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997581"/>
            <a:ext cx="47858" cy="6845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988691"/>
            <a:ext cx="47858" cy="68097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979801"/>
            <a:ext cx="47858" cy="6774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970911"/>
            <a:ext cx="47858" cy="6738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962021"/>
            <a:ext cx="47858" cy="6703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953131"/>
            <a:ext cx="47858" cy="6667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944241"/>
            <a:ext cx="47858" cy="6631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935351"/>
            <a:ext cx="47858" cy="65963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926461"/>
            <a:ext cx="47858" cy="6560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917571"/>
            <a:ext cx="47858" cy="6525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908681"/>
            <a:ext cx="47858" cy="64897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99791"/>
            <a:ext cx="47858" cy="6454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90901"/>
            <a:ext cx="47858" cy="6418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— Headcount by age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4709" y="2140373"/>
            <a:ext cx="124348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4604709" y="226187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43498" y="2140373"/>
            <a:ext cx="112506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6343498" y="226187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42178" y="2790613"/>
            <a:ext cx="180601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042178" y="291211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3498" y="2790613"/>
            <a:ext cx="1924447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6343498" y="291211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49426" y="3440853"/>
            <a:ext cx="159877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249426" y="356235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43498" y="3440853"/>
            <a:ext cx="1776413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" name="Text 17"/>
          <p:cNvSpPr/>
          <p:nvPr/>
        </p:nvSpPr>
        <p:spPr>
          <a:xfrm>
            <a:off x="6343498" y="356235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00778" y="4091093"/>
            <a:ext cx="947420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900778" y="421259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43498" y="4091093"/>
            <a:ext cx="1213882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6343498" y="421259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92915" y="4741333"/>
            <a:ext cx="355282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5492915" y="486283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43498" y="4741333"/>
            <a:ext cx="473710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9" name="Text 27"/>
          <p:cNvSpPr/>
          <p:nvPr/>
        </p:nvSpPr>
        <p:spPr>
          <a:xfrm>
            <a:off x="6343498" y="486283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Price vs.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— Market map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417950" y="2120688"/>
            <a:ext cx="573498" cy="573498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17950" y="1949238"/>
            <a:ext cx="57349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910825" y="2288662"/>
            <a:ext cx="405524" cy="405524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10825" y="2033225"/>
            <a:ext cx="40552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223360" y="3906647"/>
            <a:ext cx="181356" cy="18135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36604" y="2871407"/>
            <a:ext cx="362712" cy="36271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88914" y="3271901"/>
            <a:ext cx="544068" cy="54406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160561" y="2342650"/>
            <a:ext cx="286749" cy="286749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578004" y="3595754"/>
            <a:ext cx="425318" cy="42531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385141" y="2623939"/>
            <a:ext cx="479823" cy="479823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454565" y="4188528"/>
            <a:ext cx="222115" cy="22211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647565" y="3072032"/>
            <a:ext cx="339286" cy="339286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58382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854281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028721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424716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012251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472710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702080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430116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Programme plan (weeks)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490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35010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5915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435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26340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5860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2364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8867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4908" y="265684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39994" y="290195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35369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4908" y="330708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047848" y="41871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4908" y="395732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4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10–13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65939" y="420243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28" name="Text 26"/>
          <p:cNvSpPr/>
          <p:nvPr/>
        </p:nvSpPr>
        <p:spPr>
          <a:xfrm>
            <a:off x="3047848" y="48374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4908" y="460756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13–15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987638" y="485267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— Revenue and margin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314604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83997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032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20747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6782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07613" y="412610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7093" y="394703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3738093" y="4064762"/>
            <a:ext cx="1329690" cy="9182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7303" y="4034282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6783" y="385521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5067783" y="3942334"/>
            <a:ext cx="1329690" cy="12242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6993" y="391185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16473" y="373278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6397473" y="3728085"/>
            <a:ext cx="1329690" cy="21424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96683" y="3697605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46163" y="3518535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42808" y="3524885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Pie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30589" y="2917318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39821" y="4391153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21218" y="318491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Doughnut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290588" y="2621881"/>
            <a:ext cx="55687" cy="4216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61463" y="25151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27370" y="5061517"/>
            <a:ext cx="6130" cy="6958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5172" y="5054824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6307" y="3077473"/>
            <a:ext cx="66336" cy="2187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88775" y="297625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78603" y="2751455"/>
            <a:ext cx="1634490" cy="16344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352898" y="3454400"/>
            <a:ext cx="14859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— Delivery days by region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1323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1323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7658" y="33985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765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95401" y="382524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5401" y="4251960"/>
            <a:ext cx="77184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5401" y="406146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84673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84673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11008" y="25450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11008" y="44653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98751" y="3185160"/>
            <a:ext cx="771843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98751" y="361188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98751" y="342138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98802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8802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4358" y="36118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14358" y="489204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02101" y="403860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02101" y="446532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02101" y="427482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391373" y="297180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91373" y="42519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17708" y="297180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770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05451" y="361188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05451" y="403860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05451" y="384810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— Capability assessment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10380" y="2816860"/>
            <a:ext cx="1724568" cy="1422400"/>
          </a:xfrm>
          <a:custGeom>
            <a:avLst/>
            <a:gdLst/>
            <a:ahLst/>
            <a:cxnLst/>
            <a:rect l="l" t="t" r="r" b="b"/>
            <a:pathLst>
              <a:path w="1724568" h="1422400">
                <a:moveTo>
                  <a:pt x="985468" y="0"/>
                </a:moveTo>
                <a:lnTo>
                  <a:pt x="1478201" y="568960"/>
                </a:lnTo>
                <a:lnTo>
                  <a:pt x="1724568" y="1280160"/>
                </a:lnTo>
                <a:lnTo>
                  <a:pt x="985468" y="1422400"/>
                </a:lnTo>
                <a:lnTo>
                  <a:pt x="0" y="1422400"/>
                </a:lnTo>
                <a:lnTo>
                  <a:pt x="246367" y="426720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58101" y="33553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04468" y="40665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79900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6267" y="321310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64013" y="2532380"/>
            <a:ext cx="2217302" cy="1991360"/>
          </a:xfrm>
          <a:custGeom>
            <a:avLst/>
            <a:gdLst/>
            <a:ahLst/>
            <a:cxnLst/>
            <a:rect l="l" t="t" r="r" b="b"/>
            <a:pathLst>
              <a:path w="2217302" h="1991360">
                <a:moveTo>
                  <a:pt x="1231835" y="0"/>
                </a:moveTo>
                <a:lnTo>
                  <a:pt x="2217302" y="568960"/>
                </a:lnTo>
                <a:lnTo>
                  <a:pt x="2217302" y="1706880"/>
                </a:lnTo>
                <a:lnTo>
                  <a:pt x="1231835" y="1991360"/>
                </a:lnTo>
                <a:lnTo>
                  <a:pt x="0" y="1849120"/>
                </a:lnTo>
                <a:lnTo>
                  <a:pt x="246367" y="568960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65368" y="250190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65368" y="44932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Text 34"/>
          <p:cNvSpPr/>
          <p:nvPr/>
        </p:nvSpPr>
        <p:spPr>
          <a:xfrm>
            <a:off x="3174848" y="1803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67014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8" name="Text 36"/>
          <p:cNvSpPr/>
          <p:nvPr/>
        </p:nvSpPr>
        <p:spPr>
          <a:xfrm>
            <a:off x="379714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— Sales by region and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solidFill>
            <a:srgbClr val="83A1E0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73367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solidFill>
            <a:srgbClr val="BECBEC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solidFill>
            <a:srgbClr val="C7D3EF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47345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solidFill>
            <a:srgbClr val="E2E7F6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solidFill>
            <a:srgbClr val="D9E1F4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solidFill>
            <a:srgbClr val="C1CEED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047848" y="421322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36" name="Text 34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8" name="Text 36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solidFill>
            <a:srgbClr val="E4EAF7"/>
          </a:solidFill>
          <a:ln/>
        </p:spPr>
      </p:sp>
      <p:sp>
        <p:nvSpPr>
          <p:cNvPr id="40" name="Text 38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42" name="Text 40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45" name="Shape 43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6" name="Shape 44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47" name="Shape 45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48" name="Shape 46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49" name="Shape 47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0" name="Shape 48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1" name="Shape 49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2" name="Shape 50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3" name="Shape 51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4" name="Shape 52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56" name="Shape 54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57" name="Shape 55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58" name="Shape 56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59" name="Shape 57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1" name="Shape 59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2" name="Shape 60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3" name="Shape 61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4" name="Shape 62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65" name="Shape 63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66" name="Shape 64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Text 65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— Revenue by market (€m)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5710879" y="1828800"/>
            <a:ext cx="369094" cy="369094"/>
          </a:xfrm>
          <a:prstGeom prst="rect">
            <a:avLst/>
          </a:prstGeom>
          <a:solidFill>
            <a:srgbClr val="E4E9F7"/>
          </a:solidFill>
          <a:ln/>
        </p:spPr>
      </p:sp>
      <p:sp>
        <p:nvSpPr>
          <p:cNvPr id="6" name="Text 4"/>
          <p:cNvSpPr/>
          <p:nvPr/>
        </p:nvSpPr>
        <p:spPr>
          <a:xfrm>
            <a:off x="5710879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988" dirty="0"/>
          </a:p>
        </p:txBody>
      </p:sp>
      <p:sp>
        <p:nvSpPr>
          <p:cNvPr id="7" name="Text 5"/>
          <p:cNvSpPr/>
          <p:nvPr/>
        </p:nvSpPr>
        <p:spPr>
          <a:xfrm>
            <a:off x="5710879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111723" y="1828800"/>
            <a:ext cx="369094" cy="369094"/>
          </a:xfrm>
          <a:prstGeom prst="rect">
            <a:avLst/>
          </a:prstGeom>
          <a:solidFill>
            <a:srgbClr val="D3DCF2"/>
          </a:solidFill>
          <a:ln/>
        </p:spPr>
      </p:sp>
      <p:sp>
        <p:nvSpPr>
          <p:cNvPr id="9" name="Text 7"/>
          <p:cNvSpPr/>
          <p:nvPr/>
        </p:nvSpPr>
        <p:spPr>
          <a:xfrm>
            <a:off x="6111723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</a:t>
            </a:r>
            <a:endParaRPr lang="en-US" sz="988" dirty="0"/>
          </a:p>
        </p:txBody>
      </p:sp>
      <p:sp>
        <p:nvSpPr>
          <p:cNvPr id="10" name="Text 8"/>
          <p:cNvSpPr/>
          <p:nvPr/>
        </p:nvSpPr>
        <p:spPr>
          <a:xfrm>
            <a:off x="6111723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12566" y="1828800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6512566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6512566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5" name="Text 13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EE</a:t>
            </a:r>
            <a:endParaRPr lang="en-US" sz="988" dirty="0"/>
          </a:p>
        </p:txBody>
      </p:sp>
      <p:sp>
        <p:nvSpPr>
          <p:cNvPr id="16" name="Shape 14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7" name="Text 15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</a:t>
            </a:r>
            <a:endParaRPr lang="en-US" sz="988" dirty="0"/>
          </a:p>
        </p:txBody>
      </p:sp>
      <p:sp>
        <p:nvSpPr>
          <p:cNvPr id="18" name="Shape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88A4E0"/>
          </a:solidFill>
          <a:ln/>
        </p:spPr>
      </p:sp>
      <p:sp>
        <p:nvSpPr>
          <p:cNvPr id="19" name="Text 17"/>
          <p:cNvSpPr/>
          <p:nvPr/>
        </p:nvSpPr>
        <p:spPr>
          <a:xfrm>
            <a:off x="4508348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GB</a:t>
            </a:r>
            <a:endParaRPr lang="en-US" sz="988" dirty="0"/>
          </a:p>
        </p:txBody>
      </p:sp>
      <p:sp>
        <p:nvSpPr>
          <p:cNvPr id="20" name="Text 18"/>
          <p:cNvSpPr/>
          <p:nvPr/>
        </p:nvSpPr>
        <p:spPr>
          <a:xfrm>
            <a:off x="4508348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112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NL</a:t>
            </a:r>
            <a:endParaRPr lang="en-US" sz="988" dirty="0"/>
          </a:p>
        </p:txBody>
      </p:sp>
      <p:sp>
        <p:nvSpPr>
          <p:cNvPr id="23" name="Text 21"/>
          <p:cNvSpPr/>
          <p:nvPr/>
        </p:nvSpPr>
        <p:spPr>
          <a:xfrm>
            <a:off x="5310035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66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25" name="Text 23"/>
          <p:cNvSpPr/>
          <p:nvPr/>
        </p:nvSpPr>
        <p:spPr>
          <a:xfrm>
            <a:off x="5710879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DK</a:t>
            </a:r>
            <a:endParaRPr lang="en-US" sz="988" dirty="0"/>
          </a:p>
        </p:txBody>
      </p:sp>
      <p:sp>
        <p:nvSpPr>
          <p:cNvPr id="26" name="Text 24"/>
          <p:cNvSpPr/>
          <p:nvPr/>
        </p:nvSpPr>
        <p:spPr>
          <a:xfrm>
            <a:off x="5710879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LV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0" name="Text 28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</a:t>
            </a:r>
            <a:endParaRPr lang="en-US" sz="988" dirty="0"/>
          </a:p>
        </p:txBody>
      </p:sp>
      <p:sp>
        <p:nvSpPr>
          <p:cNvPr id="31" name="Shape 29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Text 30"/>
          <p:cNvSpPr/>
          <p:nvPr/>
        </p:nvSpPr>
        <p:spPr>
          <a:xfrm>
            <a:off x="5710879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33" name="Text 31"/>
          <p:cNvSpPr/>
          <p:nvPr/>
        </p:nvSpPr>
        <p:spPr>
          <a:xfrm>
            <a:off x="5710879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CZ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37" name="Text 35"/>
          <p:cNvSpPr/>
          <p:nvPr/>
        </p:nvSpPr>
        <p:spPr>
          <a:xfrm>
            <a:off x="6512566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</a:t>
            </a:r>
            <a:endParaRPr lang="en-US" sz="988" dirty="0"/>
          </a:p>
        </p:txBody>
      </p:sp>
      <p:sp>
        <p:nvSpPr>
          <p:cNvPr id="38" name="Text 36"/>
          <p:cNvSpPr/>
          <p:nvPr/>
        </p:nvSpPr>
        <p:spPr>
          <a:xfrm>
            <a:off x="6512566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0" name="Text 38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LT</a:t>
            </a:r>
            <a:endParaRPr lang="en-US" sz="988" dirty="0"/>
          </a:p>
        </p:txBody>
      </p:sp>
      <p:sp>
        <p:nvSpPr>
          <p:cNvPr id="41" name="Shape 3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2" name="Text 40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</a:t>
            </a:r>
            <a:endParaRPr lang="en-US" sz="988" dirty="0"/>
          </a:p>
        </p:txBody>
      </p:sp>
      <p:sp>
        <p:nvSpPr>
          <p:cNvPr id="43" name="Shape 4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4" name="Text 42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</a:t>
            </a:r>
            <a:endParaRPr lang="en-US" sz="988" dirty="0"/>
          </a:p>
        </p:txBody>
      </p:sp>
      <p:sp>
        <p:nvSpPr>
          <p:cNvPr id="45" name="Shape 4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</a:t>
            </a:r>
            <a:endParaRPr lang="en-US" sz="988" dirty="0"/>
          </a:p>
        </p:txBody>
      </p:sp>
      <p:sp>
        <p:nvSpPr>
          <p:cNvPr id="47" name="Text 45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9" name="Text 47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</a:t>
            </a:r>
            <a:endParaRPr lang="en-US" sz="988" dirty="0"/>
          </a:p>
        </p:txBody>
      </p:sp>
      <p:sp>
        <p:nvSpPr>
          <p:cNvPr id="50" name="Shape 4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1" name="Text 49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</a:t>
            </a:r>
            <a:endParaRPr lang="en-US" sz="988" dirty="0"/>
          </a:p>
        </p:txBody>
      </p:sp>
      <p:sp>
        <p:nvSpPr>
          <p:cNvPr id="52" name="Shape 5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3" name="Text 51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</a:t>
            </a:r>
            <a:endParaRPr lang="en-US" sz="988" dirty="0"/>
          </a:p>
        </p:txBody>
      </p:sp>
      <p:sp>
        <p:nvSpPr>
          <p:cNvPr id="54" name="Shape 5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5" name="Text 53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</a:t>
            </a:r>
            <a:endParaRPr lang="en-US" sz="988" dirty="0"/>
          </a:p>
        </p:txBody>
      </p:sp>
      <p:sp>
        <p:nvSpPr>
          <p:cNvPr id="56" name="Shape 5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7" name="Text 55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</a:t>
            </a:r>
            <a:endParaRPr lang="en-US" sz="988" dirty="0"/>
          </a:p>
        </p:txBody>
      </p:sp>
      <p:sp>
        <p:nvSpPr>
          <p:cNvPr id="58" name="Shape 5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9" name="Text 57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</a:t>
            </a:r>
            <a:endParaRPr lang="en-US" sz="988" dirty="0"/>
          </a:p>
        </p:txBody>
      </p:sp>
      <p:sp>
        <p:nvSpPr>
          <p:cNvPr id="60" name="Shape 58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</a:t>
            </a:r>
            <a:endParaRPr lang="en-US" sz="988" dirty="0"/>
          </a:p>
        </p:txBody>
      </p:sp>
      <p:sp>
        <p:nvSpPr>
          <p:cNvPr id="64" name="Text 62"/>
          <p:cNvSpPr/>
          <p:nvPr/>
        </p:nvSpPr>
        <p:spPr>
          <a:xfrm>
            <a:off x="4508348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6" name="Text 6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</a:t>
            </a:r>
            <a:endParaRPr lang="en-US" sz="988" dirty="0"/>
          </a:p>
        </p:txBody>
      </p:sp>
      <p:sp>
        <p:nvSpPr>
          <p:cNvPr id="67" name="Shape 6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</a:t>
            </a:r>
            <a:endParaRPr lang="en-US" sz="988" dirty="0"/>
          </a:p>
        </p:txBody>
      </p:sp>
      <p:sp>
        <p:nvSpPr>
          <p:cNvPr id="79" name="Text 77"/>
          <p:cNvSpPr/>
          <p:nvPr/>
        </p:nvSpPr>
        <p:spPr>
          <a:xfrm>
            <a:off x="5310035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Text 79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</a:t>
            </a:r>
            <a:endParaRPr lang="en-US" sz="988" dirty="0"/>
          </a:p>
        </p:txBody>
      </p:sp>
      <p:sp>
        <p:nvSpPr>
          <p:cNvPr id="82" name="Shape 80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Text 81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84" name="Shape 82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Text 83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</a:t>
            </a:r>
            <a:endParaRPr lang="en-US" sz="988" dirty="0"/>
          </a:p>
        </p:txBody>
      </p:sp>
      <p:sp>
        <p:nvSpPr>
          <p:cNvPr id="86" name="Shape 84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Text 85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</a:t>
            </a:r>
            <a:endParaRPr lang="en-US" sz="988" dirty="0"/>
          </a:p>
        </p:txBody>
      </p:sp>
      <p:sp>
        <p:nvSpPr>
          <p:cNvPr id="88" name="Shape 86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Text 87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90" name="Shape 88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Text 89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92" name="Shape 90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Text 91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</a:t>
            </a:r>
            <a:endParaRPr lang="en-US" sz="988" dirty="0"/>
          </a:p>
        </p:txBody>
      </p:sp>
      <p:sp>
        <p:nvSpPr>
          <p:cNvPr id="94" name="Shape 92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Text 93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</a:t>
            </a:r>
            <a:endParaRPr lang="en-US" sz="988" dirty="0"/>
          </a:p>
        </p:txBody>
      </p:sp>
      <p:sp>
        <p:nvSpPr>
          <p:cNvPr id="96" name="Shape 94"/>
          <p:cNvSpPr/>
          <p:nvPr/>
        </p:nvSpPr>
        <p:spPr>
          <a:xfrm>
            <a:off x="4107504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7" name="Shape 95"/>
          <p:cNvSpPr/>
          <p:nvPr/>
        </p:nvSpPr>
        <p:spPr>
          <a:xfrm>
            <a:off x="4171004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98" name="Shape 96"/>
          <p:cNvSpPr/>
          <p:nvPr/>
        </p:nvSpPr>
        <p:spPr>
          <a:xfrm>
            <a:off x="4234504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99" name="Shape 97"/>
          <p:cNvSpPr/>
          <p:nvPr/>
        </p:nvSpPr>
        <p:spPr>
          <a:xfrm>
            <a:off x="4298004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4361504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5004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488504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552004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615504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679004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742504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806004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869504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933004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996504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11" name="Shape 109"/>
          <p:cNvSpPr/>
          <p:nvPr/>
        </p:nvSpPr>
        <p:spPr>
          <a:xfrm>
            <a:off x="5060004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3504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5187004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250504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314004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377504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441004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504504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568004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Text 118"/>
          <p:cNvSpPr/>
          <p:nvPr/>
        </p:nvSpPr>
        <p:spPr>
          <a:xfrm>
            <a:off x="4107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4869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5758504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23" name="Text 121"/>
          <p:cNvSpPr/>
          <p:nvPr/>
        </p:nvSpPr>
        <p:spPr>
          <a:xfrm>
            <a:off x="5898204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Cascade — Support volume breakdown — April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4" name="Text 2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6" name="Text 4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&amp; Service Requests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41256" y="2070100"/>
            <a:ext cx="1375283" cy="3048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166656" y="261874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contacts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66656" y="349885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4,986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2556" y="2070100"/>
            <a:ext cx="1375283" cy="28218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" name="Text 9"/>
          <p:cNvSpPr/>
          <p:nvPr/>
        </p:nvSpPr>
        <p:spPr>
          <a:xfrm>
            <a:off x="4677956" y="257802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77956" y="338575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4,616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77956" y="356990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(92.6%)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52556" y="4891915"/>
            <a:ext cx="1375283" cy="226185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7956" y="4891915"/>
            <a:ext cx="1324483" cy="2261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370 (7.4%)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84548" y="5130800"/>
            <a:ext cx="15113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Dropped contacts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163856" y="2070100"/>
            <a:ext cx="1375283" cy="208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189256" y="2444773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 case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89256" y="301560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3,405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89256" y="319975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(73.8%)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63856" y="4151616"/>
            <a:ext cx="1375283" cy="740298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89256" y="435031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a case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89256" y="452176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1,211 (26.2%)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75156" y="2070100"/>
            <a:ext cx="1375283" cy="1641372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5" name="Text 23"/>
          <p:cNvSpPr/>
          <p:nvPr/>
        </p:nvSpPr>
        <p:spPr>
          <a:xfrm>
            <a:off x="7700556" y="236554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Solved in support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00556" y="279553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2,685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700556" y="297968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(78.9%)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675156" y="3711472"/>
            <a:ext cx="1375283" cy="440144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00556" y="376009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solved in support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700556" y="393154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 (21.1%)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service desk logs, Apr 2026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Funnel — Sales pipeline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29228" y="1828800"/>
            <a:ext cx="5163820" cy="5384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200279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929228" y="2002790"/>
            <a:ext cx="5163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961992" y="2557780"/>
            <a:ext cx="3098292" cy="5384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" name="Text 5"/>
          <p:cNvSpPr/>
          <p:nvPr/>
        </p:nvSpPr>
        <p:spPr>
          <a:xfrm>
            <a:off x="3047848" y="273177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Qualified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961992" y="2731770"/>
            <a:ext cx="30982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003138" y="236728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60.0%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93533" y="3286760"/>
            <a:ext cx="1635210" cy="5384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1" name="Text 9"/>
          <p:cNvSpPr/>
          <p:nvPr/>
        </p:nvSpPr>
        <p:spPr>
          <a:xfrm>
            <a:off x="3047848" y="346075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Proposal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93533" y="3460750"/>
            <a:ext cx="16352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003138" y="309626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52.8%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102335" y="4015740"/>
            <a:ext cx="817605" cy="53848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5" name="Text 13"/>
          <p:cNvSpPr/>
          <p:nvPr/>
        </p:nvSpPr>
        <p:spPr>
          <a:xfrm>
            <a:off x="3047848" y="418973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Negotiation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02335" y="4189730"/>
            <a:ext cx="81760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03138" y="382524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50.0%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252947" y="4744720"/>
            <a:ext cx="516382" cy="538480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491871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52947" y="4918710"/>
            <a:ext cx="5163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03138" y="455422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63.2%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Share of revenue under subscription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3" name="Text 101"/>
          <p:cNvSpPr/>
          <p:nvPr/>
        </p:nvSpPr>
        <p:spPr>
          <a:xfrm>
            <a:off x="6629248" y="3263900"/>
            <a:ext cx="24892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68%</a:t>
            </a:r>
            <a:endParaRPr lang="en-US" sz="2600" dirty="0"/>
          </a:p>
        </p:txBody>
      </p:sp>
      <p:sp>
        <p:nvSpPr>
          <p:cNvPr id="104" name="Text 102"/>
          <p:cNvSpPr/>
          <p:nvPr/>
        </p:nvSpPr>
        <p:spPr>
          <a:xfrm>
            <a:off x="6629248" y="3683000"/>
            <a:ext cx="2489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Subscription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Decorations — totals, CAGR, difference, value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2535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543648" y="21900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0503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78148" y="3595455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165948" y="2799673"/>
            <a:ext cx="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02448" y="27361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5" name="Text 43"/>
          <p:cNvSpPr/>
          <p:nvPr/>
        </p:nvSpPr>
        <p:spPr>
          <a:xfrm>
            <a:off x="8204048" y="3102314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+53%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073248" y="3233272"/>
            <a:ext cx="5181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3098648" y="3042772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Ø 92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Level difference (series) + label content Value+%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34 46%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18 24%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40 48%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26 31%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17 20%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47 48%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31 32%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19 20%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56 50%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35 31%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22 19%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78148" y="4411641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165948" y="3962739"/>
            <a:ext cx="0" cy="448903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02448" y="3899239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8" name="Text 36"/>
          <p:cNvSpPr/>
          <p:nvPr/>
        </p:nvSpPr>
        <p:spPr>
          <a:xfrm>
            <a:off x="8204048" y="4091940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+65%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orientation + segment order descending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3653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31718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9782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47847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376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55076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896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451596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7410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0110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3768" y="2191808"/>
            <a:ext cx="1175647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2968" y="2365375"/>
            <a:ext cx="12772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99415" y="2191808"/>
            <a:ext cx="760713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8615" y="236537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60128" y="2191808"/>
            <a:ext cx="622402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9328" y="2365375"/>
            <a:ext cx="72400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20630" y="2365375"/>
            <a:ext cx="312321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23768" y="2998258"/>
            <a:ext cx="1383115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2968" y="3171825"/>
            <a:ext cx="148471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6882" y="2998258"/>
            <a:ext cx="8990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6082" y="3171825"/>
            <a:ext cx="10006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05907" y="2998258"/>
            <a:ext cx="587824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5107" y="3171825"/>
            <a:ext cx="6894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31831" y="3171825"/>
            <a:ext cx="28120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23768" y="3804708"/>
            <a:ext cx="1625160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72968" y="3978275"/>
            <a:ext cx="1726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48927" y="3804708"/>
            <a:ext cx="1071914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98127" y="3978275"/>
            <a:ext cx="11735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0841" y="3804708"/>
            <a:ext cx="656979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0041" y="3978275"/>
            <a:ext cx="75857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15921" y="3978275"/>
            <a:ext cx="23279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23768" y="4611158"/>
            <a:ext cx="1936361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72968" y="4784725"/>
            <a:ext cx="20379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60128" y="4611158"/>
            <a:ext cx="12102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9328" y="4784725"/>
            <a:ext cx="1311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70353" y="4611158"/>
            <a:ext cx="760713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19553" y="478472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69167" y="4784725"/>
            <a:ext cx="17746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2376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sort descending + pinned axis + de-DE locale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85167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064933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0447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962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976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955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734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672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610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78614" y="3962739"/>
            <a:ext cx="795867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7814" y="4438819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56,0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78614" y="3248575"/>
            <a:ext cx="795867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7814" y="351040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35,0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78614" y="2799673"/>
            <a:ext cx="795867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7814" y="2928874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9648" y="261552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113,0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72414" y="4146381"/>
            <a:ext cx="795867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1614" y="45306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47,0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72414" y="3513836"/>
            <a:ext cx="7958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1614" y="3734858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31,0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72414" y="3126147"/>
            <a:ext cx="7958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1614" y="322474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19,0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73448" y="2941997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66214" y="4289213"/>
            <a:ext cx="7958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15414" y="460205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40,0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66214" y="3758692"/>
            <a:ext cx="7958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15414" y="3928703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26,0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66214" y="3411813"/>
            <a:ext cx="7958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15414" y="349000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17,0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67248" y="322766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60014" y="4411641"/>
            <a:ext cx="795867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09214" y="4663271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34,0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260014" y="3962739"/>
            <a:ext cx="7958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09214" y="40919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60014" y="3595455"/>
            <a:ext cx="7958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09214" y="368384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18,0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61048" y="3411305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74,0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05648" y="369337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305648" y="4101465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305648" y="467279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Clustered-stacked (stack groups)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2975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505683" y="3575050"/>
            <a:ext cx="839470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54883" y="4244975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05683" y="2962910"/>
            <a:ext cx="839470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4883" y="317373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57853" y="3779097"/>
            <a:ext cx="839470" cy="13263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7053" y="434699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57853" y="3268980"/>
            <a:ext cx="839470" cy="51011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7053" y="342878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8533" y="277876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300703" y="308483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62193" y="3268980"/>
            <a:ext cx="83947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11393" y="409194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62193" y="2452793"/>
            <a:ext cx="839470" cy="81618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11393" y="2765637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14363" y="3422015"/>
            <a:ext cx="839470" cy="168338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63563" y="416845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14363" y="2707852"/>
            <a:ext cx="839470" cy="71416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63563" y="2969683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05043" y="2268643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57213" y="2523702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073248" y="5105400"/>
            <a:ext cx="51130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7068" y="2775162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Services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37068" y="2979208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Services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37068" y="410146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Product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37068" y="427291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Product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Axis break (620 outlier) + axis title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3910584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821684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714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€m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4684227"/>
            <a:ext cx="922867" cy="4211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47995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4553864"/>
            <a:ext cx="922867" cy="5515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4734382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3710026"/>
            <a:ext cx="922867" cy="1395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4312463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4493697"/>
            <a:ext cx="922867" cy="6117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470429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54248" y="4111142"/>
            <a:ext cx="5664200" cy="1920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3428848" y="4271416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428848" y="4079392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scale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3053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5052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7051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714500"/>
            <a:ext cx="54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$m (log)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19889" y="4623692"/>
            <a:ext cx="922867" cy="4817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669089" y="476929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23239" y="3823592"/>
            <a:ext cx="922867" cy="1281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072439" y="436924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26589" y="3231228"/>
            <a:ext cx="922867" cy="1874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6475789" y="40730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29939" y="2482069"/>
            <a:ext cx="922867" cy="26233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7879139" y="3698485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100%= row (columns short of 100%)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825240"/>
            <a:ext cx="1242907" cy="1280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37007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2865120"/>
            <a:ext cx="1242907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499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2545080"/>
            <a:ext cx="1242907" cy="8001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284988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12694" y="2865120"/>
            <a:ext cx="1242907" cy="2240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61894" y="389001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12694" y="222504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1894" y="24498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17128" y="245935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717128" y="389953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waterfall + value-line-anchored difference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1116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Organic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4908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M&amp;A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8700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2492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62901" y="4085167"/>
            <a:ext cx="758613" cy="10202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86701" y="45000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62901" y="3350599"/>
            <a:ext cx="758613" cy="73456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6701" y="36226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21514" y="3350599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400821" y="3187361"/>
            <a:ext cx="758613" cy="1632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4621" y="3173730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00821" y="3064933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59434" y="3064933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5538741" y="2962910"/>
            <a:ext cx="758613" cy="10202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8741" y="2779268"/>
            <a:ext cx="758613" cy="18364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62541" y="2775839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97354" y="2779268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676661" y="2779268"/>
            <a:ext cx="758613" cy="12242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6661" y="2901696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5274" y="3024124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814581" y="3024124"/>
            <a:ext cx="758613" cy="2081276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38381" y="3969512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5689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46914" y="3064933"/>
            <a:ext cx="470408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8700194" y="3024124"/>
            <a:ext cx="0" cy="40809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36694" y="2960624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8738294" y="2949279"/>
            <a:ext cx="4055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+2.0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3064933"/>
            <a:ext cx="5689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098648" y="2874433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Rotated waterfall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679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26352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2025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37697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43370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49043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0928" y="1974144"/>
            <a:ext cx="3128061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484728" y="2067983"/>
            <a:ext cx="32804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88988" y="23523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688988" y="2541411"/>
            <a:ext cx="509219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6612788" y="2635250"/>
            <a:ext cx="6616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98208" y="29195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7198208" y="3108678"/>
            <a:ext cx="327355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122008" y="3202517"/>
            <a:ext cx="4797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25563" y="3486856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7089089" y="3675944"/>
            <a:ext cx="436474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7012889" y="3769783"/>
            <a:ext cx="5888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89089" y="40541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943598" y="4243211"/>
            <a:ext cx="145491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14489" y="4337050"/>
            <a:ext cx="508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3598" y="46213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3560928" y="4810478"/>
            <a:ext cx="3382670" cy="37817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3484728" y="4904317"/>
            <a:ext cx="3535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0928" y="1879600"/>
            <a:ext cx="0" cy="3403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98088" y="2057400"/>
            <a:ext cx="1875628" cy="1587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72688" y="2755900"/>
            <a:ext cx="19264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573716" y="2057400"/>
            <a:ext cx="1250419" cy="1587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48316" y="2755900"/>
            <a:ext cx="13012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24135" y="2057400"/>
            <a:ext cx="625209" cy="1587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98735" y="2755900"/>
            <a:ext cx="6760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87444" y="2755900"/>
            <a:ext cx="165640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98088" y="3670300"/>
            <a:ext cx="2456180" cy="952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2688" y="4051300"/>
            <a:ext cx="25069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4268" y="3670300"/>
            <a:ext cx="1339735" cy="952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8868" y="405130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4002" y="3670300"/>
            <a:ext cx="1116445" cy="952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8602" y="4051300"/>
            <a:ext cx="11672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48548" y="40513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8088" y="4648200"/>
            <a:ext cx="803841" cy="6350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2688" y="4870450"/>
            <a:ext cx="8546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01928" y="4648200"/>
            <a:ext cx="982472" cy="6350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6528" y="4870450"/>
            <a:ext cx="103327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4400" y="4648200"/>
            <a:ext cx="1339735" cy="6350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59000" y="487045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62235" y="4870450"/>
            <a:ext cx="22816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with units (X extent) — rotated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47848" y="27559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40513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047848" y="487045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9808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9808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Text 27"/>
          <p:cNvSpPr/>
          <p:nvPr/>
        </p:nvSpPr>
        <p:spPr>
          <a:xfrm>
            <a:off x="382508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2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1" name="Text 29"/>
          <p:cNvSpPr/>
          <p:nvPr/>
        </p:nvSpPr>
        <p:spPr>
          <a:xfrm>
            <a:off x="479028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4842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" name="Text 31"/>
          <p:cNvSpPr/>
          <p:nvPr/>
        </p:nvSpPr>
        <p:spPr>
          <a:xfrm>
            <a:off x="527542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+ secondary axis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79679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63042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3635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19350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3988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740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417408" y="44043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7408" y="37922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417408" y="31800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7408" y="25679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740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07613" y="317728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57093" y="299821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3738093" y="3024124"/>
            <a:ext cx="1329690" cy="183642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37303" y="299364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6783" y="2814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067783" y="2779268"/>
            <a:ext cx="1329690" cy="244856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66993" y="274878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16473" y="256971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 flipV="1">
            <a:off x="6397473" y="2350770"/>
            <a:ext cx="1329690" cy="42849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6683" y="232029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46163" y="214122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42808" y="214757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partition lines, trend, groups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8610" y="2108200"/>
            <a:ext cx="0" cy="3022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3479648" y="2450745"/>
            <a:ext cx="5562600" cy="234683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7757008" y="2501545"/>
            <a:ext cx="12852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0.99, p &lt; 0.001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75938" y="44126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79860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22848" y="365696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65835" y="312801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2563" y="301466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86953" y="252349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36816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61251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67435" y="308356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297021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47904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sections, owners, remarks, deps, today, holiday, bracket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25193" y="1993900"/>
            <a:ext cx="894651" cy="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25193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19845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25193" y="1822450"/>
            <a:ext cx="89465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64230" y="2247900"/>
            <a:ext cx="63904" cy="2882900"/>
          </a:xfrm>
          <a:prstGeom prst="rect">
            <a:avLst/>
          </a:prstGeom>
          <a:solidFill>
            <a:srgbClr val="EFE7E7"/>
          </a:solidFill>
          <a:ln/>
        </p:spPr>
      </p:sp>
      <p:sp>
        <p:nvSpPr>
          <p:cNvPr id="8" name="Shape 6"/>
          <p:cNvSpPr/>
          <p:nvPr/>
        </p:nvSpPr>
        <p:spPr>
          <a:xfrm>
            <a:off x="479738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5244712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0" name="Shape 8"/>
          <p:cNvSpPr/>
          <p:nvPr/>
        </p:nvSpPr>
        <p:spPr>
          <a:xfrm>
            <a:off x="5692037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1" name="Shape 9"/>
          <p:cNvSpPr/>
          <p:nvPr/>
        </p:nvSpPr>
        <p:spPr>
          <a:xfrm>
            <a:off x="6139363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6689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3" name="Shape 11"/>
          <p:cNvSpPr/>
          <p:nvPr/>
        </p:nvSpPr>
        <p:spPr>
          <a:xfrm>
            <a:off x="7034015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4" name="Shape 12"/>
          <p:cNvSpPr/>
          <p:nvPr/>
        </p:nvSpPr>
        <p:spPr>
          <a:xfrm>
            <a:off x="7481340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92866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447786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306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25193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0393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72519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67719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19845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5045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7171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2371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9696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61822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7022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60914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0434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Feb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056474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51674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Feb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047848" y="226060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3047848" y="244094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Discovery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74848" y="301752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32674" y="301752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33994" y="302387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done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77868" y="282448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25193" y="3210560"/>
            <a:ext cx="958555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43" name="Text 41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Jan–23 Jan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174848" y="359410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132674" y="359410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477868" y="340106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564230" y="3787140"/>
            <a:ext cx="766844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8" name="Shape 46"/>
          <p:cNvSpPr/>
          <p:nvPr/>
        </p:nvSpPr>
        <p:spPr>
          <a:xfrm>
            <a:off x="5819845" y="3600450"/>
            <a:ext cx="702940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819845" y="3600450"/>
            <a:ext cx="421764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50" name="Shape 48"/>
          <p:cNvSpPr/>
          <p:nvPr/>
        </p:nvSpPr>
        <p:spPr>
          <a:xfrm>
            <a:off x="6442775" y="360934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51" name="Shape 49"/>
          <p:cNvSpPr/>
          <p:nvPr/>
        </p:nvSpPr>
        <p:spPr>
          <a:xfrm>
            <a:off x="3047848" y="399034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52" name="Text 50"/>
          <p:cNvSpPr/>
          <p:nvPr/>
        </p:nvSpPr>
        <p:spPr>
          <a:xfrm>
            <a:off x="3047848" y="417068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Delivery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174848" y="474726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132674" y="474726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Cato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533994" y="475361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risk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477868" y="455422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11556" y="4940300"/>
            <a:ext cx="1341977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58" name="Shape 56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267171" y="4753610"/>
            <a:ext cx="319518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60" name="Text 58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Jan–20 Feb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84753" y="476250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62" name="Shape 60"/>
          <p:cNvSpPr/>
          <p:nvPr/>
        </p:nvSpPr>
        <p:spPr>
          <a:xfrm>
            <a:off x="6075460" y="3112770"/>
            <a:ext cx="0" cy="57658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794445" y="368935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rot="16200000">
            <a:off x="5762695" y="3644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5" name="Shape 63"/>
          <p:cNvSpPr/>
          <p:nvPr/>
        </p:nvSpPr>
        <p:spPr>
          <a:xfrm>
            <a:off x="6522785" y="3689350"/>
            <a:ext cx="0" cy="115316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41771" y="484251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rot="16200000">
            <a:off x="6210021" y="479806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8" name="Shape 66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9" name="Text 67"/>
          <p:cNvSpPr/>
          <p:nvPr/>
        </p:nvSpPr>
        <p:spPr>
          <a:xfrm>
            <a:off x="6409696" y="5143500"/>
            <a:ext cx="6096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8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label nudge (labelOffsets)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393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Connector lines + footnote (source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283964"/>
            <a:ext cx="863600" cy="6563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51688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859276"/>
            <a:ext cx="863600" cy="4246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39763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11804"/>
            <a:ext cx="863600" cy="34747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59029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327654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168140"/>
            <a:ext cx="863600" cy="772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4589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666236"/>
            <a:ext cx="863600" cy="50190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8219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338068"/>
            <a:ext cx="863600" cy="32816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069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15391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033012"/>
            <a:ext cx="863600" cy="90728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3914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434588"/>
            <a:ext cx="863600" cy="59842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6385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067812"/>
            <a:ext cx="863600" cy="366776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1559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883662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859276"/>
            <a:ext cx="863600" cy="108102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3045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183636"/>
            <a:ext cx="863600" cy="6756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4262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58948"/>
            <a:ext cx="863600" cy="42468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8760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7479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4152748" y="4168140"/>
            <a:ext cx="431800" cy="11582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52748" y="3666236"/>
            <a:ext cx="431800" cy="193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152748" y="3338068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5448148" y="4033012"/>
            <a:ext cx="431800" cy="1351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448148" y="3434588"/>
            <a:ext cx="431800" cy="23164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5448148" y="3067812"/>
            <a:ext cx="431800" cy="2702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6743548" y="3859276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743548" y="3183636"/>
            <a:ext cx="431800" cy="25095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743548" y="2758948"/>
            <a:ext cx="431800" cy="30886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3248" y="49403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5648" y="2885567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305648" y="343573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5648" y="431406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Statistics Denmark, 2024</a:t>
            </a:r>
            <a:endParaRPr lang="en-US" sz="8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highlight + speech-bubble callout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6293" y="3505200"/>
            <a:ext cx="932180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5493" y="421005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6293" y="3185160"/>
            <a:ext cx="932180" cy="3200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55493" y="324993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4563" y="3345180"/>
            <a:ext cx="93218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3763" y="413004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4563" y="2945130"/>
            <a:ext cx="932180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3763" y="304990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2833" y="3225165"/>
            <a:ext cx="932180" cy="188023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2033" y="407003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2833" y="2385060"/>
            <a:ext cx="932180" cy="840105"/>
          </a:xfrm>
          <a:prstGeom prst="rect">
            <a:avLst/>
          </a:prstGeom>
          <a:solidFill>
            <a:srgbClr val="E3494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52033" y="270986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1103" y="3025140"/>
            <a:ext cx="932180" cy="20802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0303" y="397002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501103" y="2465070"/>
            <a:ext cx="932180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0303" y="264985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V="1">
            <a:off x="4238473" y="3345180"/>
            <a:ext cx="466090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238473" y="2945130"/>
            <a:ext cx="466090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5636743" y="3225165"/>
            <a:ext cx="466090" cy="12001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636743" y="2385060"/>
            <a:ext cx="466090" cy="56007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7035013" y="3025140"/>
            <a:ext cx="466090" cy="20002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5013" y="2385060"/>
            <a:ext cx="466090" cy="800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17128" y="265938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17128" y="397954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6568923" y="1959610"/>
            <a:ext cx="381000" cy="400050"/>
          </a:xfrm>
          <a:prstGeom prst="line">
            <a:avLst/>
          </a:prstGeom>
          <a:noFill/>
          <a:ln w="9525">
            <a:solidFill>
              <a:srgbClr val="0B0B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One-off boost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9648" y="2438400"/>
            <a:ext cx="5613400" cy="5334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3" name="Text 1"/>
          <p:cNvSpPr/>
          <p:nvPr/>
        </p:nvSpPr>
        <p:spPr>
          <a:xfrm>
            <a:off x="3517748" y="2451100"/>
            <a:ext cx="5537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range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band (target range) + line highlight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3078480"/>
            <a:ext cx="922867" cy="2026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399669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2705100"/>
            <a:ext cx="922867" cy="2400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381000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2331720"/>
            <a:ext cx="922867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362331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2491740"/>
            <a:ext cx="922867" cy="26136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370332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background bands (quadrant regions)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956273" y="1879600"/>
            <a:ext cx="2085975" cy="3251200"/>
          </a:xfrm>
          <a:prstGeom prst="rect">
            <a:avLst/>
          </a:prstGeom>
          <a:solidFill>
            <a:srgbClr val="E8F0E4"/>
          </a:solidFill>
          <a:ln/>
        </p:spPr>
      </p:sp>
      <p:sp>
        <p:nvSpPr>
          <p:cNvPr id="4" name="Text 2"/>
          <p:cNvSpPr/>
          <p:nvPr/>
        </p:nvSpPr>
        <p:spPr>
          <a:xfrm>
            <a:off x="6994373" y="1892300"/>
            <a:ext cx="20097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84535" y="4279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7523" y="3263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70510" y="3670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13498" y="2654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56485" y="2247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86135" y="4235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629123" y="3219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672110" y="3625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15098" y="2609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58085" y="2203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Exploding slice + slice color + 100% = note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6200000"/>
              <a:gd name="adj2" fmla="val 4536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90764" y="32818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46%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26508" y="2173627"/>
            <a:ext cx="2806700" cy="2806700"/>
          </a:xfrm>
          <a:prstGeom prst="pie">
            <a:avLst>
              <a:gd name="adj1" fmla="val 4536000"/>
              <a:gd name="adj2" fmla="val 10584000"/>
            </a:avLst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0140" y="4185634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28%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0584000"/>
              <a:gd name="adj2" fmla="val 14472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62223" y="2971737"/>
            <a:ext cx="942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18%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4472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6319" y="2046932"/>
            <a:ext cx="17371" cy="676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2142" y="19332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= 100   ·   Source: annual report FY24</a:t>
            </a:r>
            <a:endParaRPr lang="en-US" sz="8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fills (SVG/preview; solid in PPT)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505200"/>
            <a:ext cx="1242907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21005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3105150"/>
            <a:ext cx="1242907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099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974" y="2865120"/>
            <a:ext cx="1242907" cy="24003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3174" y="288988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48334" y="2785110"/>
            <a:ext cx="1242907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97534" y="296989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48334" y="2465070"/>
            <a:ext cx="1242907" cy="32004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97534" y="25298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12694" y="3105150"/>
            <a:ext cx="1242907" cy="20002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1894" y="40100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12694" y="246507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61894" y="268986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12694" y="2105025"/>
            <a:ext cx="1242907" cy="36004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61894" y="2189798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V="1">
            <a:off x="4626881" y="3345180"/>
            <a:ext cx="621453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26881" y="278511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626881" y="2465070"/>
            <a:ext cx="621453" cy="4000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6491241" y="3105150"/>
            <a:ext cx="621453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491241" y="246507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6491241" y="2105025"/>
            <a:ext cx="621453" cy="36004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17128" y="21993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717128" y="269938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17128" y="401955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from raw samples (Tukey whiskers, outliers)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39852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3985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0520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39014" y="352298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7274" y="187706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5450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29184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65176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29718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0148" y="2906607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71786" y="27813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57481" y="36118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71856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81281" y="373634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29541" y="209042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boxplot (same shared axis, rotated)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187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870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1907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30035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47848" y="38163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47848" y="46291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702148" y="22860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28948" y="22860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387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289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7248" y="20624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65548" y="20624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4548" y="18910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07048" y="30988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97248" y="30988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119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972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33848" y="2875280"/>
            <a:ext cx="14732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70448" y="28752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89448" y="27038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333848" y="39116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60648" y="39116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704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606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28948" y="36880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97248" y="36880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16248" y="35166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70448" y="47244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28948" y="47244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753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289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65548" y="45008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33848" y="45008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52848" y="43294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923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Grouped boxplots (2024 vs 2025)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7964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36066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3336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41603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087766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87766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48987" y="339852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48987" y="467868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79368" y="382524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79368" y="425196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58899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58899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20120" y="25450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20120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50501" y="3185160"/>
            <a:ext cx="616797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50501" y="361188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3003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3003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91253" y="36118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91253" y="489204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21634" y="403860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21634" y="446532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42663" y="31851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42663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03883" y="31851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03883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34264" y="361188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34264" y="403860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13796" y="233172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613796" y="382524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75017" y="23317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75017" y="42519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05398" y="2971800"/>
            <a:ext cx="616797" cy="85344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05398" y="339852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484929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84929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46150" y="33985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346150" y="46786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76531" y="382524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76531" y="425196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bars (Error / Error+ / Error- rows)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27762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19889" y="3121152"/>
            <a:ext cx="922867" cy="13441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669089" y="369798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3239" y="2705100"/>
            <a:ext cx="922867" cy="17602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5072439" y="348996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26589" y="2929128"/>
            <a:ext cx="922867" cy="15361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475789" y="360197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929939" y="2513076"/>
            <a:ext cx="922867" cy="19522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879139" y="339394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9648" y="446532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81323" y="2961132"/>
            <a:ext cx="0" cy="32004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7823" y="296113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7823" y="32811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84673" y="2481072"/>
            <a:ext cx="0" cy="448056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1173" y="24810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1173" y="292912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88023" y="2641092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24523" y="264109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24523" y="302514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91373" y="2385060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7873" y="238506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27873" y="276910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705225"/>
            <a:ext cx="6019800" cy="1400175"/>
          </a:xfrm>
          <a:prstGeom prst="rect">
            <a:avLst/>
          </a:prstGeom>
          <a:solidFill>
            <a:srgbClr val="E4E2DA"/>
          </a:solidFill>
          <a:ln/>
        </p:spPr>
      </p:sp>
      <p:sp>
        <p:nvSpPr>
          <p:cNvPr id="3" name="Shape 1"/>
          <p:cNvSpPr/>
          <p:nvPr/>
        </p:nvSpPr>
        <p:spPr>
          <a:xfrm>
            <a:off x="3073248" y="2905125"/>
            <a:ext cx="6019800" cy="800100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Bullet chart (Target row + range bands)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732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81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880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0423" y="3425190"/>
            <a:ext cx="99060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279623" y="4170045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35373" y="2905125"/>
            <a:ext cx="990600" cy="2200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784573" y="3910013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0323" y="3185160"/>
            <a:ext cx="99060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289523" y="4050030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845273" y="2665095"/>
            <a:ext cx="99060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794473" y="3789998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9552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0047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5423" y="2905125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10373" y="278511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clustered columns +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188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71052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2704" y="2971800"/>
            <a:ext cx="593513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3331904" y="394335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988918" y="3078480"/>
            <a:ext cx="593513" cy="20269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3938118" y="39966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01344" y="2651760"/>
            <a:ext cx="593513" cy="24536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5150544" y="378333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07558" y="2545080"/>
            <a:ext cx="593513" cy="2560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5756758" y="37299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19984" y="2331720"/>
            <a:ext cx="593513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969184" y="362331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626198" y="2171700"/>
            <a:ext cx="593513" cy="29337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7575398" y="354330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79968" y="32035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579968" y="37242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54568" y="42164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55456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54568" y="26162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952088" y="259461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01568" y="241554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982568" y="2385060"/>
            <a:ext cx="1818640" cy="24003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70728" y="235458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20208" y="21755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5801208" y="2065020"/>
            <a:ext cx="1818640" cy="32004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89368" y="203454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38848" y="185547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79968" y="1652270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Dumbbell range (before vs after)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721583" y="345440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8583" y="34163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2383" y="3025140"/>
            <a:ext cx="0" cy="4800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21583" y="297434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8583" y="293624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19853" y="285432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46853" y="281622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70653" y="2705100"/>
            <a:ext cx="0" cy="20002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19853" y="265430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46853" y="26162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18123" y="313436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45123" y="309626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68923" y="3185160"/>
            <a:ext cx="0" cy="12001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18123" y="3254375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45123" y="321627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916393" y="261429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3393" y="257619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67193" y="2305050"/>
            <a:ext cx="0" cy="36004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16393" y="225425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3393" y="221615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17128" y="221932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17128" y="257937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Forecast with confidence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83148" y="3431858"/>
            <a:ext cx="56515" cy="733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9" name="Shape 7"/>
          <p:cNvSpPr/>
          <p:nvPr/>
        </p:nvSpPr>
        <p:spPr>
          <a:xfrm>
            <a:off x="6133313" y="3413189"/>
            <a:ext cx="56515" cy="2200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0" name="Shape 8"/>
          <p:cNvSpPr/>
          <p:nvPr/>
        </p:nvSpPr>
        <p:spPr>
          <a:xfrm>
            <a:off x="6183478" y="3394519"/>
            <a:ext cx="56515" cy="366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1" name="Shape 9"/>
          <p:cNvSpPr/>
          <p:nvPr/>
        </p:nvSpPr>
        <p:spPr>
          <a:xfrm>
            <a:off x="6233643" y="3375851"/>
            <a:ext cx="56515" cy="5134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2" name="Shape 10"/>
          <p:cNvSpPr/>
          <p:nvPr/>
        </p:nvSpPr>
        <p:spPr>
          <a:xfrm>
            <a:off x="6283808" y="3357182"/>
            <a:ext cx="56515" cy="6600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333973" y="3338513"/>
            <a:ext cx="56515" cy="806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4" name="Shape 12"/>
          <p:cNvSpPr/>
          <p:nvPr/>
        </p:nvSpPr>
        <p:spPr>
          <a:xfrm>
            <a:off x="6384138" y="3319844"/>
            <a:ext cx="56515" cy="953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434303" y="3301175"/>
            <a:ext cx="56515" cy="11001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6" name="Shape 14"/>
          <p:cNvSpPr/>
          <p:nvPr/>
        </p:nvSpPr>
        <p:spPr>
          <a:xfrm>
            <a:off x="6484468" y="3282506"/>
            <a:ext cx="56515" cy="12468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534633" y="3263837"/>
            <a:ext cx="56515" cy="1393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4798" y="3245168"/>
            <a:ext cx="56515" cy="15401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9" name="Shape 17"/>
          <p:cNvSpPr/>
          <p:nvPr/>
        </p:nvSpPr>
        <p:spPr>
          <a:xfrm>
            <a:off x="6634963" y="3226499"/>
            <a:ext cx="56515" cy="16868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0" name="Shape 18"/>
          <p:cNvSpPr/>
          <p:nvPr/>
        </p:nvSpPr>
        <p:spPr>
          <a:xfrm>
            <a:off x="6685128" y="3207830"/>
            <a:ext cx="56515" cy="18335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735293" y="3189161"/>
            <a:ext cx="56515" cy="19802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2" name="Shape 20"/>
          <p:cNvSpPr/>
          <p:nvPr/>
        </p:nvSpPr>
        <p:spPr>
          <a:xfrm>
            <a:off x="6785458" y="3170492"/>
            <a:ext cx="56515" cy="21269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3" name="Shape 21"/>
          <p:cNvSpPr/>
          <p:nvPr/>
        </p:nvSpPr>
        <p:spPr>
          <a:xfrm>
            <a:off x="6835623" y="3151823"/>
            <a:ext cx="56515" cy="22736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4" name="Shape 22"/>
          <p:cNvSpPr/>
          <p:nvPr/>
        </p:nvSpPr>
        <p:spPr>
          <a:xfrm>
            <a:off x="6885788" y="3133154"/>
            <a:ext cx="56515" cy="24203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5" name="Shape 23"/>
          <p:cNvSpPr/>
          <p:nvPr/>
        </p:nvSpPr>
        <p:spPr>
          <a:xfrm>
            <a:off x="6935953" y="3114485"/>
            <a:ext cx="56515" cy="25669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6" name="Shape 24"/>
          <p:cNvSpPr/>
          <p:nvPr/>
        </p:nvSpPr>
        <p:spPr>
          <a:xfrm>
            <a:off x="6986118" y="3095816"/>
            <a:ext cx="56515" cy="2713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7" name="Shape 25"/>
          <p:cNvSpPr/>
          <p:nvPr/>
        </p:nvSpPr>
        <p:spPr>
          <a:xfrm>
            <a:off x="7036283" y="3077147"/>
            <a:ext cx="56515" cy="28603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8" name="Shape 26"/>
          <p:cNvSpPr/>
          <p:nvPr/>
        </p:nvSpPr>
        <p:spPr>
          <a:xfrm>
            <a:off x="7086448" y="3058478"/>
            <a:ext cx="56515" cy="30070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9" name="Shape 27"/>
          <p:cNvSpPr/>
          <p:nvPr/>
        </p:nvSpPr>
        <p:spPr>
          <a:xfrm>
            <a:off x="7136613" y="3039809"/>
            <a:ext cx="56515" cy="3153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6778" y="3021140"/>
            <a:ext cx="56515" cy="33004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236943" y="3002471"/>
            <a:ext cx="56515" cy="34471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2" name="Shape 30"/>
          <p:cNvSpPr/>
          <p:nvPr/>
        </p:nvSpPr>
        <p:spPr>
          <a:xfrm>
            <a:off x="7287108" y="2982468"/>
            <a:ext cx="56515" cy="3600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3" name="Shape 31"/>
          <p:cNvSpPr/>
          <p:nvPr/>
        </p:nvSpPr>
        <p:spPr>
          <a:xfrm>
            <a:off x="7337273" y="2961132"/>
            <a:ext cx="56515" cy="37604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4" name="Shape 32"/>
          <p:cNvSpPr/>
          <p:nvPr/>
        </p:nvSpPr>
        <p:spPr>
          <a:xfrm>
            <a:off x="7387438" y="2939796"/>
            <a:ext cx="56515" cy="39204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437603" y="2918460"/>
            <a:ext cx="56515" cy="4080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6" name="Shape 34"/>
          <p:cNvSpPr/>
          <p:nvPr/>
        </p:nvSpPr>
        <p:spPr>
          <a:xfrm>
            <a:off x="7487768" y="2897124"/>
            <a:ext cx="56515" cy="42405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7" name="Shape 35"/>
          <p:cNvSpPr/>
          <p:nvPr/>
        </p:nvSpPr>
        <p:spPr>
          <a:xfrm>
            <a:off x="7537933" y="2875788"/>
            <a:ext cx="56515" cy="44005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588098" y="2854452"/>
            <a:ext cx="56515" cy="45605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9" name="Shape 37"/>
          <p:cNvSpPr/>
          <p:nvPr/>
        </p:nvSpPr>
        <p:spPr>
          <a:xfrm>
            <a:off x="7638263" y="2833116"/>
            <a:ext cx="56515" cy="47205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0" name="Shape 38"/>
          <p:cNvSpPr/>
          <p:nvPr/>
        </p:nvSpPr>
        <p:spPr>
          <a:xfrm>
            <a:off x="7688428" y="2811780"/>
            <a:ext cx="56515" cy="48806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1" name="Shape 39"/>
          <p:cNvSpPr/>
          <p:nvPr/>
        </p:nvSpPr>
        <p:spPr>
          <a:xfrm>
            <a:off x="7738593" y="2790444"/>
            <a:ext cx="56515" cy="50406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8758" y="2769108"/>
            <a:ext cx="56515" cy="52006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3" name="Shape 41"/>
          <p:cNvSpPr/>
          <p:nvPr/>
        </p:nvSpPr>
        <p:spPr>
          <a:xfrm>
            <a:off x="7838923" y="2747772"/>
            <a:ext cx="56515" cy="5360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4" name="Shape 42"/>
          <p:cNvSpPr/>
          <p:nvPr/>
        </p:nvSpPr>
        <p:spPr>
          <a:xfrm>
            <a:off x="7889088" y="2726436"/>
            <a:ext cx="56515" cy="55206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5" name="Shape 43"/>
          <p:cNvSpPr/>
          <p:nvPr/>
        </p:nvSpPr>
        <p:spPr>
          <a:xfrm>
            <a:off x="7939253" y="2705100"/>
            <a:ext cx="56515" cy="5680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6" name="Shape 44"/>
          <p:cNvSpPr/>
          <p:nvPr/>
        </p:nvSpPr>
        <p:spPr>
          <a:xfrm>
            <a:off x="7989418" y="2683764"/>
            <a:ext cx="56515" cy="5840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7" name="Shape 45"/>
          <p:cNvSpPr/>
          <p:nvPr/>
        </p:nvSpPr>
        <p:spPr>
          <a:xfrm>
            <a:off x="8039583" y="2662428"/>
            <a:ext cx="56515" cy="60007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8" name="Shape 46"/>
          <p:cNvSpPr/>
          <p:nvPr/>
        </p:nvSpPr>
        <p:spPr>
          <a:xfrm>
            <a:off x="8089748" y="2641092"/>
            <a:ext cx="56515" cy="6160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9" name="Shape 47"/>
          <p:cNvSpPr/>
          <p:nvPr/>
        </p:nvSpPr>
        <p:spPr>
          <a:xfrm>
            <a:off x="8139913" y="2619756"/>
            <a:ext cx="56515" cy="63207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0" name="Shape 48"/>
          <p:cNvSpPr/>
          <p:nvPr/>
        </p:nvSpPr>
        <p:spPr>
          <a:xfrm>
            <a:off x="8190078" y="2598420"/>
            <a:ext cx="56515" cy="64808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1" name="Shape 49"/>
          <p:cNvSpPr/>
          <p:nvPr/>
        </p:nvSpPr>
        <p:spPr>
          <a:xfrm>
            <a:off x="8240243" y="2577084"/>
            <a:ext cx="56515" cy="66408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2" name="Shape 50"/>
          <p:cNvSpPr/>
          <p:nvPr/>
        </p:nvSpPr>
        <p:spPr>
          <a:xfrm>
            <a:off x="8290408" y="2555748"/>
            <a:ext cx="56515" cy="68008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3" name="Shape 51"/>
          <p:cNvSpPr/>
          <p:nvPr/>
        </p:nvSpPr>
        <p:spPr>
          <a:xfrm>
            <a:off x="8340573" y="2534412"/>
            <a:ext cx="56515" cy="69608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4" name="Shape 52"/>
          <p:cNvSpPr/>
          <p:nvPr/>
        </p:nvSpPr>
        <p:spPr>
          <a:xfrm>
            <a:off x="8390738" y="2513076"/>
            <a:ext cx="56515" cy="71208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5" name="Shape 53"/>
          <p:cNvSpPr/>
          <p:nvPr/>
        </p:nvSpPr>
        <p:spPr>
          <a:xfrm>
            <a:off x="8440903" y="2491740"/>
            <a:ext cx="56515" cy="72809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6" name="Shape 54"/>
          <p:cNvSpPr/>
          <p:nvPr/>
        </p:nvSpPr>
        <p:spPr>
          <a:xfrm>
            <a:off x="6685128" y="1905000"/>
            <a:ext cx="0" cy="3200400"/>
          </a:xfrm>
          <a:prstGeom prst="line">
            <a:avLst/>
          </a:prstGeom>
          <a:noFill/>
          <a:ln w="12700">
            <a:solidFill>
              <a:srgbClr val="E1E0D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3644748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94228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 flipV="1">
            <a:off x="3675228" y="363321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48708" y="36027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498188" y="342366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 flipV="1">
            <a:off x="4879188" y="3441192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052668" y="3410712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702148" y="323164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 flipV="1">
            <a:off x="6083148" y="3185160"/>
            <a:ext cx="1203960" cy="256032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7256628" y="3154680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90610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 flipV="1">
            <a:off x="7287108" y="2897124"/>
            <a:ext cx="1203960" cy="288036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8460588" y="2866644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110068" y="2687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69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Budget-vs-actual bridge (gap to target)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73908" y="3270504"/>
            <a:ext cx="80264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3197708" y="40927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76548" y="3270504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4477868" y="2971800"/>
            <a:ext cx="80264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401668" y="30259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80508" y="2971800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5681828" y="2779776"/>
            <a:ext cx="80264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5605628" y="2780538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84468" y="2779776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6885788" y="2779776"/>
            <a:ext cx="80264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6809588" y="281254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88428" y="3035808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089748" y="3035808"/>
            <a:ext cx="802640" cy="2069592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1" name="Text 19"/>
          <p:cNvSpPr/>
          <p:nvPr/>
        </p:nvSpPr>
        <p:spPr>
          <a:xfrm>
            <a:off x="8013548" y="3975354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60868" y="275844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89748" y="2758440"/>
            <a:ext cx="802640" cy="277368"/>
          </a:xfrm>
          <a:prstGeom prst="rect">
            <a:avLst/>
          </a:prstGeom>
          <a:solidFill>
            <a:srgbClr val="898781"/>
          </a:solidFill>
          <a:ln w="9525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38948" y="2567940"/>
            <a:ext cx="9042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Gap +13</a:t>
            </a:r>
            <a:endParaRPr lang="en-US" sz="9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with marginal totals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77187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5139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3092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solidFill>
            <a:srgbClr val="AABDE7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solidFill>
            <a:srgbClr val="8CA7E1"/>
          </a:solidFill>
          <a:ln/>
        </p:spPr>
      </p:sp>
      <p:sp>
        <p:nvSpPr>
          <p:cNvPr id="11" name="Text 9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solidFill>
            <a:srgbClr val="799BDE"/>
          </a:solidFill>
          <a:ln/>
        </p:spPr>
      </p:sp>
      <p:sp>
        <p:nvSpPr>
          <p:cNvPr id="13" name="Text 11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899833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20" name="Text 18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22" name="Text 20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solidFill>
            <a:srgbClr val="C3CFEE"/>
          </a:solidFill>
          <a:ln/>
        </p:spPr>
      </p:sp>
      <p:sp>
        <p:nvSpPr>
          <p:cNvPr id="24" name="Text 22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805767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29" name="Text 27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solidFill>
            <a:srgbClr val="DCE3F4"/>
          </a:solidFill>
          <a:ln/>
        </p:spPr>
      </p:sp>
      <p:sp>
        <p:nvSpPr>
          <p:cNvPr id="31" name="Text 29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solidFill>
            <a:srgbClr val="CED8F0"/>
          </a:solidFill>
          <a:ln/>
        </p:spPr>
      </p:sp>
      <p:sp>
        <p:nvSpPr>
          <p:cNvPr id="33" name="Text 31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635848" y="1993900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8635848" y="1993900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199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635848" y="2899833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8635848" y="2899833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131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635848" y="3805767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9" name="Text 37"/>
          <p:cNvSpPr/>
          <p:nvPr/>
        </p:nvSpPr>
        <p:spPr>
          <a:xfrm>
            <a:off x="8635848" y="3805767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109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1" name="Text 39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94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3" name="Text 41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5" name="Text 43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111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7" name="Text 45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127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9" name="Shape 47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50" name="Shape 48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52" name="Shape 50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53" name="Shape 51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54" name="Shape 52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5" name="Shape 53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6" name="Shape 54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7" name="Shape 55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8" name="Shape 56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9" name="Shape 57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60" name="Shape 58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61" name="Shape 59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62" name="Shape 60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63" name="Shape 61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64" name="Shape 62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5" name="Shape 63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6" name="Shape 64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7" name="Shape 65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8" name="Shape 66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9" name="Shape 67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70" name="Shape 68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71" name="Shape 69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Text 70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Slope chart — market share, before vs after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27212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1012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91956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5756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241648" y="32013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272128" y="2288540"/>
            <a:ext cx="3647440" cy="9432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89088" y="22580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136566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995768" y="219329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31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41648" y="2662321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2128" y="2692801"/>
            <a:ext cx="3647440" cy="269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89088" y="293182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47848" y="2597551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995768" y="286705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41648" y="387510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272128" y="3501323"/>
            <a:ext cx="3647440" cy="4042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89088" y="347084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3810334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19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995768" y="3406073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22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41648" y="481838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72128" y="4040338"/>
            <a:ext cx="3647440" cy="808522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89088" y="4009858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47848" y="475361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995768" y="394508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internal market model, 2026</a:t>
            </a:r>
            <a:endParaRPr lang="en-US" sz="8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order mix by channel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248" y="3295650"/>
            <a:ext cx="11430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794348" y="32448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 52%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6629248" y="3511550"/>
            <a:ext cx="114300" cy="1143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Text 104"/>
          <p:cNvSpPr/>
          <p:nvPr/>
        </p:nvSpPr>
        <p:spPr>
          <a:xfrm>
            <a:off x="6794348" y="34607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 33%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6629248" y="3727450"/>
            <a:ext cx="114300" cy="1143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8" name="Text 106"/>
          <p:cNvSpPr/>
          <p:nvPr/>
        </p:nvSpPr>
        <p:spPr>
          <a:xfrm>
            <a:off x="6794348" y="36766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 15%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Bar-of-pie — revenue with the long tail detailed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2160000"/>
              <a:gd name="adj2" fmla="val 7920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71744" y="437556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27%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7920000"/>
              <a:gd name="adj2" fmla="val 15120000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52505" y="328485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33%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5120000"/>
              <a:gd name="adj2" fmla="val 19440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57232" y="261076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9440000"/>
              <a:gd name="adj2" fmla="val 2160000"/>
            </a:avLst>
          </a:prstGeom>
          <a:solidFill>
            <a:srgbClr val="89878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49722" y="3473450"/>
            <a:ext cx="668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20%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60272" y="2178812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060272" y="4428653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949288" y="2178812"/>
            <a:ext cx="355600" cy="926592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8388" y="254685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Nordics 7%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49288" y="3105404"/>
            <a:ext cx="355600" cy="694944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8388" y="3357626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Benelux 5%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949288" y="3800348"/>
            <a:ext cx="355600" cy="115824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8388" y="428421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DACH 8%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Small multiples — one panel per brand, shared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79648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4796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58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120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81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32259" y="330461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3662739" y="2981036"/>
            <a:ext cx="366183" cy="3540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98443" y="295055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028923" y="2671233"/>
            <a:ext cx="366183" cy="30980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64626" y="26407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395106" y="2184400"/>
            <a:ext cx="366183" cy="48683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30809" y="2153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2181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553981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553981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53981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2181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122181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122181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122181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539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201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863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525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706593" y="3747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5737073" y="3689158"/>
            <a:ext cx="366183" cy="8851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72776" y="365867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03256" y="3689158"/>
            <a:ext cx="366183" cy="442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38959" y="370293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6469439" y="3556385"/>
            <a:ext cx="366183" cy="17703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805143" y="352590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553981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96514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628314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28314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628314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96514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196514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196514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196514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6283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9944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3606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7268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7780926" y="454382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7811406" y="4308764"/>
            <a:ext cx="366183" cy="265545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147109" y="427828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8177589" y="3954703"/>
            <a:ext cx="366183" cy="3540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13293" y="392422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8543773" y="3290839"/>
            <a:ext cx="366183" cy="663864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879476" y="326035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628314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size legend + quadrant matrix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79600"/>
            <a:ext cx="2781300" cy="12192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4" name="Text 2"/>
          <p:cNvSpPr/>
          <p:nvPr/>
        </p:nvSpPr>
        <p:spPr>
          <a:xfrm>
            <a:off x="35304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marks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260948" y="1879600"/>
            <a:ext cx="2781300" cy="12192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6" name="Text 4"/>
          <p:cNvSpPr/>
          <p:nvPr/>
        </p:nvSpPr>
        <p:spPr>
          <a:xfrm>
            <a:off x="63117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098800"/>
            <a:ext cx="2781300" cy="20320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8" name="Text 6"/>
          <p:cNvSpPr/>
          <p:nvPr/>
        </p:nvSpPr>
        <p:spPr>
          <a:xfrm>
            <a:off x="35304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Dogs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60948" y="3098800"/>
            <a:ext cx="2781300" cy="20320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0" name="Text 8"/>
          <p:cNvSpPr/>
          <p:nvPr/>
        </p:nvSpPr>
        <p:spPr>
          <a:xfrm>
            <a:off x="63117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 cows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260948" y="1879600"/>
            <a:ext cx="0" cy="32512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3479648" y="30988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2873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3998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512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6249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406232" y="1908861"/>
            <a:ext cx="585216" cy="58521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406232" y="1737411"/>
            <a:ext cx="58521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890821" y="2080267"/>
            <a:ext cx="413810" cy="41381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890821" y="1823114"/>
            <a:ext cx="41381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431900" y="3954532"/>
            <a:ext cx="320536" cy="3205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164841" y="2430683"/>
            <a:ext cx="523433" cy="52343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342790" y="3308913"/>
            <a:ext cx="392575" cy="3925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80860" y="1790192"/>
            <a:ext cx="585216" cy="58521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981204" y="2668947"/>
            <a:ext cx="453306" cy="45330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87160" y="2000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713674" y="26098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459911" y="2813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760765" y="34226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777836" y="4032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Datamark axis (Tufte range frame)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51054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165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28848" y="19050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18161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Diverging heatmap (YoY change, 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solidFill>
            <a:srgbClr val="F9E6E6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-2.0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solidFill>
            <a:srgbClr val="6690DB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980267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solidFill>
            <a:srgbClr val="F6D8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-3.0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solidFill>
            <a:srgbClr val="E5EAF7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966633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solidFill>
            <a:srgbClr val="D6DEF2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solidFill>
            <a:srgbClr val="B4C3E9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35" name="Shape 33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36" name="Shape 34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F4CDCC"/>
          </a:solidFill>
          <a:ln/>
        </p:spPr>
      </p:sp>
      <p:sp>
        <p:nvSpPr>
          <p:cNvPr id="37" name="Shape 35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F6D6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F7DEDE"/>
          </a:solidFill>
          <a:ln/>
        </p:spPr>
      </p:sp>
      <p:sp>
        <p:nvSpPr>
          <p:cNvPr id="39" name="Shape 37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F9E7E7"/>
          </a:solidFill>
          <a:ln/>
        </p:spPr>
      </p:sp>
      <p:sp>
        <p:nvSpPr>
          <p:cNvPr id="40" name="Shape 38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FBEFEF"/>
          </a:solidFill>
          <a:ln/>
        </p:spPr>
      </p:sp>
      <p:sp>
        <p:nvSpPr>
          <p:cNvPr id="41" name="Shape 39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FDF6F6"/>
          </a:solidFill>
          <a:ln/>
        </p:spPr>
      </p:sp>
      <p:sp>
        <p:nvSpPr>
          <p:cNvPr id="42" name="Shape 40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FFFDFD"/>
          </a:solidFill>
          <a:ln/>
        </p:spPr>
      </p:sp>
      <p:sp>
        <p:nvSpPr>
          <p:cNvPr id="43" name="Shape 41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F9FAFD"/>
          </a:solidFill>
          <a:ln/>
        </p:spPr>
      </p:sp>
      <p:sp>
        <p:nvSpPr>
          <p:cNvPr id="44" name="Shape 42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5" name="Shape 43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E9EDF8"/>
          </a:solidFill>
          <a:ln/>
        </p:spPr>
      </p:sp>
      <p:sp>
        <p:nvSpPr>
          <p:cNvPr id="46" name="Shape 44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47" name="Shape 45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48" name="Shape 46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49" name="Shape 47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C4CFED"/>
          </a:solidFill>
          <a:ln/>
        </p:spPr>
      </p:sp>
      <p:sp>
        <p:nvSpPr>
          <p:cNvPr id="50" name="Shape 48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B9C7EB"/>
          </a:solidFill>
          <a:ln/>
        </p:spPr>
      </p:sp>
      <p:sp>
        <p:nvSpPr>
          <p:cNvPr id="51" name="Shape 49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ADBEE8"/>
          </a:solidFill>
          <a:ln/>
        </p:spPr>
      </p:sp>
      <p:sp>
        <p:nvSpPr>
          <p:cNvPr id="52" name="Shape 50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53" name="Shape 51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92ABE2"/>
          </a:solidFill>
          <a:ln/>
        </p:spPr>
      </p:sp>
      <p:sp>
        <p:nvSpPr>
          <p:cNvPr id="54" name="Shape 52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55" name="Shape 53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6E94DC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5487D9"/>
          </a:solidFill>
          <a:ln/>
        </p:spPr>
      </p:sp>
      <p:sp>
        <p:nvSpPr>
          <p:cNvPr id="57" name="Shape 55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000348" y="5149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tile map (auto-detected layout)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988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988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DFE6F5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5441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8115941" y="241419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0750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988" dirty="0"/>
          </a:p>
        </p:txBody>
      </p:sp>
      <p:sp>
        <p:nvSpPr>
          <p:cNvPr id="16" name="Text 14"/>
          <p:cNvSpPr/>
          <p:nvPr/>
        </p:nvSpPr>
        <p:spPr>
          <a:xfrm>
            <a:off x="410750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8" name="Text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19" name="Shape 17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0" name="Text 18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988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988" dirty="0"/>
          </a:p>
        </p:txBody>
      </p:sp>
      <p:sp>
        <p:nvSpPr>
          <p:cNvPr id="23" name="Shape 21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4" name="Text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988" dirty="0"/>
          </a:p>
        </p:txBody>
      </p:sp>
      <p:sp>
        <p:nvSpPr>
          <p:cNvPr id="25" name="Shape 23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6" name="Text 24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988" dirty="0"/>
          </a:p>
        </p:txBody>
      </p:sp>
      <p:sp>
        <p:nvSpPr>
          <p:cNvPr id="27" name="Shape 25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96AEE3"/>
          </a:solidFill>
          <a:ln/>
        </p:spPr>
      </p:sp>
      <p:sp>
        <p:nvSpPr>
          <p:cNvPr id="30" name="Text 28"/>
          <p:cNvSpPr/>
          <p:nvPr/>
        </p:nvSpPr>
        <p:spPr>
          <a:xfrm>
            <a:off x="731425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988" dirty="0"/>
          </a:p>
        </p:txBody>
      </p:sp>
      <p:sp>
        <p:nvSpPr>
          <p:cNvPr id="31" name="Text 29"/>
          <p:cNvSpPr/>
          <p:nvPr/>
        </p:nvSpPr>
        <p:spPr>
          <a:xfrm>
            <a:off x="731425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988" dirty="0"/>
          </a:p>
        </p:txBody>
      </p:sp>
      <p:sp>
        <p:nvSpPr>
          <p:cNvPr id="34" name="Shape 32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7" name="Text 35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988" dirty="0"/>
          </a:p>
        </p:txBody>
      </p:sp>
      <p:sp>
        <p:nvSpPr>
          <p:cNvPr id="38" name="Shape 36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9" name="Text 37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988" dirty="0"/>
          </a:p>
        </p:txBody>
      </p:sp>
      <p:sp>
        <p:nvSpPr>
          <p:cNvPr id="40" name="Shape 38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1" name="Text 39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988" dirty="0"/>
          </a:p>
        </p:txBody>
      </p:sp>
      <p:sp>
        <p:nvSpPr>
          <p:cNvPr id="42" name="Shape 40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3" name="Text 41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988" dirty="0"/>
          </a:p>
        </p:txBody>
      </p:sp>
      <p:sp>
        <p:nvSpPr>
          <p:cNvPr id="44" name="Shape 42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5" name="Text 43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988" dirty="0"/>
          </a:p>
        </p:txBody>
      </p:sp>
      <p:sp>
        <p:nvSpPr>
          <p:cNvPr id="46" name="Shape 44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CFD9F1"/>
          </a:solidFill>
          <a:ln/>
        </p:spPr>
      </p:sp>
      <p:sp>
        <p:nvSpPr>
          <p:cNvPr id="47" name="Text 45"/>
          <p:cNvSpPr/>
          <p:nvPr/>
        </p:nvSpPr>
        <p:spPr>
          <a:xfrm>
            <a:off x="6111723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988" dirty="0"/>
          </a:p>
        </p:txBody>
      </p:sp>
      <p:sp>
        <p:nvSpPr>
          <p:cNvPr id="48" name="Text 46"/>
          <p:cNvSpPr/>
          <p:nvPr/>
        </p:nvSpPr>
        <p:spPr>
          <a:xfrm>
            <a:off x="6111723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0" name="Text 48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988" dirty="0"/>
          </a:p>
        </p:txBody>
      </p:sp>
      <p:sp>
        <p:nvSpPr>
          <p:cNvPr id="51" name="Shape 49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2" name="Text 50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988" dirty="0"/>
          </a:p>
        </p:txBody>
      </p:sp>
      <p:sp>
        <p:nvSpPr>
          <p:cNvPr id="53" name="Shape 51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4" name="Text 52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988" dirty="0"/>
          </a:p>
        </p:txBody>
      </p:sp>
      <p:sp>
        <p:nvSpPr>
          <p:cNvPr id="55" name="Shape 53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6" name="Text 54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988" dirty="0"/>
          </a:p>
        </p:txBody>
      </p:sp>
      <p:sp>
        <p:nvSpPr>
          <p:cNvPr id="57" name="Shape 55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706660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988" dirty="0"/>
          </a:p>
        </p:txBody>
      </p:sp>
      <p:sp>
        <p:nvSpPr>
          <p:cNvPr id="59" name="Text 57"/>
          <p:cNvSpPr/>
          <p:nvPr/>
        </p:nvSpPr>
        <p:spPr>
          <a:xfrm>
            <a:off x="3706660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988" dirty="0"/>
          </a:p>
        </p:txBody>
      </p:sp>
      <p:sp>
        <p:nvSpPr>
          <p:cNvPr id="64" name="Shape 62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E9EEF9"/>
          </a:solidFill>
          <a:ln/>
        </p:spPr>
      </p:sp>
      <p:sp>
        <p:nvSpPr>
          <p:cNvPr id="65" name="Text 63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988" dirty="0"/>
          </a:p>
        </p:txBody>
      </p:sp>
      <p:sp>
        <p:nvSpPr>
          <p:cNvPr id="66" name="Text 64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Text 7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9" name="Shape 7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Text 78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81" name="Shape 7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Text 8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988" dirty="0"/>
          </a:p>
        </p:txBody>
      </p:sp>
      <p:sp>
        <p:nvSpPr>
          <p:cNvPr id="83" name="Shape 8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Text 82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988" dirty="0"/>
          </a:p>
        </p:txBody>
      </p:sp>
      <p:sp>
        <p:nvSpPr>
          <p:cNvPr id="85" name="Shape 8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Text 8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988" dirty="0"/>
          </a:p>
        </p:txBody>
      </p:sp>
      <p:sp>
        <p:nvSpPr>
          <p:cNvPr id="87" name="Shape 8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Text 8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988" dirty="0"/>
          </a:p>
        </p:txBody>
      </p:sp>
      <p:sp>
        <p:nvSpPr>
          <p:cNvPr id="89" name="Shape 8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Text 8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988" dirty="0"/>
          </a:p>
        </p:txBody>
      </p:sp>
      <p:sp>
        <p:nvSpPr>
          <p:cNvPr id="91" name="Shape 8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Text 9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988" dirty="0"/>
          </a:p>
        </p:txBody>
      </p:sp>
      <p:sp>
        <p:nvSpPr>
          <p:cNvPr id="93" name="Shape 9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4" name="Text 92"/>
          <p:cNvSpPr/>
          <p:nvPr/>
        </p:nvSpPr>
        <p:spPr>
          <a:xfrm>
            <a:off x="6913410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988" dirty="0"/>
          </a:p>
        </p:txBody>
      </p:sp>
      <p:sp>
        <p:nvSpPr>
          <p:cNvPr id="95" name="Text 93"/>
          <p:cNvSpPr/>
          <p:nvPr/>
        </p:nvSpPr>
        <p:spPr>
          <a:xfrm>
            <a:off x="6913410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87A4E0"/>
          </a:solidFill>
          <a:ln/>
        </p:spPr>
      </p:sp>
      <p:sp>
        <p:nvSpPr>
          <p:cNvPr id="97" name="Text 95"/>
          <p:cNvSpPr/>
          <p:nvPr/>
        </p:nvSpPr>
        <p:spPr>
          <a:xfrm>
            <a:off x="4909191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988" dirty="0"/>
          </a:p>
        </p:txBody>
      </p:sp>
      <p:sp>
        <p:nvSpPr>
          <p:cNvPr id="98" name="Text 96"/>
          <p:cNvSpPr/>
          <p:nvPr/>
        </p:nvSpPr>
        <p:spPr>
          <a:xfrm>
            <a:off x="4909191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Text 98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988" dirty="0"/>
          </a:p>
        </p:txBody>
      </p:sp>
      <p:sp>
        <p:nvSpPr>
          <p:cNvPr id="101" name="Shape 99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Text 100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988" dirty="0"/>
          </a:p>
        </p:txBody>
      </p:sp>
      <p:sp>
        <p:nvSpPr>
          <p:cNvPr id="103" name="Shape 101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105" name="Shape 103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106" name="Text 104"/>
          <p:cNvSpPr/>
          <p:nvPr/>
        </p:nvSpPr>
        <p:spPr>
          <a:xfrm>
            <a:off x="6512566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988" dirty="0"/>
          </a:p>
        </p:txBody>
      </p:sp>
      <p:sp>
        <p:nvSpPr>
          <p:cNvPr id="107" name="Text 105"/>
          <p:cNvSpPr/>
          <p:nvPr/>
        </p:nvSpPr>
        <p:spPr>
          <a:xfrm>
            <a:off x="6512566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9" name="Text 10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988" dirty="0"/>
          </a:p>
        </p:txBody>
      </p:sp>
      <p:sp>
        <p:nvSpPr>
          <p:cNvPr id="110" name="Shape 108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11" name="Text 10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988" dirty="0"/>
          </a:p>
        </p:txBody>
      </p:sp>
      <p:sp>
        <p:nvSpPr>
          <p:cNvPr id="112" name="Shape 110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AEC0E8"/>
          </a:solidFill>
          <a:ln/>
        </p:spPr>
      </p:sp>
      <p:sp>
        <p:nvSpPr>
          <p:cNvPr id="113" name="Text 111"/>
          <p:cNvSpPr/>
          <p:nvPr/>
        </p:nvSpPr>
        <p:spPr>
          <a:xfrm>
            <a:off x="6512566" y="4660503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988" dirty="0"/>
          </a:p>
        </p:txBody>
      </p:sp>
      <p:sp>
        <p:nvSpPr>
          <p:cNvPr id="114" name="Text 112"/>
          <p:cNvSpPr/>
          <p:nvPr/>
        </p:nvSpPr>
        <p:spPr>
          <a:xfrm>
            <a:off x="6512566" y="481925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3706660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770160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833660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897160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960660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024160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087660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51160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214660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278160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341660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05160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468660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532160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595660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59160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722660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786160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49660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13160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6660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40160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103660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167160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Text 137"/>
          <p:cNvSpPr/>
          <p:nvPr/>
        </p:nvSpPr>
        <p:spPr>
          <a:xfrm>
            <a:off x="3706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0" name="Text 138"/>
          <p:cNvSpPr/>
          <p:nvPr/>
        </p:nvSpPr>
        <p:spPr>
          <a:xfrm>
            <a:off x="4468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5357660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2" name="Text 140"/>
          <p:cNvSpPr/>
          <p:nvPr/>
        </p:nvSpPr>
        <p:spPr>
          <a:xfrm>
            <a:off x="5497360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Highlighted max point (per-cell color on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44748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422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 flipV="1">
            <a:off x="3675228" y="294513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8708" y="291465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8188" y="273558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4879188" y="2257044"/>
            <a:ext cx="1203960" cy="6880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9968" y="2213864"/>
            <a:ext cx="86360" cy="863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02148" y="204749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3148" y="2257044"/>
            <a:ext cx="1203960" cy="448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6628" y="26746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6108" y="24955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7287108" y="251307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60588" y="248259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10068" y="230352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line (staircase)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8694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9424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0153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0883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51613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852816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83296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90593" y="29718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0113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90593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97889" y="24384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7409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7889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05186" y="24384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4706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5186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12483" y="19050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82003" y="1874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12483" y="19050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19779" y="1905000"/>
            <a:ext cx="0" cy="2667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889299" y="21412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79648" y="5105400"/>
            <a:ext cx="48437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74228" y="208597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 rate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area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value ticks on both flanks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25606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3563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66392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2777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7178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1991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96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120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48198" y="224282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34023"/>
            <a:ext cx="124348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4282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34023"/>
            <a:ext cx="1125061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4282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848198" y="285496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042178" y="2746163"/>
            <a:ext cx="180601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4042178" y="285496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43498" y="2746163"/>
            <a:ext cx="1924447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6343498" y="285496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848198" y="34671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49426" y="3358303"/>
            <a:ext cx="1598771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249426" y="346710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43498" y="3358303"/>
            <a:ext cx="1776413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6343498" y="346710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848198" y="407924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900778" y="3970443"/>
            <a:ext cx="947420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4900778" y="407924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343498" y="3970443"/>
            <a:ext cx="1213882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6343498" y="407924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848198" y="469138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92915" y="4582583"/>
            <a:ext cx="355282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492915" y="469138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343498" y="4582583"/>
            <a:ext cx="473710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7" name="Text 35"/>
          <p:cNvSpPr/>
          <p:nvPr/>
        </p:nvSpPr>
        <p:spPr>
          <a:xfrm>
            <a:off x="6343498" y="469138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8481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34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322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1275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504016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71973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44802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31187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385588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790401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2637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84961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overlap (Excel-style, 45%)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588706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43416" y="3065145"/>
            <a:ext cx="588706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592616" y="399002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588706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41686" y="2905125"/>
            <a:ext cx="588706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4990886" y="391001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588706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39956" y="2785110"/>
            <a:ext cx="588706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389156" y="385000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588706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838226" y="2305050"/>
            <a:ext cx="588706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787426" y="360997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Narrow gap width (histogram look, gapWidth 0)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073248" y="4411641"/>
            <a:ext cx="12954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22448" y="4663271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073248" y="3962739"/>
            <a:ext cx="12954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22448" y="40919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73248" y="3595455"/>
            <a:ext cx="12954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22448" y="368384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68648" y="4289213"/>
            <a:ext cx="12954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17848" y="460205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68648" y="3758692"/>
            <a:ext cx="12954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17848" y="3928703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68648" y="3411813"/>
            <a:ext cx="12954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17848" y="349000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4048" y="4146381"/>
            <a:ext cx="12954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13248" y="45306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4048" y="3513836"/>
            <a:ext cx="12954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13248" y="3734858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4048" y="3126147"/>
            <a:ext cx="12954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13248" y="322474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959448" y="3962739"/>
            <a:ext cx="12954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08648" y="4438819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59448" y="3248575"/>
            <a:ext cx="12954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08648" y="351040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959448" y="2799673"/>
            <a:ext cx="12954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08648" y="2928874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with negative values (net income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46532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755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713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672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631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4589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77581" y="3073146"/>
            <a:ext cx="39511" cy="7627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910742" y="3105150"/>
            <a:ext cx="39511" cy="752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943903" y="3137154"/>
            <a:ext cx="39511" cy="7414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977064" y="3169158"/>
            <a:ext cx="39511" cy="730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010225" y="3201162"/>
            <a:ext cx="39511" cy="720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043386" y="3233166"/>
            <a:ext cx="39511" cy="7094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076548" y="3265170"/>
            <a:ext cx="39511" cy="6987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109709" y="3297174"/>
            <a:ext cx="39511" cy="6880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42870" y="3329178"/>
            <a:ext cx="39511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176031" y="3361182"/>
            <a:ext cx="39511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209192" y="3393186"/>
            <a:ext cx="39511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242353" y="3425190"/>
            <a:ext cx="39511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275514" y="3457194"/>
            <a:ext cx="39511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308675" y="3489198"/>
            <a:ext cx="39511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341836" y="3521202"/>
            <a:ext cx="39511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374998" y="3553206"/>
            <a:ext cx="39511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408159" y="3585210"/>
            <a:ext cx="39511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1320" y="3617214"/>
            <a:ext cx="39511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474481" y="3649218"/>
            <a:ext cx="39511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507642" y="3681222"/>
            <a:ext cx="39511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540803" y="3713226"/>
            <a:ext cx="39511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573964" y="3745230"/>
            <a:ext cx="39511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607125" y="3777234"/>
            <a:ext cx="39511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4640286" y="3809238"/>
            <a:ext cx="39511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4673448" y="3825240"/>
            <a:ext cx="39511" cy="5213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4706609" y="3825240"/>
            <a:ext cx="39511" cy="5400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739770" y="3825240"/>
            <a:ext cx="39511" cy="5587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772931" y="3825240"/>
            <a:ext cx="39511" cy="577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806092" y="3825240"/>
            <a:ext cx="39511" cy="596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4839253" y="3825240"/>
            <a:ext cx="39511" cy="614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4872414" y="3825240"/>
            <a:ext cx="39511" cy="6334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4905575" y="3825240"/>
            <a:ext cx="39511" cy="652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4938736" y="3825240"/>
            <a:ext cx="39511" cy="6707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4971898" y="3825240"/>
            <a:ext cx="39511" cy="6894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005059" y="3825240"/>
            <a:ext cx="39511" cy="7080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038220" y="3825240"/>
            <a:ext cx="39511" cy="726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071381" y="3825240"/>
            <a:ext cx="39511" cy="7454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104542" y="3825240"/>
            <a:ext cx="39511" cy="7640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137703" y="3825240"/>
            <a:ext cx="39511" cy="7827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70864" y="3825240"/>
            <a:ext cx="39511" cy="8014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204025" y="3825240"/>
            <a:ext cx="39511" cy="8201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237186" y="3825240"/>
            <a:ext cx="39511" cy="8387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270348" y="3825240"/>
            <a:ext cx="39511" cy="8574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303509" y="3825240"/>
            <a:ext cx="39511" cy="8761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5336670" y="3825240"/>
            <a:ext cx="39511" cy="8947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5369831" y="3825240"/>
            <a:ext cx="39511" cy="9134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5402992" y="3825240"/>
            <a:ext cx="39511" cy="9321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5436153" y="3825240"/>
            <a:ext cx="39511" cy="9507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5469314" y="3819906"/>
            <a:ext cx="39511" cy="9454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502475" y="3809238"/>
            <a:ext cx="39511" cy="9161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535636" y="3798570"/>
            <a:ext cx="39511" cy="8867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568798" y="3787902"/>
            <a:ext cx="39511" cy="8574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5601959" y="3777234"/>
            <a:ext cx="39511" cy="8281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5635120" y="3766566"/>
            <a:ext cx="39511" cy="7987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5668281" y="3755898"/>
            <a:ext cx="39511" cy="7694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5701442" y="3745230"/>
            <a:ext cx="39511" cy="740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5734603" y="3734562"/>
            <a:ext cx="39511" cy="7107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5767764" y="3723894"/>
            <a:ext cx="39511" cy="6814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5800925" y="3713226"/>
            <a:ext cx="39511" cy="652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5834086" y="3702558"/>
            <a:ext cx="39511" cy="622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5867248" y="3691890"/>
            <a:ext cx="39511" cy="5934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5900409" y="3681222"/>
            <a:ext cx="39511" cy="564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5933570" y="3670554"/>
            <a:ext cx="39511" cy="5347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5966731" y="3659886"/>
            <a:ext cx="39511" cy="5053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5999892" y="3649218"/>
            <a:ext cx="39511" cy="476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033053" y="3638550"/>
            <a:ext cx="39511" cy="4467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066214" y="3627882"/>
            <a:ext cx="39511" cy="4173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099375" y="3617214"/>
            <a:ext cx="39511" cy="3880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6132536" y="3606546"/>
            <a:ext cx="39511" cy="3587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6165698" y="3595878"/>
            <a:ext cx="39511" cy="329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6198859" y="3585210"/>
            <a:ext cx="39511" cy="3000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6232020" y="3574542"/>
            <a:ext cx="39511" cy="2707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6265181" y="3550539"/>
            <a:ext cx="39511" cy="2747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6298342" y="3513201"/>
            <a:ext cx="39511" cy="3120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6331503" y="3475863"/>
            <a:ext cx="39511" cy="3493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6364664" y="3438525"/>
            <a:ext cx="39511" cy="3867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6397825" y="3401187"/>
            <a:ext cx="39511" cy="4240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6430986" y="3363849"/>
            <a:ext cx="39511" cy="4613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6464148" y="3326511"/>
            <a:ext cx="39511" cy="4987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6497309" y="3289173"/>
            <a:ext cx="39511" cy="5360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6530470" y="3251835"/>
            <a:ext cx="39511" cy="5734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6563631" y="3214497"/>
            <a:ext cx="39511" cy="6107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596792" y="3177159"/>
            <a:ext cx="39511" cy="648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953" y="3139821"/>
            <a:ext cx="39511" cy="6854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6663114" y="3102483"/>
            <a:ext cx="39511" cy="7227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6696275" y="3065145"/>
            <a:ext cx="39511" cy="7600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6729436" y="3027807"/>
            <a:ext cx="39511" cy="7974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6762598" y="2990469"/>
            <a:ext cx="39511" cy="834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795759" y="2953131"/>
            <a:ext cx="39511" cy="87210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828920" y="2915793"/>
            <a:ext cx="39511" cy="909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862081" y="2878455"/>
            <a:ext cx="39511" cy="9467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895242" y="2841117"/>
            <a:ext cx="39511" cy="9841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928403" y="2803779"/>
            <a:ext cx="39511" cy="102146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961564" y="2766441"/>
            <a:ext cx="39511" cy="10587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6994725" y="2729103"/>
            <a:ext cx="39511" cy="109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7027886" y="2691765"/>
            <a:ext cx="39511" cy="11334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061048" y="2662428"/>
            <a:ext cx="39511" cy="1162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7094209" y="2641092"/>
            <a:ext cx="39511" cy="1184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127370" y="2619756"/>
            <a:ext cx="39511" cy="12054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7160531" y="2598420"/>
            <a:ext cx="39511" cy="12268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7193692" y="2577084"/>
            <a:ext cx="39511" cy="12481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7226853" y="2555748"/>
            <a:ext cx="39511" cy="12694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2" name="Shape 120"/>
          <p:cNvSpPr/>
          <p:nvPr/>
        </p:nvSpPr>
        <p:spPr>
          <a:xfrm>
            <a:off x="7260014" y="2534412"/>
            <a:ext cx="39511" cy="12908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3" name="Shape 121"/>
          <p:cNvSpPr/>
          <p:nvPr/>
        </p:nvSpPr>
        <p:spPr>
          <a:xfrm>
            <a:off x="7293175" y="2513076"/>
            <a:ext cx="39511" cy="13121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4" name="Shape 122"/>
          <p:cNvSpPr/>
          <p:nvPr/>
        </p:nvSpPr>
        <p:spPr>
          <a:xfrm>
            <a:off x="7326336" y="2491740"/>
            <a:ext cx="39511" cy="13335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7359498" y="2470404"/>
            <a:ext cx="39511" cy="13548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6" name="Shape 124"/>
          <p:cNvSpPr/>
          <p:nvPr/>
        </p:nvSpPr>
        <p:spPr>
          <a:xfrm>
            <a:off x="7392659" y="2449068"/>
            <a:ext cx="39511" cy="1376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7" name="Shape 125"/>
          <p:cNvSpPr/>
          <p:nvPr/>
        </p:nvSpPr>
        <p:spPr>
          <a:xfrm>
            <a:off x="7425820" y="2427732"/>
            <a:ext cx="39511" cy="13975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8" name="Shape 126"/>
          <p:cNvSpPr/>
          <p:nvPr/>
        </p:nvSpPr>
        <p:spPr>
          <a:xfrm>
            <a:off x="7458981" y="2406396"/>
            <a:ext cx="39511" cy="14188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9" name="Shape 127"/>
          <p:cNvSpPr/>
          <p:nvPr/>
        </p:nvSpPr>
        <p:spPr>
          <a:xfrm>
            <a:off x="7492142" y="2385060"/>
            <a:ext cx="39511" cy="14401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Shape 128"/>
          <p:cNvSpPr/>
          <p:nvPr/>
        </p:nvSpPr>
        <p:spPr>
          <a:xfrm>
            <a:off x="7525303" y="2363724"/>
            <a:ext cx="39511" cy="146151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1" name="Shape 129"/>
          <p:cNvSpPr/>
          <p:nvPr/>
        </p:nvSpPr>
        <p:spPr>
          <a:xfrm>
            <a:off x="7558464" y="2342388"/>
            <a:ext cx="39511" cy="1482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2" name="Shape 130"/>
          <p:cNvSpPr/>
          <p:nvPr/>
        </p:nvSpPr>
        <p:spPr>
          <a:xfrm>
            <a:off x="7591625" y="2321052"/>
            <a:ext cx="39511" cy="15041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3" name="Shape 131"/>
          <p:cNvSpPr/>
          <p:nvPr/>
        </p:nvSpPr>
        <p:spPr>
          <a:xfrm>
            <a:off x="7624786" y="2299716"/>
            <a:ext cx="39511" cy="15255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4" name="Shape 132"/>
          <p:cNvSpPr/>
          <p:nvPr/>
        </p:nvSpPr>
        <p:spPr>
          <a:xfrm>
            <a:off x="7657948" y="2278380"/>
            <a:ext cx="39511" cy="15468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5" name="Shape 133"/>
          <p:cNvSpPr/>
          <p:nvPr/>
        </p:nvSpPr>
        <p:spPr>
          <a:xfrm>
            <a:off x="7691109" y="2257044"/>
            <a:ext cx="39511" cy="15681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6" name="Shape 134"/>
          <p:cNvSpPr/>
          <p:nvPr/>
        </p:nvSpPr>
        <p:spPr>
          <a:xfrm>
            <a:off x="7724270" y="2235708"/>
            <a:ext cx="39511" cy="15895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757431" y="2214372"/>
            <a:ext cx="39511" cy="16108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8" name="Shape 136"/>
          <p:cNvSpPr/>
          <p:nvPr/>
        </p:nvSpPr>
        <p:spPr>
          <a:xfrm>
            <a:off x="7790592" y="2193036"/>
            <a:ext cx="39511" cy="16322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823753" y="2171700"/>
            <a:ext cx="39511" cy="16535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479648" y="382524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8305648" y="290741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income</a:t>
            </a:r>
            <a:endParaRPr lang="en-US" sz="10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Trajectory trail (one entity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8832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33848" y="3911600"/>
            <a:ext cx="741680" cy="1625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6120000">
            <a:off x="5653888" y="394208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1" name="Shape 19"/>
          <p:cNvSpPr/>
          <p:nvPr/>
        </p:nvSpPr>
        <p:spPr>
          <a:xfrm flipV="1">
            <a:off x="6075528" y="3505200"/>
            <a:ext cx="463550" cy="5689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2340000">
            <a:off x="6256503" y="373888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3" name="Shape 21"/>
          <p:cNvSpPr/>
          <p:nvPr/>
        </p:nvSpPr>
        <p:spPr>
          <a:xfrm>
            <a:off x="6539078" y="3505200"/>
            <a:ext cx="1112520" cy="8128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5640000">
            <a:off x="7044538" y="349504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5" name="Shape 23"/>
          <p:cNvSpPr/>
          <p:nvPr/>
        </p:nvSpPr>
        <p:spPr>
          <a:xfrm flipV="1">
            <a:off x="7651598" y="2895600"/>
            <a:ext cx="648970" cy="69088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2580000">
            <a:off x="7925283" y="319024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7" name="Shape 25"/>
          <p:cNvSpPr/>
          <p:nvPr/>
        </p:nvSpPr>
        <p:spPr>
          <a:xfrm flipV="1">
            <a:off x="8300568" y="2367280"/>
            <a:ext cx="741680" cy="52832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3300000">
            <a:off x="8620608" y="258064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9" name="Shape 27"/>
          <p:cNvSpPr/>
          <p:nvPr/>
        </p:nvSpPr>
        <p:spPr>
          <a:xfrm>
            <a:off x="5295748" y="38735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37428" y="40360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500978" y="34671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13498" y="35483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62468" y="28575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004148" y="23291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97348" y="3829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2019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139028" y="399161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602578" y="34226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715098" y="350393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64068" y="2813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679028" y="228473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with jittered raw-data dots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18516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1851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58540"/>
            <a:ext cx="1029123" cy="48006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9334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78869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87696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73224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58752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67578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53106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6193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47461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32989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86348" y="254508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86348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54795" y="382524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71786" y="2918460"/>
            <a:ext cx="1029123" cy="6934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1786" y="339852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4475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05000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58829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44357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29885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38712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24240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633066" y="29527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318594" y="27393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004122" y="25260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71786" y="320802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157481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642919" y="3825240"/>
            <a:ext cx="1029123" cy="4267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235608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921136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429963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11549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801018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309845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995373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504199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189727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875255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Continuous color scale (a Color row)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36750"/>
            <a:ext cx="53975" cy="88900"/>
          </a:xfrm>
          <a:prstGeom prst="rect">
            <a:avLst/>
          </a:prstGeom>
          <a:solidFill>
            <a:srgbClr val="EFF2FA"/>
          </a:solidFill>
          <a:ln/>
        </p:spPr>
      </p:sp>
      <p:sp>
        <p:nvSpPr>
          <p:cNvPr id="21" name="Shape 19"/>
          <p:cNvSpPr/>
          <p:nvPr/>
        </p:nvSpPr>
        <p:spPr>
          <a:xfrm>
            <a:off x="3527273" y="1936750"/>
            <a:ext cx="53975" cy="88900"/>
          </a:xfrm>
          <a:prstGeom prst="rect">
            <a:avLst/>
          </a:prstGeom>
          <a:solidFill>
            <a:srgbClr val="EAEFF9"/>
          </a:solidFill>
          <a:ln/>
        </p:spPr>
      </p:sp>
      <p:sp>
        <p:nvSpPr>
          <p:cNvPr id="22" name="Shape 20"/>
          <p:cNvSpPr/>
          <p:nvPr/>
        </p:nvSpPr>
        <p:spPr>
          <a:xfrm>
            <a:off x="3574898" y="1936750"/>
            <a:ext cx="53975" cy="88900"/>
          </a:xfrm>
          <a:prstGeom prst="rect">
            <a:avLst/>
          </a:prstGeom>
          <a:solidFill>
            <a:srgbClr val="E6EBF7"/>
          </a:solidFill>
          <a:ln/>
        </p:spPr>
      </p:sp>
      <p:sp>
        <p:nvSpPr>
          <p:cNvPr id="23" name="Shape 21"/>
          <p:cNvSpPr/>
          <p:nvPr/>
        </p:nvSpPr>
        <p:spPr>
          <a:xfrm>
            <a:off x="3622523" y="1936750"/>
            <a:ext cx="53975" cy="88900"/>
          </a:xfrm>
          <a:prstGeom prst="rect">
            <a:avLst/>
          </a:prstGeom>
          <a:solidFill>
            <a:srgbClr val="E1E7F6"/>
          </a:solidFill>
          <a:ln/>
        </p:spPr>
      </p:sp>
      <p:sp>
        <p:nvSpPr>
          <p:cNvPr id="24" name="Shape 22"/>
          <p:cNvSpPr/>
          <p:nvPr/>
        </p:nvSpPr>
        <p:spPr>
          <a:xfrm>
            <a:off x="3670148" y="1936750"/>
            <a:ext cx="53975" cy="88900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25" name="Shape 23"/>
          <p:cNvSpPr/>
          <p:nvPr/>
        </p:nvSpPr>
        <p:spPr>
          <a:xfrm>
            <a:off x="3717773" y="1936750"/>
            <a:ext cx="53975" cy="889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26" name="Shape 24"/>
          <p:cNvSpPr/>
          <p:nvPr/>
        </p:nvSpPr>
        <p:spPr>
          <a:xfrm>
            <a:off x="3765398" y="1936750"/>
            <a:ext cx="53975" cy="88900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27" name="Shape 25"/>
          <p:cNvSpPr/>
          <p:nvPr/>
        </p:nvSpPr>
        <p:spPr>
          <a:xfrm>
            <a:off x="3813023" y="1936750"/>
            <a:ext cx="53975" cy="88900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8" name="Shape 26"/>
          <p:cNvSpPr/>
          <p:nvPr/>
        </p:nvSpPr>
        <p:spPr>
          <a:xfrm>
            <a:off x="3860648" y="1936750"/>
            <a:ext cx="53975" cy="88900"/>
          </a:xfrm>
          <a:prstGeom prst="rect">
            <a:avLst/>
          </a:prstGeom>
          <a:solidFill>
            <a:srgbClr val="C8D3EF"/>
          </a:solidFill>
          <a:ln/>
        </p:spPr>
      </p:sp>
      <p:sp>
        <p:nvSpPr>
          <p:cNvPr id="29" name="Shape 27"/>
          <p:cNvSpPr/>
          <p:nvPr/>
        </p:nvSpPr>
        <p:spPr>
          <a:xfrm>
            <a:off x="3908273" y="1936750"/>
            <a:ext cx="53975" cy="88900"/>
          </a:xfrm>
          <a:prstGeom prst="rect">
            <a:avLst/>
          </a:prstGeom>
          <a:solidFill>
            <a:srgbClr val="C2CFED"/>
          </a:solidFill>
          <a:ln/>
        </p:spPr>
      </p:sp>
      <p:sp>
        <p:nvSpPr>
          <p:cNvPr id="30" name="Shape 28"/>
          <p:cNvSpPr/>
          <p:nvPr/>
        </p:nvSpPr>
        <p:spPr>
          <a:xfrm>
            <a:off x="3955898" y="1936750"/>
            <a:ext cx="53975" cy="88900"/>
          </a:xfrm>
          <a:prstGeom prst="rect">
            <a:avLst/>
          </a:prstGeom>
          <a:solidFill>
            <a:srgbClr val="BCCAEC"/>
          </a:solidFill>
          <a:ln/>
        </p:spPr>
      </p:sp>
      <p:sp>
        <p:nvSpPr>
          <p:cNvPr id="31" name="Shape 29"/>
          <p:cNvSpPr/>
          <p:nvPr/>
        </p:nvSpPr>
        <p:spPr>
          <a:xfrm>
            <a:off x="4003523" y="1936750"/>
            <a:ext cx="53975" cy="88900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32" name="Shape 30"/>
          <p:cNvSpPr/>
          <p:nvPr/>
        </p:nvSpPr>
        <p:spPr>
          <a:xfrm>
            <a:off x="4051148" y="1936750"/>
            <a:ext cx="53975" cy="889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098773" y="1936750"/>
            <a:ext cx="53975" cy="88900"/>
          </a:xfrm>
          <a:prstGeom prst="rect">
            <a:avLst/>
          </a:prstGeom>
          <a:solidFill>
            <a:srgbClr val="A9BCE7"/>
          </a:solidFill>
          <a:ln/>
        </p:spPr>
      </p:sp>
      <p:sp>
        <p:nvSpPr>
          <p:cNvPr id="34" name="Shape 32"/>
          <p:cNvSpPr/>
          <p:nvPr/>
        </p:nvSpPr>
        <p:spPr>
          <a:xfrm>
            <a:off x="4146398" y="1936750"/>
            <a:ext cx="53975" cy="88900"/>
          </a:xfrm>
          <a:prstGeom prst="rect">
            <a:avLst/>
          </a:prstGeom>
          <a:solidFill>
            <a:srgbClr val="A2B7E6"/>
          </a:solidFill>
          <a:ln/>
        </p:spPr>
      </p:sp>
      <p:sp>
        <p:nvSpPr>
          <p:cNvPr id="35" name="Shape 33"/>
          <p:cNvSpPr/>
          <p:nvPr/>
        </p:nvSpPr>
        <p:spPr>
          <a:xfrm>
            <a:off x="4194023" y="1936750"/>
            <a:ext cx="53975" cy="88900"/>
          </a:xfrm>
          <a:prstGeom prst="rect">
            <a:avLst/>
          </a:prstGeom>
          <a:solidFill>
            <a:srgbClr val="9BB1E4"/>
          </a:solidFill>
          <a:ln/>
        </p:spPr>
      </p:sp>
      <p:sp>
        <p:nvSpPr>
          <p:cNvPr id="36" name="Shape 34"/>
          <p:cNvSpPr/>
          <p:nvPr/>
        </p:nvSpPr>
        <p:spPr>
          <a:xfrm>
            <a:off x="4241648" y="1936750"/>
            <a:ext cx="53975" cy="88900"/>
          </a:xfrm>
          <a:prstGeom prst="rect">
            <a:avLst/>
          </a:prstGeom>
          <a:solidFill>
            <a:srgbClr val="93ACE2"/>
          </a:solidFill>
          <a:ln/>
        </p:spPr>
      </p:sp>
      <p:sp>
        <p:nvSpPr>
          <p:cNvPr id="37" name="Shape 35"/>
          <p:cNvSpPr/>
          <p:nvPr/>
        </p:nvSpPr>
        <p:spPr>
          <a:xfrm>
            <a:off x="4289273" y="1936750"/>
            <a:ext cx="53975" cy="88900"/>
          </a:xfrm>
          <a:prstGeom prst="rect">
            <a:avLst/>
          </a:prstGeom>
          <a:solidFill>
            <a:srgbClr val="8AA6E1"/>
          </a:solidFill>
          <a:ln/>
        </p:spPr>
      </p:sp>
      <p:sp>
        <p:nvSpPr>
          <p:cNvPr id="38" name="Shape 36"/>
          <p:cNvSpPr/>
          <p:nvPr/>
        </p:nvSpPr>
        <p:spPr>
          <a:xfrm>
            <a:off x="4336898" y="1936750"/>
            <a:ext cx="53975" cy="889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39" name="Shape 37"/>
          <p:cNvSpPr/>
          <p:nvPr/>
        </p:nvSpPr>
        <p:spPr>
          <a:xfrm>
            <a:off x="4384523" y="1936750"/>
            <a:ext cx="53975" cy="88900"/>
          </a:xfrm>
          <a:prstGeom prst="rect">
            <a:avLst/>
          </a:prstGeom>
          <a:solidFill>
            <a:srgbClr val="779ADE"/>
          </a:solidFill>
          <a:ln/>
        </p:spPr>
      </p:sp>
      <p:sp>
        <p:nvSpPr>
          <p:cNvPr id="40" name="Shape 38"/>
          <p:cNvSpPr/>
          <p:nvPr/>
        </p:nvSpPr>
        <p:spPr>
          <a:xfrm>
            <a:off x="4432148" y="1936750"/>
            <a:ext cx="53975" cy="88900"/>
          </a:xfrm>
          <a:prstGeom prst="rect">
            <a:avLst/>
          </a:prstGeom>
          <a:solidFill>
            <a:srgbClr val="6B93DC"/>
          </a:solidFill>
          <a:ln/>
        </p:spPr>
      </p:sp>
      <p:sp>
        <p:nvSpPr>
          <p:cNvPr id="41" name="Shape 39"/>
          <p:cNvSpPr/>
          <p:nvPr/>
        </p:nvSpPr>
        <p:spPr>
          <a:xfrm>
            <a:off x="4479773" y="1936750"/>
            <a:ext cx="53975" cy="88900"/>
          </a:xfrm>
          <a:prstGeom prst="rect">
            <a:avLst/>
          </a:prstGeom>
          <a:solidFill>
            <a:srgbClr val="5E8CDA"/>
          </a:solidFill>
          <a:ln/>
        </p:spPr>
      </p:sp>
      <p:sp>
        <p:nvSpPr>
          <p:cNvPr id="42" name="Shape 40"/>
          <p:cNvSpPr/>
          <p:nvPr/>
        </p:nvSpPr>
        <p:spPr>
          <a:xfrm>
            <a:off x="4527398" y="1936750"/>
            <a:ext cx="53975" cy="88900"/>
          </a:xfrm>
          <a:prstGeom prst="rect">
            <a:avLst/>
          </a:prstGeom>
          <a:solidFill>
            <a:srgbClr val="4E84D9"/>
          </a:solidFill>
          <a:ln/>
        </p:spPr>
      </p:sp>
      <p:sp>
        <p:nvSpPr>
          <p:cNvPr id="43" name="Shape 41"/>
          <p:cNvSpPr/>
          <p:nvPr/>
        </p:nvSpPr>
        <p:spPr>
          <a:xfrm>
            <a:off x="4575023" y="1936750"/>
            <a:ext cx="53975" cy="88900"/>
          </a:xfrm>
          <a:prstGeom prst="rect">
            <a:avLst/>
          </a:prstGeom>
          <a:solidFill>
            <a:srgbClr val="397CD7"/>
          </a:solidFill>
          <a:ln/>
        </p:spPr>
      </p:sp>
      <p:sp>
        <p:nvSpPr>
          <p:cNvPr id="44" name="Text 42"/>
          <p:cNvSpPr/>
          <p:nvPr/>
        </p:nvSpPr>
        <p:spPr>
          <a:xfrm>
            <a:off x="2971648" y="1917700"/>
            <a:ext cx="4826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Color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D6DE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BBC9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A5B9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7C9D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E2E8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C4D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Smoothed line (Catmull-Rom)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49993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0339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790685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61030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31376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101722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864820" y="4267331"/>
            <a:ext cx="26988" cy="3796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891809" y="4217203"/>
            <a:ext cx="32443" cy="501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24251" y="4156820"/>
            <a:ext cx="37332" cy="6038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61584" y="4088085"/>
            <a:ext cx="41658" cy="6873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003242" y="4012905"/>
            <a:ext cx="45420" cy="751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048662" y="3933183"/>
            <a:ext cx="48617" cy="7972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097278" y="3850824"/>
            <a:ext cx="51250" cy="82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148528" y="3767733"/>
            <a:ext cx="53319" cy="830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4201847" y="3685813"/>
            <a:ext cx="54823" cy="8191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4256670" y="3606971"/>
            <a:ext cx="55764" cy="7884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4312433" y="3533109"/>
            <a:ext cx="56140" cy="7386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4368573" y="3466133"/>
            <a:ext cx="55952" cy="669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4424525" y="3407947"/>
            <a:ext cx="55199" cy="581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4479724" y="3360455"/>
            <a:ext cx="53883" cy="474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4533607" y="3325563"/>
            <a:ext cx="52002" cy="34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4585609" y="3305175"/>
            <a:ext cx="49557" cy="203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V="1">
            <a:off x="4635166" y="3301659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683313" y="3301659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31459" y="3314551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79606" y="3341508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27753" y="3380184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75899" y="3428237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924046" y="3483322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72192" y="3543095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0339" y="3605213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068486" y="3667330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116632" y="3727103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64779" y="3782188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212925" y="3830241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261072" y="3868917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309219" y="3895874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5357365" y="3905250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5405512" y="3883763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5453658" y="3845868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5501805" y="3793908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5549952" y="3730228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5598098" y="3657172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646245" y="3577084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5694392" y="3492308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5742538" y="3405188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5790685" y="3318067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5838831" y="3233291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5886978" y="3153203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5935125" y="3080147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V="1">
            <a:off x="5983271" y="3016467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6031418" y="2964507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6079564" y="2926612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6127711" y="2905125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6175858" y="2901389"/>
            <a:ext cx="48147" cy="373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224004" y="2901389"/>
            <a:ext cx="48147" cy="122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272151" y="2913681"/>
            <a:ext cx="48147" cy="2606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320297" y="2939744"/>
            <a:ext cx="48147" cy="375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368444" y="2977322"/>
            <a:ext cx="48147" cy="4683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416591" y="3024158"/>
            <a:ext cx="48147" cy="538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464737" y="3077998"/>
            <a:ext cx="48147" cy="585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512884" y="3136585"/>
            <a:ext cx="48147" cy="610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561030" y="3197662"/>
            <a:ext cx="48147" cy="613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609177" y="3258973"/>
            <a:ext cx="48147" cy="5929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657324" y="3318263"/>
            <a:ext cx="48147" cy="5501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705470" y="3373274"/>
            <a:ext cx="48147" cy="484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753617" y="3421752"/>
            <a:ext cx="48147" cy="396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801763" y="3461440"/>
            <a:ext cx="48147" cy="2864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849910" y="3490081"/>
            <a:ext cx="48147" cy="1533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V="1">
            <a:off x="6898057" y="3505200"/>
            <a:ext cx="48147" cy="2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V="1">
            <a:off x="6946203" y="3488211"/>
            <a:ext cx="48147" cy="169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V="1">
            <a:off x="6994350" y="3456170"/>
            <a:ext cx="48147" cy="32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V="1">
            <a:off x="7042497" y="3411219"/>
            <a:ext cx="48147" cy="4495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V="1">
            <a:off x="7090643" y="3355494"/>
            <a:ext cx="48147" cy="557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V="1">
            <a:off x="7138790" y="3291135"/>
            <a:ext cx="48147" cy="64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7186936" y="3220282"/>
            <a:ext cx="48147" cy="7085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7235083" y="3145072"/>
            <a:ext cx="48147" cy="7521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V="1">
            <a:off x="7283230" y="3067645"/>
            <a:ext cx="48147" cy="7742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V="1">
            <a:off x="7331376" y="2990141"/>
            <a:ext cx="48147" cy="7750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V="1">
            <a:off x="7379523" y="2914697"/>
            <a:ext cx="48147" cy="754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V="1">
            <a:off x="7427669" y="2843452"/>
            <a:ext cx="48147" cy="712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V="1">
            <a:off x="7475816" y="2778547"/>
            <a:ext cx="48147" cy="6490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 flipV="1">
            <a:off x="7523963" y="2722119"/>
            <a:ext cx="48147" cy="564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 flipV="1">
            <a:off x="7572109" y="2676307"/>
            <a:ext cx="48147" cy="458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 flipV="1">
            <a:off x="7620256" y="2643251"/>
            <a:ext cx="48147" cy="3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 flipV="1">
            <a:off x="7668402" y="2625090"/>
            <a:ext cx="48147" cy="181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 flipV="1">
            <a:off x="7716549" y="2621564"/>
            <a:ext cx="49557" cy="352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766106" y="2621564"/>
            <a:ext cx="52002" cy="844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818108" y="2630012"/>
            <a:ext cx="53883" cy="1895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871991" y="2648970"/>
            <a:ext cx="55199" cy="2800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927190" y="2676971"/>
            <a:ext cx="55952" cy="3558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983142" y="2712552"/>
            <a:ext cx="56140" cy="416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039282" y="2754247"/>
            <a:ext cx="55764" cy="463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95045" y="2800590"/>
            <a:ext cx="54823" cy="495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868" y="2850118"/>
            <a:ext cx="53319" cy="5124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203187" y="2901365"/>
            <a:ext cx="51250" cy="5150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254437" y="2952865"/>
            <a:ext cx="48617" cy="502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303054" y="3003155"/>
            <a:ext cx="45420" cy="4761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348473" y="3050768"/>
            <a:ext cx="41658" cy="4347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390131" y="3094240"/>
            <a:ext cx="37332" cy="3786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427464" y="3132106"/>
            <a:ext cx="32443" cy="307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8459906" y="3162901"/>
            <a:ext cx="26988" cy="222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834340" y="42748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4604686" y="327469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375032" y="387477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4537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915723" y="34747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686069" y="259461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8456415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 flipV="1">
            <a:off x="3864820" y="4495441"/>
            <a:ext cx="26988" cy="98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 flipV="1">
            <a:off x="3891809" y="4483447"/>
            <a:ext cx="32443" cy="1199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 flipV="1">
            <a:off x="3924251" y="4469578"/>
            <a:ext cx="37332" cy="138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 flipV="1">
            <a:off x="3961584" y="4454069"/>
            <a:ext cx="41658" cy="155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 flipV="1">
            <a:off x="4003242" y="4437152"/>
            <a:ext cx="45420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 flipV="1">
            <a:off x="4048662" y="4419064"/>
            <a:ext cx="48617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 flipV="1">
            <a:off x="4097278" y="4400038"/>
            <a:ext cx="51250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 flipV="1">
            <a:off x="4148528" y="4380309"/>
            <a:ext cx="5331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 flipV="1">
            <a:off x="4201847" y="4360112"/>
            <a:ext cx="54823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 flipV="1">
            <a:off x="4256670" y="4339679"/>
            <a:ext cx="55764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 flipV="1">
            <a:off x="4312433" y="4319247"/>
            <a:ext cx="56140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 flipV="1">
            <a:off x="4368573" y="4299049"/>
            <a:ext cx="55952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 flipV="1">
            <a:off x="4424525" y="4279320"/>
            <a:ext cx="5519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 flipV="1">
            <a:off x="4479724" y="4260294"/>
            <a:ext cx="53883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 flipV="1">
            <a:off x="4533607" y="4242206"/>
            <a:ext cx="52002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585609" y="4225290"/>
            <a:ext cx="49557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4635166" y="4208603"/>
            <a:ext cx="48147" cy="1668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4683313" y="4191184"/>
            <a:ext cx="48147" cy="174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 flipV="1">
            <a:off x="4731459" y="4173238"/>
            <a:ext cx="48147" cy="179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 flipV="1">
            <a:off x="4779606" y="4154969"/>
            <a:ext cx="48147" cy="182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 flipV="1">
            <a:off x="4827753" y="4136583"/>
            <a:ext cx="48147" cy="183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 flipV="1">
            <a:off x="4875899" y="4118284"/>
            <a:ext cx="48147" cy="182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 flipV="1">
            <a:off x="4924046" y="4100279"/>
            <a:ext cx="48147" cy="18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 flipV="1">
            <a:off x="4972192" y="4082772"/>
            <a:ext cx="48147" cy="17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 flipV="1">
            <a:off x="5020339" y="4065968"/>
            <a:ext cx="48147" cy="1680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 flipV="1">
            <a:off x="5068486" y="4050073"/>
            <a:ext cx="48147" cy="1589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 flipV="1">
            <a:off x="5116632" y="4035291"/>
            <a:ext cx="48147" cy="1478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 flipV="1">
            <a:off x="5164779" y="4021827"/>
            <a:ext cx="48147" cy="1346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 flipV="1">
            <a:off x="5212925" y="4009887"/>
            <a:ext cx="48147" cy="119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 flipV="1">
            <a:off x="5261072" y="3999676"/>
            <a:ext cx="48147" cy="1021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 flipV="1">
            <a:off x="5309219" y="3991398"/>
            <a:ext cx="48147" cy="827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 flipV="1">
            <a:off x="5357365" y="3985260"/>
            <a:ext cx="48147" cy="61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5405512" y="3982276"/>
            <a:ext cx="48147" cy="29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5453658" y="3982276"/>
            <a:ext cx="48147" cy="6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5501805" y="3982955"/>
            <a:ext cx="48147" cy="37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5549952" y="3986740"/>
            <a:ext cx="48147" cy="633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598098" y="3993073"/>
            <a:ext cx="48147" cy="83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646245" y="4001400"/>
            <a:ext cx="48147" cy="97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694392" y="4011162"/>
            <a:ext cx="48147" cy="106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742538" y="4021803"/>
            <a:ext cx="48147" cy="109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790685" y="4032766"/>
            <a:ext cx="48147" cy="10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838831" y="4043495"/>
            <a:ext cx="48147" cy="99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86978" y="4053433"/>
            <a:ext cx="48147" cy="859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35125" y="4062023"/>
            <a:ext cx="48147" cy="66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83271" y="4068708"/>
            <a:ext cx="48147" cy="42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31418" y="4072932"/>
            <a:ext cx="48147" cy="12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 flipV="1">
            <a:off x="6079564" y="4071770"/>
            <a:ext cx="48147" cy="236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 flipV="1">
            <a:off x="6127711" y="4065270"/>
            <a:ext cx="48147" cy="65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 flipV="1">
            <a:off x="6175858" y="4054561"/>
            <a:ext cx="48147" cy="107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 flipV="1">
            <a:off x="6224004" y="4040228"/>
            <a:ext cx="48147" cy="143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 flipV="1">
            <a:off x="6272151" y="4022711"/>
            <a:ext cx="48147" cy="1751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 flipV="1">
            <a:off x="6320297" y="4002450"/>
            <a:ext cx="48147" cy="2026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 flipV="1">
            <a:off x="6368444" y="3979883"/>
            <a:ext cx="48147" cy="225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 flipV="1">
            <a:off x="6416591" y="3955452"/>
            <a:ext cx="48147" cy="24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 flipV="1">
            <a:off x="6464737" y="3929594"/>
            <a:ext cx="48147" cy="258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 flipV="1">
            <a:off x="6512884" y="3902750"/>
            <a:ext cx="48147" cy="2684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 flipV="1">
            <a:off x="6561030" y="3875359"/>
            <a:ext cx="48147" cy="273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 flipV="1">
            <a:off x="6609177" y="3847860"/>
            <a:ext cx="48147" cy="2749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 flipV="1">
            <a:off x="6657324" y="3820694"/>
            <a:ext cx="48147" cy="271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 flipV="1">
            <a:off x="6705470" y="3794299"/>
            <a:ext cx="48147" cy="26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 flipV="1">
            <a:off x="6753617" y="3769115"/>
            <a:ext cx="48147" cy="251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 flipV="1">
            <a:off x="6801763" y="3745582"/>
            <a:ext cx="48147" cy="235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 flipV="1">
            <a:off x="6849910" y="3724138"/>
            <a:ext cx="48147" cy="2144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 flipV="1">
            <a:off x="6898057" y="3705225"/>
            <a:ext cx="48147" cy="189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 flipV="1">
            <a:off x="6946203" y="3688841"/>
            <a:ext cx="48147" cy="163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 flipV="1">
            <a:off x="6994350" y="3674479"/>
            <a:ext cx="48147" cy="143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 flipV="1">
            <a:off x="7042497" y="3661816"/>
            <a:ext cx="48147" cy="126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 flipV="1">
            <a:off x="7090643" y="3650531"/>
            <a:ext cx="48147" cy="112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 flipV="1">
            <a:off x="7138790" y="3640300"/>
            <a:ext cx="48147" cy="102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 flipV="1">
            <a:off x="7186936" y="3630802"/>
            <a:ext cx="48147" cy="94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 flipV="1">
            <a:off x="7235083" y="3621714"/>
            <a:ext cx="48147" cy="9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 flipV="1">
            <a:off x="7283230" y="3612713"/>
            <a:ext cx="48147" cy="90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 flipV="1">
            <a:off x="7331376" y="3603479"/>
            <a:ext cx="48147" cy="923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 flipV="1">
            <a:off x="7379523" y="3593688"/>
            <a:ext cx="48147" cy="97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 flipV="1">
            <a:off x="7427669" y="3583017"/>
            <a:ext cx="48147" cy="1067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 flipV="1">
            <a:off x="7475816" y="3571146"/>
            <a:ext cx="48147" cy="1187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 flipV="1">
            <a:off x="7523963" y="3557751"/>
            <a:ext cx="48147" cy="13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 flipV="1">
            <a:off x="7572109" y="3542509"/>
            <a:ext cx="48147" cy="152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 flipV="1">
            <a:off x="7620256" y="3525100"/>
            <a:ext cx="48147" cy="174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 flipV="1">
            <a:off x="7668402" y="3505200"/>
            <a:ext cx="48147" cy="199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 flipV="1">
            <a:off x="7716549" y="3482009"/>
            <a:ext cx="49557" cy="231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 flipV="1">
            <a:off x="7766106" y="3455311"/>
            <a:ext cx="52002" cy="266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 flipV="1">
            <a:off x="7818108" y="3425664"/>
            <a:ext cx="53883" cy="296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 flipV="1">
            <a:off x="7871991" y="3393624"/>
            <a:ext cx="55199" cy="32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 flipV="1">
            <a:off x="7927190" y="3359747"/>
            <a:ext cx="55952" cy="3387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 flipV="1">
            <a:off x="7983142" y="3324591"/>
            <a:ext cx="56140" cy="3515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 flipV="1">
            <a:off x="8039282" y="3288713"/>
            <a:ext cx="55764" cy="358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 flipV="1">
            <a:off x="8095045" y="3252668"/>
            <a:ext cx="54823" cy="3604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 flipV="1">
            <a:off x="8149868" y="3217015"/>
            <a:ext cx="53319" cy="3565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 flipV="1">
            <a:off x="8203187" y="3182308"/>
            <a:ext cx="51250" cy="347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 flipV="1">
            <a:off x="8254437" y="3149106"/>
            <a:ext cx="48617" cy="3320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 flipV="1">
            <a:off x="8303054" y="3117964"/>
            <a:ext cx="45420" cy="3114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 flipV="1">
            <a:off x="8348473" y="3089440"/>
            <a:ext cx="41658" cy="285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 flipV="1">
            <a:off x="8390131" y="3064090"/>
            <a:ext cx="37332" cy="2535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 flipV="1">
            <a:off x="8427464" y="3042471"/>
            <a:ext cx="32443" cy="216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 flipV="1">
            <a:off x="8459906" y="3025140"/>
            <a:ext cx="26988" cy="173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3834340" y="44748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4604686" y="41948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5375032" y="395478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145378" y="403479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915723" y="36747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7686069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8456415" y="29946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3479648" y="5105400"/>
            <a:ext cx="53924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8922868" y="293941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27" name="Text 225"/>
          <p:cNvSpPr/>
          <p:nvPr/>
        </p:nvSpPr>
        <p:spPr>
          <a:xfrm>
            <a:off x="8922868" y="311086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with grouping spacers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8257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81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3306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356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5880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405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98660" y="3270504"/>
            <a:ext cx="50165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3122460" y="40927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00310" y="3270504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3951135" y="2971800"/>
            <a:ext cx="50165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874935" y="30259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452785" y="2971800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4703610" y="2779776"/>
            <a:ext cx="50165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7410" y="278053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205260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5456085" y="2779776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57735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6208560" y="2779776"/>
            <a:ext cx="50165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32360" y="281254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710210" y="3035808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961035" y="3035808"/>
            <a:ext cx="501650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6" name="Text 24"/>
          <p:cNvSpPr/>
          <p:nvPr/>
        </p:nvSpPr>
        <p:spPr>
          <a:xfrm>
            <a:off x="6884835" y="285165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62685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7713510" y="3121152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8215160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8465985" y="3121152"/>
            <a:ext cx="501650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1" name="Text 29"/>
          <p:cNvSpPr/>
          <p:nvPr/>
        </p:nvSpPr>
        <p:spPr>
          <a:xfrm>
            <a:off x="8389785" y="4018026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with auto-summary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0928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0448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96207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5727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51486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1006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047848" y="2019300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3047848" y="2143579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1: 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19845" y="2203269"/>
            <a:ext cx="124222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4719845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62074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74848" y="2608036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09288" y="2471057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9845" y="2614386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174848" y="3072493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409288" y="2935514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30402" y="3078843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047848" y="3412671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3" name="Text 21"/>
          <p:cNvSpPr/>
          <p:nvPr/>
        </p:nvSpPr>
        <p:spPr>
          <a:xfrm>
            <a:off x="3047848" y="353695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2: Build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962074" y="3596640"/>
            <a:ext cx="248445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5" name="Shape 23"/>
          <p:cNvSpPr/>
          <p:nvPr/>
        </p:nvSpPr>
        <p:spPr>
          <a:xfrm>
            <a:off x="5962074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46533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74848" y="4001407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409288" y="3864429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62074" y="4007757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4465864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409288" y="4328886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83189" y="4472214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3174848" y="4930321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409288" y="4793343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25418" y="4936671"/>
            <a:ext cx="621115" cy="177800"/>
          </a:xfrm>
          <a:prstGeom prst="rect">
            <a:avLst/>
          </a:prstGeom>
          <a:solidFill>
            <a:srgbClr val="2A78D6"/>
          </a:solidFill>
          <a:ln/>
        </p:spPr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Notched boxplots (median CI)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415214" y="3345180"/>
            <a:ext cx="0" cy="28003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15214" y="40852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33451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83662" y="43053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625215"/>
            <a:ext cx="1029123" cy="460058"/>
          </a:xfrm>
          <a:custGeom>
            <a:avLst/>
            <a:gdLst/>
            <a:ahLst/>
            <a:cxnLst/>
            <a:rect l="l" t="t" r="r" b="b"/>
            <a:pathLst>
              <a:path w="1029123" h="460058">
                <a:moveTo>
                  <a:pt x="0" y="0"/>
                </a:moveTo>
                <a:lnTo>
                  <a:pt x="1029123" y="0"/>
                </a:lnTo>
                <a:lnTo>
                  <a:pt x="1029123" y="11622"/>
                </a:lnTo>
                <a:lnTo>
                  <a:pt x="771843" y="240030"/>
                </a:lnTo>
                <a:lnTo>
                  <a:pt x="1029123" y="460058"/>
                </a:lnTo>
                <a:lnTo>
                  <a:pt x="1029123" y="460058"/>
                </a:lnTo>
                <a:lnTo>
                  <a:pt x="0" y="460058"/>
                </a:lnTo>
                <a:lnTo>
                  <a:pt x="0" y="460058"/>
                </a:lnTo>
                <a:lnTo>
                  <a:pt x="257281" y="240030"/>
                </a:lnTo>
                <a:lnTo>
                  <a:pt x="0" y="11622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57933" y="386524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00653" y="367474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286348" y="2945130"/>
            <a:ext cx="0" cy="36004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86348" y="3845243"/>
            <a:ext cx="0" cy="14001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294513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39852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71786" y="3305175"/>
            <a:ext cx="1029123" cy="540068"/>
          </a:xfrm>
          <a:custGeom>
            <a:avLst/>
            <a:gdLst/>
            <a:ahLst/>
            <a:cxnLst/>
            <a:rect l="l" t="t" r="r" b="b"/>
            <a:pathLst>
              <a:path w="1029123" h="540068">
                <a:moveTo>
                  <a:pt x="0" y="0"/>
                </a:moveTo>
                <a:lnTo>
                  <a:pt x="1029123" y="0"/>
                </a:lnTo>
                <a:lnTo>
                  <a:pt x="1029123" y="51909"/>
                </a:lnTo>
                <a:lnTo>
                  <a:pt x="771843" y="320040"/>
                </a:lnTo>
                <a:lnTo>
                  <a:pt x="1029123" y="540068"/>
                </a:lnTo>
                <a:lnTo>
                  <a:pt x="1029123" y="540068"/>
                </a:lnTo>
                <a:lnTo>
                  <a:pt x="0" y="540068"/>
                </a:lnTo>
                <a:lnTo>
                  <a:pt x="0" y="540068"/>
                </a:lnTo>
                <a:lnTo>
                  <a:pt x="257281" y="320040"/>
                </a:lnTo>
                <a:lnTo>
                  <a:pt x="0" y="51909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29067" y="362521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71786" y="343471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157481" y="1905000"/>
            <a:ext cx="0" cy="500063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57481" y="32851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19050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925928" y="35052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42919" y="2405063"/>
            <a:ext cx="1029123" cy="880110"/>
          </a:xfrm>
          <a:custGeom>
            <a:avLst/>
            <a:gdLst/>
            <a:ahLst/>
            <a:cxnLst/>
            <a:rect l="l" t="t" r="r" b="b"/>
            <a:pathLst>
              <a:path w="1029123" h="880110">
                <a:moveTo>
                  <a:pt x="0" y="0"/>
                </a:moveTo>
                <a:lnTo>
                  <a:pt x="1029123" y="0"/>
                </a:lnTo>
                <a:lnTo>
                  <a:pt x="1029123" y="103113"/>
                </a:lnTo>
                <a:lnTo>
                  <a:pt x="771842" y="540067"/>
                </a:lnTo>
                <a:lnTo>
                  <a:pt x="1029123" y="880110"/>
                </a:lnTo>
                <a:lnTo>
                  <a:pt x="1029123" y="880110"/>
                </a:lnTo>
                <a:lnTo>
                  <a:pt x="0" y="880110"/>
                </a:lnTo>
                <a:lnTo>
                  <a:pt x="0" y="880110"/>
                </a:lnTo>
                <a:lnTo>
                  <a:pt x="257281" y="540067"/>
                </a:lnTo>
                <a:lnTo>
                  <a:pt x="0" y="10311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00200" y="2945130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42919" y="275463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peer range + us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95848" y="25323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0" y="568960"/>
                </a:moveTo>
                <a:lnTo>
                  <a:pt x="492734" y="853440"/>
                </a:lnTo>
                <a:lnTo>
                  <a:pt x="985468" y="568960"/>
                </a:lnTo>
                <a:lnTo>
                  <a:pt x="0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588581" y="3101340"/>
            <a:ext cx="492734" cy="1137920"/>
          </a:xfrm>
          <a:custGeom>
            <a:avLst/>
            <a:gdLst/>
            <a:ahLst/>
            <a:cxnLst/>
            <a:rect l="l" t="t" r="r" b="b"/>
            <a:pathLst>
              <a:path w="492734" h="1137920">
                <a:moveTo>
                  <a:pt x="0" y="284480"/>
                </a:moveTo>
                <a:lnTo>
                  <a:pt x="0" y="853440"/>
                </a:lnTo>
                <a:lnTo>
                  <a:pt x="492734" y="1137920"/>
                </a:lnTo>
                <a:lnTo>
                  <a:pt x="492734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095848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492734" y="0"/>
                </a:moveTo>
                <a:lnTo>
                  <a:pt x="0" y="568960"/>
                </a:lnTo>
                <a:lnTo>
                  <a:pt x="0" y="853440"/>
                </a:lnTo>
                <a:lnTo>
                  <a:pt x="985468" y="2844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110380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985468" y="568960"/>
                </a:moveTo>
                <a:lnTo>
                  <a:pt x="492734" y="0"/>
                </a:lnTo>
                <a:lnTo>
                  <a:pt x="0" y="284480"/>
                </a:lnTo>
                <a:lnTo>
                  <a:pt x="985468" y="85344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10380" y="3243580"/>
            <a:ext cx="492734" cy="995680"/>
          </a:xfrm>
          <a:custGeom>
            <a:avLst/>
            <a:gdLst/>
            <a:ahLst/>
            <a:cxnLst/>
            <a:rect l="l" t="t" r="r" b="b"/>
            <a:pathLst>
              <a:path w="492734" h="995680">
                <a:moveTo>
                  <a:pt x="492734" y="711200"/>
                </a:moveTo>
                <a:lnTo>
                  <a:pt x="492734" y="142240"/>
                </a:lnTo>
                <a:lnTo>
                  <a:pt x="246367" y="0"/>
                </a:lnTo>
                <a:lnTo>
                  <a:pt x="0" y="9956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356747" y="2532380"/>
            <a:ext cx="739101" cy="853440"/>
          </a:xfrm>
          <a:custGeom>
            <a:avLst/>
            <a:gdLst/>
            <a:ahLst/>
            <a:cxnLst/>
            <a:rect l="l" t="t" r="r" b="b"/>
            <a:pathLst>
              <a:path w="739101" h="853440">
                <a:moveTo>
                  <a:pt x="246367" y="853440"/>
                </a:moveTo>
                <a:lnTo>
                  <a:pt x="739101" y="568960"/>
                </a:lnTo>
                <a:lnTo>
                  <a:pt x="739101" y="0"/>
                </a:lnTo>
                <a:lnTo>
                  <a:pt x="0" y="71120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246367" y="71120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03114" y="3101340"/>
            <a:ext cx="985468" cy="1422400"/>
          </a:xfrm>
          <a:custGeom>
            <a:avLst/>
            <a:gdLst/>
            <a:ahLst/>
            <a:cxnLst/>
            <a:rect l="l" t="t" r="r" b="b"/>
            <a:pathLst>
              <a:path w="985468" h="142240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42240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64013" y="2816860"/>
            <a:ext cx="2217302" cy="1564640"/>
          </a:xfrm>
          <a:custGeom>
            <a:avLst/>
            <a:gdLst/>
            <a:ahLst/>
            <a:cxnLst/>
            <a:rect l="l" t="t" r="r" b="b"/>
            <a:pathLst>
              <a:path w="2217302" h="1564640">
                <a:moveTo>
                  <a:pt x="1231835" y="0"/>
                </a:moveTo>
                <a:lnTo>
                  <a:pt x="2217302" y="284480"/>
                </a:lnTo>
                <a:lnTo>
                  <a:pt x="2217302" y="1422400"/>
                </a:lnTo>
                <a:lnTo>
                  <a:pt x="1231835" y="1422400"/>
                </a:lnTo>
                <a:lnTo>
                  <a:pt x="0" y="1564640"/>
                </a:lnTo>
                <a:lnTo>
                  <a:pt x="246367" y="284480"/>
                </a:lnTo>
                <a:close/>
              </a:path>
            </a:pathLst>
          </a:custGeom>
          <a:solidFill>
            <a:srgbClr val="008300">
              <a:alpha val="18000"/>
            </a:srgbClr>
          </a:solidFill>
          <a:ln w="20320">
            <a:solidFill>
              <a:srgbClr val="0083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52514E"/>
          </a:solidFill>
          <a:ln/>
        </p:spPr>
      </p:sp>
      <p:sp>
        <p:nvSpPr>
          <p:cNvPr id="37" name="Text 35"/>
          <p:cNvSpPr/>
          <p:nvPr/>
        </p:nvSpPr>
        <p:spPr>
          <a:xfrm>
            <a:off x="3174848" y="18034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Peer range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01304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9" name="Text 37"/>
          <p:cNvSpPr/>
          <p:nvPr/>
        </p:nvSpPr>
        <p:spPr>
          <a:xfrm>
            <a:off x="4140048" y="180340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</a:t>
            </a:r>
            <a:endParaRPr lang="en-US" sz="10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Long tail collapsed into Other (otherBucket)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004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5276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61114" y="4289213"/>
            <a:ext cx="11514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10314" y="4602057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61114" y="3840311"/>
            <a:ext cx="11514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10314" y="3969512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61114" y="3473027"/>
            <a:ext cx="11514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10314" y="356141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61114" y="3350599"/>
            <a:ext cx="1151467" cy="122428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61114" y="3166957"/>
            <a:ext cx="1151467" cy="183642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10314" y="316352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73248" y="2982807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88314" y="4166785"/>
            <a:ext cx="1151467" cy="93861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37514" y="4540843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88314" y="3636264"/>
            <a:ext cx="11514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37514" y="380627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88314" y="3289385"/>
            <a:ext cx="11514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37514" y="3367574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88314" y="3146552"/>
            <a:ext cx="1151467" cy="14283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88314" y="2922101"/>
            <a:ext cx="1151467" cy="224451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37514" y="2939076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00448" y="273795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815514" y="4044357"/>
            <a:ext cx="1151467" cy="106104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4714" y="447962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815514" y="3411813"/>
            <a:ext cx="11514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4714" y="363283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815514" y="3024124"/>
            <a:ext cx="11514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4714" y="312271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815514" y="2860887"/>
            <a:ext cx="1151467" cy="16323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64714" y="284725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815514" y="2616031"/>
            <a:ext cx="1151467" cy="244856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4714" y="264320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527648" y="243188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05648" y="265273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05648" y="285678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305648" y="313224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05648" y="364236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305648" y="448915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Calendar heatmap (daily commits)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06600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047848" y="2877457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047848" y="3748314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047848" y="4619171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327248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068962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327248" y="2006600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10" name="Shape 8"/>
          <p:cNvSpPr/>
          <p:nvPr/>
        </p:nvSpPr>
        <p:spPr>
          <a:xfrm>
            <a:off x="3327248" y="2442029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11" name="Shape 9"/>
          <p:cNvSpPr/>
          <p:nvPr/>
        </p:nvSpPr>
        <p:spPr>
          <a:xfrm>
            <a:off x="3327248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12" name="Shape 10"/>
          <p:cNvSpPr/>
          <p:nvPr/>
        </p:nvSpPr>
        <p:spPr>
          <a:xfrm>
            <a:off x="3327248" y="3312886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13" name="Shape 11"/>
          <p:cNvSpPr/>
          <p:nvPr/>
        </p:nvSpPr>
        <p:spPr>
          <a:xfrm>
            <a:off x="3327248" y="3748314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14" name="Shape 12"/>
          <p:cNvSpPr/>
          <p:nvPr/>
        </p:nvSpPr>
        <p:spPr>
          <a:xfrm>
            <a:off x="3327248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5" name="Shape 13"/>
          <p:cNvSpPr/>
          <p:nvPr/>
        </p:nvSpPr>
        <p:spPr>
          <a:xfrm>
            <a:off x="3327248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6" name="Shape 14"/>
          <p:cNvSpPr/>
          <p:nvPr/>
        </p:nvSpPr>
        <p:spPr>
          <a:xfrm>
            <a:off x="3762676" y="2006600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17" name="Shape 15"/>
          <p:cNvSpPr/>
          <p:nvPr/>
        </p:nvSpPr>
        <p:spPr>
          <a:xfrm>
            <a:off x="3762676" y="2442029"/>
            <a:ext cx="416379" cy="416379"/>
          </a:xfrm>
          <a:prstGeom prst="rect">
            <a:avLst/>
          </a:prstGeom>
          <a:solidFill>
            <a:srgbClr val="E6EBF8"/>
          </a:solidFill>
          <a:ln/>
        </p:spPr>
      </p:sp>
      <p:sp>
        <p:nvSpPr>
          <p:cNvPr id="18" name="Shape 16"/>
          <p:cNvSpPr/>
          <p:nvPr/>
        </p:nvSpPr>
        <p:spPr>
          <a:xfrm>
            <a:off x="3762676" y="2877457"/>
            <a:ext cx="416379" cy="416379"/>
          </a:xfrm>
          <a:prstGeom prst="rect">
            <a:avLst/>
          </a:prstGeom>
          <a:solidFill>
            <a:srgbClr val="5D8BDA"/>
          </a:solidFill>
          <a:ln/>
        </p:spPr>
      </p:sp>
      <p:sp>
        <p:nvSpPr>
          <p:cNvPr id="19" name="Shape 17"/>
          <p:cNvSpPr/>
          <p:nvPr/>
        </p:nvSpPr>
        <p:spPr>
          <a:xfrm>
            <a:off x="3762676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20" name="Shape 18"/>
          <p:cNvSpPr/>
          <p:nvPr/>
        </p:nvSpPr>
        <p:spPr>
          <a:xfrm>
            <a:off x="3762676" y="3748314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21" name="Shape 19"/>
          <p:cNvSpPr/>
          <p:nvPr/>
        </p:nvSpPr>
        <p:spPr>
          <a:xfrm>
            <a:off x="3762676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2" name="Shape 20"/>
          <p:cNvSpPr/>
          <p:nvPr/>
        </p:nvSpPr>
        <p:spPr>
          <a:xfrm>
            <a:off x="3762676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198105" y="2006600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24" name="Shape 22"/>
          <p:cNvSpPr/>
          <p:nvPr/>
        </p:nvSpPr>
        <p:spPr>
          <a:xfrm>
            <a:off x="4198105" y="2442029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25" name="Shape 23"/>
          <p:cNvSpPr/>
          <p:nvPr/>
        </p:nvSpPr>
        <p:spPr>
          <a:xfrm>
            <a:off x="4198105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26" name="Shape 24"/>
          <p:cNvSpPr/>
          <p:nvPr/>
        </p:nvSpPr>
        <p:spPr>
          <a:xfrm>
            <a:off x="4198105" y="3312886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27" name="Shape 25"/>
          <p:cNvSpPr/>
          <p:nvPr/>
        </p:nvSpPr>
        <p:spPr>
          <a:xfrm>
            <a:off x="4198105" y="3748314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98105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9" name="Shape 27"/>
          <p:cNvSpPr/>
          <p:nvPr/>
        </p:nvSpPr>
        <p:spPr>
          <a:xfrm>
            <a:off x="4198105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0" name="Shape 28"/>
          <p:cNvSpPr/>
          <p:nvPr/>
        </p:nvSpPr>
        <p:spPr>
          <a:xfrm>
            <a:off x="4633533" y="2006600"/>
            <a:ext cx="416379" cy="4163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33533" y="2442029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32" name="Shape 30"/>
          <p:cNvSpPr/>
          <p:nvPr/>
        </p:nvSpPr>
        <p:spPr>
          <a:xfrm>
            <a:off x="4633533" y="2877457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633533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34" name="Shape 32"/>
          <p:cNvSpPr/>
          <p:nvPr/>
        </p:nvSpPr>
        <p:spPr>
          <a:xfrm>
            <a:off x="4633533" y="3748314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35" name="Shape 33"/>
          <p:cNvSpPr/>
          <p:nvPr/>
        </p:nvSpPr>
        <p:spPr>
          <a:xfrm>
            <a:off x="4633533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6" name="Shape 34"/>
          <p:cNvSpPr/>
          <p:nvPr/>
        </p:nvSpPr>
        <p:spPr>
          <a:xfrm>
            <a:off x="4633533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7" name="Shape 35"/>
          <p:cNvSpPr/>
          <p:nvPr/>
        </p:nvSpPr>
        <p:spPr>
          <a:xfrm>
            <a:off x="5068962" y="2006600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38" name="Shape 36"/>
          <p:cNvSpPr/>
          <p:nvPr/>
        </p:nvSpPr>
        <p:spPr>
          <a:xfrm>
            <a:off x="5068962" y="2442029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39" name="Text 37"/>
          <p:cNvSpPr/>
          <p:nvPr/>
        </p:nvSpPr>
        <p:spPr>
          <a:xfrm>
            <a:off x="2946248" y="5118100"/>
            <a:ext cx="3302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327248" y="5118100"/>
            <a:ext cx="348343" cy="34834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1" name="Shape 39"/>
          <p:cNvSpPr/>
          <p:nvPr/>
        </p:nvSpPr>
        <p:spPr>
          <a:xfrm>
            <a:off x="3688290" y="5118100"/>
            <a:ext cx="348343" cy="348343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42" name="Shape 40"/>
          <p:cNvSpPr/>
          <p:nvPr/>
        </p:nvSpPr>
        <p:spPr>
          <a:xfrm>
            <a:off x="4049333" y="5118100"/>
            <a:ext cx="348343" cy="348343"/>
          </a:xfrm>
          <a:prstGeom prst="rect">
            <a:avLst/>
          </a:prstGeom>
          <a:solidFill>
            <a:srgbClr val="DDE4F5"/>
          </a:solidFill>
          <a:ln/>
        </p:spPr>
      </p:sp>
      <p:sp>
        <p:nvSpPr>
          <p:cNvPr id="43" name="Shape 41"/>
          <p:cNvSpPr/>
          <p:nvPr/>
        </p:nvSpPr>
        <p:spPr>
          <a:xfrm>
            <a:off x="4410376" y="5118100"/>
            <a:ext cx="348343" cy="348343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44" name="Shape 42"/>
          <p:cNvSpPr/>
          <p:nvPr/>
        </p:nvSpPr>
        <p:spPr>
          <a:xfrm>
            <a:off x="4771419" y="5118100"/>
            <a:ext cx="348343" cy="348343"/>
          </a:xfrm>
          <a:prstGeom prst="rect">
            <a:avLst/>
          </a:prstGeom>
          <a:solidFill>
            <a:srgbClr val="C7D2EE"/>
          </a:solidFill>
          <a:ln/>
        </p:spPr>
      </p:sp>
      <p:sp>
        <p:nvSpPr>
          <p:cNvPr id="45" name="Shape 43"/>
          <p:cNvSpPr/>
          <p:nvPr/>
        </p:nvSpPr>
        <p:spPr>
          <a:xfrm>
            <a:off x="5132462" y="5118100"/>
            <a:ext cx="348343" cy="348343"/>
          </a:xfrm>
          <a:prstGeom prst="rect">
            <a:avLst/>
          </a:prstGeom>
          <a:solidFill>
            <a:srgbClr val="BAC8EB"/>
          </a:solidFill>
          <a:ln/>
        </p:spPr>
      </p:sp>
      <p:sp>
        <p:nvSpPr>
          <p:cNvPr id="46" name="Shape 44"/>
          <p:cNvSpPr/>
          <p:nvPr/>
        </p:nvSpPr>
        <p:spPr>
          <a:xfrm>
            <a:off x="5493505" y="5118100"/>
            <a:ext cx="348343" cy="348343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47" name="Shape 45"/>
          <p:cNvSpPr/>
          <p:nvPr/>
        </p:nvSpPr>
        <p:spPr>
          <a:xfrm>
            <a:off x="5854548" y="5118100"/>
            <a:ext cx="348343" cy="348343"/>
          </a:xfrm>
          <a:prstGeom prst="rect">
            <a:avLst/>
          </a:prstGeom>
          <a:solidFill>
            <a:srgbClr val="9CB3E4"/>
          </a:solidFill>
          <a:ln/>
        </p:spPr>
      </p:sp>
      <p:sp>
        <p:nvSpPr>
          <p:cNvPr id="48" name="Shape 46"/>
          <p:cNvSpPr/>
          <p:nvPr/>
        </p:nvSpPr>
        <p:spPr>
          <a:xfrm>
            <a:off x="6215590" y="5118100"/>
            <a:ext cx="348343" cy="348343"/>
          </a:xfrm>
          <a:prstGeom prst="rect">
            <a:avLst/>
          </a:prstGeom>
          <a:solidFill>
            <a:srgbClr val="8BA6E1"/>
          </a:solidFill>
          <a:ln/>
        </p:spPr>
      </p:sp>
      <p:sp>
        <p:nvSpPr>
          <p:cNvPr id="49" name="Shape 47"/>
          <p:cNvSpPr/>
          <p:nvPr/>
        </p:nvSpPr>
        <p:spPr>
          <a:xfrm>
            <a:off x="6576633" y="5118100"/>
            <a:ext cx="348343" cy="348343"/>
          </a:xfrm>
          <a:prstGeom prst="rect">
            <a:avLst/>
          </a:prstGeom>
          <a:solidFill>
            <a:srgbClr val="7599DD"/>
          </a:solidFill>
          <a:ln/>
        </p:spPr>
      </p:sp>
      <p:sp>
        <p:nvSpPr>
          <p:cNvPr id="50" name="Shape 48"/>
          <p:cNvSpPr/>
          <p:nvPr/>
        </p:nvSpPr>
        <p:spPr>
          <a:xfrm>
            <a:off x="6937676" y="5118100"/>
            <a:ext cx="348343" cy="348343"/>
          </a:xfrm>
          <a:prstGeom prst="rect">
            <a:avLst/>
          </a:prstGeom>
          <a:solidFill>
            <a:srgbClr val="598ADA"/>
          </a:solidFill>
          <a:ln/>
        </p:spPr>
      </p:sp>
      <p:sp>
        <p:nvSpPr>
          <p:cNvPr id="51" name="Shape 49"/>
          <p:cNvSpPr/>
          <p:nvPr/>
        </p:nvSpPr>
        <p:spPr>
          <a:xfrm>
            <a:off x="7298719" y="5118100"/>
            <a:ext cx="348343" cy="3483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Text 50"/>
          <p:cNvSpPr/>
          <p:nvPr/>
        </p:nvSpPr>
        <p:spPr>
          <a:xfrm>
            <a:off x="7685162" y="5118100"/>
            <a:ext cx="3810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</a:t>
            </a:r>
            <a:endParaRPr lang="en-US" sz="8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stacked flanks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60664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FT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30768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" name="Text 4"/>
          <p:cNvSpPr/>
          <p:nvPr/>
        </p:nvSpPr>
        <p:spPr>
          <a:xfrm>
            <a:off x="443468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PT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135728" y="1847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" name="Text 6"/>
          <p:cNvSpPr/>
          <p:nvPr/>
        </p:nvSpPr>
        <p:spPr>
          <a:xfrm>
            <a:off x="526272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FT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2660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0" name="Text 8"/>
          <p:cNvSpPr/>
          <p:nvPr/>
        </p:nvSpPr>
        <p:spPr>
          <a:xfrm>
            <a:off x="595360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PT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96846" y="2140373"/>
            <a:ext cx="65135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196846" y="2261870"/>
            <a:ext cx="65135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40373"/>
            <a:ext cx="592138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6187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40373"/>
            <a:ext cx="71056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6187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054063" y="2140373"/>
            <a:ext cx="414496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9" name="Text 17"/>
          <p:cNvSpPr/>
          <p:nvPr/>
        </p:nvSpPr>
        <p:spPr>
          <a:xfrm>
            <a:off x="7054063" y="226187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41564" y="2790613"/>
            <a:ext cx="100663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841564" y="2912110"/>
            <a:ext cx="100663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042178" y="2790613"/>
            <a:ext cx="79938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042178" y="2912110"/>
            <a:ext cx="79938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3498" y="2790613"/>
            <a:ext cx="1243489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" name="Text 24"/>
          <p:cNvSpPr/>
          <p:nvPr/>
        </p:nvSpPr>
        <p:spPr>
          <a:xfrm>
            <a:off x="6343498" y="291211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586986" y="2790613"/>
            <a:ext cx="68095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8" name="Text 26"/>
          <p:cNvSpPr/>
          <p:nvPr/>
        </p:nvSpPr>
        <p:spPr>
          <a:xfrm>
            <a:off x="7586986" y="2912110"/>
            <a:ext cx="68095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959991" y="3440853"/>
            <a:ext cx="888206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959991" y="3562350"/>
            <a:ext cx="8882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49426" y="3440853"/>
            <a:ext cx="710565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3" name="Text 31"/>
          <p:cNvSpPr/>
          <p:nvPr/>
        </p:nvSpPr>
        <p:spPr>
          <a:xfrm>
            <a:off x="4249426" y="356235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43498" y="3440853"/>
            <a:ext cx="118427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Text 33"/>
          <p:cNvSpPr/>
          <p:nvPr/>
        </p:nvSpPr>
        <p:spPr>
          <a:xfrm>
            <a:off x="6343498" y="3562350"/>
            <a:ext cx="118427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527773" y="3440853"/>
            <a:ext cx="59213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7" name="Text 35"/>
          <p:cNvSpPr/>
          <p:nvPr/>
        </p:nvSpPr>
        <p:spPr>
          <a:xfrm>
            <a:off x="7527773" y="356235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315274" y="4091093"/>
            <a:ext cx="53292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5315274" y="4212590"/>
            <a:ext cx="5329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180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900778" y="4091093"/>
            <a:ext cx="41449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42" name="Text 40"/>
          <p:cNvSpPr/>
          <p:nvPr/>
        </p:nvSpPr>
        <p:spPr>
          <a:xfrm>
            <a:off x="4900778" y="421259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343498" y="4091093"/>
            <a:ext cx="828992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44" name="Text 42"/>
          <p:cNvSpPr/>
          <p:nvPr/>
        </p:nvSpPr>
        <p:spPr>
          <a:xfrm>
            <a:off x="6343498" y="4212590"/>
            <a:ext cx="8289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280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172490" y="4091093"/>
            <a:ext cx="384889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46" name="Text 44"/>
          <p:cNvSpPr/>
          <p:nvPr/>
        </p:nvSpPr>
        <p:spPr>
          <a:xfrm>
            <a:off x="7172490" y="4212590"/>
            <a:ext cx="3848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130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670556" y="4741333"/>
            <a:ext cx="17764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492915" y="4741333"/>
            <a:ext cx="17764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0" name="Shape 48"/>
          <p:cNvSpPr/>
          <p:nvPr/>
        </p:nvSpPr>
        <p:spPr>
          <a:xfrm>
            <a:off x="6343498" y="4741333"/>
            <a:ext cx="325676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1" name="Text 49"/>
          <p:cNvSpPr/>
          <p:nvPr/>
        </p:nvSpPr>
        <p:spPr>
          <a:xfrm>
            <a:off x="6343498" y="4862830"/>
            <a:ext cx="3256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669173" y="4741333"/>
            <a:ext cx="148034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3" name="Shape 51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with per-spoke scales (mixed KPIs)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757652" y="3314700"/>
            <a:ext cx="676391" cy="643286"/>
          </a:xfrm>
          <a:custGeom>
            <a:avLst/>
            <a:gdLst/>
            <a:ahLst/>
            <a:cxnLst/>
            <a:rect l="l" t="t" r="r" b="b"/>
            <a:pathLst>
              <a:path w="676391" h="643286">
                <a:moveTo>
                  <a:pt x="338196" y="0"/>
                </a:moveTo>
                <a:lnTo>
                  <a:pt x="676391" y="245714"/>
                </a:lnTo>
                <a:lnTo>
                  <a:pt x="547212" y="643286"/>
                </a:lnTo>
                <a:lnTo>
                  <a:pt x="129179" y="643286"/>
                </a:lnTo>
                <a:lnTo>
                  <a:pt x="0" y="24571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19456" y="2959100"/>
            <a:ext cx="1352783" cy="1286573"/>
          </a:xfrm>
          <a:custGeom>
            <a:avLst/>
            <a:gdLst/>
            <a:ahLst/>
            <a:cxnLst/>
            <a:rect l="l" t="t" r="r" b="b"/>
            <a:pathLst>
              <a:path w="1352783" h="1286573">
                <a:moveTo>
                  <a:pt x="676391" y="0"/>
                </a:moveTo>
                <a:lnTo>
                  <a:pt x="1352783" y="491427"/>
                </a:lnTo>
                <a:lnTo>
                  <a:pt x="1094424" y="1286573"/>
                </a:lnTo>
                <a:lnTo>
                  <a:pt x="258359" y="1286573"/>
                </a:lnTo>
                <a:lnTo>
                  <a:pt x="0" y="49142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81261" y="2603500"/>
            <a:ext cx="2029174" cy="1929859"/>
          </a:xfrm>
          <a:custGeom>
            <a:avLst/>
            <a:gdLst/>
            <a:ahLst/>
            <a:cxnLst/>
            <a:rect l="l" t="t" r="r" b="b"/>
            <a:pathLst>
              <a:path w="2029174" h="1929859">
                <a:moveTo>
                  <a:pt x="1014587" y="0"/>
                </a:moveTo>
                <a:lnTo>
                  <a:pt x="2029174" y="737141"/>
                </a:lnTo>
                <a:lnTo>
                  <a:pt x="1641636" y="1929859"/>
                </a:lnTo>
                <a:lnTo>
                  <a:pt x="387538" y="1929859"/>
                </a:lnTo>
                <a:lnTo>
                  <a:pt x="0" y="737141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2188849" y="257314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27548" y="1993900"/>
            <a:ext cx="73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$m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V="1">
            <a:off x="6095848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21101" y="3118307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95848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76703" y="4793793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5259782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46973" y="4793793"/>
            <a:ext cx="6680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Headcount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43065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71154" y="3118307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Uptime 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49849" y="2569087"/>
            <a:ext cx="2379033" cy="2251959"/>
          </a:xfrm>
          <a:custGeom>
            <a:avLst/>
            <a:gdLst/>
            <a:ahLst/>
            <a:cxnLst/>
            <a:rect l="l" t="t" r="r" b="b"/>
            <a:pathLst>
              <a:path w="2379033" h="2251959">
                <a:moveTo>
                  <a:pt x="1345999" y="0"/>
                </a:moveTo>
                <a:lnTo>
                  <a:pt x="2379033" y="765560"/>
                </a:lnTo>
                <a:lnTo>
                  <a:pt x="2182064" y="2251959"/>
                </a:lnTo>
                <a:lnTo>
                  <a:pt x="652676" y="2055490"/>
                </a:lnTo>
                <a:lnTo>
                  <a:pt x="0" y="663871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65368" y="253860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98402" y="330416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01433" y="4790566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2045" y="459409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19369" y="3202479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1875324" y="214161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65368" y="22174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18150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7909" y="435903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29302" y="479056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12585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60156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37285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Missing-data bridge (bridgeGaps)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4653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8252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0980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13996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7011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0027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63043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64246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894726" y="2865120"/>
            <a:ext cx="1660313" cy="960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4559" y="283464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55039" y="2865120"/>
            <a:ext cx="1660313" cy="320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84873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7215353" y="2033016"/>
            <a:ext cx="830157" cy="11521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15029" y="20025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11388" y="194729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Floating range columns (transparent base)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5437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3549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1662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3435" y="2705100"/>
            <a:ext cx="920750" cy="16002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2635" y="340995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4560" y="2545080"/>
            <a:ext cx="920750" cy="14401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33760" y="316992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65685" y="2225040"/>
            <a:ext cx="920750" cy="19202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14885" y="308991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46810" y="2385060"/>
            <a:ext cx="920750" cy="128016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6010" y="292989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073248" y="5105400"/>
            <a:ext cx="55245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48548" y="2939415"/>
            <a:ext cx="4953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Range</a:t>
            </a:r>
            <a:endParaRPr lang="en-US" sz="10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waterfall bridge + %-of-total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2971800"/>
            <a:ext cx="668867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39433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545080"/>
            <a:ext cx="668867" cy="4267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26631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545080"/>
            <a:ext cx="668867" cy="32004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6098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8651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331720"/>
            <a:ext cx="668867" cy="5334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50317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23317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2331720"/>
            <a:ext cx="668867" cy="21336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3431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2545080"/>
            <a:ext cx="668867" cy="256032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37299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1844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118448" y="43764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118448" y="37363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118448" y="30962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118448" y="24561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11844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544418" y="251460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193898" y="23355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3574898" y="2417064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47718" y="2386584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7198" y="220751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8198" y="2417064"/>
            <a:ext cx="1003300" cy="2560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51018" y="264261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00498" y="246354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581498" y="2289048"/>
            <a:ext cx="1003300" cy="38404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54318" y="225856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03798" y="207949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584798" y="2289048"/>
            <a:ext cx="1003300" cy="1920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557618" y="2450592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07098" y="227152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 flipV="1">
            <a:off x="7588098" y="2353056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560918" y="232257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10398" y="21435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43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43848" y="2149856"/>
            <a:ext cx="457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268980"/>
            <a:ext cx="1589741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09194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044700"/>
            <a:ext cx="1589741" cy="12242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56159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22448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88389" y="3137807"/>
            <a:ext cx="2225638" cy="196759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2989" y="402635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8389" y="2044700"/>
            <a:ext cx="2225638" cy="109310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2989" y="249600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37589" y="186055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939426" y="3881120"/>
            <a:ext cx="1589741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14026" y="439801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39426" y="2044700"/>
            <a:ext cx="1589741" cy="18364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14026" y="286766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88626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Mekko base + overlaid line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022448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(29%)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37589" y="514350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(41%)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88626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(29%)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79968" y="287718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B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579968" y="440753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A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425132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554568" y="348615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554568" y="272097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55456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837638" y="270287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87118" y="252380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3868118" y="2427288"/>
            <a:ext cx="1933089" cy="30607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0728" y="239680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20208" y="221773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801208" y="2427288"/>
            <a:ext cx="1933089" cy="95646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703817" y="335327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53297" y="31742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79968" y="3180556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%</a:t>
            </a:r>
            <a:endParaRPr lang="en-US" sz="10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independent line axes (mixed KPIs)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2008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691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1375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7720" y="5041392"/>
            <a:ext cx="897890" cy="640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44555" y="5028590"/>
            <a:ext cx="897890" cy="7681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91390" y="5033391"/>
            <a:ext cx="897890" cy="7200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38225" y="5009388"/>
            <a:ext cx="897890" cy="9601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11388" y="493395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V="1">
            <a:off x="3746665" y="3505200"/>
            <a:ext cx="1346835" cy="16002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63020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12500" y="32956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93500" y="3505200"/>
            <a:ext cx="1346835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9855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59335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V="1">
            <a:off x="6440335" y="2438400"/>
            <a:ext cx="1346835" cy="13868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56690" y="2407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06170" y="2228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11388" y="22352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 flipV="1">
            <a:off x="3746665" y="3905250"/>
            <a:ext cx="1346835" cy="12001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63020" y="38747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12500" y="36957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1,500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93500" y="3905250"/>
            <a:ext cx="1346835" cy="4000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9855" y="42748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59335" y="40957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1,400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V="1">
            <a:off x="6440335" y="2305050"/>
            <a:ext cx="1346835" cy="20002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6690" y="22745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06170" y="20955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511388" y="20320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Orders k</a:t>
            </a:r>
            <a:endParaRPr lang="en-US" sz="10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Hexagonal tile map (US)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52384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22386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27586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97588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08240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78243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187804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57806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667368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FE6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37370" y="228355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637370" y="244230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3194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8E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01950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01950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151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8151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9107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6107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70639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40641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550203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20205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029767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99769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509331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79333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79333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46845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96AEE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38461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438461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94802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91802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42758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9758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87173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41732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35129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2129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83085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860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310421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280423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789985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987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269549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FD9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239551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239551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749113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719115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722867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DE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98679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198679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70824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AD5E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8243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678243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818780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15780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3152384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122386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122386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363194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601950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11151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08151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91076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9EE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561078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561078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5070639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04064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5550203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520205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6029767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999769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6509331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479333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6988895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958897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746845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743846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794802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91802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4351294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EF1F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321296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4321296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483085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800860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10421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280423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789985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759987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6269549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6239551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749113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8ED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719115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6719115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722867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7198679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7198679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4591076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87A4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561078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4561078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5070639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5040641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5550203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520205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6029767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5999769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6509331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CF0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479333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6479333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6988895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958897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3392166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3362168" y="455598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6749113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AEC0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6719115" y="462114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1000" dirty="0"/>
          </a:p>
        </p:txBody>
      </p:sp>
      <p:sp>
        <p:nvSpPr>
          <p:cNvPr id="119" name="Text 117"/>
          <p:cNvSpPr/>
          <p:nvPr/>
        </p:nvSpPr>
        <p:spPr>
          <a:xfrm>
            <a:off x="6719115" y="477989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20" name="Shape 118"/>
          <p:cNvSpPr/>
          <p:nvPr/>
        </p:nvSpPr>
        <p:spPr>
          <a:xfrm>
            <a:off x="3122386" y="506730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185886" y="506730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249386" y="506730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312886" y="506730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24" name="Shape 122"/>
          <p:cNvSpPr/>
          <p:nvPr/>
        </p:nvSpPr>
        <p:spPr>
          <a:xfrm>
            <a:off x="3376386" y="506730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5" name="Shape 123"/>
          <p:cNvSpPr/>
          <p:nvPr/>
        </p:nvSpPr>
        <p:spPr>
          <a:xfrm>
            <a:off x="3439886" y="506730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6" name="Shape 124"/>
          <p:cNvSpPr/>
          <p:nvPr/>
        </p:nvSpPr>
        <p:spPr>
          <a:xfrm>
            <a:off x="3503386" y="506730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7" name="Shape 125"/>
          <p:cNvSpPr/>
          <p:nvPr/>
        </p:nvSpPr>
        <p:spPr>
          <a:xfrm>
            <a:off x="3566886" y="506730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8" name="Shape 126"/>
          <p:cNvSpPr/>
          <p:nvPr/>
        </p:nvSpPr>
        <p:spPr>
          <a:xfrm>
            <a:off x="3630386" y="506730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9" name="Shape 127"/>
          <p:cNvSpPr/>
          <p:nvPr/>
        </p:nvSpPr>
        <p:spPr>
          <a:xfrm>
            <a:off x="3693886" y="506730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30" name="Shape 128"/>
          <p:cNvSpPr/>
          <p:nvPr/>
        </p:nvSpPr>
        <p:spPr>
          <a:xfrm>
            <a:off x="3757386" y="506730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31" name="Shape 129"/>
          <p:cNvSpPr/>
          <p:nvPr/>
        </p:nvSpPr>
        <p:spPr>
          <a:xfrm>
            <a:off x="3820886" y="506730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884386" y="506730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947886" y="506730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011386" y="506730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074886" y="506730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138386" y="506730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7" name="Shape 135"/>
          <p:cNvSpPr/>
          <p:nvPr/>
        </p:nvSpPr>
        <p:spPr>
          <a:xfrm>
            <a:off x="4201886" y="506730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265386" y="506730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328886" y="506730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40" name="Shape 138"/>
          <p:cNvSpPr/>
          <p:nvPr/>
        </p:nvSpPr>
        <p:spPr>
          <a:xfrm>
            <a:off x="4392386" y="506730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41" name="Shape 139"/>
          <p:cNvSpPr/>
          <p:nvPr/>
        </p:nvSpPr>
        <p:spPr>
          <a:xfrm>
            <a:off x="4455886" y="506730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4519386" y="506730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582886" y="506730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4" name="Text 142"/>
          <p:cNvSpPr/>
          <p:nvPr/>
        </p:nvSpPr>
        <p:spPr>
          <a:xfrm>
            <a:off x="3122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5" name="Text 143"/>
          <p:cNvSpPr/>
          <p:nvPr/>
        </p:nvSpPr>
        <p:spPr>
          <a:xfrm>
            <a:off x="3884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6" name="Shape 144"/>
          <p:cNvSpPr/>
          <p:nvPr/>
        </p:nvSpPr>
        <p:spPr>
          <a:xfrm>
            <a:off x="4773386" y="506730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7" name="Text 145"/>
          <p:cNvSpPr/>
          <p:nvPr/>
        </p:nvSpPr>
        <p:spPr>
          <a:xfrm>
            <a:off x="4913086" y="504190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with per-region mini-bars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4" name="Shape 12"/>
          <p:cNvSpPr/>
          <p:nvPr/>
        </p:nvSpPr>
        <p:spPr>
          <a:xfrm>
            <a:off x="4148104" y="2909461"/>
            <a:ext cx="65623" cy="38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4220077" y="2901771"/>
            <a:ext cx="65623" cy="461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" name="Shape 14"/>
          <p:cNvSpPr/>
          <p:nvPr/>
        </p:nvSpPr>
        <p:spPr>
          <a:xfrm>
            <a:off x="4292051" y="2897927"/>
            <a:ext cx="65623" cy="499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Shape 15"/>
          <p:cNvSpPr/>
          <p:nvPr/>
        </p:nvSpPr>
        <p:spPr>
          <a:xfrm>
            <a:off x="4364024" y="2886393"/>
            <a:ext cx="65623" cy="61516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8" name="Text 16"/>
          <p:cNvSpPr/>
          <p:nvPr/>
        </p:nvSpPr>
        <p:spPr>
          <a:xfrm>
            <a:off x="410750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0" name="Text 18"/>
          <p:cNvSpPr/>
          <p:nvPr/>
        </p:nvSpPr>
        <p:spPr>
          <a:xfrm>
            <a:off x="450834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2" name="Text 20"/>
          <p:cNvSpPr/>
          <p:nvPr/>
        </p:nvSpPr>
        <p:spPr>
          <a:xfrm>
            <a:off x="490919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4" name="Text 22"/>
          <p:cNvSpPr/>
          <p:nvPr/>
        </p:nvSpPr>
        <p:spPr>
          <a:xfrm>
            <a:off x="5310035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6" name="Text 24"/>
          <p:cNvSpPr/>
          <p:nvPr/>
        </p:nvSpPr>
        <p:spPr>
          <a:xfrm>
            <a:off x="5710879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8" name="Text 26"/>
          <p:cNvSpPr/>
          <p:nvPr/>
        </p:nvSpPr>
        <p:spPr>
          <a:xfrm>
            <a:off x="6111723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0" name="Text 28"/>
          <p:cNvSpPr/>
          <p:nvPr/>
        </p:nvSpPr>
        <p:spPr>
          <a:xfrm>
            <a:off x="6512566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2" name="Shape 30"/>
          <p:cNvSpPr/>
          <p:nvPr/>
        </p:nvSpPr>
        <p:spPr>
          <a:xfrm>
            <a:off x="7354854" y="2878703"/>
            <a:ext cx="65623" cy="692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7426827" y="2871014"/>
            <a:ext cx="65623" cy="768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4" name="Shape 32"/>
          <p:cNvSpPr/>
          <p:nvPr/>
        </p:nvSpPr>
        <p:spPr>
          <a:xfrm>
            <a:off x="7498801" y="2863324"/>
            <a:ext cx="65623" cy="8458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Shape 33"/>
          <p:cNvSpPr/>
          <p:nvPr/>
        </p:nvSpPr>
        <p:spPr>
          <a:xfrm>
            <a:off x="7570774" y="2847945"/>
            <a:ext cx="65623" cy="9996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6" name="Text 34"/>
          <p:cNvSpPr/>
          <p:nvPr/>
        </p:nvSpPr>
        <p:spPr>
          <a:xfrm>
            <a:off x="731425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8" name="Text 36"/>
          <p:cNvSpPr/>
          <p:nvPr/>
        </p:nvSpPr>
        <p:spPr>
          <a:xfrm>
            <a:off x="771509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0" name="Text 38"/>
          <p:cNvSpPr/>
          <p:nvPr/>
        </p:nvSpPr>
        <p:spPr>
          <a:xfrm>
            <a:off x="811594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2" name="Text 40"/>
          <p:cNvSpPr/>
          <p:nvPr/>
        </p:nvSpPr>
        <p:spPr>
          <a:xfrm>
            <a:off x="410750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4" name="Text 42"/>
          <p:cNvSpPr/>
          <p:nvPr/>
        </p:nvSpPr>
        <p:spPr>
          <a:xfrm>
            <a:off x="450834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8" name="Text 46"/>
          <p:cNvSpPr/>
          <p:nvPr/>
        </p:nvSpPr>
        <p:spPr>
          <a:xfrm>
            <a:off x="5310035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0" name="Text 48"/>
          <p:cNvSpPr/>
          <p:nvPr/>
        </p:nvSpPr>
        <p:spPr>
          <a:xfrm>
            <a:off x="5710879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2323" y="3302615"/>
            <a:ext cx="65623" cy="4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6224296" y="3294926"/>
            <a:ext cx="65623" cy="538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4" name="Shape 52"/>
          <p:cNvSpPr/>
          <p:nvPr/>
        </p:nvSpPr>
        <p:spPr>
          <a:xfrm>
            <a:off x="6296269" y="3291081"/>
            <a:ext cx="65623" cy="576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5" name="Shape 53"/>
          <p:cNvSpPr/>
          <p:nvPr/>
        </p:nvSpPr>
        <p:spPr>
          <a:xfrm>
            <a:off x="6368243" y="3279547"/>
            <a:ext cx="65623" cy="69205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6" name="Text 54"/>
          <p:cNvSpPr/>
          <p:nvPr/>
        </p:nvSpPr>
        <p:spPr>
          <a:xfrm>
            <a:off x="6111723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8" name="Text 56"/>
          <p:cNvSpPr/>
          <p:nvPr/>
        </p:nvSpPr>
        <p:spPr>
          <a:xfrm>
            <a:off x="6512566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0" name="Text 58"/>
          <p:cNvSpPr/>
          <p:nvPr/>
        </p:nvSpPr>
        <p:spPr>
          <a:xfrm>
            <a:off x="6913410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2" name="Text 60"/>
          <p:cNvSpPr/>
          <p:nvPr/>
        </p:nvSpPr>
        <p:spPr>
          <a:xfrm>
            <a:off x="731425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4" name="Text 62"/>
          <p:cNvSpPr/>
          <p:nvPr/>
        </p:nvSpPr>
        <p:spPr>
          <a:xfrm>
            <a:off x="771509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6" name="Shape 64"/>
          <p:cNvSpPr/>
          <p:nvPr/>
        </p:nvSpPr>
        <p:spPr>
          <a:xfrm>
            <a:off x="3747260" y="3634254"/>
            <a:ext cx="65623" cy="1153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819234" y="3615030"/>
            <a:ext cx="65623" cy="1345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3891207" y="3595807"/>
            <a:ext cx="65623" cy="1537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69" name="Shape 67"/>
          <p:cNvSpPr/>
          <p:nvPr/>
        </p:nvSpPr>
        <p:spPr>
          <a:xfrm>
            <a:off x="3963180" y="3565049"/>
            <a:ext cx="65623" cy="184547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70" name="Text 68"/>
          <p:cNvSpPr/>
          <p:nvPr/>
        </p:nvSpPr>
        <p:spPr>
          <a:xfrm>
            <a:off x="370666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2" name="Text 70"/>
          <p:cNvSpPr/>
          <p:nvPr/>
        </p:nvSpPr>
        <p:spPr>
          <a:xfrm>
            <a:off x="410750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4" name="Text 72"/>
          <p:cNvSpPr/>
          <p:nvPr/>
        </p:nvSpPr>
        <p:spPr>
          <a:xfrm>
            <a:off x="450834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6" name="Text 74"/>
          <p:cNvSpPr/>
          <p:nvPr/>
        </p:nvSpPr>
        <p:spPr>
          <a:xfrm>
            <a:off x="4909191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0" name="Text 78"/>
          <p:cNvSpPr/>
          <p:nvPr/>
        </p:nvSpPr>
        <p:spPr>
          <a:xfrm>
            <a:off x="5710879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2" name="Text 80"/>
          <p:cNvSpPr/>
          <p:nvPr/>
        </p:nvSpPr>
        <p:spPr>
          <a:xfrm>
            <a:off x="6111723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4" name="Text 82"/>
          <p:cNvSpPr/>
          <p:nvPr/>
        </p:nvSpPr>
        <p:spPr>
          <a:xfrm>
            <a:off x="6512566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6" name="Text 84"/>
          <p:cNvSpPr/>
          <p:nvPr/>
        </p:nvSpPr>
        <p:spPr>
          <a:xfrm>
            <a:off x="691341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8" name="Text 86"/>
          <p:cNvSpPr/>
          <p:nvPr/>
        </p:nvSpPr>
        <p:spPr>
          <a:xfrm>
            <a:off x="731425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0" name="Text 88"/>
          <p:cNvSpPr/>
          <p:nvPr/>
        </p:nvSpPr>
        <p:spPr>
          <a:xfrm>
            <a:off x="771509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2" name="Text 90"/>
          <p:cNvSpPr/>
          <p:nvPr/>
        </p:nvSpPr>
        <p:spPr>
          <a:xfrm>
            <a:off x="4508348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4" name="Text 92"/>
          <p:cNvSpPr/>
          <p:nvPr/>
        </p:nvSpPr>
        <p:spPr>
          <a:xfrm>
            <a:off x="4909191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6" name="Text 94"/>
          <p:cNvSpPr/>
          <p:nvPr/>
        </p:nvSpPr>
        <p:spPr>
          <a:xfrm>
            <a:off x="5310035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8" name="Text 96"/>
          <p:cNvSpPr/>
          <p:nvPr/>
        </p:nvSpPr>
        <p:spPr>
          <a:xfrm>
            <a:off x="5710879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0" name="Text 98"/>
          <p:cNvSpPr/>
          <p:nvPr/>
        </p:nvSpPr>
        <p:spPr>
          <a:xfrm>
            <a:off x="6111723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2" name="Text 100"/>
          <p:cNvSpPr/>
          <p:nvPr/>
        </p:nvSpPr>
        <p:spPr>
          <a:xfrm>
            <a:off x="6512566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4" name="Text 102"/>
          <p:cNvSpPr/>
          <p:nvPr/>
        </p:nvSpPr>
        <p:spPr>
          <a:xfrm>
            <a:off x="6913410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949792" y="4474389"/>
            <a:ext cx="65623" cy="768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021765" y="4455165"/>
            <a:ext cx="65623" cy="961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5093738" y="4443631"/>
            <a:ext cx="65623" cy="10765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5165712" y="4428252"/>
            <a:ext cx="65623" cy="123031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10" name="Text 108"/>
          <p:cNvSpPr/>
          <p:nvPr/>
        </p:nvSpPr>
        <p:spPr>
          <a:xfrm>
            <a:off x="4909191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2" name="Text 110"/>
          <p:cNvSpPr/>
          <p:nvPr/>
        </p:nvSpPr>
        <p:spPr>
          <a:xfrm>
            <a:off x="5310035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850" dirty="0"/>
          </a:p>
        </p:txBody>
      </p:sp>
      <p:sp>
        <p:nvSpPr>
          <p:cNvPr id="113" name="Shape 111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4" name="Text 112"/>
          <p:cNvSpPr/>
          <p:nvPr/>
        </p:nvSpPr>
        <p:spPr>
          <a:xfrm>
            <a:off x="5710879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850" dirty="0"/>
          </a:p>
        </p:txBody>
      </p:sp>
      <p:sp>
        <p:nvSpPr>
          <p:cNvPr id="115" name="Shape 113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6" name="Text 114"/>
          <p:cNvSpPr/>
          <p:nvPr/>
        </p:nvSpPr>
        <p:spPr>
          <a:xfrm>
            <a:off x="6111723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8" name="Text 116"/>
          <p:cNvSpPr/>
          <p:nvPr/>
        </p:nvSpPr>
        <p:spPr>
          <a:xfrm>
            <a:off x="6512566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850" dirty="0"/>
          </a:p>
        </p:txBody>
      </p:sp>
      <p:sp>
        <p:nvSpPr>
          <p:cNvPr id="119" name="Shape 11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0" name="Text 118"/>
          <p:cNvSpPr/>
          <p:nvPr/>
        </p:nvSpPr>
        <p:spPr>
          <a:xfrm>
            <a:off x="6913410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850" dirty="0"/>
          </a:p>
        </p:txBody>
      </p:sp>
      <p:sp>
        <p:nvSpPr>
          <p:cNvPr id="121" name="Shape 11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2" name="Text 120"/>
          <p:cNvSpPr/>
          <p:nvPr/>
        </p:nvSpPr>
        <p:spPr>
          <a:xfrm>
            <a:off x="3706660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850" dirty="0"/>
          </a:p>
        </p:txBody>
      </p:sp>
      <p:sp>
        <p:nvSpPr>
          <p:cNvPr id="123" name="Shape 121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553167" y="4894456"/>
            <a:ext cx="65623" cy="576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625140" y="4886767"/>
            <a:ext cx="65623" cy="653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697113" y="4879077"/>
            <a:ext cx="65623" cy="7305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769087" y="4867543"/>
            <a:ext cx="65623" cy="84584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28" name="Text 126"/>
          <p:cNvSpPr/>
          <p:nvPr/>
        </p:nvSpPr>
        <p:spPr>
          <a:xfrm>
            <a:off x="6512566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850" dirty="0"/>
          </a:p>
        </p:txBody>
      </p:sp>
      <p:sp>
        <p:nvSpPr>
          <p:cNvPr id="129" name="Shape 127"/>
          <p:cNvSpPr/>
          <p:nvPr/>
        </p:nvSpPr>
        <p:spPr>
          <a:xfrm>
            <a:off x="3706660" y="51117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Text 128"/>
          <p:cNvSpPr/>
          <p:nvPr/>
        </p:nvSpPr>
        <p:spPr>
          <a:xfrm>
            <a:off x="383366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850" dirty="0"/>
          </a:p>
        </p:txBody>
      </p:sp>
      <p:sp>
        <p:nvSpPr>
          <p:cNvPr id="131" name="Shape 129"/>
          <p:cNvSpPr/>
          <p:nvPr/>
        </p:nvSpPr>
        <p:spPr>
          <a:xfrm>
            <a:off x="4123220" y="51117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Text 130"/>
          <p:cNvSpPr/>
          <p:nvPr/>
        </p:nvSpPr>
        <p:spPr>
          <a:xfrm>
            <a:off x="425022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850" dirty="0"/>
          </a:p>
        </p:txBody>
      </p:sp>
      <p:sp>
        <p:nvSpPr>
          <p:cNvPr id="133" name="Shape 131"/>
          <p:cNvSpPr/>
          <p:nvPr/>
        </p:nvSpPr>
        <p:spPr>
          <a:xfrm>
            <a:off x="4539780" y="51117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34" name="Text 132"/>
          <p:cNvSpPr/>
          <p:nvPr/>
        </p:nvSpPr>
        <p:spPr>
          <a:xfrm>
            <a:off x="466678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4956340" y="51117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36" name="Text 134"/>
          <p:cNvSpPr/>
          <p:nvPr/>
        </p:nvSpPr>
        <p:spPr>
          <a:xfrm>
            <a:off x="508334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85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chart with negative segments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60655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2918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9766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45897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32029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139961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00274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56366" y="3014472"/>
            <a:ext cx="1106876" cy="16642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05566" y="375132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756366" y="1905000"/>
            <a:ext cx="1106876" cy="110947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05566" y="236448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56366" y="4678680"/>
            <a:ext cx="1106876" cy="41605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05566" y="479145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16680" y="2990353"/>
            <a:ext cx="1106876" cy="168832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65880" y="373926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16680" y="1905000"/>
            <a:ext cx="1106876" cy="108535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65880" y="235242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39%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16680" y="4678680"/>
            <a:ext cx="1106876" cy="24119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65880" y="4704025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-9%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076993" y="2971800"/>
            <a:ext cx="1106876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26193" y="37299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076993" y="1905000"/>
            <a:ext cx="1106876" cy="10668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26193" y="234315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076993" y="4678680"/>
            <a:ext cx="1106876" cy="42672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26193" y="47967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479648" y="467868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11388" y="235267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Renewal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511388" y="37395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11388" y="48063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Returns</a:t>
            </a:r>
            <a:endParaRPr lang="en-US" sz="10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Semi-circle gauge (market share)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1841500"/>
            <a:ext cx="5334000" cy="5334000"/>
          </a:xfrm>
          <a:prstGeom prst="pie">
            <a:avLst>
              <a:gd name="adj1" fmla="val 10800000"/>
              <a:gd name="adj2" fmla="val 15336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923277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45944" y="2716356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42%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428848" y="1841500"/>
            <a:ext cx="5334000" cy="5334000"/>
          </a:xfrm>
          <a:prstGeom prst="pie">
            <a:avLst>
              <a:gd name="adj1" fmla="val 15336000"/>
              <a:gd name="adj2" fmla="val 18360000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6597973" y="1807652"/>
            <a:ext cx="13089" cy="68613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14632" y="169369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A 28%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28848" y="1841500"/>
            <a:ext cx="5334000" cy="5334000"/>
          </a:xfrm>
          <a:prstGeom prst="pie">
            <a:avLst>
              <a:gd name="adj1" fmla="val 18360000"/>
              <a:gd name="adj2" fmla="val 20304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213226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83471" y="2716356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B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428848" y="1841500"/>
            <a:ext cx="5334000" cy="5334000"/>
          </a:xfrm>
          <a:prstGeom prst="pie">
            <a:avLst>
              <a:gd name="adj1" fmla="val 20304000"/>
              <a:gd name="adj2" fmla="val 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728083" y="3993286"/>
            <a:ext cx="68613" cy="13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15408" y="3894466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Others 12%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28848" y="4292600"/>
            <a:ext cx="533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7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Pareto chart (defect causes)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Scratches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97113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Dents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86902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Misalign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6691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Cracks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66480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Paint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6269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22896" y="2545080"/>
            <a:ext cx="598593" cy="25603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72096" y="37299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20786" y="3398520"/>
            <a:ext cx="598593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69986" y="41567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18676" y="4145280"/>
            <a:ext cx="598593" cy="9601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67876" y="45300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16566" y="4465320"/>
            <a:ext cx="598593" cy="6400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65766" y="46901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14456" y="4785360"/>
            <a:ext cx="598593" cy="32004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3656" y="485013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712346" y="4892040"/>
            <a:ext cx="598593" cy="2133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61546" y="490347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11388" y="48431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Defects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48598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48598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48598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91713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41193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522193" y="2970733"/>
            <a:ext cx="897890" cy="854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89603" y="29402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39083" y="2761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4420083" y="2490673"/>
            <a:ext cx="897890" cy="48006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287493" y="2460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36973" y="22811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5317973" y="2170633"/>
            <a:ext cx="897890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85383" y="21401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34863" y="19610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V="1">
            <a:off x="6215863" y="2010613"/>
            <a:ext cx="897890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83273" y="198013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32753" y="180106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 flipV="1">
            <a:off x="7113753" y="1905000"/>
            <a:ext cx="897890" cy="1056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981163" y="18745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630643" y="1695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511388" y="163195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Cumulative %</a:t>
            </a:r>
            <a:endParaRPr lang="en-US" sz="10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Bump chart (brand rank by year)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21548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166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58784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77402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6020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09668" y="278765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09584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282028" y="200660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268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5886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4504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3122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740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4784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53170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09668" y="2006600"/>
            <a:ext cx="1186180" cy="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95848" y="2006600"/>
            <a:ext cx="1186180" cy="156210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7268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5886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4504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31228" y="35179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1740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4784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3170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23488" y="3568700"/>
            <a:ext cx="1186180" cy="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6095848" y="2787650"/>
            <a:ext cx="1186180" cy="156210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7268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5886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45048" y="42989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31228" y="27368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41740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4784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53170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723488" y="4349750"/>
            <a:ext cx="1186180" cy="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09584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67268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5886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045048" y="35179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23122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417408" y="50800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84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53170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372348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90966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09584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67268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85886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04504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23122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417408" y="429895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04784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53170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(line)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87156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0788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420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8052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01684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0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667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6030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639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6757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0552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25971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31390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36808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Innovation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047848" y="42227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47646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535520" y="21200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16800" y="20552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 flipV="1">
            <a:off x="6840576" y="2150533"/>
            <a:ext cx="725424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10096" y="2661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91376" y="25971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40576" y="2692400"/>
            <a:ext cx="113995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50048" y="32037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31328" y="31390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7203288" y="3234267"/>
            <a:ext cx="77724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72808" y="37456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254088" y="36808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203288" y="3776133"/>
            <a:ext cx="129540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468208" y="4287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549488" y="42227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6322416" y="4318000"/>
            <a:ext cx="217627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91936" y="48293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73216" y="47646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(stacked area)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7634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2317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7001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01684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247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67154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01837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6521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2694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47848" y="28841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47848" y="34988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41135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47282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2950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75650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3203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Text 18"/>
          <p:cNvSpPr/>
          <p:nvPr/>
        </p:nvSpPr>
        <p:spPr>
          <a:xfrm>
            <a:off x="444738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2950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375650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32038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44738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29508" y="2364740"/>
            <a:ext cx="271471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3629508" y="2390352"/>
            <a:ext cx="275680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3629508" y="2415963"/>
            <a:ext cx="279889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3629508" y="2441575"/>
            <a:ext cx="284098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3629508" y="2467187"/>
            <a:ext cx="288306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3629508" y="2492798"/>
            <a:ext cx="292515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3629508" y="2518410"/>
            <a:ext cx="296724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3629508" y="2544022"/>
            <a:ext cx="300933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629508" y="2569633"/>
            <a:ext cx="305142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629508" y="2595245"/>
            <a:ext cx="30935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629508" y="2620857"/>
            <a:ext cx="313560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3629508" y="2646468"/>
            <a:ext cx="317768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3629508" y="2672080"/>
            <a:ext cx="321977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629508" y="2697692"/>
            <a:ext cx="326186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3629508" y="2723303"/>
            <a:ext cx="330395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3629508" y="2748915"/>
            <a:ext cx="334604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3629508" y="2774527"/>
            <a:ext cx="338813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3629508" y="2800138"/>
            <a:ext cx="343022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629508" y="2825750"/>
            <a:ext cx="347230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629508" y="2851362"/>
            <a:ext cx="351439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629508" y="2876973"/>
            <a:ext cx="355648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3629508" y="2902585"/>
            <a:ext cx="35985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3629508" y="2928197"/>
            <a:ext cx="364066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3629508" y="2953808"/>
            <a:ext cx="368275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3629508" y="2979420"/>
            <a:ext cx="366872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3629508" y="3005032"/>
            <a:ext cx="35985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3629508" y="3030643"/>
            <a:ext cx="352842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3629508" y="3056255"/>
            <a:ext cx="345827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629508" y="3081867"/>
            <a:ext cx="338813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629508" y="3107478"/>
            <a:ext cx="331798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629508" y="3133090"/>
            <a:ext cx="324783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3629508" y="3158702"/>
            <a:ext cx="317768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3629508" y="3184313"/>
            <a:ext cx="310754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3629508" y="3209925"/>
            <a:ext cx="303739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3629508" y="3235537"/>
            <a:ext cx="296724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3629508" y="3261148"/>
            <a:ext cx="289709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3629508" y="3286760"/>
            <a:ext cx="282695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3629508" y="3312372"/>
            <a:ext cx="275680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629508" y="3337983"/>
            <a:ext cx="268665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629508" y="3363595"/>
            <a:ext cx="261650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629508" y="3389207"/>
            <a:ext cx="254636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3629508" y="3414818"/>
            <a:ext cx="24762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629508" y="3440430"/>
            <a:ext cx="240606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3629508" y="3466042"/>
            <a:ext cx="233591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3629508" y="3491653"/>
            <a:ext cx="226576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3629508" y="3517265"/>
            <a:ext cx="219562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3629508" y="3542877"/>
            <a:ext cx="212547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3629508" y="3568488"/>
            <a:ext cx="205532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3629508" y="3594100"/>
            <a:ext cx="204550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3629508" y="3619712"/>
            <a:ext cx="20960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3629508" y="3645323"/>
            <a:ext cx="214651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3629508" y="3670935"/>
            <a:ext cx="219702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3629508" y="3696547"/>
            <a:ext cx="224753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3629508" y="3722158"/>
            <a:ext cx="229803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3629508" y="3747770"/>
            <a:ext cx="234854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3629508" y="3773382"/>
            <a:ext cx="239905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3629508" y="3798993"/>
            <a:ext cx="244955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3629508" y="3824605"/>
            <a:ext cx="250006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3629508" y="3850217"/>
            <a:ext cx="255056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3629508" y="3875828"/>
            <a:ext cx="26010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3629508" y="3901440"/>
            <a:ext cx="265158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3629508" y="3927052"/>
            <a:ext cx="270208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3629508" y="3952663"/>
            <a:ext cx="275259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3629508" y="3978275"/>
            <a:ext cx="280310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3629508" y="4003887"/>
            <a:ext cx="285360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3629508" y="4029498"/>
            <a:ext cx="290411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3629508" y="4055110"/>
            <a:ext cx="295461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3629508" y="4080722"/>
            <a:ext cx="300512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3629508" y="4106333"/>
            <a:ext cx="305563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3629508" y="4131945"/>
            <a:ext cx="310613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3629508" y="4157557"/>
            <a:ext cx="315664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3629508" y="4183168"/>
            <a:ext cx="320715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3629508" y="4208780"/>
            <a:ext cx="321416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3629508" y="4234392"/>
            <a:ext cx="317768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3629508" y="4260003"/>
            <a:ext cx="31412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3629508" y="4285615"/>
            <a:ext cx="310473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3629508" y="4311227"/>
            <a:ext cx="306825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629508" y="4336838"/>
            <a:ext cx="303178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629508" y="4362450"/>
            <a:ext cx="299530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629508" y="4388062"/>
            <a:ext cx="295882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3629508" y="4413673"/>
            <a:ext cx="292235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3629508" y="4439285"/>
            <a:ext cx="28858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3629508" y="4464897"/>
            <a:ext cx="284939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3629508" y="4490508"/>
            <a:ext cx="281292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629508" y="4516120"/>
            <a:ext cx="277644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629508" y="4541732"/>
            <a:ext cx="273996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629508" y="4567343"/>
            <a:ext cx="270349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3629508" y="4592955"/>
            <a:ext cx="266701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3629508" y="4618567"/>
            <a:ext cx="263053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3629508" y="4644178"/>
            <a:ext cx="259406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3629508" y="4669790"/>
            <a:ext cx="255758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629508" y="4695402"/>
            <a:ext cx="252110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629508" y="4721013"/>
            <a:ext cx="248463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629508" y="4746625"/>
            <a:ext cx="244815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629508" y="4772237"/>
            <a:ext cx="241167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3629508" y="4797848"/>
            <a:ext cx="237520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6344222" y="2364740"/>
            <a:ext cx="167652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6386310" y="2390352"/>
            <a:ext cx="166249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428399" y="2415963"/>
            <a:ext cx="164847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470488" y="2441575"/>
            <a:ext cx="163444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512576" y="2467187"/>
            <a:ext cx="162041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554665" y="2492798"/>
            <a:ext cx="160638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596753" y="2518410"/>
            <a:ext cx="159235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638842" y="2544022"/>
            <a:ext cx="157832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6680931" y="2569633"/>
            <a:ext cx="156429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6723019" y="2595245"/>
            <a:ext cx="155026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6765108" y="2620857"/>
            <a:ext cx="15362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6807196" y="2646468"/>
            <a:ext cx="152220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6849285" y="2672080"/>
            <a:ext cx="150817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6891374" y="2697692"/>
            <a:ext cx="149414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6933462" y="2723303"/>
            <a:ext cx="148011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975551" y="2748915"/>
            <a:ext cx="146608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017639" y="2774527"/>
            <a:ext cx="145205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7059728" y="2800138"/>
            <a:ext cx="143802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101817" y="2825750"/>
            <a:ext cx="142399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7143905" y="2851362"/>
            <a:ext cx="140996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7185994" y="2876973"/>
            <a:ext cx="139593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7228082" y="2902585"/>
            <a:ext cx="138190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7270171" y="2928197"/>
            <a:ext cx="136787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7312260" y="2953808"/>
            <a:ext cx="135385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7298230" y="2979420"/>
            <a:ext cx="136787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7228082" y="3005032"/>
            <a:ext cx="140996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7157935" y="3030643"/>
            <a:ext cx="145205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7087787" y="3056255"/>
            <a:ext cx="149414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7017639" y="3081867"/>
            <a:ext cx="15362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947492" y="3107478"/>
            <a:ext cx="157832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877344" y="3133090"/>
            <a:ext cx="162041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807196" y="3158702"/>
            <a:ext cx="166249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737049" y="3184313"/>
            <a:ext cx="170458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666901" y="3209925"/>
            <a:ext cx="174667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596753" y="3235537"/>
            <a:ext cx="178876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6526606" y="3261148"/>
            <a:ext cx="183085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456458" y="3286760"/>
            <a:ext cx="187294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6386310" y="3312372"/>
            <a:ext cx="191503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6316163" y="3337983"/>
            <a:ext cx="195712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246015" y="3363595"/>
            <a:ext cx="199920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175868" y="3389207"/>
            <a:ext cx="204129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105720" y="3414818"/>
            <a:ext cx="208338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035572" y="3440430"/>
            <a:ext cx="212547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965425" y="3466042"/>
            <a:ext cx="216756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5895277" y="3491653"/>
            <a:ext cx="220965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5825129" y="3517265"/>
            <a:ext cx="225174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5754982" y="3542877"/>
            <a:ext cx="229382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5684834" y="3568488"/>
            <a:ext cx="233591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5675013" y="3594100"/>
            <a:ext cx="233872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5725520" y="3619712"/>
            <a:ext cx="230224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5776026" y="3645323"/>
            <a:ext cx="226576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5826532" y="3670935"/>
            <a:ext cx="222929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877039" y="3696547"/>
            <a:ext cx="219281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5927545" y="3722158"/>
            <a:ext cx="215633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5978051" y="3747770"/>
            <a:ext cx="211986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028557" y="3773382"/>
            <a:ext cx="208338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079064" y="3798993"/>
            <a:ext cx="204690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129570" y="3824605"/>
            <a:ext cx="201043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180076" y="3850217"/>
            <a:ext cx="197395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230583" y="3875828"/>
            <a:ext cx="193747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281089" y="3901440"/>
            <a:ext cx="190100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331595" y="3927052"/>
            <a:ext cx="186452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382102" y="3952663"/>
            <a:ext cx="182804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432608" y="3978275"/>
            <a:ext cx="179157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6483114" y="4003887"/>
            <a:ext cx="175509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6533621" y="4029498"/>
            <a:ext cx="171861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6584127" y="4055110"/>
            <a:ext cx="168214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6634633" y="4080722"/>
            <a:ext cx="164566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6685140" y="4106333"/>
            <a:ext cx="160918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6735646" y="4131945"/>
            <a:ext cx="157271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6786152" y="4157557"/>
            <a:ext cx="15362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6836658" y="4183168"/>
            <a:ext cx="149975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6843673" y="4208780"/>
            <a:ext cx="149274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6807196" y="4234392"/>
            <a:ext cx="151518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6770720" y="4260003"/>
            <a:ext cx="153763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6734243" y="4285615"/>
            <a:ext cx="156008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6697766" y="4311227"/>
            <a:ext cx="158253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6661289" y="4336838"/>
            <a:ext cx="160497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6624813" y="4362450"/>
            <a:ext cx="162742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6588336" y="4388062"/>
            <a:ext cx="164987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6551859" y="4413673"/>
            <a:ext cx="167232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6515382" y="4439285"/>
            <a:ext cx="169476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6478905" y="4464897"/>
            <a:ext cx="171721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6442429" y="4490508"/>
            <a:ext cx="173966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6405952" y="4516120"/>
            <a:ext cx="176210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6369475" y="4541732"/>
            <a:ext cx="178455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6332998" y="4567343"/>
            <a:ext cx="180700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8" name="Shape 206"/>
          <p:cNvSpPr/>
          <p:nvPr/>
        </p:nvSpPr>
        <p:spPr>
          <a:xfrm>
            <a:off x="6296521" y="4592955"/>
            <a:ext cx="182945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9" name="Shape 207"/>
          <p:cNvSpPr/>
          <p:nvPr/>
        </p:nvSpPr>
        <p:spPr>
          <a:xfrm>
            <a:off x="6260045" y="4618567"/>
            <a:ext cx="185189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0" name="Shape 208"/>
          <p:cNvSpPr/>
          <p:nvPr/>
        </p:nvSpPr>
        <p:spPr>
          <a:xfrm>
            <a:off x="6223568" y="4644178"/>
            <a:ext cx="187434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1" name="Shape 209"/>
          <p:cNvSpPr/>
          <p:nvPr/>
        </p:nvSpPr>
        <p:spPr>
          <a:xfrm>
            <a:off x="6187091" y="4669790"/>
            <a:ext cx="189679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150614" y="4695402"/>
            <a:ext cx="191924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3" name="Shape 211"/>
          <p:cNvSpPr/>
          <p:nvPr/>
        </p:nvSpPr>
        <p:spPr>
          <a:xfrm>
            <a:off x="6114138" y="4721013"/>
            <a:ext cx="194168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4" name="Shape 212"/>
          <p:cNvSpPr/>
          <p:nvPr/>
        </p:nvSpPr>
        <p:spPr>
          <a:xfrm>
            <a:off x="6077661" y="4746625"/>
            <a:ext cx="19641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5" name="Shape 213"/>
          <p:cNvSpPr/>
          <p:nvPr/>
        </p:nvSpPr>
        <p:spPr>
          <a:xfrm>
            <a:off x="6041184" y="4772237"/>
            <a:ext cx="198658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6" name="Shape 214"/>
          <p:cNvSpPr/>
          <p:nvPr/>
        </p:nvSpPr>
        <p:spPr>
          <a:xfrm>
            <a:off x="6004707" y="4797848"/>
            <a:ext cx="2009029" cy="31962"/>
          </a:xfrm>
          <a:prstGeom prst="rect">
            <a:avLst/>
          </a:prstGeom>
          <a:solidFill>
            <a:srgbClr val="1BAF7A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92</Slides>
  <Notes>92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92</vt:i4>
      </vt:variant>
    </vt:vector>
  </HeadingPairs>
  <TitlesOfParts>
    <vt:vector size="9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2026-07-05T16:59:28Z</dcterms:created>
  <dcterms:modified xsi:type="dcterms:W3CDTF">2026-07-05T16:59:28Z</dcterms:modified>
</cp:coreProperties>
</file>
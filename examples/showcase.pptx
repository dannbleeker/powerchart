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</p:sldIdLst>
  <p:notesMasterIdLst>
    <p:notesMasterId r:id="rId9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notesMaster" Target="notesMasters/notesMaster1.xml"/><Relationship Id="rId97" Type="http://schemas.openxmlformats.org/officeDocument/2006/relationships/presProps" Target="presProps.xml"/><Relationship Id="rId98" Type="http://schemas.openxmlformats.org/officeDocument/2006/relationships/viewProps" Target="viewProps.xml"/><Relationship Id="rId99" Type="http://schemas.openxmlformats.org/officeDocument/2006/relationships/theme" Target="theme/theme1.xml"/><Relationship Id="rId10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Stacked — Revenue by segment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V="1">
            <a:off x="3720948" y="2405973"/>
            <a:ext cx="388620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4680000">
            <a:off x="7543648" y="2342473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5092548" y="2202773"/>
            <a:ext cx="1143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+15.2% p.a.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 — Sales by quarter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12643" y="3425190"/>
            <a:ext cx="453390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261843" y="417004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78733" y="3065145"/>
            <a:ext cx="453390" cy="20402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3727933" y="3990023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10913" y="3185160"/>
            <a:ext cx="453390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660113" y="4050030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177003" y="2905125"/>
            <a:ext cx="453390" cy="22002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5126203" y="3910013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9183" y="3305175"/>
            <a:ext cx="453390" cy="18002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6058383" y="411003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75273" y="2785110"/>
            <a:ext cx="453390" cy="23202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" name="Text 16"/>
          <p:cNvSpPr/>
          <p:nvPr/>
        </p:nvSpPr>
        <p:spPr>
          <a:xfrm>
            <a:off x="6524473" y="385000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7453" y="2665095"/>
            <a:ext cx="453390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456653" y="378999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973543" y="2305050"/>
            <a:ext cx="453390" cy="28003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7922743" y="360997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17128" y="361950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717128" y="37995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— Channel mix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85793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98338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10883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2005" y="3345180"/>
            <a:ext cx="875030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1205" y="413004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2005" y="2385060"/>
            <a:ext cx="875030" cy="9601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1205" y="276987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92005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41205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604550" y="3537204"/>
            <a:ext cx="875030" cy="156819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53750" y="422605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604550" y="2385060"/>
            <a:ext cx="875030" cy="115214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53750" y="286588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604550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53750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17095" y="3697224"/>
            <a:ext cx="875030" cy="140817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66295" y="430606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917095" y="2385060"/>
            <a:ext cx="875030" cy="131216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66295" y="294589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917095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66295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229640" y="3889248"/>
            <a:ext cx="875030" cy="121615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78840" y="4402074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229640" y="2385060"/>
            <a:ext cx="875030" cy="150418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78840" y="3041904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229640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78840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5105400"/>
            <a:ext cx="52501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74228" y="2059305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74228" y="3051429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74228" y="4411599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Waterfall — EBITDA bridge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765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798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0831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0864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0897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0464" y="3270504"/>
            <a:ext cx="668867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164264" y="409270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909331" y="3270504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4243764" y="2971800"/>
            <a:ext cx="668867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167564" y="302590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12631" y="297180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5247064" y="2779776"/>
            <a:ext cx="668867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170864" y="2780538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15931" y="2779776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6250364" y="2779776"/>
            <a:ext cx="668867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9" name="Text 17"/>
          <p:cNvSpPr/>
          <p:nvPr/>
        </p:nvSpPr>
        <p:spPr>
          <a:xfrm>
            <a:off x="6174164" y="281254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919231" y="3035808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253664" y="3035808"/>
            <a:ext cx="668867" cy="8534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77464" y="2851658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22531" y="3121152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8256964" y="3121152"/>
            <a:ext cx="668867" cy="198424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8180764" y="4018026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575050"/>
            <a:ext cx="1632527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047848" y="4244975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073248" y="2554817"/>
            <a:ext cx="1632527" cy="10202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2969683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073248" y="2044700"/>
            <a:ext cx="1632527" cy="510117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2204508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22448" y="1860550"/>
            <a:ext cx="1734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31175" y="3575050"/>
            <a:ext cx="2137833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05775" y="4244975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31175" y="2740314"/>
            <a:ext cx="2137833" cy="83473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05775" y="3062432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31175" y="2044700"/>
            <a:ext cx="2137833" cy="69561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05775" y="2297257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680375" y="1860550"/>
            <a:ext cx="22394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894408" y="4318363"/>
            <a:ext cx="1360439" cy="78703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69008" y="4616631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894408" y="3356429"/>
            <a:ext cx="1360439" cy="96193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69008" y="3742146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894408" y="2044700"/>
            <a:ext cx="1360439" cy="131172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69008" y="2605314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43608" y="1860550"/>
            <a:ext cx="146203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Mekko — Revenue by region and segment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022448" y="5143500"/>
            <a:ext cx="1734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(32%)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680375" y="5143500"/>
            <a:ext cx="22394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(42%)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843608" y="5143500"/>
            <a:ext cx="146203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(27%)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05648" y="261483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305648" y="375167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305648" y="4626156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Line — Gross margin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3053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5052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7051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947262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3977742" y="3025140"/>
            <a:ext cx="996188" cy="1600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943450" y="29946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4973930" y="2905125"/>
            <a:ext cx="996188" cy="12001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3963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5970118" y="2665095"/>
            <a:ext cx="996188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935826" y="263461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6966306" y="2465070"/>
            <a:ext cx="996188" cy="2000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932014" y="243459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947262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3977742" y="3425190"/>
            <a:ext cx="996188" cy="800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43450" y="33947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973930" y="3425190"/>
            <a:ext cx="996188" cy="40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39638" y="343471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5970118" y="330517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935826" y="327469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6966306" y="314515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932014" y="311467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511388" y="23793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511388" y="305943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Area — Active users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977742" y="4673346"/>
            <a:ext cx="47858" cy="43205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019249" y="4662678"/>
            <a:ext cx="47858" cy="4427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060757" y="4652010"/>
            <a:ext cx="47858" cy="4533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102265" y="4641342"/>
            <a:ext cx="47858" cy="4640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4143773" y="4630674"/>
            <a:ext cx="47858" cy="4747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4185281" y="4620006"/>
            <a:ext cx="47858" cy="4853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4226789" y="4609338"/>
            <a:ext cx="47858" cy="4960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4268296" y="4598670"/>
            <a:ext cx="47858" cy="50673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4309804" y="4588002"/>
            <a:ext cx="47858" cy="5173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351312" y="4577334"/>
            <a:ext cx="47858" cy="52806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392820" y="4566666"/>
            <a:ext cx="47858" cy="5387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434328" y="4555998"/>
            <a:ext cx="47858" cy="5494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75836" y="4545330"/>
            <a:ext cx="47858" cy="5600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517343" y="4534662"/>
            <a:ext cx="47858" cy="5707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558851" y="4523994"/>
            <a:ext cx="47858" cy="5814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600359" y="4513326"/>
            <a:ext cx="47858" cy="5920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641867" y="4502658"/>
            <a:ext cx="47858" cy="6027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683375" y="4491990"/>
            <a:ext cx="47858" cy="6134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724883" y="4481322"/>
            <a:ext cx="47858" cy="6240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766390" y="4470654"/>
            <a:ext cx="47858" cy="6347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807898" y="4459986"/>
            <a:ext cx="47858" cy="6454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849406" y="4449318"/>
            <a:ext cx="47858" cy="6560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890914" y="4438650"/>
            <a:ext cx="47858" cy="6667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932422" y="4427982"/>
            <a:ext cx="47858" cy="6774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973930" y="4416870"/>
            <a:ext cx="47858" cy="6885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015437" y="4405313"/>
            <a:ext cx="47858" cy="7000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056945" y="4393756"/>
            <a:ext cx="47858" cy="7116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5098453" y="4382199"/>
            <a:ext cx="47858" cy="72320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5139961" y="4370642"/>
            <a:ext cx="47858" cy="7347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5181469" y="4359085"/>
            <a:ext cx="47858" cy="7463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5222977" y="4347528"/>
            <a:ext cx="47858" cy="7578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5264484" y="4335971"/>
            <a:ext cx="47858" cy="7694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5305992" y="4324414"/>
            <a:ext cx="47858" cy="7809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5347500" y="4312857"/>
            <a:ext cx="47858" cy="7925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389008" y="4301300"/>
            <a:ext cx="47858" cy="8041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30516" y="4289743"/>
            <a:ext cx="47858" cy="8156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472024" y="4278186"/>
            <a:ext cx="47858" cy="8272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513531" y="4266629"/>
            <a:ext cx="47858" cy="8387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555039" y="4255072"/>
            <a:ext cx="47858" cy="85032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596547" y="4243515"/>
            <a:ext cx="47858" cy="8618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638055" y="4231958"/>
            <a:ext cx="47858" cy="8734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679563" y="4220401"/>
            <a:ext cx="47858" cy="8850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721071" y="4208844"/>
            <a:ext cx="47858" cy="8965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762578" y="4197287"/>
            <a:ext cx="47858" cy="9081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804086" y="4185730"/>
            <a:ext cx="47858" cy="9196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845594" y="4174173"/>
            <a:ext cx="47858" cy="9312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87102" y="4162616"/>
            <a:ext cx="47858" cy="94278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928610" y="4151059"/>
            <a:ext cx="47858" cy="9543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970118" y="4138613"/>
            <a:ext cx="47858" cy="9667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6011625" y="4125278"/>
            <a:ext cx="47858" cy="9801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6053133" y="4111943"/>
            <a:ext cx="47858" cy="9934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6094641" y="4098608"/>
            <a:ext cx="47858" cy="10067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6136149" y="4085273"/>
            <a:ext cx="47858" cy="10201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6177657" y="4071938"/>
            <a:ext cx="47858" cy="10334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6219165" y="4058603"/>
            <a:ext cx="47858" cy="10467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6260672" y="4045268"/>
            <a:ext cx="47858" cy="10601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302180" y="4031933"/>
            <a:ext cx="47858" cy="10734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343688" y="4018598"/>
            <a:ext cx="47858" cy="10868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385196" y="4005263"/>
            <a:ext cx="47858" cy="11001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426704" y="3991927"/>
            <a:ext cx="47858" cy="11134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468212" y="3978593"/>
            <a:ext cx="47858" cy="11268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6509719" y="3965257"/>
            <a:ext cx="47858" cy="11401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551227" y="3951923"/>
            <a:ext cx="47858" cy="11534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6592735" y="3938588"/>
            <a:ext cx="47858" cy="116681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6634243" y="3925253"/>
            <a:ext cx="47858" cy="11801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6675751" y="3911918"/>
            <a:ext cx="47858" cy="11934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6717259" y="3898583"/>
            <a:ext cx="47858" cy="12068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6758766" y="3885248"/>
            <a:ext cx="47858" cy="122015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6800274" y="3871913"/>
            <a:ext cx="47858" cy="12334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6841782" y="3858578"/>
            <a:ext cx="47858" cy="12468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883290" y="3845243"/>
            <a:ext cx="47858" cy="12601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6924798" y="3831908"/>
            <a:ext cx="47858" cy="127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6966306" y="3819017"/>
            <a:ext cx="47858" cy="128638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7007813" y="3806571"/>
            <a:ext cx="47858" cy="12988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7049321" y="3794125"/>
            <a:ext cx="47858" cy="13112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7090829" y="3781679"/>
            <a:ext cx="47858" cy="132372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7132337" y="3769233"/>
            <a:ext cx="47858" cy="13361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7173845" y="3756787"/>
            <a:ext cx="47858" cy="13486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7215353" y="3744341"/>
            <a:ext cx="47858" cy="136105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7256860" y="3731895"/>
            <a:ext cx="47858" cy="13735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7298368" y="3719449"/>
            <a:ext cx="47858" cy="13859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7339876" y="3707003"/>
            <a:ext cx="47858" cy="139839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7381384" y="3694557"/>
            <a:ext cx="47858" cy="14108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7422892" y="3682111"/>
            <a:ext cx="47858" cy="142328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7464400" y="3669665"/>
            <a:ext cx="47858" cy="14357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7505907" y="3657219"/>
            <a:ext cx="47858" cy="14481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7547415" y="3644773"/>
            <a:ext cx="47858" cy="14606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7588923" y="3632327"/>
            <a:ext cx="47858" cy="14730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7630431" y="3619881"/>
            <a:ext cx="47858" cy="14855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7671939" y="3607435"/>
            <a:ext cx="47858" cy="14979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7713447" y="3594989"/>
            <a:ext cx="47858" cy="151041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7754954" y="3582543"/>
            <a:ext cx="47858" cy="15228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7796462" y="3570097"/>
            <a:ext cx="47858" cy="153530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7837970" y="3557651"/>
            <a:ext cx="47858" cy="154774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7879478" y="3545205"/>
            <a:ext cx="47858" cy="15601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7920986" y="3532759"/>
            <a:ext cx="47858" cy="15726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977742" y="3925697"/>
            <a:ext cx="47858" cy="7476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4019249" y="3913251"/>
            <a:ext cx="47858" cy="74942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3" name="Shape 111"/>
          <p:cNvSpPr/>
          <p:nvPr/>
        </p:nvSpPr>
        <p:spPr>
          <a:xfrm>
            <a:off x="4060757" y="3900805"/>
            <a:ext cx="47858" cy="7512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4" name="Shape 112"/>
          <p:cNvSpPr/>
          <p:nvPr/>
        </p:nvSpPr>
        <p:spPr>
          <a:xfrm>
            <a:off x="4102265" y="3888359"/>
            <a:ext cx="47858" cy="7529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5" name="Shape 113"/>
          <p:cNvSpPr/>
          <p:nvPr/>
        </p:nvSpPr>
        <p:spPr>
          <a:xfrm>
            <a:off x="4143773" y="3875913"/>
            <a:ext cx="47858" cy="7547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6" name="Shape 114"/>
          <p:cNvSpPr/>
          <p:nvPr/>
        </p:nvSpPr>
        <p:spPr>
          <a:xfrm>
            <a:off x="4185281" y="3863467"/>
            <a:ext cx="47858" cy="75653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4226789" y="3851021"/>
            <a:ext cx="47858" cy="7583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4268296" y="3838575"/>
            <a:ext cx="47858" cy="7600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9" name="Shape 117"/>
          <p:cNvSpPr/>
          <p:nvPr/>
        </p:nvSpPr>
        <p:spPr>
          <a:xfrm>
            <a:off x="4309804" y="3826129"/>
            <a:ext cx="47858" cy="76187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351312" y="3813683"/>
            <a:ext cx="47858" cy="7636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392820" y="3801237"/>
            <a:ext cx="47858" cy="7654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434328" y="3788791"/>
            <a:ext cx="47858" cy="7672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475836" y="3776345"/>
            <a:ext cx="47858" cy="76898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517343" y="3763899"/>
            <a:ext cx="47858" cy="7707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558851" y="3751453"/>
            <a:ext cx="47858" cy="77254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600359" y="3739007"/>
            <a:ext cx="47858" cy="77431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641867" y="3726561"/>
            <a:ext cx="47858" cy="7760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683375" y="3714115"/>
            <a:ext cx="47858" cy="7778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724883" y="3701669"/>
            <a:ext cx="47858" cy="7796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766390" y="3689223"/>
            <a:ext cx="47858" cy="7814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807898" y="3676777"/>
            <a:ext cx="47858" cy="78320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849406" y="3664331"/>
            <a:ext cx="47858" cy="7849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890914" y="3651885"/>
            <a:ext cx="47858" cy="7867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932422" y="3639439"/>
            <a:ext cx="47858" cy="78854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973930" y="3627882"/>
            <a:ext cx="47858" cy="78898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015437" y="3617214"/>
            <a:ext cx="47858" cy="78809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056945" y="3606546"/>
            <a:ext cx="47858" cy="78721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5098453" y="3595878"/>
            <a:ext cx="47858" cy="78632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5139961" y="3585210"/>
            <a:ext cx="47858" cy="785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5181469" y="3574542"/>
            <a:ext cx="47858" cy="78454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5222977" y="3563874"/>
            <a:ext cx="47858" cy="78365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5264484" y="3553206"/>
            <a:ext cx="47858" cy="7827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5305992" y="3542538"/>
            <a:ext cx="47858" cy="7818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5347500" y="3531870"/>
            <a:ext cx="47858" cy="7809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5389008" y="3521202"/>
            <a:ext cx="47858" cy="7800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5430516" y="3510534"/>
            <a:ext cx="47858" cy="77920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5472024" y="3499866"/>
            <a:ext cx="47858" cy="7783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5513531" y="3489198"/>
            <a:ext cx="47858" cy="7774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5555039" y="3478530"/>
            <a:ext cx="47858" cy="7765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5596547" y="3467862"/>
            <a:ext cx="47858" cy="7756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5638055" y="3457194"/>
            <a:ext cx="47858" cy="7747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5679563" y="3446526"/>
            <a:ext cx="47858" cy="7738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5721071" y="3435858"/>
            <a:ext cx="47858" cy="7729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5762578" y="3425190"/>
            <a:ext cx="47858" cy="7720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5804086" y="3414522"/>
            <a:ext cx="47858" cy="77120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5845594" y="3403854"/>
            <a:ext cx="47858" cy="77031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5887102" y="3393186"/>
            <a:ext cx="47858" cy="7694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5928610" y="3382518"/>
            <a:ext cx="47858" cy="76854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5970118" y="3371405"/>
            <a:ext cx="47858" cy="7672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6011625" y="3359849"/>
            <a:ext cx="47858" cy="7654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6053133" y="3348292"/>
            <a:ext cx="47858" cy="7636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6094641" y="3336735"/>
            <a:ext cx="47858" cy="76187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6136149" y="3325178"/>
            <a:ext cx="47858" cy="7600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6177657" y="3313621"/>
            <a:ext cx="47858" cy="7583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219165" y="3302064"/>
            <a:ext cx="47858" cy="75653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6260672" y="3290507"/>
            <a:ext cx="47858" cy="7547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302180" y="3278950"/>
            <a:ext cx="47858" cy="7529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6343688" y="3267392"/>
            <a:ext cx="47858" cy="7512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6385196" y="3255836"/>
            <a:ext cx="47858" cy="74942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426704" y="3244279"/>
            <a:ext cx="47858" cy="7476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6468212" y="3232722"/>
            <a:ext cx="47858" cy="74587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6509719" y="3221165"/>
            <a:ext cx="47858" cy="744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6551227" y="3209608"/>
            <a:ext cx="47858" cy="7423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592735" y="3198051"/>
            <a:ext cx="47858" cy="74053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6634243" y="3186493"/>
            <a:ext cx="47858" cy="73875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6" name="Shape 174"/>
          <p:cNvSpPr/>
          <p:nvPr/>
        </p:nvSpPr>
        <p:spPr>
          <a:xfrm>
            <a:off x="6675751" y="3174937"/>
            <a:ext cx="47858" cy="73698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6717259" y="3163380"/>
            <a:ext cx="47858" cy="73520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8" name="Shape 176"/>
          <p:cNvSpPr/>
          <p:nvPr/>
        </p:nvSpPr>
        <p:spPr>
          <a:xfrm>
            <a:off x="6758766" y="3151823"/>
            <a:ext cx="47858" cy="73342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800274" y="3140265"/>
            <a:ext cx="47858" cy="73164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841782" y="3128709"/>
            <a:ext cx="47858" cy="72986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883290" y="3117152"/>
            <a:ext cx="47858" cy="72809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924798" y="3105595"/>
            <a:ext cx="47858" cy="7263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3" name="Shape 181"/>
          <p:cNvSpPr/>
          <p:nvPr/>
        </p:nvSpPr>
        <p:spPr>
          <a:xfrm>
            <a:off x="6966306" y="3095371"/>
            <a:ext cx="47858" cy="72364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4" name="Shape 182"/>
          <p:cNvSpPr/>
          <p:nvPr/>
        </p:nvSpPr>
        <p:spPr>
          <a:xfrm>
            <a:off x="7007813" y="3086481"/>
            <a:ext cx="47858" cy="7200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7049321" y="3077591"/>
            <a:ext cx="47858" cy="71653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6" name="Shape 184"/>
          <p:cNvSpPr/>
          <p:nvPr/>
        </p:nvSpPr>
        <p:spPr>
          <a:xfrm>
            <a:off x="7090829" y="3068701"/>
            <a:ext cx="47858" cy="71297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7" name="Shape 185"/>
          <p:cNvSpPr/>
          <p:nvPr/>
        </p:nvSpPr>
        <p:spPr>
          <a:xfrm>
            <a:off x="7132337" y="3059811"/>
            <a:ext cx="47858" cy="70942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8" name="Shape 186"/>
          <p:cNvSpPr/>
          <p:nvPr/>
        </p:nvSpPr>
        <p:spPr>
          <a:xfrm>
            <a:off x="7173845" y="3050921"/>
            <a:ext cx="47858" cy="70586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9" name="Shape 187"/>
          <p:cNvSpPr/>
          <p:nvPr/>
        </p:nvSpPr>
        <p:spPr>
          <a:xfrm>
            <a:off x="7215353" y="3042031"/>
            <a:ext cx="47858" cy="70231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0" name="Shape 188"/>
          <p:cNvSpPr/>
          <p:nvPr/>
        </p:nvSpPr>
        <p:spPr>
          <a:xfrm>
            <a:off x="7256860" y="3033141"/>
            <a:ext cx="47858" cy="69875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1" name="Shape 189"/>
          <p:cNvSpPr/>
          <p:nvPr/>
        </p:nvSpPr>
        <p:spPr>
          <a:xfrm>
            <a:off x="7298368" y="3024251"/>
            <a:ext cx="47858" cy="6951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7339876" y="3015361"/>
            <a:ext cx="47858" cy="6916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3" name="Shape 191"/>
          <p:cNvSpPr/>
          <p:nvPr/>
        </p:nvSpPr>
        <p:spPr>
          <a:xfrm>
            <a:off x="7381384" y="3006471"/>
            <a:ext cx="47858" cy="6880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4" name="Shape 192"/>
          <p:cNvSpPr/>
          <p:nvPr/>
        </p:nvSpPr>
        <p:spPr>
          <a:xfrm>
            <a:off x="7422892" y="2997581"/>
            <a:ext cx="47858" cy="6845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5" name="Shape 193"/>
          <p:cNvSpPr/>
          <p:nvPr/>
        </p:nvSpPr>
        <p:spPr>
          <a:xfrm>
            <a:off x="7464400" y="2988691"/>
            <a:ext cx="47858" cy="68097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6" name="Shape 194"/>
          <p:cNvSpPr/>
          <p:nvPr/>
        </p:nvSpPr>
        <p:spPr>
          <a:xfrm>
            <a:off x="7505907" y="2979801"/>
            <a:ext cx="47858" cy="67741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7" name="Shape 195"/>
          <p:cNvSpPr/>
          <p:nvPr/>
        </p:nvSpPr>
        <p:spPr>
          <a:xfrm>
            <a:off x="7547415" y="2970911"/>
            <a:ext cx="47858" cy="6738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8" name="Shape 196"/>
          <p:cNvSpPr/>
          <p:nvPr/>
        </p:nvSpPr>
        <p:spPr>
          <a:xfrm>
            <a:off x="7588923" y="2962021"/>
            <a:ext cx="47858" cy="67030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9" name="Shape 197"/>
          <p:cNvSpPr/>
          <p:nvPr/>
        </p:nvSpPr>
        <p:spPr>
          <a:xfrm>
            <a:off x="7630431" y="2953131"/>
            <a:ext cx="47858" cy="6667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7671939" y="2944241"/>
            <a:ext cx="47858" cy="6631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1" name="Shape 199"/>
          <p:cNvSpPr/>
          <p:nvPr/>
        </p:nvSpPr>
        <p:spPr>
          <a:xfrm>
            <a:off x="7713447" y="2935351"/>
            <a:ext cx="47858" cy="65963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2" name="Shape 200"/>
          <p:cNvSpPr/>
          <p:nvPr/>
        </p:nvSpPr>
        <p:spPr>
          <a:xfrm>
            <a:off x="7754954" y="2926461"/>
            <a:ext cx="47858" cy="65608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3" name="Shape 201"/>
          <p:cNvSpPr/>
          <p:nvPr/>
        </p:nvSpPr>
        <p:spPr>
          <a:xfrm>
            <a:off x="7796462" y="2917571"/>
            <a:ext cx="47858" cy="65252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4" name="Shape 202"/>
          <p:cNvSpPr/>
          <p:nvPr/>
        </p:nvSpPr>
        <p:spPr>
          <a:xfrm>
            <a:off x="7837970" y="2908681"/>
            <a:ext cx="47858" cy="64897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5" name="Shape 203"/>
          <p:cNvSpPr/>
          <p:nvPr/>
        </p:nvSpPr>
        <p:spPr>
          <a:xfrm>
            <a:off x="7879478" y="2899791"/>
            <a:ext cx="47858" cy="64541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6" name="Shape 204"/>
          <p:cNvSpPr/>
          <p:nvPr/>
        </p:nvSpPr>
        <p:spPr>
          <a:xfrm>
            <a:off x="7920986" y="2890901"/>
            <a:ext cx="47858" cy="64185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8" name="Text 206"/>
          <p:cNvSpPr/>
          <p:nvPr/>
        </p:nvSpPr>
        <p:spPr>
          <a:xfrm>
            <a:off x="8511388" y="312077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Desktop</a:t>
            </a:r>
            <a:endParaRPr lang="en-US" sz="1000" dirty="0"/>
          </a:p>
        </p:txBody>
      </p:sp>
      <p:sp>
        <p:nvSpPr>
          <p:cNvPr id="209" name="Text 207"/>
          <p:cNvSpPr/>
          <p:nvPr/>
        </p:nvSpPr>
        <p:spPr>
          <a:xfrm>
            <a:off x="8511388" y="4230243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Mobile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— Headcount by age band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7964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34349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48198" y="226187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604709" y="2140373"/>
            <a:ext cx="1243489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4604709" y="226187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343498" y="2140373"/>
            <a:ext cx="1125061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" name="Text 7"/>
          <p:cNvSpPr/>
          <p:nvPr/>
        </p:nvSpPr>
        <p:spPr>
          <a:xfrm>
            <a:off x="6343498" y="2261870"/>
            <a:ext cx="11250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848198" y="291211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042178" y="2790613"/>
            <a:ext cx="1806019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042178" y="2912110"/>
            <a:ext cx="18060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43498" y="2790613"/>
            <a:ext cx="1924447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6343498" y="2912110"/>
            <a:ext cx="19244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848198" y="356235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249426" y="3440853"/>
            <a:ext cx="159877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4249426" y="3562350"/>
            <a:ext cx="159877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343498" y="3440853"/>
            <a:ext cx="1776413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" name="Text 17"/>
          <p:cNvSpPr/>
          <p:nvPr/>
        </p:nvSpPr>
        <p:spPr>
          <a:xfrm>
            <a:off x="6343498" y="3562350"/>
            <a:ext cx="17764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848198" y="421259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900778" y="4091093"/>
            <a:ext cx="947420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4900778" y="4212590"/>
            <a:ext cx="947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343498" y="4091093"/>
            <a:ext cx="1213882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6343498" y="4212590"/>
            <a:ext cx="12138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848198" y="486283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492915" y="4741333"/>
            <a:ext cx="355282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Text 25"/>
          <p:cNvSpPr/>
          <p:nvPr/>
        </p:nvSpPr>
        <p:spPr>
          <a:xfrm>
            <a:off x="5492915" y="4862830"/>
            <a:ext cx="3552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343498" y="4741333"/>
            <a:ext cx="473710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9" name="Text 27"/>
          <p:cNvSpPr/>
          <p:nvPr/>
        </p:nvSpPr>
        <p:spPr>
          <a:xfrm>
            <a:off x="6343498" y="4862830"/>
            <a:ext cx="473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8481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434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— Price vs. margin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" name="Text 21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" name="Text 23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275938" y="395922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179860" y="301466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22848" y="350583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265835" y="244792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752563" y="3770313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586953" y="282575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527523" y="426148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779108" y="320357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377538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281460" y="297021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324448" y="346138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7367435" y="24034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854163" y="372586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056093" y="278130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629123" y="421703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880708" y="315912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Bubble — Market map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" name="Text 21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" name="Text 23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417950" y="2120688"/>
            <a:ext cx="573498" cy="573498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417950" y="1949238"/>
            <a:ext cx="573498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7910825" y="2288662"/>
            <a:ext cx="405524" cy="405524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910825" y="2033225"/>
            <a:ext cx="40552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4223360" y="3906647"/>
            <a:ext cx="181356" cy="18135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036604" y="2871407"/>
            <a:ext cx="362712" cy="362712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88914" y="3271901"/>
            <a:ext cx="544068" cy="54406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160561" y="2342650"/>
            <a:ext cx="286749" cy="286749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578004" y="3595754"/>
            <a:ext cx="425318" cy="425318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385141" y="2623939"/>
            <a:ext cx="479823" cy="479823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454565" y="4188528"/>
            <a:ext cx="222115" cy="22211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647565" y="3072032"/>
            <a:ext cx="339286" cy="339286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558382" y="346138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854281" y="278130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028721" y="372586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424716" y="297021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7012251" y="315912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7472710" y="24034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702080" y="421703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430116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— Programme plan (weeks)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65490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35010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59154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54354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263401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58601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067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2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223647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Scoping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15757" y="2242820"/>
            <a:ext cx="721699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015757" y="2242820"/>
            <a:ext cx="72169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1–3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047848" y="288671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4908" y="265684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37456" y="2893060"/>
            <a:ext cx="108254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4737456" y="2893060"/>
            <a:ext cx="108254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3–6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739994" y="290195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19" name="Text 17"/>
          <p:cNvSpPr/>
          <p:nvPr/>
        </p:nvSpPr>
        <p:spPr>
          <a:xfrm>
            <a:off x="3047848" y="353695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4908" y="330708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59154" y="3543300"/>
            <a:ext cx="216509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5459154" y="3543300"/>
            <a:ext cx="216509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5–11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047848" y="418719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4908" y="395732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63401" y="4193540"/>
            <a:ext cx="108254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Text 24"/>
          <p:cNvSpPr/>
          <p:nvPr/>
        </p:nvSpPr>
        <p:spPr>
          <a:xfrm>
            <a:off x="7263401" y="4193540"/>
            <a:ext cx="108254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10–13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265939" y="420243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28" name="Text 26"/>
          <p:cNvSpPr/>
          <p:nvPr/>
        </p:nvSpPr>
        <p:spPr>
          <a:xfrm>
            <a:off x="3047848" y="483743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Rollout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654908" y="460756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45949" y="4843780"/>
            <a:ext cx="721699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Text 29"/>
          <p:cNvSpPr/>
          <p:nvPr/>
        </p:nvSpPr>
        <p:spPr>
          <a:xfrm>
            <a:off x="8345949" y="4843780"/>
            <a:ext cx="72169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13–15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987638" y="485267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 — Revenue and margin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293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6231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4863" y="3881120"/>
            <a:ext cx="886460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4063" y="439801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4863" y="3330194"/>
            <a:ext cx="886460" cy="55092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4063" y="3510407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314604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24553" y="3697478"/>
            <a:ext cx="886460" cy="140792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3753" y="4306189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4553" y="3024124"/>
            <a:ext cx="886460" cy="67335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3753" y="3265551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2938" y="283997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54243" y="3513836"/>
            <a:ext cx="886460" cy="159156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03443" y="4214368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54243" y="2687447"/>
            <a:ext cx="886460" cy="826389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03443" y="3005392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503297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83933" y="3268980"/>
            <a:ext cx="88646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3133" y="409194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283933" y="2258949"/>
            <a:ext cx="886460" cy="101003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3133" y="2668715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62318" y="2074799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318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42808" y="2678240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442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707613" y="412610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57093" y="394703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 flipV="1">
            <a:off x="3738093" y="4064762"/>
            <a:ext cx="1329690" cy="9182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37303" y="4034282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86783" y="385521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5067783" y="3942334"/>
            <a:ext cx="1329690" cy="122428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366993" y="391185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016473" y="373278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 flipV="1">
            <a:off x="6397473" y="3728085"/>
            <a:ext cx="1329690" cy="214249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696683" y="3697605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346163" y="3518535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442808" y="3524885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Pie — Revenue split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6200000"/>
              <a:gd name="adj2" fmla="val 944056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30589" y="2917318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29%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44056"/>
              <a:gd name="adj2" fmla="val 9251748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39821" y="4391153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38%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251748"/>
              <a:gd name="adj2" fmla="val 14538462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21218" y="3184919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24%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4538462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20493" y="2045826"/>
            <a:ext cx="16716" cy="678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16494" y="193208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Doughnut — Revenue split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6200000"/>
              <a:gd name="adj2" fmla="val 944056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7290588" y="2621881"/>
            <a:ext cx="55687" cy="4216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61463" y="251513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29%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44056"/>
              <a:gd name="adj2" fmla="val 9251748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27370" y="5061517"/>
            <a:ext cx="6130" cy="6958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35172" y="5054824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251748"/>
              <a:gd name="adj2" fmla="val 14538462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06307" y="3077473"/>
            <a:ext cx="66336" cy="2187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88775" y="2976256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24%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4538462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20493" y="2045826"/>
            <a:ext cx="16716" cy="678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16494" y="193208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278603" y="2751455"/>
            <a:ext cx="1634490" cy="163449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5352898" y="3454400"/>
            <a:ext cx="14859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286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— Delivery days by region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81323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1323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007658" y="339852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007658" y="46786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795401" y="382524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795401" y="4251960"/>
            <a:ext cx="77184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795401" y="406146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584673" y="254508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584673" y="403860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11008" y="25450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11008" y="446532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198751" y="3185160"/>
            <a:ext cx="771843" cy="8534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198751" y="361188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198751" y="342138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988023" y="361188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88023" y="46786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814358" y="36118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814358" y="489204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602101" y="403860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02101" y="446532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02101" y="427482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391373" y="297180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391373" y="425196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17708" y="297180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17708" y="46786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005451" y="361188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005451" y="403860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005451" y="384810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— Capability assessment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03114" y="3101340"/>
            <a:ext cx="985468" cy="1137920"/>
          </a:xfrm>
          <a:custGeom>
            <a:avLst/>
            <a:gdLst/>
            <a:ahLst/>
            <a:cxnLst/>
            <a:rect l="l" t="t" r="r" b="b"/>
            <a:pathLst>
              <a:path w="985468" h="113792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13792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2514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0" y="56896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45618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617646" y="1963420"/>
            <a:ext cx="2956403" cy="3413760"/>
          </a:xfrm>
          <a:custGeom>
            <a:avLst/>
            <a:gdLst/>
            <a:ahLst/>
            <a:cxnLst/>
            <a:rect l="l" t="t" r="r" b="b"/>
            <a:pathLst>
              <a:path w="2956403" h="3413760">
                <a:moveTo>
                  <a:pt x="1478201" y="0"/>
                </a:moveTo>
                <a:lnTo>
                  <a:pt x="2956403" y="853440"/>
                </a:lnTo>
                <a:lnTo>
                  <a:pt x="2956403" y="2560320"/>
                </a:lnTo>
                <a:lnTo>
                  <a:pt x="1478201" y="3413760"/>
                </a:lnTo>
                <a:lnTo>
                  <a:pt x="0" y="2560320"/>
                </a:lnTo>
                <a:lnTo>
                  <a:pt x="0" y="85344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33948" y="188722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96128" y="1993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95848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93673" y="28321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3673" y="43307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95848" y="36703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30418" y="51689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Process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4864013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72902" y="43307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64013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67162" y="28321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110380" y="2816860"/>
            <a:ext cx="1724568" cy="1422400"/>
          </a:xfrm>
          <a:custGeom>
            <a:avLst/>
            <a:gdLst/>
            <a:ahLst/>
            <a:cxnLst/>
            <a:rect l="l" t="t" r="r" b="b"/>
            <a:pathLst>
              <a:path w="1724568" h="1422400">
                <a:moveTo>
                  <a:pt x="985468" y="0"/>
                </a:moveTo>
                <a:lnTo>
                  <a:pt x="1478201" y="568960"/>
                </a:lnTo>
                <a:lnTo>
                  <a:pt x="1724568" y="1280160"/>
                </a:lnTo>
                <a:lnTo>
                  <a:pt x="985468" y="1422400"/>
                </a:lnTo>
                <a:lnTo>
                  <a:pt x="0" y="1422400"/>
                </a:lnTo>
                <a:lnTo>
                  <a:pt x="246367" y="426720"/>
                </a:lnTo>
                <a:close/>
              </a:path>
            </a:pathLst>
          </a:custGeom>
          <a:solidFill>
            <a:srgbClr val="2A78D6">
              <a:alpha val="18000"/>
            </a:srgbClr>
          </a:solidFill>
          <a:ln w="2032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65368" y="27863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558101" y="335534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804468" y="406654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65368" y="42087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79900" y="42087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326267" y="321310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864013" y="2532380"/>
            <a:ext cx="2217302" cy="1991360"/>
          </a:xfrm>
          <a:custGeom>
            <a:avLst/>
            <a:gdLst/>
            <a:ahLst/>
            <a:cxnLst/>
            <a:rect l="l" t="t" r="r" b="b"/>
            <a:pathLst>
              <a:path w="2217302" h="1991360">
                <a:moveTo>
                  <a:pt x="1231835" y="0"/>
                </a:moveTo>
                <a:lnTo>
                  <a:pt x="2217302" y="568960"/>
                </a:lnTo>
                <a:lnTo>
                  <a:pt x="2217302" y="1706880"/>
                </a:lnTo>
                <a:lnTo>
                  <a:pt x="1231835" y="1991360"/>
                </a:lnTo>
                <a:lnTo>
                  <a:pt x="0" y="1849120"/>
                </a:lnTo>
                <a:lnTo>
                  <a:pt x="246367" y="568960"/>
                </a:lnTo>
                <a:close/>
              </a:path>
            </a:pathLst>
          </a:custGeom>
          <a:solidFill>
            <a:srgbClr val="1BAF7A">
              <a:alpha val="18000"/>
            </a:srgbClr>
          </a:solidFill>
          <a:ln w="2032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65368" y="250190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050835" y="30708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050835" y="420878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065368" y="44932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833533" y="435102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79900" y="30708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Text 34"/>
          <p:cNvSpPr/>
          <p:nvPr/>
        </p:nvSpPr>
        <p:spPr>
          <a:xfrm>
            <a:off x="3174848" y="1803400"/>
            <a:ext cx="4191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67014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8" name="Text 36"/>
          <p:cNvSpPr/>
          <p:nvPr/>
        </p:nvSpPr>
        <p:spPr>
          <a:xfrm>
            <a:off x="379714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Heatmap — Sales by region and quarter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887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30539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1192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393825" cy="727075"/>
          </a:xfrm>
          <a:prstGeom prst="rect">
            <a:avLst/>
          </a:prstGeom>
          <a:solidFill>
            <a:srgbClr val="A0B5E5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98873" y="1993900"/>
            <a:ext cx="1393825" cy="727075"/>
          </a:xfrm>
          <a:prstGeom prst="rect">
            <a:avLst/>
          </a:prstGeom>
          <a:solidFill>
            <a:srgbClr val="83A1E0"/>
          </a:solidFill>
          <a:ln/>
        </p:spPr>
      </p:sp>
      <p:sp>
        <p:nvSpPr>
          <p:cNvPr id="11" name="Text 9"/>
          <p:cNvSpPr/>
          <p:nvPr/>
        </p:nvSpPr>
        <p:spPr>
          <a:xfrm>
            <a:off x="4898873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5398" y="1993900"/>
            <a:ext cx="1393825" cy="727075"/>
          </a:xfrm>
          <a:prstGeom prst="rect">
            <a:avLst/>
          </a:prstGeom>
          <a:solidFill>
            <a:srgbClr val="7197DD"/>
          </a:solidFill>
          <a:ln/>
        </p:spPr>
      </p:sp>
      <p:sp>
        <p:nvSpPr>
          <p:cNvPr id="13" name="Text 11"/>
          <p:cNvSpPr/>
          <p:nvPr/>
        </p:nvSpPr>
        <p:spPr>
          <a:xfrm>
            <a:off x="6305398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11923" y="1993900"/>
            <a:ext cx="1393825" cy="7270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711923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733675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733675"/>
            <a:ext cx="1393825" cy="727075"/>
          </a:xfrm>
          <a:prstGeom prst="rect">
            <a:avLst/>
          </a:prstGeom>
          <a:solidFill>
            <a:srgbClr val="CBD5F0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98873" y="2733675"/>
            <a:ext cx="1393825" cy="727075"/>
          </a:xfrm>
          <a:prstGeom prst="rect">
            <a:avLst/>
          </a:prstGeom>
          <a:solidFill>
            <a:srgbClr val="BECBEC"/>
          </a:solidFill>
          <a:ln/>
        </p:spPr>
      </p:sp>
      <p:sp>
        <p:nvSpPr>
          <p:cNvPr id="20" name="Text 18"/>
          <p:cNvSpPr/>
          <p:nvPr/>
        </p:nvSpPr>
        <p:spPr>
          <a:xfrm>
            <a:off x="4898873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05398" y="2733675"/>
            <a:ext cx="1393825" cy="727075"/>
          </a:xfrm>
          <a:prstGeom prst="rect">
            <a:avLst/>
          </a:prstGeom>
          <a:solidFill>
            <a:srgbClr val="C7D3EF"/>
          </a:solidFill>
          <a:ln/>
        </p:spPr>
      </p:sp>
      <p:sp>
        <p:nvSpPr>
          <p:cNvPr id="22" name="Text 20"/>
          <p:cNvSpPr/>
          <p:nvPr/>
        </p:nvSpPr>
        <p:spPr>
          <a:xfrm>
            <a:off x="6305398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11923" y="2733675"/>
            <a:ext cx="1393825" cy="727075"/>
          </a:xfrm>
          <a:prstGeom prst="rect">
            <a:avLst/>
          </a:prstGeom>
          <a:solidFill>
            <a:srgbClr val="B7C6EA"/>
          </a:solidFill>
          <a:ln/>
        </p:spPr>
      </p:sp>
      <p:sp>
        <p:nvSpPr>
          <p:cNvPr id="24" name="Text 22"/>
          <p:cNvSpPr/>
          <p:nvPr/>
        </p:nvSpPr>
        <p:spPr>
          <a:xfrm>
            <a:off x="7711923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473450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473450"/>
            <a:ext cx="1393825" cy="727075"/>
          </a:xfrm>
          <a:prstGeom prst="rect">
            <a:avLst/>
          </a:prstGeom>
          <a:solidFill>
            <a:srgbClr val="E2E7F6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98873" y="3473450"/>
            <a:ext cx="1393825" cy="727075"/>
          </a:xfrm>
          <a:prstGeom prst="rect">
            <a:avLst/>
          </a:prstGeom>
          <a:solidFill>
            <a:srgbClr val="D9E1F4"/>
          </a:solidFill>
          <a:ln/>
        </p:spPr>
      </p:sp>
      <p:sp>
        <p:nvSpPr>
          <p:cNvPr id="29" name="Text 27"/>
          <p:cNvSpPr/>
          <p:nvPr/>
        </p:nvSpPr>
        <p:spPr>
          <a:xfrm>
            <a:off x="4898873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05398" y="3473450"/>
            <a:ext cx="1393825" cy="727075"/>
          </a:xfrm>
          <a:prstGeom prst="rect">
            <a:avLst/>
          </a:prstGeom>
          <a:solidFill>
            <a:srgbClr val="CED7F0"/>
          </a:solidFill>
          <a:ln/>
        </p:spPr>
      </p:sp>
      <p:sp>
        <p:nvSpPr>
          <p:cNvPr id="31" name="Text 29"/>
          <p:cNvSpPr/>
          <p:nvPr/>
        </p:nvSpPr>
        <p:spPr>
          <a:xfrm>
            <a:off x="6305398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711923" y="3473450"/>
            <a:ext cx="1393825" cy="727075"/>
          </a:xfrm>
          <a:prstGeom prst="rect">
            <a:avLst/>
          </a:prstGeom>
          <a:solidFill>
            <a:srgbClr val="C1CEED"/>
          </a:solidFill>
          <a:ln/>
        </p:spPr>
      </p:sp>
      <p:sp>
        <p:nvSpPr>
          <p:cNvPr id="33" name="Text 31"/>
          <p:cNvSpPr/>
          <p:nvPr/>
        </p:nvSpPr>
        <p:spPr>
          <a:xfrm>
            <a:off x="7711923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047848" y="4213225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492348" y="4213225"/>
            <a:ext cx="1393825" cy="727075"/>
          </a:xfrm>
          <a:prstGeom prst="rect">
            <a:avLst/>
          </a:prstGeom>
          <a:solidFill>
            <a:srgbClr val="ECF0F9"/>
          </a:solidFill>
          <a:ln/>
        </p:spPr>
      </p:sp>
      <p:sp>
        <p:nvSpPr>
          <p:cNvPr id="36" name="Text 34"/>
          <p:cNvSpPr/>
          <p:nvPr/>
        </p:nvSpPr>
        <p:spPr>
          <a:xfrm>
            <a:off x="3492348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898873" y="4213225"/>
            <a:ext cx="1393825" cy="727075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8" name="Text 36"/>
          <p:cNvSpPr/>
          <p:nvPr/>
        </p:nvSpPr>
        <p:spPr>
          <a:xfrm>
            <a:off x="4898873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305398" y="4213225"/>
            <a:ext cx="1393825" cy="727075"/>
          </a:xfrm>
          <a:prstGeom prst="rect">
            <a:avLst/>
          </a:prstGeom>
          <a:solidFill>
            <a:srgbClr val="E4EAF7"/>
          </a:solidFill>
          <a:ln/>
        </p:spPr>
      </p:sp>
      <p:sp>
        <p:nvSpPr>
          <p:cNvPr id="40" name="Text 38"/>
          <p:cNvSpPr/>
          <p:nvPr/>
        </p:nvSpPr>
        <p:spPr>
          <a:xfrm>
            <a:off x="6305398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711923" y="4213225"/>
            <a:ext cx="1393825" cy="727075"/>
          </a:xfrm>
          <a:prstGeom prst="rect">
            <a:avLst/>
          </a:prstGeom>
          <a:solidFill>
            <a:srgbClr val="DCE3F5"/>
          </a:solidFill>
          <a:ln/>
        </p:spPr>
      </p:sp>
      <p:sp>
        <p:nvSpPr>
          <p:cNvPr id="42" name="Text 40"/>
          <p:cNvSpPr/>
          <p:nvPr/>
        </p:nvSpPr>
        <p:spPr>
          <a:xfrm>
            <a:off x="7711923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4" name="Shape 42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45" name="Shape 43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46" name="Shape 44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47" name="Shape 45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48" name="Shape 46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49" name="Shape 47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50" name="Shape 48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51" name="Shape 49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52" name="Shape 50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53" name="Shape 51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54" name="Shape 52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55" name="Shape 53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56" name="Shape 54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57" name="Shape 55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58" name="Shape 56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59" name="Shape 57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60" name="Shape 58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61" name="Shape 59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62" name="Shape 60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63" name="Shape 61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64" name="Shape 62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65" name="Shape 63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66" name="Shape 64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Text 65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Tile map — Revenue by market (€m)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107504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" name="Text 2"/>
          <p:cNvSpPr/>
          <p:nvPr/>
        </p:nvSpPr>
        <p:spPr>
          <a:xfrm>
            <a:off x="4107504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</a:t>
            </a:r>
            <a:endParaRPr lang="en-US" sz="988" dirty="0"/>
          </a:p>
        </p:txBody>
      </p:sp>
      <p:sp>
        <p:nvSpPr>
          <p:cNvPr id="5" name="Shape 3"/>
          <p:cNvSpPr/>
          <p:nvPr/>
        </p:nvSpPr>
        <p:spPr>
          <a:xfrm>
            <a:off x="5710879" y="1828800"/>
            <a:ext cx="369094" cy="369094"/>
          </a:xfrm>
          <a:prstGeom prst="rect">
            <a:avLst/>
          </a:prstGeom>
          <a:solidFill>
            <a:srgbClr val="E4E9F7"/>
          </a:solidFill>
          <a:ln/>
        </p:spPr>
      </p:sp>
      <p:sp>
        <p:nvSpPr>
          <p:cNvPr id="6" name="Text 4"/>
          <p:cNvSpPr/>
          <p:nvPr/>
        </p:nvSpPr>
        <p:spPr>
          <a:xfrm>
            <a:off x="5710879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988" dirty="0"/>
          </a:p>
        </p:txBody>
      </p:sp>
      <p:sp>
        <p:nvSpPr>
          <p:cNvPr id="7" name="Text 5"/>
          <p:cNvSpPr/>
          <p:nvPr/>
        </p:nvSpPr>
        <p:spPr>
          <a:xfrm>
            <a:off x="5710879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6111723" y="1828800"/>
            <a:ext cx="369094" cy="369094"/>
          </a:xfrm>
          <a:prstGeom prst="rect">
            <a:avLst/>
          </a:prstGeom>
          <a:solidFill>
            <a:srgbClr val="D3DCF2"/>
          </a:solidFill>
          <a:ln/>
        </p:spPr>
      </p:sp>
      <p:sp>
        <p:nvSpPr>
          <p:cNvPr id="9" name="Text 7"/>
          <p:cNvSpPr/>
          <p:nvPr/>
        </p:nvSpPr>
        <p:spPr>
          <a:xfrm>
            <a:off x="6111723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</a:t>
            </a:r>
            <a:endParaRPr lang="en-US" sz="988" dirty="0"/>
          </a:p>
        </p:txBody>
      </p:sp>
      <p:sp>
        <p:nvSpPr>
          <p:cNvPr id="10" name="Text 8"/>
          <p:cNvSpPr/>
          <p:nvPr/>
        </p:nvSpPr>
        <p:spPr>
          <a:xfrm>
            <a:off x="6111723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6512566" y="1828800"/>
            <a:ext cx="369094" cy="369094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2" name="Text 10"/>
          <p:cNvSpPr/>
          <p:nvPr/>
        </p:nvSpPr>
        <p:spPr>
          <a:xfrm>
            <a:off x="6512566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</a:t>
            </a:r>
            <a:endParaRPr lang="en-US" sz="988" dirty="0"/>
          </a:p>
        </p:txBody>
      </p:sp>
      <p:sp>
        <p:nvSpPr>
          <p:cNvPr id="13" name="Text 11"/>
          <p:cNvSpPr/>
          <p:nvPr/>
        </p:nvSpPr>
        <p:spPr>
          <a:xfrm>
            <a:off x="6512566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6913410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5" name="Text 13"/>
          <p:cNvSpPr/>
          <p:nvPr/>
        </p:nvSpPr>
        <p:spPr>
          <a:xfrm>
            <a:off x="6913410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EE</a:t>
            </a:r>
            <a:endParaRPr lang="en-US" sz="988" dirty="0"/>
          </a:p>
        </p:txBody>
      </p:sp>
      <p:sp>
        <p:nvSpPr>
          <p:cNvPr id="16" name="Shape 14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7" name="Text 15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IE</a:t>
            </a:r>
            <a:endParaRPr lang="en-US" sz="988" dirty="0"/>
          </a:p>
        </p:txBody>
      </p:sp>
      <p:sp>
        <p:nvSpPr>
          <p:cNvPr id="18" name="Shape 16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88A4E0"/>
          </a:solidFill>
          <a:ln/>
        </p:spPr>
      </p:sp>
      <p:sp>
        <p:nvSpPr>
          <p:cNvPr id="19" name="Text 17"/>
          <p:cNvSpPr/>
          <p:nvPr/>
        </p:nvSpPr>
        <p:spPr>
          <a:xfrm>
            <a:off x="4508348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GB</a:t>
            </a:r>
            <a:endParaRPr lang="en-US" sz="988" dirty="0"/>
          </a:p>
        </p:txBody>
      </p:sp>
      <p:sp>
        <p:nvSpPr>
          <p:cNvPr id="20" name="Text 18"/>
          <p:cNvSpPr/>
          <p:nvPr/>
        </p:nvSpPr>
        <p:spPr>
          <a:xfrm>
            <a:off x="4508348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112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CDD7F0"/>
          </a:solidFill>
          <a:ln/>
        </p:spPr>
      </p:sp>
      <p:sp>
        <p:nvSpPr>
          <p:cNvPr id="22" name="Text 20"/>
          <p:cNvSpPr/>
          <p:nvPr/>
        </p:nvSpPr>
        <p:spPr>
          <a:xfrm>
            <a:off x="5310035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NL</a:t>
            </a:r>
            <a:endParaRPr lang="en-US" sz="988" dirty="0"/>
          </a:p>
        </p:txBody>
      </p:sp>
      <p:sp>
        <p:nvSpPr>
          <p:cNvPr id="23" name="Text 21"/>
          <p:cNvSpPr/>
          <p:nvPr/>
        </p:nvSpPr>
        <p:spPr>
          <a:xfrm>
            <a:off x="5310035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66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B6C5EA"/>
          </a:solidFill>
          <a:ln/>
        </p:spPr>
      </p:sp>
      <p:sp>
        <p:nvSpPr>
          <p:cNvPr id="25" name="Text 23"/>
          <p:cNvSpPr/>
          <p:nvPr/>
        </p:nvSpPr>
        <p:spPr>
          <a:xfrm>
            <a:off x="5710879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DK</a:t>
            </a:r>
            <a:endParaRPr lang="en-US" sz="988" dirty="0"/>
          </a:p>
        </p:txBody>
      </p:sp>
      <p:sp>
        <p:nvSpPr>
          <p:cNvPr id="26" name="Text 24"/>
          <p:cNvSpPr/>
          <p:nvPr/>
        </p:nvSpPr>
        <p:spPr>
          <a:xfrm>
            <a:off x="5710879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913410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8" name="Text 26"/>
          <p:cNvSpPr/>
          <p:nvPr/>
        </p:nvSpPr>
        <p:spPr>
          <a:xfrm>
            <a:off x="6913410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LV</a:t>
            </a:r>
            <a:endParaRPr lang="en-US" sz="988" dirty="0"/>
          </a:p>
        </p:txBody>
      </p:sp>
      <p:sp>
        <p:nvSpPr>
          <p:cNvPr id="29" name="Shape 27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0" name="Text 28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</a:t>
            </a:r>
            <a:endParaRPr lang="en-US" sz="988" dirty="0"/>
          </a:p>
        </p:txBody>
      </p:sp>
      <p:sp>
        <p:nvSpPr>
          <p:cNvPr id="31" name="Shape 29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Text 30"/>
          <p:cNvSpPr/>
          <p:nvPr/>
        </p:nvSpPr>
        <p:spPr>
          <a:xfrm>
            <a:off x="5710879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988" dirty="0"/>
          </a:p>
        </p:txBody>
      </p:sp>
      <p:sp>
        <p:nvSpPr>
          <p:cNvPr id="33" name="Text 31"/>
          <p:cNvSpPr/>
          <p:nvPr/>
        </p:nvSpPr>
        <p:spPr>
          <a:xfrm>
            <a:off x="5710879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5" name="Text 33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CZ</a:t>
            </a:r>
            <a:endParaRPr lang="en-US" sz="988" dirty="0"/>
          </a:p>
        </p:txBody>
      </p:sp>
      <p:sp>
        <p:nvSpPr>
          <p:cNvPr id="36" name="Shape 34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EBEFF9"/>
          </a:solidFill>
          <a:ln/>
        </p:spPr>
      </p:sp>
      <p:sp>
        <p:nvSpPr>
          <p:cNvPr id="37" name="Text 35"/>
          <p:cNvSpPr/>
          <p:nvPr/>
        </p:nvSpPr>
        <p:spPr>
          <a:xfrm>
            <a:off x="6512566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</a:t>
            </a:r>
            <a:endParaRPr lang="en-US" sz="988" dirty="0"/>
          </a:p>
        </p:txBody>
      </p:sp>
      <p:sp>
        <p:nvSpPr>
          <p:cNvPr id="38" name="Text 36"/>
          <p:cNvSpPr/>
          <p:nvPr/>
        </p:nvSpPr>
        <p:spPr>
          <a:xfrm>
            <a:off x="6512566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0" name="Text 38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LT</a:t>
            </a:r>
            <a:endParaRPr lang="en-US" sz="988" dirty="0"/>
          </a:p>
        </p:txBody>
      </p:sp>
      <p:sp>
        <p:nvSpPr>
          <p:cNvPr id="41" name="Shape 39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2" name="Text 40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BY</a:t>
            </a:r>
            <a:endParaRPr lang="en-US" sz="988" dirty="0"/>
          </a:p>
        </p:txBody>
      </p:sp>
      <p:sp>
        <p:nvSpPr>
          <p:cNvPr id="43" name="Shape 41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4" name="Text 42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</a:t>
            </a:r>
            <a:endParaRPr lang="en-US" sz="988" dirty="0"/>
          </a:p>
        </p:txBody>
      </p:sp>
      <p:sp>
        <p:nvSpPr>
          <p:cNvPr id="45" name="Shape 43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46" name="Text 44"/>
          <p:cNvSpPr/>
          <p:nvPr/>
        </p:nvSpPr>
        <p:spPr>
          <a:xfrm>
            <a:off x="4909191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</a:t>
            </a:r>
            <a:endParaRPr lang="en-US" sz="988" dirty="0"/>
          </a:p>
        </p:txBody>
      </p:sp>
      <p:sp>
        <p:nvSpPr>
          <p:cNvPr id="47" name="Text 45"/>
          <p:cNvSpPr/>
          <p:nvPr/>
        </p:nvSpPr>
        <p:spPr>
          <a:xfrm>
            <a:off x="4909191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98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9" name="Text 47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LU</a:t>
            </a:r>
            <a:endParaRPr lang="en-US" sz="988" dirty="0"/>
          </a:p>
        </p:txBody>
      </p:sp>
      <p:sp>
        <p:nvSpPr>
          <p:cNvPr id="50" name="Shape 48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1" name="Text 49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</a:t>
            </a:r>
            <a:endParaRPr lang="en-US" sz="988" dirty="0"/>
          </a:p>
        </p:txBody>
      </p:sp>
      <p:sp>
        <p:nvSpPr>
          <p:cNvPr id="52" name="Shape 50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3" name="Text 51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</a:t>
            </a:r>
            <a:endParaRPr lang="en-US" sz="988" dirty="0"/>
          </a:p>
        </p:txBody>
      </p:sp>
      <p:sp>
        <p:nvSpPr>
          <p:cNvPr id="54" name="Shape 52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5" name="Text 53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RS</a:t>
            </a:r>
            <a:endParaRPr lang="en-US" sz="988" dirty="0"/>
          </a:p>
        </p:txBody>
      </p:sp>
      <p:sp>
        <p:nvSpPr>
          <p:cNvPr id="56" name="Shape 54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7" name="Text 55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</a:t>
            </a:r>
            <a:endParaRPr lang="en-US" sz="988" dirty="0"/>
          </a:p>
        </p:txBody>
      </p:sp>
      <p:sp>
        <p:nvSpPr>
          <p:cNvPr id="58" name="Shape 56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9" name="Text 57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UA</a:t>
            </a:r>
            <a:endParaRPr lang="en-US" sz="988" dirty="0"/>
          </a:p>
        </p:txBody>
      </p:sp>
      <p:sp>
        <p:nvSpPr>
          <p:cNvPr id="60" name="Shape 58"/>
          <p:cNvSpPr/>
          <p:nvPr/>
        </p:nvSpPr>
        <p:spPr>
          <a:xfrm>
            <a:off x="4107504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1" name="Text 59"/>
          <p:cNvSpPr/>
          <p:nvPr/>
        </p:nvSpPr>
        <p:spPr>
          <a:xfrm>
            <a:off x="4107504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</a:t>
            </a:r>
            <a:endParaRPr lang="en-US" sz="988" dirty="0"/>
          </a:p>
        </p:txBody>
      </p:sp>
      <p:sp>
        <p:nvSpPr>
          <p:cNvPr id="62" name="Shape 60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63" name="Text 61"/>
          <p:cNvSpPr/>
          <p:nvPr/>
        </p:nvSpPr>
        <p:spPr>
          <a:xfrm>
            <a:off x="4508348" y="3858816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</a:t>
            </a:r>
            <a:endParaRPr lang="en-US" sz="988" dirty="0"/>
          </a:p>
        </p:txBody>
      </p:sp>
      <p:sp>
        <p:nvSpPr>
          <p:cNvPr id="64" name="Text 62"/>
          <p:cNvSpPr/>
          <p:nvPr/>
        </p:nvSpPr>
        <p:spPr>
          <a:xfrm>
            <a:off x="4508348" y="401756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</a:t>
            </a:r>
            <a:endParaRPr lang="en-US" sz="800" dirty="0"/>
          </a:p>
        </p:txBody>
      </p:sp>
      <p:sp>
        <p:nvSpPr>
          <p:cNvPr id="65" name="Shape 6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6" name="Text 64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</a:t>
            </a:r>
            <a:endParaRPr lang="en-US" sz="988" dirty="0"/>
          </a:p>
        </p:txBody>
      </p:sp>
      <p:sp>
        <p:nvSpPr>
          <p:cNvPr id="67" name="Shape 6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8" name="Text 66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</a:t>
            </a:r>
            <a:endParaRPr lang="en-US" sz="988" dirty="0"/>
          </a:p>
        </p:txBody>
      </p:sp>
      <p:sp>
        <p:nvSpPr>
          <p:cNvPr id="69" name="Shape 6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0" name="Text 68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HU</a:t>
            </a:r>
            <a:endParaRPr lang="en-US" sz="988" dirty="0"/>
          </a:p>
        </p:txBody>
      </p:sp>
      <p:sp>
        <p:nvSpPr>
          <p:cNvPr id="71" name="Shape 6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Text 70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</a:t>
            </a:r>
            <a:endParaRPr lang="en-US" sz="988" dirty="0"/>
          </a:p>
        </p:txBody>
      </p:sp>
      <p:sp>
        <p:nvSpPr>
          <p:cNvPr id="73" name="Shape 7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Text 72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BG</a:t>
            </a:r>
            <a:endParaRPr lang="en-US" sz="988" dirty="0"/>
          </a:p>
        </p:txBody>
      </p:sp>
      <p:sp>
        <p:nvSpPr>
          <p:cNvPr id="75" name="Shape 73"/>
          <p:cNvSpPr/>
          <p:nvPr/>
        </p:nvSpPr>
        <p:spPr>
          <a:xfrm>
            <a:off x="7314254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Text 74"/>
          <p:cNvSpPr/>
          <p:nvPr/>
        </p:nvSpPr>
        <p:spPr>
          <a:xfrm>
            <a:off x="7314254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988" dirty="0"/>
          </a:p>
        </p:txBody>
      </p:sp>
      <p:sp>
        <p:nvSpPr>
          <p:cNvPr id="77" name="Shape 75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C6D1EE"/>
          </a:solidFill>
          <a:ln/>
        </p:spPr>
      </p:sp>
      <p:sp>
        <p:nvSpPr>
          <p:cNvPr id="78" name="Text 76"/>
          <p:cNvSpPr/>
          <p:nvPr/>
        </p:nvSpPr>
        <p:spPr>
          <a:xfrm>
            <a:off x="5310035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</a:t>
            </a:r>
            <a:endParaRPr lang="en-US" sz="988" dirty="0"/>
          </a:p>
        </p:txBody>
      </p:sp>
      <p:sp>
        <p:nvSpPr>
          <p:cNvPr id="79" name="Text 77"/>
          <p:cNvSpPr/>
          <p:nvPr/>
        </p:nvSpPr>
        <p:spPr>
          <a:xfrm>
            <a:off x="5310035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1" name="Text 79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HR</a:t>
            </a:r>
            <a:endParaRPr lang="en-US" sz="988" dirty="0"/>
          </a:p>
        </p:txBody>
      </p:sp>
      <p:sp>
        <p:nvSpPr>
          <p:cNvPr id="82" name="Shape 80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3" name="Text 81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988" dirty="0"/>
          </a:p>
        </p:txBody>
      </p:sp>
      <p:sp>
        <p:nvSpPr>
          <p:cNvPr id="84" name="Shape 82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5" name="Text 83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MK</a:t>
            </a:r>
            <a:endParaRPr lang="en-US" sz="988" dirty="0"/>
          </a:p>
        </p:txBody>
      </p:sp>
      <p:sp>
        <p:nvSpPr>
          <p:cNvPr id="86" name="Shape 84"/>
          <p:cNvSpPr/>
          <p:nvPr/>
        </p:nvSpPr>
        <p:spPr>
          <a:xfrm>
            <a:off x="7314254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7" name="Text 85"/>
          <p:cNvSpPr/>
          <p:nvPr/>
        </p:nvSpPr>
        <p:spPr>
          <a:xfrm>
            <a:off x="7314254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</a:t>
            </a:r>
            <a:endParaRPr lang="en-US" sz="988" dirty="0"/>
          </a:p>
        </p:txBody>
      </p:sp>
      <p:sp>
        <p:nvSpPr>
          <p:cNvPr id="88" name="Shape 86"/>
          <p:cNvSpPr/>
          <p:nvPr/>
        </p:nvSpPr>
        <p:spPr>
          <a:xfrm>
            <a:off x="4909191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9" name="Text 87"/>
          <p:cNvSpPr/>
          <p:nvPr/>
        </p:nvSpPr>
        <p:spPr>
          <a:xfrm>
            <a:off x="4909191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988" dirty="0"/>
          </a:p>
        </p:txBody>
      </p:sp>
      <p:sp>
        <p:nvSpPr>
          <p:cNvPr id="90" name="Shape 88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1" name="Text 89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988" dirty="0"/>
          </a:p>
        </p:txBody>
      </p:sp>
      <p:sp>
        <p:nvSpPr>
          <p:cNvPr id="92" name="Shape 90"/>
          <p:cNvSpPr/>
          <p:nvPr/>
        </p:nvSpPr>
        <p:spPr>
          <a:xfrm>
            <a:off x="6913410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3" name="Text 91"/>
          <p:cNvSpPr/>
          <p:nvPr/>
        </p:nvSpPr>
        <p:spPr>
          <a:xfrm>
            <a:off x="6913410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</a:t>
            </a:r>
            <a:endParaRPr lang="en-US" sz="988" dirty="0"/>
          </a:p>
        </p:txBody>
      </p:sp>
      <p:sp>
        <p:nvSpPr>
          <p:cNvPr id="94" name="Shape 92"/>
          <p:cNvSpPr/>
          <p:nvPr/>
        </p:nvSpPr>
        <p:spPr>
          <a:xfrm>
            <a:off x="7715098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5" name="Text 93"/>
          <p:cNvSpPr/>
          <p:nvPr/>
        </p:nvSpPr>
        <p:spPr>
          <a:xfrm>
            <a:off x="7715098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CY</a:t>
            </a:r>
            <a:endParaRPr lang="en-US" sz="988" dirty="0"/>
          </a:p>
        </p:txBody>
      </p:sp>
      <p:sp>
        <p:nvSpPr>
          <p:cNvPr id="96" name="Shape 94"/>
          <p:cNvSpPr/>
          <p:nvPr/>
        </p:nvSpPr>
        <p:spPr>
          <a:xfrm>
            <a:off x="4107504" y="509905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97" name="Shape 95"/>
          <p:cNvSpPr/>
          <p:nvPr/>
        </p:nvSpPr>
        <p:spPr>
          <a:xfrm>
            <a:off x="4171004" y="509905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98" name="Shape 96"/>
          <p:cNvSpPr/>
          <p:nvPr/>
        </p:nvSpPr>
        <p:spPr>
          <a:xfrm>
            <a:off x="4234504" y="509905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99" name="Shape 97"/>
          <p:cNvSpPr/>
          <p:nvPr/>
        </p:nvSpPr>
        <p:spPr>
          <a:xfrm>
            <a:off x="4298004" y="509905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00" name="Shape 98"/>
          <p:cNvSpPr/>
          <p:nvPr/>
        </p:nvSpPr>
        <p:spPr>
          <a:xfrm>
            <a:off x="4361504" y="509905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01" name="Shape 99"/>
          <p:cNvSpPr/>
          <p:nvPr/>
        </p:nvSpPr>
        <p:spPr>
          <a:xfrm>
            <a:off x="4425004" y="509905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02" name="Shape 100"/>
          <p:cNvSpPr/>
          <p:nvPr/>
        </p:nvSpPr>
        <p:spPr>
          <a:xfrm>
            <a:off x="4488504" y="509905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03" name="Shape 101"/>
          <p:cNvSpPr/>
          <p:nvPr/>
        </p:nvSpPr>
        <p:spPr>
          <a:xfrm>
            <a:off x="4552004" y="509905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04" name="Shape 102"/>
          <p:cNvSpPr/>
          <p:nvPr/>
        </p:nvSpPr>
        <p:spPr>
          <a:xfrm>
            <a:off x="4615504" y="509905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05" name="Shape 103"/>
          <p:cNvSpPr/>
          <p:nvPr/>
        </p:nvSpPr>
        <p:spPr>
          <a:xfrm>
            <a:off x="4679004" y="509905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06" name="Shape 104"/>
          <p:cNvSpPr/>
          <p:nvPr/>
        </p:nvSpPr>
        <p:spPr>
          <a:xfrm>
            <a:off x="4742504" y="509905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07" name="Shape 105"/>
          <p:cNvSpPr/>
          <p:nvPr/>
        </p:nvSpPr>
        <p:spPr>
          <a:xfrm>
            <a:off x="4806004" y="509905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4869504" y="509905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09" name="Shape 107"/>
          <p:cNvSpPr/>
          <p:nvPr/>
        </p:nvSpPr>
        <p:spPr>
          <a:xfrm>
            <a:off x="4933004" y="509905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10" name="Shape 108"/>
          <p:cNvSpPr/>
          <p:nvPr/>
        </p:nvSpPr>
        <p:spPr>
          <a:xfrm>
            <a:off x="4996504" y="509905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11" name="Shape 109"/>
          <p:cNvSpPr/>
          <p:nvPr/>
        </p:nvSpPr>
        <p:spPr>
          <a:xfrm>
            <a:off x="5060004" y="509905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12" name="Shape 110"/>
          <p:cNvSpPr/>
          <p:nvPr/>
        </p:nvSpPr>
        <p:spPr>
          <a:xfrm>
            <a:off x="5123504" y="509905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13" name="Shape 111"/>
          <p:cNvSpPr/>
          <p:nvPr/>
        </p:nvSpPr>
        <p:spPr>
          <a:xfrm>
            <a:off x="5187004" y="509905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14" name="Shape 112"/>
          <p:cNvSpPr/>
          <p:nvPr/>
        </p:nvSpPr>
        <p:spPr>
          <a:xfrm>
            <a:off x="5250504" y="509905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15" name="Shape 113"/>
          <p:cNvSpPr/>
          <p:nvPr/>
        </p:nvSpPr>
        <p:spPr>
          <a:xfrm>
            <a:off x="5314004" y="509905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16" name="Shape 114"/>
          <p:cNvSpPr/>
          <p:nvPr/>
        </p:nvSpPr>
        <p:spPr>
          <a:xfrm>
            <a:off x="5377504" y="509905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17" name="Shape 115"/>
          <p:cNvSpPr/>
          <p:nvPr/>
        </p:nvSpPr>
        <p:spPr>
          <a:xfrm>
            <a:off x="5441004" y="509905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5504504" y="509905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19" name="Shape 117"/>
          <p:cNvSpPr/>
          <p:nvPr/>
        </p:nvSpPr>
        <p:spPr>
          <a:xfrm>
            <a:off x="5568004" y="509905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0" name="Text 118"/>
          <p:cNvSpPr/>
          <p:nvPr/>
        </p:nvSpPr>
        <p:spPr>
          <a:xfrm>
            <a:off x="4107504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850" dirty="0"/>
          </a:p>
        </p:txBody>
      </p:sp>
      <p:sp>
        <p:nvSpPr>
          <p:cNvPr id="121" name="Text 119"/>
          <p:cNvSpPr/>
          <p:nvPr/>
        </p:nvSpPr>
        <p:spPr>
          <a:xfrm>
            <a:off x="4869504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850" dirty="0"/>
          </a:p>
        </p:txBody>
      </p:sp>
      <p:sp>
        <p:nvSpPr>
          <p:cNvPr id="122" name="Shape 120"/>
          <p:cNvSpPr/>
          <p:nvPr/>
        </p:nvSpPr>
        <p:spPr>
          <a:xfrm>
            <a:off x="5758504" y="509905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23" name="Text 121"/>
          <p:cNvSpPr/>
          <p:nvPr/>
        </p:nvSpPr>
        <p:spPr>
          <a:xfrm>
            <a:off x="5898204" y="507365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Cascade — Support volume breakdown — April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141256" y="1803400"/>
            <a:ext cx="2886583" cy="19050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4" name="Text 2"/>
          <p:cNvSpPr/>
          <p:nvPr/>
        </p:nvSpPr>
        <p:spPr>
          <a:xfrm>
            <a:off x="3141256" y="1803400"/>
            <a:ext cx="288658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Contacts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163856" y="1803400"/>
            <a:ext cx="2886583" cy="19050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6" name="Text 4"/>
          <p:cNvSpPr/>
          <p:nvPr/>
        </p:nvSpPr>
        <p:spPr>
          <a:xfrm>
            <a:off x="6163856" y="1803400"/>
            <a:ext cx="288658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Incidents &amp; Service Requests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141256" y="2070100"/>
            <a:ext cx="1375283" cy="30480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166656" y="2618740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contacts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166656" y="3498850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4,986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652556" y="2070100"/>
            <a:ext cx="1375283" cy="28218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" name="Text 9"/>
          <p:cNvSpPr/>
          <p:nvPr/>
        </p:nvSpPr>
        <p:spPr>
          <a:xfrm>
            <a:off x="4677956" y="257802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Answered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677956" y="338575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4,616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677956" y="356990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(92.6%)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52556" y="4891915"/>
            <a:ext cx="1375283" cy="226185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77956" y="4891915"/>
            <a:ext cx="1324483" cy="2261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370 (7.4%)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84548" y="5130800"/>
            <a:ext cx="15113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Dropped contacts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6163856" y="2070100"/>
            <a:ext cx="1375283" cy="208151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8" name="Text 16"/>
          <p:cNvSpPr/>
          <p:nvPr/>
        </p:nvSpPr>
        <p:spPr>
          <a:xfrm>
            <a:off x="6189256" y="2444773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 a case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189256" y="3015608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3,405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189256" y="3199758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(73.8%)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163856" y="4151616"/>
            <a:ext cx="1375283" cy="740298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89256" y="4350315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Without a case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189256" y="4521765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1,211 (26.2%)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675156" y="2070100"/>
            <a:ext cx="1375283" cy="1641372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25" name="Text 23"/>
          <p:cNvSpPr/>
          <p:nvPr/>
        </p:nvSpPr>
        <p:spPr>
          <a:xfrm>
            <a:off x="7700556" y="236554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Solved in support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700556" y="2795536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2,685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700556" y="2979686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(78.9%)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675156" y="3711472"/>
            <a:ext cx="1375283" cy="440144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00556" y="3760094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solved in support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700556" y="3931544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720 (21.1%)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service desk logs, Apr 2026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Funnel — Sales pipeline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929228" y="1828800"/>
            <a:ext cx="5163820" cy="5384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Text 2"/>
          <p:cNvSpPr/>
          <p:nvPr/>
        </p:nvSpPr>
        <p:spPr>
          <a:xfrm>
            <a:off x="3047848" y="200279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Leads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929228" y="2002790"/>
            <a:ext cx="5163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1,200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961992" y="2557780"/>
            <a:ext cx="3098292" cy="5384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" name="Text 5"/>
          <p:cNvSpPr/>
          <p:nvPr/>
        </p:nvSpPr>
        <p:spPr>
          <a:xfrm>
            <a:off x="3047848" y="273177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Qualified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961992" y="2731770"/>
            <a:ext cx="309829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720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003138" y="236728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60.0%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693533" y="3286760"/>
            <a:ext cx="1635210" cy="53848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1" name="Text 9"/>
          <p:cNvSpPr/>
          <p:nvPr/>
        </p:nvSpPr>
        <p:spPr>
          <a:xfrm>
            <a:off x="3047848" y="346075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Proposal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693533" y="3460750"/>
            <a:ext cx="16352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003138" y="309626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52.8%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6102335" y="4015740"/>
            <a:ext cx="817605" cy="53848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5" name="Text 13"/>
          <p:cNvSpPr/>
          <p:nvPr/>
        </p:nvSpPr>
        <p:spPr>
          <a:xfrm>
            <a:off x="3047848" y="418973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Negotiation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102335" y="4189730"/>
            <a:ext cx="81760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190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003138" y="382524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50.0%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6252947" y="4744720"/>
            <a:ext cx="516382" cy="538480"/>
          </a:xfrm>
          <a:prstGeom prst="rect">
            <a:avLst/>
          </a:prstGeom>
          <a:solidFill>
            <a:srgbClr val="4A3AA7"/>
          </a:solidFill>
          <a:ln/>
        </p:spPr>
      </p:sp>
      <p:sp>
        <p:nvSpPr>
          <p:cNvPr id="19" name="Text 17"/>
          <p:cNvSpPr/>
          <p:nvPr/>
        </p:nvSpPr>
        <p:spPr>
          <a:xfrm>
            <a:off x="3047848" y="491871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252947" y="4918710"/>
            <a:ext cx="5163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003138" y="455422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63.2%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Waffle — Share of revenue under subscription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Shape 2"/>
          <p:cNvSpPr/>
          <p:nvPr/>
        </p:nvSpPr>
        <p:spPr>
          <a:xfrm>
            <a:off x="34161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" name="Shape 3"/>
          <p:cNvSpPr/>
          <p:nvPr/>
        </p:nvSpPr>
        <p:spPr>
          <a:xfrm>
            <a:off x="37590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" name="Shape 4"/>
          <p:cNvSpPr/>
          <p:nvPr/>
        </p:nvSpPr>
        <p:spPr>
          <a:xfrm>
            <a:off x="41019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Shape 5"/>
          <p:cNvSpPr/>
          <p:nvPr/>
        </p:nvSpPr>
        <p:spPr>
          <a:xfrm>
            <a:off x="44448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Shape 6"/>
          <p:cNvSpPr/>
          <p:nvPr/>
        </p:nvSpPr>
        <p:spPr>
          <a:xfrm>
            <a:off x="47877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Shape 7"/>
          <p:cNvSpPr/>
          <p:nvPr/>
        </p:nvSpPr>
        <p:spPr>
          <a:xfrm>
            <a:off x="51306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54735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Shape 9"/>
          <p:cNvSpPr/>
          <p:nvPr/>
        </p:nvSpPr>
        <p:spPr>
          <a:xfrm>
            <a:off x="58164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61593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30732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34161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7590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1019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4448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7877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51306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54735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58164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61593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0732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34161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37590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1019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448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7877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51306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54735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58164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61593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0732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4161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7590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1019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448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877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51306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4735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8164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61593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0732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4161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7590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1019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4448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7877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1306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735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8164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93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0732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4161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7590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41019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44448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47877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1306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4735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164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61593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30732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34161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37590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41019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44448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47877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51306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54735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5816448" y="28829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Shape 70"/>
          <p:cNvSpPr/>
          <p:nvPr/>
        </p:nvSpPr>
        <p:spPr>
          <a:xfrm>
            <a:off x="6159348" y="28829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3" name="Shape 71"/>
          <p:cNvSpPr/>
          <p:nvPr/>
        </p:nvSpPr>
        <p:spPr>
          <a:xfrm>
            <a:off x="30732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Shape 72"/>
          <p:cNvSpPr/>
          <p:nvPr/>
        </p:nvSpPr>
        <p:spPr>
          <a:xfrm>
            <a:off x="34161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5" name="Shape 73"/>
          <p:cNvSpPr/>
          <p:nvPr/>
        </p:nvSpPr>
        <p:spPr>
          <a:xfrm>
            <a:off x="37590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Shape 74"/>
          <p:cNvSpPr/>
          <p:nvPr/>
        </p:nvSpPr>
        <p:spPr>
          <a:xfrm>
            <a:off x="41019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7" name="Shape 75"/>
          <p:cNvSpPr/>
          <p:nvPr/>
        </p:nvSpPr>
        <p:spPr>
          <a:xfrm>
            <a:off x="44448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8" name="Shape 76"/>
          <p:cNvSpPr/>
          <p:nvPr/>
        </p:nvSpPr>
        <p:spPr>
          <a:xfrm>
            <a:off x="47877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9" name="Shape 77"/>
          <p:cNvSpPr/>
          <p:nvPr/>
        </p:nvSpPr>
        <p:spPr>
          <a:xfrm>
            <a:off x="51306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0" name="Shape 78"/>
          <p:cNvSpPr/>
          <p:nvPr/>
        </p:nvSpPr>
        <p:spPr>
          <a:xfrm>
            <a:off x="54735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1" name="Shape 79"/>
          <p:cNvSpPr/>
          <p:nvPr/>
        </p:nvSpPr>
        <p:spPr>
          <a:xfrm>
            <a:off x="58164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2" name="Shape 80"/>
          <p:cNvSpPr/>
          <p:nvPr/>
        </p:nvSpPr>
        <p:spPr>
          <a:xfrm>
            <a:off x="61593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3" name="Shape 81"/>
          <p:cNvSpPr/>
          <p:nvPr/>
        </p:nvSpPr>
        <p:spPr>
          <a:xfrm>
            <a:off x="30732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4" name="Shape 82"/>
          <p:cNvSpPr/>
          <p:nvPr/>
        </p:nvSpPr>
        <p:spPr>
          <a:xfrm>
            <a:off x="34161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5" name="Shape 83"/>
          <p:cNvSpPr/>
          <p:nvPr/>
        </p:nvSpPr>
        <p:spPr>
          <a:xfrm>
            <a:off x="37590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6" name="Shape 84"/>
          <p:cNvSpPr/>
          <p:nvPr/>
        </p:nvSpPr>
        <p:spPr>
          <a:xfrm>
            <a:off x="41019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7" name="Shape 85"/>
          <p:cNvSpPr/>
          <p:nvPr/>
        </p:nvSpPr>
        <p:spPr>
          <a:xfrm>
            <a:off x="44448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8" name="Shape 86"/>
          <p:cNvSpPr/>
          <p:nvPr/>
        </p:nvSpPr>
        <p:spPr>
          <a:xfrm>
            <a:off x="47877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9" name="Shape 87"/>
          <p:cNvSpPr/>
          <p:nvPr/>
        </p:nvSpPr>
        <p:spPr>
          <a:xfrm>
            <a:off x="51306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0" name="Shape 88"/>
          <p:cNvSpPr/>
          <p:nvPr/>
        </p:nvSpPr>
        <p:spPr>
          <a:xfrm>
            <a:off x="54735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1" name="Shape 89"/>
          <p:cNvSpPr/>
          <p:nvPr/>
        </p:nvSpPr>
        <p:spPr>
          <a:xfrm>
            <a:off x="58164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2" name="Shape 90"/>
          <p:cNvSpPr/>
          <p:nvPr/>
        </p:nvSpPr>
        <p:spPr>
          <a:xfrm>
            <a:off x="61593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3" name="Shape 91"/>
          <p:cNvSpPr/>
          <p:nvPr/>
        </p:nvSpPr>
        <p:spPr>
          <a:xfrm>
            <a:off x="30732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4" name="Shape 92"/>
          <p:cNvSpPr/>
          <p:nvPr/>
        </p:nvSpPr>
        <p:spPr>
          <a:xfrm>
            <a:off x="34161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5" name="Shape 93"/>
          <p:cNvSpPr/>
          <p:nvPr/>
        </p:nvSpPr>
        <p:spPr>
          <a:xfrm>
            <a:off x="37590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6" name="Shape 94"/>
          <p:cNvSpPr/>
          <p:nvPr/>
        </p:nvSpPr>
        <p:spPr>
          <a:xfrm>
            <a:off x="41019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7" name="Shape 95"/>
          <p:cNvSpPr/>
          <p:nvPr/>
        </p:nvSpPr>
        <p:spPr>
          <a:xfrm>
            <a:off x="44448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8" name="Shape 96"/>
          <p:cNvSpPr/>
          <p:nvPr/>
        </p:nvSpPr>
        <p:spPr>
          <a:xfrm>
            <a:off x="47877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9" name="Shape 97"/>
          <p:cNvSpPr/>
          <p:nvPr/>
        </p:nvSpPr>
        <p:spPr>
          <a:xfrm>
            <a:off x="51306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0" name="Shape 98"/>
          <p:cNvSpPr/>
          <p:nvPr/>
        </p:nvSpPr>
        <p:spPr>
          <a:xfrm>
            <a:off x="54735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1" name="Shape 99"/>
          <p:cNvSpPr/>
          <p:nvPr/>
        </p:nvSpPr>
        <p:spPr>
          <a:xfrm>
            <a:off x="58164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1593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3" name="Text 101"/>
          <p:cNvSpPr/>
          <p:nvPr/>
        </p:nvSpPr>
        <p:spPr>
          <a:xfrm>
            <a:off x="6629248" y="3263900"/>
            <a:ext cx="2489200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68%</a:t>
            </a:r>
            <a:endParaRPr lang="en-US" sz="2600" dirty="0"/>
          </a:p>
        </p:txBody>
      </p:sp>
      <p:sp>
        <p:nvSpPr>
          <p:cNvPr id="104" name="Text 102"/>
          <p:cNvSpPr/>
          <p:nvPr/>
        </p:nvSpPr>
        <p:spPr>
          <a:xfrm>
            <a:off x="6629248" y="3683000"/>
            <a:ext cx="2489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Subscription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Treemap — Revenue by product line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1828800"/>
            <a:ext cx="2120900" cy="346710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11348" y="1854200"/>
            <a:ext cx="20574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3111348" y="2006600"/>
            <a:ext cx="20574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206848" y="1828800"/>
            <a:ext cx="2476500" cy="1975757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44948" y="1854200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244948" y="2006600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206848" y="3817257"/>
            <a:ext cx="2476500" cy="1478643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44948" y="3842657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5244948" y="3995057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7696048" y="1828800"/>
            <a:ext cx="1409700" cy="172720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34148" y="18542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7734148" y="20066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7696048" y="3568700"/>
            <a:ext cx="1409700" cy="1074738"/>
          </a:xfrm>
          <a:prstGeom prst="rect">
            <a:avLst/>
          </a:prstGeom>
          <a:solidFill>
            <a:srgbClr val="4A3AA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34148" y="35941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Support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734148" y="37465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7696048" y="4656138"/>
            <a:ext cx="1409700" cy="639763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34148" y="4681538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Training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7734148" y="4833938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Decorations — totals, CAGR, difference, value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V="1">
            <a:off x="3720948" y="2253573"/>
            <a:ext cx="388620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4680000">
            <a:off x="7543648" y="2190073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5092548" y="2050373"/>
            <a:ext cx="1143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+15.2% p.a.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178148" y="3595455"/>
            <a:ext cx="40386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8165948" y="2799673"/>
            <a:ext cx="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102448" y="2736173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5" name="Text 43"/>
          <p:cNvSpPr/>
          <p:nvPr/>
        </p:nvSpPr>
        <p:spPr>
          <a:xfrm>
            <a:off x="8204048" y="3102314"/>
            <a:ext cx="939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+53%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3073248" y="3233272"/>
            <a:ext cx="5181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47" name="Text 45"/>
          <p:cNvSpPr/>
          <p:nvPr/>
        </p:nvSpPr>
        <p:spPr>
          <a:xfrm>
            <a:off x="3098648" y="3042772"/>
            <a:ext cx="127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Ø 92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Level difference (series) + label content Value+%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34 46%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22 30%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18 24%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40 48%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26 31%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17 20%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47 48%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31 32%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19 20%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56 50%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35 31%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22 19%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178148" y="4411641"/>
            <a:ext cx="40386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8165948" y="3962739"/>
            <a:ext cx="0" cy="448903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102448" y="3899239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38" name="Text 36"/>
          <p:cNvSpPr/>
          <p:nvPr/>
        </p:nvSpPr>
        <p:spPr>
          <a:xfrm>
            <a:off x="8204048" y="4091940"/>
            <a:ext cx="939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+65%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 orientation + segment order descending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36537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047848" y="317182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047848" y="397827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47848" y="478472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2376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550768" y="18288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8896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4515968" y="18288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74108" y="18732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2" name="Text 10"/>
          <p:cNvSpPr/>
          <p:nvPr/>
        </p:nvSpPr>
        <p:spPr>
          <a:xfrm>
            <a:off x="5001108" y="1828800"/>
            <a:ext cx="6248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423768" y="2191808"/>
            <a:ext cx="1175647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72968" y="2365375"/>
            <a:ext cx="12772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99415" y="2191808"/>
            <a:ext cx="760713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48615" y="2365375"/>
            <a:ext cx="8623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360128" y="2191808"/>
            <a:ext cx="622402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09328" y="2365375"/>
            <a:ext cx="72400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020630" y="2365375"/>
            <a:ext cx="312321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423768" y="2998258"/>
            <a:ext cx="1383115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72968" y="3171825"/>
            <a:ext cx="148471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806882" y="2998258"/>
            <a:ext cx="899025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56082" y="3171825"/>
            <a:ext cx="10006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705907" y="2998258"/>
            <a:ext cx="587824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55107" y="3171825"/>
            <a:ext cx="68942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331831" y="3171825"/>
            <a:ext cx="28120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423768" y="3804708"/>
            <a:ext cx="1625160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372968" y="3978275"/>
            <a:ext cx="1726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048927" y="3804708"/>
            <a:ext cx="1071914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998127" y="3978275"/>
            <a:ext cx="117351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120841" y="3804708"/>
            <a:ext cx="656979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070041" y="3978275"/>
            <a:ext cx="75857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815921" y="3978275"/>
            <a:ext cx="23279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423768" y="4611158"/>
            <a:ext cx="1936361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372968" y="4784725"/>
            <a:ext cx="20379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360128" y="4611158"/>
            <a:ext cx="1210225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309328" y="4784725"/>
            <a:ext cx="1311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570353" y="4611158"/>
            <a:ext cx="760713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19553" y="4784725"/>
            <a:ext cx="8623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369167" y="4784725"/>
            <a:ext cx="177468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423768" y="2057400"/>
            <a:ext cx="0" cy="32258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Category sort descending + pinned axis + de-DE locale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85167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064933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0447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0,0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9626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976033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9558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6734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8672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0610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78614" y="3962739"/>
            <a:ext cx="795867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27814" y="4438819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56,0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78614" y="3248575"/>
            <a:ext cx="795867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27814" y="351040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35,0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678614" y="2799673"/>
            <a:ext cx="795867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27814" y="2928874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22,0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479648" y="2615523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113,0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72414" y="4146381"/>
            <a:ext cx="795867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21614" y="4530640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47,0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872414" y="3513836"/>
            <a:ext cx="795867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21614" y="3734858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31,0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872414" y="3126147"/>
            <a:ext cx="795867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21614" y="3224742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19,0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673448" y="2941997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97,0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066214" y="4289213"/>
            <a:ext cx="795867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015414" y="460205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40,0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66214" y="3758692"/>
            <a:ext cx="795867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015414" y="3928703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26,0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066214" y="3411813"/>
            <a:ext cx="795867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015414" y="3490002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17,0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867248" y="3227663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83,0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260014" y="4411641"/>
            <a:ext cx="795867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209214" y="4663271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34,0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260014" y="3962739"/>
            <a:ext cx="795867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209214" y="4091940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22,0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260014" y="3595455"/>
            <a:ext cx="795867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209214" y="368384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18,0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7061048" y="3411305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74,0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479648" y="5105400"/>
            <a:ext cx="47752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305648" y="369337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8305648" y="4101465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305648" y="4672796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Clustered-stacked (stack groups) 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255651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29758" y="5143500"/>
            <a:ext cx="255651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505683" y="3575050"/>
            <a:ext cx="839470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454883" y="4244975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505683" y="2962910"/>
            <a:ext cx="839470" cy="6121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54883" y="3173730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57853" y="3779097"/>
            <a:ext cx="839470" cy="13263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07053" y="434699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357853" y="3268980"/>
            <a:ext cx="839470" cy="510117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07053" y="342878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448533" y="2778760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300703" y="3084830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062193" y="3268980"/>
            <a:ext cx="83947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11393" y="4091940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062193" y="2452793"/>
            <a:ext cx="839470" cy="816187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11393" y="2765637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914363" y="3422015"/>
            <a:ext cx="839470" cy="1683385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63563" y="416845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914363" y="2707852"/>
            <a:ext cx="839470" cy="714163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63563" y="2969683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005043" y="2268643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857213" y="2523702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073248" y="5105400"/>
            <a:ext cx="51130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37068" y="2775162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 Services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237068" y="2979208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Services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237068" y="4101465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 Product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237068" y="4272915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Product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Axis break (620 outlier) + axis title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3910584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19050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821684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714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€m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9889" y="4684227"/>
            <a:ext cx="922867" cy="4211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3669089" y="479956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23239" y="4553864"/>
            <a:ext cx="922867" cy="55153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072439" y="4734382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26589" y="3710026"/>
            <a:ext cx="922867" cy="13953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475789" y="4312463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929939" y="4493697"/>
            <a:ext cx="922867" cy="61170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879139" y="4704298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54248" y="4111142"/>
            <a:ext cx="5664200" cy="1920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 flipV="1">
            <a:off x="3428848" y="4271416"/>
            <a:ext cx="5715000" cy="635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3428848" y="4079392"/>
            <a:ext cx="5715000" cy="635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 scale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43053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5052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7051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1,000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10,000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714500"/>
            <a:ext cx="54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$m (log)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Seed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719889" y="4623692"/>
            <a:ext cx="922867" cy="4817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3669089" y="476929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123239" y="3823592"/>
            <a:ext cx="922867" cy="12818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5072439" y="436924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526589" y="3231228"/>
            <a:ext cx="922867" cy="18741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6475789" y="407306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929939" y="2482069"/>
            <a:ext cx="922867" cy="26233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7879139" y="3698485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1,900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100%= row (columns short of 100%)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93760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0196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3974" y="3825240"/>
            <a:ext cx="1242907" cy="12801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3174" y="437007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40%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974" y="2865120"/>
            <a:ext cx="1242907" cy="9601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3174" y="324993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30%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248334" y="3345180"/>
            <a:ext cx="1242907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97534" y="41300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248334" y="2545080"/>
            <a:ext cx="1242907" cy="8001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97534" y="284988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25%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12694" y="2865120"/>
            <a:ext cx="1242907" cy="2240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61894" y="389001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70%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112694" y="2225040"/>
            <a:ext cx="1242907" cy="6400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061894" y="244983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20%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717128" y="245935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Lost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717128" y="389953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Won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Stacked waterfall + value-line-anchored difference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1116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Organic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4908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M&amp;A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8700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62492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62901" y="4085167"/>
            <a:ext cx="758613" cy="10202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86701" y="4500033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62901" y="3350599"/>
            <a:ext cx="758613" cy="73456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186701" y="3622633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21514" y="3350599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4400821" y="3187361"/>
            <a:ext cx="758613" cy="16323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24621" y="3173730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400821" y="3064933"/>
            <a:ext cx="758613" cy="12242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159434" y="3064933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5538741" y="2962910"/>
            <a:ext cx="758613" cy="10202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538741" y="2779268"/>
            <a:ext cx="758613" cy="183642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62541" y="2775839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297354" y="2779268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676661" y="2779268"/>
            <a:ext cx="758613" cy="12242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6661" y="2901696"/>
            <a:ext cx="758613" cy="12242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435274" y="3024124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7814581" y="3024124"/>
            <a:ext cx="758613" cy="2081276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38381" y="3969512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5689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046914" y="3064933"/>
            <a:ext cx="470408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8700194" y="3024124"/>
            <a:ext cx="0" cy="40809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636694" y="2960624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30" name="Text 28"/>
          <p:cNvSpPr/>
          <p:nvPr/>
        </p:nvSpPr>
        <p:spPr>
          <a:xfrm>
            <a:off x="8738294" y="2949279"/>
            <a:ext cx="40555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+2.0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3064933"/>
            <a:ext cx="5689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3098648" y="2874433"/>
            <a:ext cx="127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Rotated waterfall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067983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047848" y="263525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047848" y="3202517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47848" y="3769783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433705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47848" y="4904317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560928" y="1974144"/>
            <a:ext cx="3128061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484728" y="2067983"/>
            <a:ext cx="32804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688988" y="2352322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6688988" y="2541411"/>
            <a:ext cx="509219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6612788" y="2635250"/>
            <a:ext cx="6616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98208" y="2919589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7198208" y="3108678"/>
            <a:ext cx="327355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122008" y="3202517"/>
            <a:ext cx="47975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525563" y="3486856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7089089" y="3675944"/>
            <a:ext cx="436474" cy="37817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9" name="Text 17"/>
          <p:cNvSpPr/>
          <p:nvPr/>
        </p:nvSpPr>
        <p:spPr>
          <a:xfrm>
            <a:off x="7012889" y="3769783"/>
            <a:ext cx="58887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089089" y="4054122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943598" y="4243211"/>
            <a:ext cx="145491" cy="37817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14489" y="4337050"/>
            <a:ext cx="508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943598" y="4621389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3560928" y="4810478"/>
            <a:ext cx="3382670" cy="37817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3484728" y="4904317"/>
            <a:ext cx="3535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560928" y="1879600"/>
            <a:ext cx="0" cy="3403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98088" y="2057400"/>
            <a:ext cx="1875628" cy="15875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72688" y="2755900"/>
            <a:ext cx="192642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573716" y="2057400"/>
            <a:ext cx="1250419" cy="15875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548316" y="2755900"/>
            <a:ext cx="13012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824135" y="2057400"/>
            <a:ext cx="625209" cy="15875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798735" y="2755900"/>
            <a:ext cx="67600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87444" y="2755900"/>
            <a:ext cx="165640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98088" y="3670300"/>
            <a:ext cx="2456180" cy="9525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72688" y="4051300"/>
            <a:ext cx="25069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154268" y="3670300"/>
            <a:ext cx="1339735" cy="9525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28868" y="4051300"/>
            <a:ext cx="13905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494002" y="3670300"/>
            <a:ext cx="1116445" cy="9525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68602" y="4051300"/>
            <a:ext cx="116724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648548" y="405130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98088" y="4648200"/>
            <a:ext cx="803841" cy="6350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72688" y="4870450"/>
            <a:ext cx="8546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01928" y="4648200"/>
            <a:ext cx="982472" cy="6350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76528" y="4870450"/>
            <a:ext cx="103327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4400" y="4648200"/>
            <a:ext cx="1339735" cy="6350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59000" y="4870450"/>
            <a:ext cx="13905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62235" y="4870450"/>
            <a:ext cx="22816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Mekko with units (X extent) — rotated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047848" y="275590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405130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047848" y="487045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698088" y="2057400"/>
            <a:ext cx="0" cy="32258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9808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Text 27"/>
          <p:cNvSpPr/>
          <p:nvPr/>
        </p:nvSpPr>
        <p:spPr>
          <a:xfrm>
            <a:off x="3825088" y="18288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66328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1" name="Text 29"/>
          <p:cNvSpPr/>
          <p:nvPr/>
        </p:nvSpPr>
        <p:spPr>
          <a:xfrm>
            <a:off x="4790288" y="18288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148428" y="18732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" name="Text 31"/>
          <p:cNvSpPr/>
          <p:nvPr/>
        </p:nvSpPr>
        <p:spPr>
          <a:xfrm>
            <a:off x="5275428" y="1828800"/>
            <a:ext cx="6248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 + secondary axis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293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6231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4863" y="3881120"/>
            <a:ext cx="886460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4063" y="439801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4863" y="3330194"/>
            <a:ext cx="886460" cy="55092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4063" y="3510407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279679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24553" y="3697478"/>
            <a:ext cx="886460" cy="140792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3753" y="4306189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4553" y="3024124"/>
            <a:ext cx="886460" cy="67335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3753" y="3265551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2938" y="263042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54243" y="3513836"/>
            <a:ext cx="886460" cy="159156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03443" y="4214368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54243" y="2687447"/>
            <a:ext cx="886460" cy="826389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03443" y="3005392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363597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83933" y="3268980"/>
            <a:ext cx="88646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3133" y="409194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283933" y="2258949"/>
            <a:ext cx="886460" cy="101003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3133" y="2668715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62318" y="1935099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318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42808" y="2398840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442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41740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417408" y="440436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417408" y="379222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417408" y="318008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417408" y="256794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417408" y="19558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707613" y="3177286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357093" y="299821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 flipV="1">
            <a:off x="3738093" y="3024124"/>
            <a:ext cx="1329690" cy="183642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037303" y="299364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686783" y="281457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V="1">
            <a:off x="5067783" y="2779268"/>
            <a:ext cx="1329690" cy="244856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366993" y="274878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16473" y="256971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 flipV="1">
            <a:off x="6397473" y="2350770"/>
            <a:ext cx="1329690" cy="428498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696683" y="232029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346163" y="214122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442808" y="2147570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— partition lines, trend, groups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08610" y="2108200"/>
            <a:ext cx="0" cy="302260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 flipV="1">
            <a:off x="3479648" y="2450745"/>
            <a:ext cx="5562600" cy="234683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7757008" y="2501545"/>
            <a:ext cx="12852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R² = 0.99, p &lt; 0.001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" name="Text 27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75938" y="441261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179860" y="395922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222848" y="365696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65835" y="3128010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52563" y="3014663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586953" y="252349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77538" y="436816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281460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324448" y="361251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367435" y="308356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854163" y="297021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056093" y="247904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— sections, owners, remarks, deps, today, holiday, bracket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925193" y="1993900"/>
            <a:ext cx="894651" cy="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925193" y="1993900"/>
            <a:ext cx="0" cy="4445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19845" y="1993900"/>
            <a:ext cx="0" cy="4445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25193" y="1822450"/>
            <a:ext cx="894651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Sprint 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564230" y="2247900"/>
            <a:ext cx="63904" cy="2882900"/>
          </a:xfrm>
          <a:prstGeom prst="rect">
            <a:avLst/>
          </a:prstGeom>
          <a:solidFill>
            <a:srgbClr val="EFE7E7"/>
          </a:solidFill>
          <a:ln/>
        </p:spPr>
      </p:sp>
      <p:sp>
        <p:nvSpPr>
          <p:cNvPr id="8" name="Shape 6"/>
          <p:cNvSpPr/>
          <p:nvPr/>
        </p:nvSpPr>
        <p:spPr>
          <a:xfrm>
            <a:off x="4797386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9" name="Shape 7"/>
          <p:cNvSpPr/>
          <p:nvPr/>
        </p:nvSpPr>
        <p:spPr>
          <a:xfrm>
            <a:off x="5244712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0" name="Shape 8"/>
          <p:cNvSpPr/>
          <p:nvPr/>
        </p:nvSpPr>
        <p:spPr>
          <a:xfrm>
            <a:off x="5692037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1" name="Shape 9"/>
          <p:cNvSpPr/>
          <p:nvPr/>
        </p:nvSpPr>
        <p:spPr>
          <a:xfrm>
            <a:off x="6139363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2" name="Shape 10"/>
          <p:cNvSpPr/>
          <p:nvPr/>
        </p:nvSpPr>
        <p:spPr>
          <a:xfrm>
            <a:off x="6586689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3" name="Shape 11"/>
          <p:cNvSpPr/>
          <p:nvPr/>
        </p:nvSpPr>
        <p:spPr>
          <a:xfrm>
            <a:off x="7034015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4" name="Shape 12"/>
          <p:cNvSpPr/>
          <p:nvPr/>
        </p:nvSpPr>
        <p:spPr>
          <a:xfrm>
            <a:off x="7481340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5" name="Shape 13"/>
          <p:cNvSpPr/>
          <p:nvPr/>
        </p:nvSpPr>
        <p:spPr>
          <a:xfrm>
            <a:off x="7928666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6" name="Shape 14"/>
          <p:cNvSpPr/>
          <p:nvPr/>
        </p:nvSpPr>
        <p:spPr>
          <a:xfrm>
            <a:off x="4477868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73068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 Dec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925193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20393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372519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67719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819845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515045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267171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62371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714496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9696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Feb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161822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7022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Feb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609148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304348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 Feb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056474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51674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 Feb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3047848" y="2260600"/>
            <a:ext cx="6096000" cy="55118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5" name="Text 33"/>
          <p:cNvSpPr/>
          <p:nvPr/>
        </p:nvSpPr>
        <p:spPr>
          <a:xfrm>
            <a:off x="3047848" y="244094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1 — Discovery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174848" y="301752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Interviews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132674" y="301752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533994" y="3023870"/>
            <a:ext cx="53365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done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77868" y="282448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925193" y="3210560"/>
            <a:ext cx="958555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41" name="Shape 39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solidFill>
            <a:srgbClr val="1B4E8A"/>
          </a:solidFill>
          <a:ln/>
        </p:spPr>
      </p:sp>
      <p:sp>
        <p:nvSpPr>
          <p:cNvPr id="43" name="Text 41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Jan–23 Jan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3174848" y="359410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Synthesis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132674" y="359410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4477868" y="340106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564230" y="3787140"/>
            <a:ext cx="766844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48" name="Shape 46"/>
          <p:cNvSpPr/>
          <p:nvPr/>
        </p:nvSpPr>
        <p:spPr>
          <a:xfrm>
            <a:off x="5819845" y="3600450"/>
            <a:ext cx="702940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819845" y="3600450"/>
            <a:ext cx="421764" cy="177800"/>
          </a:xfrm>
          <a:prstGeom prst="rect">
            <a:avLst/>
          </a:prstGeom>
          <a:solidFill>
            <a:srgbClr val="1B4E8A"/>
          </a:solidFill>
          <a:ln/>
        </p:spPr>
      </p:sp>
      <p:sp>
        <p:nvSpPr>
          <p:cNvPr id="50" name="Shape 48"/>
          <p:cNvSpPr/>
          <p:nvPr/>
        </p:nvSpPr>
        <p:spPr>
          <a:xfrm>
            <a:off x="6442775" y="360934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51" name="Shape 49"/>
          <p:cNvSpPr/>
          <p:nvPr/>
        </p:nvSpPr>
        <p:spPr>
          <a:xfrm>
            <a:off x="3047848" y="3990340"/>
            <a:ext cx="6096000" cy="55118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52" name="Text 50"/>
          <p:cNvSpPr/>
          <p:nvPr/>
        </p:nvSpPr>
        <p:spPr>
          <a:xfrm>
            <a:off x="3047848" y="417068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2 — Delivery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3174848" y="474726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8132674" y="474726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Cato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8533994" y="4753610"/>
            <a:ext cx="53365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 risk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477868" y="455422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011556" y="4940300"/>
            <a:ext cx="1341977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58" name="Shape 56"/>
          <p:cNvSpPr/>
          <p:nvPr/>
        </p:nvSpPr>
        <p:spPr>
          <a:xfrm>
            <a:off x="6267171" y="4753610"/>
            <a:ext cx="159759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6267171" y="4753610"/>
            <a:ext cx="319518" cy="177800"/>
          </a:xfrm>
          <a:prstGeom prst="rect">
            <a:avLst/>
          </a:prstGeom>
          <a:solidFill>
            <a:srgbClr val="1B4E8A"/>
          </a:solidFill>
          <a:ln/>
        </p:spPr>
      </p:sp>
      <p:sp>
        <p:nvSpPr>
          <p:cNvPr id="60" name="Text 58"/>
          <p:cNvSpPr/>
          <p:nvPr/>
        </p:nvSpPr>
        <p:spPr>
          <a:xfrm>
            <a:off x="6267171" y="4753610"/>
            <a:ext cx="159759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Jan–20 Feb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784753" y="476250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62" name="Shape 60"/>
          <p:cNvSpPr/>
          <p:nvPr/>
        </p:nvSpPr>
        <p:spPr>
          <a:xfrm>
            <a:off x="6075460" y="3112770"/>
            <a:ext cx="0" cy="57658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794445" y="3689350"/>
            <a:ext cx="281015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 rot="16200000">
            <a:off x="5762695" y="36449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5" name="Shape 63"/>
          <p:cNvSpPr/>
          <p:nvPr/>
        </p:nvSpPr>
        <p:spPr>
          <a:xfrm>
            <a:off x="6522785" y="3689350"/>
            <a:ext cx="0" cy="115316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241771" y="4842510"/>
            <a:ext cx="281015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rot="16200000">
            <a:off x="6210021" y="479806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8" name="Shape 66"/>
          <p:cNvSpPr/>
          <p:nvPr/>
        </p:nvSpPr>
        <p:spPr>
          <a:xfrm>
            <a:off x="6714496" y="2247900"/>
            <a:ext cx="0" cy="288290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69" name="Text 67"/>
          <p:cNvSpPr/>
          <p:nvPr/>
        </p:nvSpPr>
        <p:spPr>
          <a:xfrm>
            <a:off x="6409696" y="5143500"/>
            <a:ext cx="6096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8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 label nudge (labelOffsets)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5393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Connector lines + footnote (source line)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283964"/>
            <a:ext cx="863600" cy="65633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51688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859276"/>
            <a:ext cx="863600" cy="42468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397637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11804"/>
            <a:ext cx="863600" cy="347472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59029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327654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168140"/>
            <a:ext cx="863600" cy="7721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45897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666236"/>
            <a:ext cx="863600" cy="50190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82193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338068"/>
            <a:ext cx="863600" cy="328168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069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153918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033012"/>
            <a:ext cx="863600" cy="90728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391406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434588"/>
            <a:ext cx="863600" cy="59842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63855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067812"/>
            <a:ext cx="863600" cy="366776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15595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883662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859276"/>
            <a:ext cx="863600" cy="108102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30453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183636"/>
            <a:ext cx="863600" cy="6756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426206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58948"/>
            <a:ext cx="863600" cy="424688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8760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574798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4152748" y="4168140"/>
            <a:ext cx="431800" cy="115824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4152748" y="3666236"/>
            <a:ext cx="431800" cy="193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4152748" y="3338068"/>
            <a:ext cx="431800" cy="17373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flipV="1">
            <a:off x="5448148" y="4033012"/>
            <a:ext cx="431800" cy="13512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5448148" y="3434588"/>
            <a:ext cx="431800" cy="23164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5448148" y="3067812"/>
            <a:ext cx="431800" cy="27025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6743548" y="3859276"/>
            <a:ext cx="431800" cy="17373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6743548" y="3183636"/>
            <a:ext cx="431800" cy="25095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6743548" y="2758948"/>
            <a:ext cx="431800" cy="308864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073248" y="49403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305648" y="2885567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8305648" y="343573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305648" y="4314063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Statistics Denmark, 2024</a:t>
            </a:r>
            <a:endParaRPr lang="en-US" sz="8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Point highlight + speech-bubble callout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06293" y="3505200"/>
            <a:ext cx="932180" cy="16002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55493" y="421005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06293" y="3185160"/>
            <a:ext cx="932180" cy="3200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55493" y="324993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04563" y="3345180"/>
            <a:ext cx="932180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53763" y="413004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04563" y="2945130"/>
            <a:ext cx="932180" cy="40005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53763" y="3049905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2833" y="3225165"/>
            <a:ext cx="932180" cy="1880235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52033" y="4070033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02833" y="2385060"/>
            <a:ext cx="932180" cy="840105"/>
          </a:xfrm>
          <a:prstGeom prst="rect">
            <a:avLst/>
          </a:prstGeom>
          <a:solidFill>
            <a:srgbClr val="E34948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52033" y="2709863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1103" y="3025140"/>
            <a:ext cx="932180" cy="20802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50303" y="397002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501103" y="2465070"/>
            <a:ext cx="932180" cy="56007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50303" y="2649855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V="1">
            <a:off x="4238473" y="3345180"/>
            <a:ext cx="466090" cy="1600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4238473" y="2945130"/>
            <a:ext cx="466090" cy="24003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5636743" y="3225165"/>
            <a:ext cx="466090" cy="12001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5636743" y="2385060"/>
            <a:ext cx="466090" cy="56007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7035013" y="3025140"/>
            <a:ext cx="466090" cy="20002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035013" y="2385060"/>
            <a:ext cx="466090" cy="8001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717128" y="265938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717128" y="397954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 flipV="1">
            <a:off x="6568923" y="1959610"/>
            <a:ext cx="381000" cy="400050"/>
          </a:xfrm>
          <a:prstGeom prst="line">
            <a:avLst/>
          </a:prstGeom>
          <a:noFill/>
          <a:ln w="9525">
            <a:solidFill>
              <a:srgbClr val="0B0B0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27953" y="1731010"/>
            <a:ext cx="1043940" cy="241300"/>
          </a:xfrm>
          <a:prstGeom prst="rect">
            <a:avLst/>
          </a:prstGeom>
          <a:solidFill>
            <a:srgbClr val="FFFFFF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27953" y="1731010"/>
            <a:ext cx="1043940" cy="241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One-off boost</a:t>
            </a:r>
            <a:endParaRPr lang="en-US" sz="1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9648" y="2438400"/>
            <a:ext cx="5613400" cy="5334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3" name="Text 1"/>
          <p:cNvSpPr/>
          <p:nvPr/>
        </p:nvSpPr>
        <p:spPr>
          <a:xfrm>
            <a:off x="3517748" y="2451100"/>
            <a:ext cx="5537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 range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Background band (target range) + line highlight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9889" y="3078480"/>
            <a:ext cx="922867" cy="2026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3669089" y="399669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23239" y="2705100"/>
            <a:ext cx="922867" cy="2400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072439" y="381000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26589" y="2331720"/>
            <a:ext cx="922867" cy="27736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475789" y="362331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929939" y="2491740"/>
            <a:ext cx="922867" cy="26136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879139" y="370332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background bands (quadrant regions)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6956273" y="1879600"/>
            <a:ext cx="2085975" cy="3251200"/>
          </a:xfrm>
          <a:prstGeom prst="rect">
            <a:avLst/>
          </a:prstGeom>
          <a:solidFill>
            <a:srgbClr val="E8F0E4"/>
          </a:solidFill>
          <a:ln/>
        </p:spPr>
      </p:sp>
      <p:sp>
        <p:nvSpPr>
          <p:cNvPr id="4" name="Text 2"/>
          <p:cNvSpPr/>
          <p:nvPr/>
        </p:nvSpPr>
        <p:spPr>
          <a:xfrm>
            <a:off x="6994373" y="1892300"/>
            <a:ext cx="200977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Focus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43180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4229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3505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6924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603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484535" y="4279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27523" y="3263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570510" y="36703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613498" y="26543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656485" y="2247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86135" y="4235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629123" y="3219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672110" y="36258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715098" y="26098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758085" y="2203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</a:t>
            </a:r>
            <a:endParaRPr lang="en-US" sz="1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Exploding slice + slice color + 100% = note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6200000"/>
              <a:gd name="adj2" fmla="val 4536000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90764" y="32818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 46%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626508" y="2173627"/>
            <a:ext cx="2806700" cy="2806700"/>
          </a:xfrm>
          <a:prstGeom prst="pie">
            <a:avLst>
              <a:gd name="adj1" fmla="val 4536000"/>
              <a:gd name="adj2" fmla="val 10584000"/>
            </a:avLst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50140" y="4185634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 28%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0584000"/>
              <a:gd name="adj2" fmla="val 14472000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62223" y="2971737"/>
            <a:ext cx="9423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 18%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4472000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26319" y="2046932"/>
            <a:ext cx="17371" cy="6765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22142" y="193323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= 100   ·   Source: annual report FY24</a:t>
            </a:r>
            <a:endParaRPr lang="en-US" sz="8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Pattern fills (SVG/preview; solid in PPT)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93760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0196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3974" y="3505200"/>
            <a:ext cx="1242907" cy="16002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3174" y="421005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974" y="3105150"/>
            <a:ext cx="1242907" cy="40005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3174" y="320992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83974" y="2865120"/>
            <a:ext cx="1242907" cy="24003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33174" y="288988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248334" y="3345180"/>
            <a:ext cx="1242907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97534" y="41300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248334" y="2785110"/>
            <a:ext cx="1242907" cy="56007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97534" y="296989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248334" y="2465070"/>
            <a:ext cx="1242907" cy="32004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197534" y="25298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112694" y="3105150"/>
            <a:ext cx="1242907" cy="20002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61894" y="401002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112694" y="2465070"/>
            <a:ext cx="1242907" cy="6400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61894" y="268986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112694" y="2105025"/>
            <a:ext cx="1242907" cy="360045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61894" y="2189798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 flipV="1">
            <a:off x="4626881" y="3345180"/>
            <a:ext cx="621453" cy="1600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626881" y="2785110"/>
            <a:ext cx="621453" cy="320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4626881" y="2465070"/>
            <a:ext cx="621453" cy="40005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6491241" y="3105150"/>
            <a:ext cx="621453" cy="24003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6491241" y="2465070"/>
            <a:ext cx="621453" cy="320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6491241" y="2105025"/>
            <a:ext cx="621453" cy="36004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717128" y="21993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Risk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717128" y="269938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717128" y="401955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</a:t>
            </a:r>
            <a:endParaRPr lang="en-US" sz="10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from raw samples (Tukey whiskers, outliers)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15214" y="339852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15214" y="403860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3662" y="33985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42519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0653" y="3505200"/>
            <a:ext cx="1029123" cy="53340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82524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39014" y="3522980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387274" y="1877060"/>
            <a:ext cx="55880" cy="5588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3900653" y="363474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286348" y="254508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86348" y="3291840"/>
            <a:ext cx="0" cy="32004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54795" y="25450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54795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771786" y="2651760"/>
            <a:ext cx="102912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771786" y="29718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10148" y="2906607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771786" y="27813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157481" y="361188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157481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25928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25928" y="44653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42919" y="3718560"/>
            <a:ext cx="1029123" cy="53340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642919" y="40386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081281" y="3736340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129541" y="2090420"/>
            <a:ext cx="55880" cy="5588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7642919" y="38481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Horizontal boxplot (same shared axis, rotated)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1875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8705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712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1907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47848" y="30035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047848" y="38163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047848" y="46291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702148" y="22860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28948" y="2286000"/>
            <a:ext cx="3683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38748" y="21854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28948" y="21854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97248" y="20624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965548" y="20624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84548" y="18910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807048" y="3098800"/>
            <a:ext cx="11049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97248" y="30988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11948" y="29982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97248" y="29982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33848" y="2875280"/>
            <a:ext cx="14732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70448" y="28752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89448" y="27038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333848" y="39116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860648" y="3911600"/>
            <a:ext cx="3683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070448" y="38110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860648" y="38110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228948" y="36880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97248" y="36880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216248" y="35166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070448" y="4724400"/>
            <a:ext cx="11049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228948" y="47244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175348" y="46238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228948" y="46238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965548" y="45008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333848" y="45008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952848" y="43294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4923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Grouped boxplots (2024 vs 2025)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479648" y="18415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Text 9"/>
          <p:cNvSpPr/>
          <p:nvPr/>
        </p:nvSpPr>
        <p:spPr>
          <a:xfrm>
            <a:off x="360664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33368" y="18415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" name="Text 11"/>
          <p:cNvSpPr/>
          <p:nvPr/>
        </p:nvSpPr>
        <p:spPr>
          <a:xfrm>
            <a:off x="416036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087766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87766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948987" y="3398520"/>
            <a:ext cx="277558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48987" y="4678680"/>
            <a:ext cx="277558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779368" y="3825240"/>
            <a:ext cx="616797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779368" y="425196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58899" y="254508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58899" y="403860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820120" y="25450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820120" y="44653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50501" y="3185160"/>
            <a:ext cx="616797" cy="8534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650501" y="361188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830033" y="361188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830033" y="46786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91253" y="36118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91253" y="489204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521634" y="4038600"/>
            <a:ext cx="616797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521634" y="446532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742663" y="318516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742663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603883" y="318516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603883" y="44653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34264" y="3611880"/>
            <a:ext cx="616797" cy="64008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434264" y="403860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613796" y="233172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613796" y="382524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475017" y="23317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475017" y="425196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305398" y="2971800"/>
            <a:ext cx="616797" cy="85344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305398" y="339852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484929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484929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346150" y="33985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346150" y="46786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176531" y="3825240"/>
            <a:ext cx="616797" cy="64008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176531" y="425196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Error bars (Error / Error+ / Error- rows)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27762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2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3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19889" y="3121152"/>
            <a:ext cx="922867" cy="13441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669089" y="369798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3239" y="2705100"/>
            <a:ext cx="922867" cy="17602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5072439" y="348996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526589" y="2929128"/>
            <a:ext cx="922867" cy="153619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6475789" y="360197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929939" y="2513076"/>
            <a:ext cx="922867" cy="19522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879139" y="3393948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79648" y="446532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81323" y="2961132"/>
            <a:ext cx="0" cy="32004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117823" y="296113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7823" y="328117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584673" y="2481072"/>
            <a:ext cx="0" cy="448056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521173" y="248107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21173" y="2929128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88023" y="2641092"/>
            <a:ext cx="0" cy="384048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924523" y="264109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24523" y="3025140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391373" y="2385060"/>
            <a:ext cx="0" cy="384048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327873" y="2385060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327873" y="2769108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705225"/>
            <a:ext cx="6019800" cy="1400175"/>
          </a:xfrm>
          <a:prstGeom prst="rect">
            <a:avLst/>
          </a:prstGeom>
          <a:solidFill>
            <a:srgbClr val="E4E2DA"/>
          </a:solidFill>
          <a:ln/>
        </p:spPr>
      </p:sp>
      <p:sp>
        <p:nvSpPr>
          <p:cNvPr id="3" name="Shape 1"/>
          <p:cNvSpPr/>
          <p:nvPr/>
        </p:nvSpPr>
        <p:spPr>
          <a:xfrm>
            <a:off x="3073248" y="2905125"/>
            <a:ext cx="6019800" cy="800100"/>
          </a:xfrm>
          <a:prstGeom prst="rect">
            <a:avLst/>
          </a:prstGeom>
          <a:solidFill>
            <a:srgbClr val="EFEEE8"/>
          </a:solidFill>
          <a:ln/>
        </p:spPr>
      </p:sp>
      <p:sp>
        <p:nvSpPr>
          <p:cNvPr id="4" name="Text 2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Bullet chart (Target row + range bands)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07324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819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08314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58809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30423" y="3425190"/>
            <a:ext cx="990600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279623" y="4170045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35373" y="2905125"/>
            <a:ext cx="990600" cy="22002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784573" y="3910013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40323" y="3185160"/>
            <a:ext cx="990600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6289523" y="4050030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845273" y="2665095"/>
            <a:ext cx="990600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794473" y="3789998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95523" y="310515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00473" y="310515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05423" y="2905125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10373" y="278511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clustered columns +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188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71052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2704" y="2971800"/>
            <a:ext cx="593513" cy="21336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3331904" y="394335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988918" y="3078480"/>
            <a:ext cx="593513" cy="20269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" name="Text 7"/>
          <p:cNvSpPr/>
          <p:nvPr/>
        </p:nvSpPr>
        <p:spPr>
          <a:xfrm>
            <a:off x="3938118" y="399669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201344" y="2651760"/>
            <a:ext cx="593513" cy="24536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Text 9"/>
          <p:cNvSpPr/>
          <p:nvPr/>
        </p:nvSpPr>
        <p:spPr>
          <a:xfrm>
            <a:off x="5150544" y="378333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807558" y="2545080"/>
            <a:ext cx="593513" cy="25603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" name="Text 11"/>
          <p:cNvSpPr/>
          <p:nvPr/>
        </p:nvSpPr>
        <p:spPr>
          <a:xfrm>
            <a:off x="5756758" y="372999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019984" y="2331720"/>
            <a:ext cx="593513" cy="27736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6969184" y="362331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626198" y="2171700"/>
            <a:ext cx="593513" cy="29337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" name="Text 15"/>
          <p:cNvSpPr/>
          <p:nvPr/>
        </p:nvSpPr>
        <p:spPr>
          <a:xfrm>
            <a:off x="7575398" y="354330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073248" y="5105400"/>
            <a:ext cx="54559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79968" y="320357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579968" y="372427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Actual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55456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554568" y="42164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554568" y="34163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554568" y="26162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554568" y="1816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952088" y="259461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01568" y="241554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 flipV="1">
            <a:off x="3982568" y="2385060"/>
            <a:ext cx="1818640" cy="24003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770728" y="235458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20208" y="21755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5801208" y="2065020"/>
            <a:ext cx="1818640" cy="32004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589368" y="203454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238848" y="185547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579968" y="1652270"/>
            <a:ext cx="5638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Dumbbell range (before vs after)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721583" y="3454400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8583" y="341630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72383" y="3025140"/>
            <a:ext cx="0" cy="48006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721583" y="297434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8583" y="293624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119853" y="2854325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46853" y="281622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170653" y="2705100"/>
            <a:ext cx="0" cy="20002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119853" y="265430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46853" y="261620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18123" y="3134360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45123" y="309626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568923" y="3185160"/>
            <a:ext cx="0" cy="12001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18123" y="3254375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45123" y="321627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916393" y="2614295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43393" y="257619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967193" y="2305050"/>
            <a:ext cx="0" cy="36004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916393" y="225425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43393" y="221615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717128" y="221932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717128" y="257937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Forecast with confidence band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2027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083148" y="3431858"/>
            <a:ext cx="56515" cy="733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9" name="Shape 7"/>
          <p:cNvSpPr/>
          <p:nvPr/>
        </p:nvSpPr>
        <p:spPr>
          <a:xfrm>
            <a:off x="6133313" y="3413189"/>
            <a:ext cx="56515" cy="2200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0" name="Shape 8"/>
          <p:cNvSpPr/>
          <p:nvPr/>
        </p:nvSpPr>
        <p:spPr>
          <a:xfrm>
            <a:off x="6183478" y="3394519"/>
            <a:ext cx="56515" cy="3667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1" name="Shape 9"/>
          <p:cNvSpPr/>
          <p:nvPr/>
        </p:nvSpPr>
        <p:spPr>
          <a:xfrm>
            <a:off x="6233643" y="3375851"/>
            <a:ext cx="56515" cy="5134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2" name="Shape 10"/>
          <p:cNvSpPr/>
          <p:nvPr/>
        </p:nvSpPr>
        <p:spPr>
          <a:xfrm>
            <a:off x="6283808" y="3357182"/>
            <a:ext cx="56515" cy="66008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3" name="Shape 11"/>
          <p:cNvSpPr/>
          <p:nvPr/>
        </p:nvSpPr>
        <p:spPr>
          <a:xfrm>
            <a:off x="6333973" y="3338513"/>
            <a:ext cx="56515" cy="8067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4" name="Shape 12"/>
          <p:cNvSpPr/>
          <p:nvPr/>
        </p:nvSpPr>
        <p:spPr>
          <a:xfrm>
            <a:off x="6384138" y="3319844"/>
            <a:ext cx="56515" cy="9534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5" name="Shape 13"/>
          <p:cNvSpPr/>
          <p:nvPr/>
        </p:nvSpPr>
        <p:spPr>
          <a:xfrm>
            <a:off x="6434303" y="3301175"/>
            <a:ext cx="56515" cy="11001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6" name="Shape 14"/>
          <p:cNvSpPr/>
          <p:nvPr/>
        </p:nvSpPr>
        <p:spPr>
          <a:xfrm>
            <a:off x="6484468" y="3282506"/>
            <a:ext cx="56515" cy="124682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7" name="Shape 15"/>
          <p:cNvSpPr/>
          <p:nvPr/>
        </p:nvSpPr>
        <p:spPr>
          <a:xfrm>
            <a:off x="6534633" y="3263837"/>
            <a:ext cx="56515" cy="13935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8" name="Shape 16"/>
          <p:cNvSpPr/>
          <p:nvPr/>
        </p:nvSpPr>
        <p:spPr>
          <a:xfrm>
            <a:off x="6584798" y="3245168"/>
            <a:ext cx="56515" cy="15401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9" name="Shape 17"/>
          <p:cNvSpPr/>
          <p:nvPr/>
        </p:nvSpPr>
        <p:spPr>
          <a:xfrm>
            <a:off x="6634963" y="3226499"/>
            <a:ext cx="56515" cy="168688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0" name="Shape 18"/>
          <p:cNvSpPr/>
          <p:nvPr/>
        </p:nvSpPr>
        <p:spPr>
          <a:xfrm>
            <a:off x="6685128" y="3207830"/>
            <a:ext cx="56515" cy="183356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735293" y="3189161"/>
            <a:ext cx="56515" cy="19802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2" name="Shape 20"/>
          <p:cNvSpPr/>
          <p:nvPr/>
        </p:nvSpPr>
        <p:spPr>
          <a:xfrm>
            <a:off x="6785458" y="3170492"/>
            <a:ext cx="56515" cy="21269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3" name="Shape 21"/>
          <p:cNvSpPr/>
          <p:nvPr/>
        </p:nvSpPr>
        <p:spPr>
          <a:xfrm>
            <a:off x="6835623" y="3151823"/>
            <a:ext cx="56515" cy="227362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4" name="Shape 22"/>
          <p:cNvSpPr/>
          <p:nvPr/>
        </p:nvSpPr>
        <p:spPr>
          <a:xfrm>
            <a:off x="6885788" y="3133154"/>
            <a:ext cx="56515" cy="24203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5" name="Shape 23"/>
          <p:cNvSpPr/>
          <p:nvPr/>
        </p:nvSpPr>
        <p:spPr>
          <a:xfrm>
            <a:off x="6935953" y="3114485"/>
            <a:ext cx="56515" cy="25669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6" name="Shape 24"/>
          <p:cNvSpPr/>
          <p:nvPr/>
        </p:nvSpPr>
        <p:spPr>
          <a:xfrm>
            <a:off x="6986118" y="3095816"/>
            <a:ext cx="56515" cy="27136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7" name="Shape 25"/>
          <p:cNvSpPr/>
          <p:nvPr/>
        </p:nvSpPr>
        <p:spPr>
          <a:xfrm>
            <a:off x="7036283" y="3077147"/>
            <a:ext cx="56515" cy="286036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8" name="Shape 26"/>
          <p:cNvSpPr/>
          <p:nvPr/>
        </p:nvSpPr>
        <p:spPr>
          <a:xfrm>
            <a:off x="7086448" y="3058478"/>
            <a:ext cx="56515" cy="30070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9" name="Shape 27"/>
          <p:cNvSpPr/>
          <p:nvPr/>
        </p:nvSpPr>
        <p:spPr>
          <a:xfrm>
            <a:off x="7136613" y="3039809"/>
            <a:ext cx="56515" cy="31537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0" name="Shape 28"/>
          <p:cNvSpPr/>
          <p:nvPr/>
        </p:nvSpPr>
        <p:spPr>
          <a:xfrm>
            <a:off x="7186778" y="3021140"/>
            <a:ext cx="56515" cy="33004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1" name="Shape 29"/>
          <p:cNvSpPr/>
          <p:nvPr/>
        </p:nvSpPr>
        <p:spPr>
          <a:xfrm>
            <a:off x="7236943" y="3002471"/>
            <a:ext cx="56515" cy="34471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2" name="Shape 30"/>
          <p:cNvSpPr/>
          <p:nvPr/>
        </p:nvSpPr>
        <p:spPr>
          <a:xfrm>
            <a:off x="7287108" y="2982468"/>
            <a:ext cx="56515" cy="36004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3" name="Shape 31"/>
          <p:cNvSpPr/>
          <p:nvPr/>
        </p:nvSpPr>
        <p:spPr>
          <a:xfrm>
            <a:off x="7337273" y="2961132"/>
            <a:ext cx="56515" cy="37604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4" name="Shape 32"/>
          <p:cNvSpPr/>
          <p:nvPr/>
        </p:nvSpPr>
        <p:spPr>
          <a:xfrm>
            <a:off x="7387438" y="2939796"/>
            <a:ext cx="56515" cy="39204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5" name="Shape 33"/>
          <p:cNvSpPr/>
          <p:nvPr/>
        </p:nvSpPr>
        <p:spPr>
          <a:xfrm>
            <a:off x="7437603" y="2918460"/>
            <a:ext cx="56515" cy="40805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6" name="Shape 34"/>
          <p:cNvSpPr/>
          <p:nvPr/>
        </p:nvSpPr>
        <p:spPr>
          <a:xfrm>
            <a:off x="7487768" y="2897124"/>
            <a:ext cx="56515" cy="42405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7" name="Shape 35"/>
          <p:cNvSpPr/>
          <p:nvPr/>
        </p:nvSpPr>
        <p:spPr>
          <a:xfrm>
            <a:off x="7537933" y="2875788"/>
            <a:ext cx="56515" cy="44005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8" name="Shape 36"/>
          <p:cNvSpPr/>
          <p:nvPr/>
        </p:nvSpPr>
        <p:spPr>
          <a:xfrm>
            <a:off x="7588098" y="2854452"/>
            <a:ext cx="56515" cy="45605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9" name="Shape 37"/>
          <p:cNvSpPr/>
          <p:nvPr/>
        </p:nvSpPr>
        <p:spPr>
          <a:xfrm>
            <a:off x="7638263" y="2833116"/>
            <a:ext cx="56515" cy="47205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0" name="Shape 38"/>
          <p:cNvSpPr/>
          <p:nvPr/>
        </p:nvSpPr>
        <p:spPr>
          <a:xfrm>
            <a:off x="7688428" y="2811780"/>
            <a:ext cx="56515" cy="48806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1" name="Shape 39"/>
          <p:cNvSpPr/>
          <p:nvPr/>
        </p:nvSpPr>
        <p:spPr>
          <a:xfrm>
            <a:off x="7738593" y="2790444"/>
            <a:ext cx="56515" cy="50406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2" name="Shape 40"/>
          <p:cNvSpPr/>
          <p:nvPr/>
        </p:nvSpPr>
        <p:spPr>
          <a:xfrm>
            <a:off x="7788758" y="2769108"/>
            <a:ext cx="56515" cy="52006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3" name="Shape 41"/>
          <p:cNvSpPr/>
          <p:nvPr/>
        </p:nvSpPr>
        <p:spPr>
          <a:xfrm>
            <a:off x="7838923" y="2747772"/>
            <a:ext cx="56515" cy="53606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4" name="Shape 42"/>
          <p:cNvSpPr/>
          <p:nvPr/>
        </p:nvSpPr>
        <p:spPr>
          <a:xfrm>
            <a:off x="7889088" y="2726436"/>
            <a:ext cx="56515" cy="55206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5" name="Shape 43"/>
          <p:cNvSpPr/>
          <p:nvPr/>
        </p:nvSpPr>
        <p:spPr>
          <a:xfrm>
            <a:off x="7939253" y="2705100"/>
            <a:ext cx="56515" cy="56807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6" name="Shape 44"/>
          <p:cNvSpPr/>
          <p:nvPr/>
        </p:nvSpPr>
        <p:spPr>
          <a:xfrm>
            <a:off x="7989418" y="2683764"/>
            <a:ext cx="56515" cy="58407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7" name="Shape 45"/>
          <p:cNvSpPr/>
          <p:nvPr/>
        </p:nvSpPr>
        <p:spPr>
          <a:xfrm>
            <a:off x="8039583" y="2662428"/>
            <a:ext cx="56515" cy="60007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8" name="Shape 46"/>
          <p:cNvSpPr/>
          <p:nvPr/>
        </p:nvSpPr>
        <p:spPr>
          <a:xfrm>
            <a:off x="8089748" y="2641092"/>
            <a:ext cx="56515" cy="61607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9" name="Shape 47"/>
          <p:cNvSpPr/>
          <p:nvPr/>
        </p:nvSpPr>
        <p:spPr>
          <a:xfrm>
            <a:off x="8139913" y="2619756"/>
            <a:ext cx="56515" cy="63207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0" name="Shape 48"/>
          <p:cNvSpPr/>
          <p:nvPr/>
        </p:nvSpPr>
        <p:spPr>
          <a:xfrm>
            <a:off x="8190078" y="2598420"/>
            <a:ext cx="56515" cy="64808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1" name="Shape 49"/>
          <p:cNvSpPr/>
          <p:nvPr/>
        </p:nvSpPr>
        <p:spPr>
          <a:xfrm>
            <a:off x="8240243" y="2577084"/>
            <a:ext cx="56515" cy="66408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2" name="Shape 50"/>
          <p:cNvSpPr/>
          <p:nvPr/>
        </p:nvSpPr>
        <p:spPr>
          <a:xfrm>
            <a:off x="8290408" y="2555748"/>
            <a:ext cx="56515" cy="68008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3" name="Shape 51"/>
          <p:cNvSpPr/>
          <p:nvPr/>
        </p:nvSpPr>
        <p:spPr>
          <a:xfrm>
            <a:off x="8340573" y="2534412"/>
            <a:ext cx="56515" cy="69608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4" name="Shape 52"/>
          <p:cNvSpPr/>
          <p:nvPr/>
        </p:nvSpPr>
        <p:spPr>
          <a:xfrm>
            <a:off x="8390738" y="2513076"/>
            <a:ext cx="56515" cy="71208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5" name="Shape 53"/>
          <p:cNvSpPr/>
          <p:nvPr/>
        </p:nvSpPr>
        <p:spPr>
          <a:xfrm>
            <a:off x="8440903" y="2491740"/>
            <a:ext cx="56515" cy="72809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6" name="Shape 54"/>
          <p:cNvSpPr/>
          <p:nvPr/>
        </p:nvSpPr>
        <p:spPr>
          <a:xfrm>
            <a:off x="6685128" y="1905000"/>
            <a:ext cx="0" cy="3200400"/>
          </a:xfrm>
          <a:prstGeom prst="line">
            <a:avLst/>
          </a:prstGeom>
          <a:noFill/>
          <a:ln w="12700">
            <a:solidFill>
              <a:srgbClr val="E1E0D9"/>
            </a:solidFill>
            <a:prstDash val="dash"/>
          </a:ln>
        </p:spPr>
      </p:sp>
      <p:sp>
        <p:nvSpPr>
          <p:cNvPr id="57" name="Shape 55"/>
          <p:cNvSpPr/>
          <p:nvPr/>
        </p:nvSpPr>
        <p:spPr>
          <a:xfrm>
            <a:off x="3644748" y="37947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294228" y="361569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 flipV="1">
            <a:off x="3675228" y="3633216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848708" y="36027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498188" y="342366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 flipV="1">
            <a:off x="4879188" y="3441192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052668" y="3410712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702148" y="323164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 flipV="1">
            <a:off x="6083148" y="3185160"/>
            <a:ext cx="1203960" cy="256032"/>
          </a:xfrm>
          <a:prstGeom prst="line">
            <a:avLst/>
          </a:prstGeom>
          <a:noFill/>
          <a:ln w="25400">
            <a:solidFill>
              <a:srgbClr val="2A78D6"/>
            </a:solidFill>
            <a:prstDash val="dash"/>
          </a:ln>
        </p:spPr>
      </p:sp>
      <p:sp>
        <p:nvSpPr>
          <p:cNvPr id="66" name="Shape 64"/>
          <p:cNvSpPr/>
          <p:nvPr/>
        </p:nvSpPr>
        <p:spPr>
          <a:xfrm>
            <a:off x="7256628" y="3154680"/>
            <a:ext cx="60960" cy="60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906108" y="29756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 flipV="1">
            <a:off x="7287108" y="2897124"/>
            <a:ext cx="1203960" cy="288036"/>
          </a:xfrm>
          <a:prstGeom prst="line">
            <a:avLst/>
          </a:prstGeom>
          <a:noFill/>
          <a:ln w="25400">
            <a:solidFill>
              <a:srgbClr val="2A78D6"/>
            </a:solidFill>
            <a:prstDash val="dash"/>
          </a:ln>
        </p:spPr>
      </p:sp>
      <p:sp>
        <p:nvSpPr>
          <p:cNvPr id="69" name="Shape 67"/>
          <p:cNvSpPr/>
          <p:nvPr/>
        </p:nvSpPr>
        <p:spPr>
          <a:xfrm>
            <a:off x="8460588" y="2866644"/>
            <a:ext cx="60960" cy="60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110068" y="268757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69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Budget-vs-actual bridge (gap to target)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73908" y="3270504"/>
            <a:ext cx="802640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Text 7"/>
          <p:cNvSpPr/>
          <p:nvPr/>
        </p:nvSpPr>
        <p:spPr>
          <a:xfrm>
            <a:off x="3197708" y="409270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076548" y="3270504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>
            <a:off x="4477868" y="2971800"/>
            <a:ext cx="802640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401668" y="302590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280508" y="2971800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5681828" y="2779776"/>
            <a:ext cx="802640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5605628" y="2780538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84468" y="2779776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6885788" y="2779776"/>
            <a:ext cx="802640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8" name="Text 16"/>
          <p:cNvSpPr/>
          <p:nvPr/>
        </p:nvSpPr>
        <p:spPr>
          <a:xfrm>
            <a:off x="6809588" y="281254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688428" y="3035808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8089748" y="3035808"/>
            <a:ext cx="802640" cy="2069592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1" name="Text 19"/>
          <p:cNvSpPr/>
          <p:nvPr/>
        </p:nvSpPr>
        <p:spPr>
          <a:xfrm>
            <a:off x="8013548" y="3975354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160868" y="275844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089748" y="2758440"/>
            <a:ext cx="802640" cy="277368"/>
          </a:xfrm>
          <a:prstGeom prst="rect">
            <a:avLst/>
          </a:prstGeom>
          <a:solidFill>
            <a:srgbClr val="898781"/>
          </a:solidFill>
          <a:ln w="9525">
            <a:solidFill>
              <a:srgbClr val="52514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038948" y="2567940"/>
            <a:ext cx="9042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Gap +13</a:t>
            </a:r>
            <a:endParaRPr lang="en-US" sz="95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Heatmap with marginal totals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771873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051398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30923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266825" cy="893233"/>
          </a:xfrm>
          <a:prstGeom prst="rect">
            <a:avLst/>
          </a:prstGeom>
          <a:solidFill>
            <a:srgbClr val="AABDE7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771873" y="1993900"/>
            <a:ext cx="1266825" cy="893233"/>
          </a:xfrm>
          <a:prstGeom prst="rect">
            <a:avLst/>
          </a:prstGeom>
          <a:solidFill>
            <a:srgbClr val="8CA7E1"/>
          </a:solidFill>
          <a:ln/>
        </p:spPr>
      </p:sp>
      <p:sp>
        <p:nvSpPr>
          <p:cNvPr id="11" name="Text 9"/>
          <p:cNvSpPr/>
          <p:nvPr/>
        </p:nvSpPr>
        <p:spPr>
          <a:xfrm>
            <a:off x="4771873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051398" y="1993900"/>
            <a:ext cx="1266825" cy="893233"/>
          </a:xfrm>
          <a:prstGeom prst="rect">
            <a:avLst/>
          </a:prstGeom>
          <a:solidFill>
            <a:srgbClr val="799BDE"/>
          </a:solidFill>
          <a:ln/>
        </p:spPr>
      </p:sp>
      <p:sp>
        <p:nvSpPr>
          <p:cNvPr id="13" name="Text 11"/>
          <p:cNvSpPr/>
          <p:nvPr/>
        </p:nvSpPr>
        <p:spPr>
          <a:xfrm>
            <a:off x="6051398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30923" y="1993900"/>
            <a:ext cx="1266825" cy="8932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330923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899833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899833"/>
            <a:ext cx="1266825" cy="893233"/>
          </a:xfrm>
          <a:prstGeom prst="rect">
            <a:avLst/>
          </a:prstGeom>
          <a:solidFill>
            <a:srgbClr val="D8E0F3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71873" y="2899833"/>
            <a:ext cx="1266825" cy="893233"/>
          </a:xfrm>
          <a:prstGeom prst="rect">
            <a:avLst/>
          </a:prstGeom>
          <a:solidFill>
            <a:srgbClr val="CBD5F0"/>
          </a:solidFill>
          <a:ln/>
        </p:spPr>
      </p:sp>
      <p:sp>
        <p:nvSpPr>
          <p:cNvPr id="20" name="Text 18"/>
          <p:cNvSpPr/>
          <p:nvPr/>
        </p:nvSpPr>
        <p:spPr>
          <a:xfrm>
            <a:off x="4771873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051398" y="2899833"/>
            <a:ext cx="1266825" cy="893233"/>
          </a:xfrm>
          <a:prstGeom prst="rect">
            <a:avLst/>
          </a:prstGeom>
          <a:solidFill>
            <a:srgbClr val="D5DDF2"/>
          </a:solidFill>
          <a:ln/>
        </p:spPr>
      </p:sp>
      <p:sp>
        <p:nvSpPr>
          <p:cNvPr id="22" name="Text 20"/>
          <p:cNvSpPr/>
          <p:nvPr/>
        </p:nvSpPr>
        <p:spPr>
          <a:xfrm>
            <a:off x="6051398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330923" y="2899833"/>
            <a:ext cx="1266825" cy="893233"/>
          </a:xfrm>
          <a:prstGeom prst="rect">
            <a:avLst/>
          </a:prstGeom>
          <a:solidFill>
            <a:srgbClr val="C3CFEE"/>
          </a:solidFill>
          <a:ln/>
        </p:spPr>
      </p:sp>
      <p:sp>
        <p:nvSpPr>
          <p:cNvPr id="24" name="Text 22"/>
          <p:cNvSpPr/>
          <p:nvPr/>
        </p:nvSpPr>
        <p:spPr>
          <a:xfrm>
            <a:off x="7330923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805767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805767"/>
            <a:ext cx="1266825" cy="893233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71873" y="3805767"/>
            <a:ext cx="1266825" cy="893233"/>
          </a:xfrm>
          <a:prstGeom prst="rect">
            <a:avLst/>
          </a:prstGeom>
          <a:solidFill>
            <a:srgbClr val="E8EDF8"/>
          </a:solidFill>
          <a:ln/>
        </p:spPr>
      </p:sp>
      <p:sp>
        <p:nvSpPr>
          <p:cNvPr id="29" name="Text 27"/>
          <p:cNvSpPr/>
          <p:nvPr/>
        </p:nvSpPr>
        <p:spPr>
          <a:xfrm>
            <a:off x="4771873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51398" y="3805767"/>
            <a:ext cx="1266825" cy="893233"/>
          </a:xfrm>
          <a:prstGeom prst="rect">
            <a:avLst/>
          </a:prstGeom>
          <a:solidFill>
            <a:srgbClr val="DCE3F4"/>
          </a:solidFill>
          <a:ln/>
        </p:spPr>
      </p:sp>
      <p:sp>
        <p:nvSpPr>
          <p:cNvPr id="31" name="Text 29"/>
          <p:cNvSpPr/>
          <p:nvPr/>
        </p:nvSpPr>
        <p:spPr>
          <a:xfrm>
            <a:off x="6051398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330923" y="3805767"/>
            <a:ext cx="1266825" cy="893233"/>
          </a:xfrm>
          <a:prstGeom prst="rect">
            <a:avLst/>
          </a:prstGeom>
          <a:solidFill>
            <a:srgbClr val="CED8F0"/>
          </a:solidFill>
          <a:ln/>
        </p:spPr>
      </p:sp>
      <p:sp>
        <p:nvSpPr>
          <p:cNvPr id="33" name="Text 31"/>
          <p:cNvSpPr/>
          <p:nvPr/>
        </p:nvSpPr>
        <p:spPr>
          <a:xfrm>
            <a:off x="7330923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635848" y="1993900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5" name="Text 33"/>
          <p:cNvSpPr/>
          <p:nvPr/>
        </p:nvSpPr>
        <p:spPr>
          <a:xfrm>
            <a:off x="8635848" y="1993900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199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8635848" y="2899833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7" name="Text 35"/>
          <p:cNvSpPr/>
          <p:nvPr/>
        </p:nvSpPr>
        <p:spPr>
          <a:xfrm>
            <a:off x="8635848" y="2899833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131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8635848" y="3805767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9" name="Text 37"/>
          <p:cNvSpPr/>
          <p:nvPr/>
        </p:nvSpPr>
        <p:spPr>
          <a:xfrm>
            <a:off x="8635848" y="3805767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109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3492348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1" name="Text 39"/>
          <p:cNvSpPr/>
          <p:nvPr/>
        </p:nvSpPr>
        <p:spPr>
          <a:xfrm>
            <a:off x="3492348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94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4771873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3" name="Text 41"/>
          <p:cNvSpPr/>
          <p:nvPr/>
        </p:nvSpPr>
        <p:spPr>
          <a:xfrm>
            <a:off x="4771873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107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051398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5" name="Text 43"/>
          <p:cNvSpPr/>
          <p:nvPr/>
        </p:nvSpPr>
        <p:spPr>
          <a:xfrm>
            <a:off x="6051398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111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7330923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7" name="Text 45"/>
          <p:cNvSpPr/>
          <p:nvPr/>
        </p:nvSpPr>
        <p:spPr>
          <a:xfrm>
            <a:off x="7330923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127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9" name="Shape 47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50" name="Shape 48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51" name="Shape 49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52" name="Shape 50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53" name="Shape 51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54" name="Shape 52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55" name="Shape 53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56" name="Shape 54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57" name="Shape 55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58" name="Shape 56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59" name="Shape 57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60" name="Shape 58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61" name="Shape 59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62" name="Shape 60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63" name="Shape 61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64" name="Shape 62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65" name="Shape 63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66" name="Shape 64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67" name="Shape 65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68" name="Shape 66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69" name="Shape 67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70" name="Shape 68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71" name="Shape 69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Text 70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73" name="Text 71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85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Slope chart — market share, before vs after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272128" y="2044700"/>
            <a:ext cx="0" cy="30480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510128" y="1803400"/>
            <a:ext cx="152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919568" y="2044700"/>
            <a:ext cx="0" cy="30480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57568" y="1803400"/>
            <a:ext cx="152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241648" y="32013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4272128" y="2288540"/>
            <a:ext cx="3647440" cy="9432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889088" y="22580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136566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 24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995768" y="2193290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 31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241648" y="2662321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72128" y="2692801"/>
            <a:ext cx="3647440" cy="26950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89088" y="293182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047848" y="2597551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 28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995768" y="2867058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 26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241648" y="387510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4272128" y="3501323"/>
            <a:ext cx="3647440" cy="40426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889088" y="347084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47848" y="3810334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 19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995768" y="3406073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 22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41648" y="4818380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4272128" y="4040338"/>
            <a:ext cx="3647440" cy="808522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889088" y="4009858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047848" y="4753610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Private label 12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995768" y="3945088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Private label 18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internal market model, 2026</a:t>
            </a:r>
            <a:endParaRPr lang="en-US" sz="85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Waffle — order mix by channel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Shape 2"/>
          <p:cNvSpPr/>
          <p:nvPr/>
        </p:nvSpPr>
        <p:spPr>
          <a:xfrm>
            <a:off x="34161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" name="Shape 3"/>
          <p:cNvSpPr/>
          <p:nvPr/>
        </p:nvSpPr>
        <p:spPr>
          <a:xfrm>
            <a:off x="37590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" name="Shape 4"/>
          <p:cNvSpPr/>
          <p:nvPr/>
        </p:nvSpPr>
        <p:spPr>
          <a:xfrm>
            <a:off x="41019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Shape 5"/>
          <p:cNvSpPr/>
          <p:nvPr/>
        </p:nvSpPr>
        <p:spPr>
          <a:xfrm>
            <a:off x="44448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Shape 6"/>
          <p:cNvSpPr/>
          <p:nvPr/>
        </p:nvSpPr>
        <p:spPr>
          <a:xfrm>
            <a:off x="47877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Shape 7"/>
          <p:cNvSpPr/>
          <p:nvPr/>
        </p:nvSpPr>
        <p:spPr>
          <a:xfrm>
            <a:off x="51306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54735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Shape 9"/>
          <p:cNvSpPr/>
          <p:nvPr/>
        </p:nvSpPr>
        <p:spPr>
          <a:xfrm>
            <a:off x="58164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61593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30732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34161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7590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1019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4448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7877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51306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54735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58164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61593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0732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34161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37590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1019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448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7877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51306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54735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58164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61593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0732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4161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7590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1019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448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877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51306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4735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8164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61593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0732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4161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7590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1019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4448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7877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1306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735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8164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93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0732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4161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7590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6" name="Shape 54"/>
          <p:cNvSpPr/>
          <p:nvPr/>
        </p:nvSpPr>
        <p:spPr>
          <a:xfrm>
            <a:off x="41019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7" name="Shape 55"/>
          <p:cNvSpPr/>
          <p:nvPr/>
        </p:nvSpPr>
        <p:spPr>
          <a:xfrm>
            <a:off x="44448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8" name="Shape 56"/>
          <p:cNvSpPr/>
          <p:nvPr/>
        </p:nvSpPr>
        <p:spPr>
          <a:xfrm>
            <a:off x="47877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9" name="Shape 57"/>
          <p:cNvSpPr/>
          <p:nvPr/>
        </p:nvSpPr>
        <p:spPr>
          <a:xfrm>
            <a:off x="51306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0" name="Shape 58"/>
          <p:cNvSpPr/>
          <p:nvPr/>
        </p:nvSpPr>
        <p:spPr>
          <a:xfrm>
            <a:off x="54735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1" name="Shape 59"/>
          <p:cNvSpPr/>
          <p:nvPr/>
        </p:nvSpPr>
        <p:spPr>
          <a:xfrm>
            <a:off x="58164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2" name="Shape 60"/>
          <p:cNvSpPr/>
          <p:nvPr/>
        </p:nvSpPr>
        <p:spPr>
          <a:xfrm>
            <a:off x="61593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3" name="Shape 61"/>
          <p:cNvSpPr/>
          <p:nvPr/>
        </p:nvSpPr>
        <p:spPr>
          <a:xfrm>
            <a:off x="30732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4" name="Shape 62"/>
          <p:cNvSpPr/>
          <p:nvPr/>
        </p:nvSpPr>
        <p:spPr>
          <a:xfrm>
            <a:off x="34161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5" name="Shape 63"/>
          <p:cNvSpPr/>
          <p:nvPr/>
        </p:nvSpPr>
        <p:spPr>
          <a:xfrm>
            <a:off x="37590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6" name="Shape 64"/>
          <p:cNvSpPr/>
          <p:nvPr/>
        </p:nvSpPr>
        <p:spPr>
          <a:xfrm>
            <a:off x="41019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7" name="Shape 65"/>
          <p:cNvSpPr/>
          <p:nvPr/>
        </p:nvSpPr>
        <p:spPr>
          <a:xfrm>
            <a:off x="44448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8" name="Shape 66"/>
          <p:cNvSpPr/>
          <p:nvPr/>
        </p:nvSpPr>
        <p:spPr>
          <a:xfrm>
            <a:off x="47877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9" name="Shape 67"/>
          <p:cNvSpPr/>
          <p:nvPr/>
        </p:nvSpPr>
        <p:spPr>
          <a:xfrm>
            <a:off x="51306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0" name="Shape 68"/>
          <p:cNvSpPr/>
          <p:nvPr/>
        </p:nvSpPr>
        <p:spPr>
          <a:xfrm>
            <a:off x="54735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1" name="Shape 69"/>
          <p:cNvSpPr/>
          <p:nvPr/>
        </p:nvSpPr>
        <p:spPr>
          <a:xfrm>
            <a:off x="58164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2" name="Shape 70"/>
          <p:cNvSpPr/>
          <p:nvPr/>
        </p:nvSpPr>
        <p:spPr>
          <a:xfrm>
            <a:off x="61593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3" name="Shape 71"/>
          <p:cNvSpPr/>
          <p:nvPr/>
        </p:nvSpPr>
        <p:spPr>
          <a:xfrm>
            <a:off x="30732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4" name="Shape 72"/>
          <p:cNvSpPr/>
          <p:nvPr/>
        </p:nvSpPr>
        <p:spPr>
          <a:xfrm>
            <a:off x="34161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5" name="Shape 73"/>
          <p:cNvSpPr/>
          <p:nvPr/>
        </p:nvSpPr>
        <p:spPr>
          <a:xfrm>
            <a:off x="37590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6" name="Shape 74"/>
          <p:cNvSpPr/>
          <p:nvPr/>
        </p:nvSpPr>
        <p:spPr>
          <a:xfrm>
            <a:off x="41019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7" name="Shape 75"/>
          <p:cNvSpPr/>
          <p:nvPr/>
        </p:nvSpPr>
        <p:spPr>
          <a:xfrm>
            <a:off x="44448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8" name="Shape 76"/>
          <p:cNvSpPr/>
          <p:nvPr/>
        </p:nvSpPr>
        <p:spPr>
          <a:xfrm>
            <a:off x="47877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9" name="Shape 77"/>
          <p:cNvSpPr/>
          <p:nvPr/>
        </p:nvSpPr>
        <p:spPr>
          <a:xfrm>
            <a:off x="51306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0" name="Shape 78"/>
          <p:cNvSpPr/>
          <p:nvPr/>
        </p:nvSpPr>
        <p:spPr>
          <a:xfrm>
            <a:off x="54735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1" name="Shape 79"/>
          <p:cNvSpPr/>
          <p:nvPr/>
        </p:nvSpPr>
        <p:spPr>
          <a:xfrm>
            <a:off x="58164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2" name="Shape 80"/>
          <p:cNvSpPr/>
          <p:nvPr/>
        </p:nvSpPr>
        <p:spPr>
          <a:xfrm>
            <a:off x="61593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3" name="Shape 81"/>
          <p:cNvSpPr/>
          <p:nvPr/>
        </p:nvSpPr>
        <p:spPr>
          <a:xfrm>
            <a:off x="30732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4" name="Shape 82"/>
          <p:cNvSpPr/>
          <p:nvPr/>
        </p:nvSpPr>
        <p:spPr>
          <a:xfrm>
            <a:off x="34161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5" name="Shape 83"/>
          <p:cNvSpPr/>
          <p:nvPr/>
        </p:nvSpPr>
        <p:spPr>
          <a:xfrm>
            <a:off x="37590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6" name="Shape 84"/>
          <p:cNvSpPr/>
          <p:nvPr/>
        </p:nvSpPr>
        <p:spPr>
          <a:xfrm>
            <a:off x="41019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7" name="Shape 85"/>
          <p:cNvSpPr/>
          <p:nvPr/>
        </p:nvSpPr>
        <p:spPr>
          <a:xfrm>
            <a:off x="44448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8" name="Shape 86"/>
          <p:cNvSpPr/>
          <p:nvPr/>
        </p:nvSpPr>
        <p:spPr>
          <a:xfrm>
            <a:off x="47877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89" name="Shape 87"/>
          <p:cNvSpPr/>
          <p:nvPr/>
        </p:nvSpPr>
        <p:spPr>
          <a:xfrm>
            <a:off x="51306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0" name="Shape 88"/>
          <p:cNvSpPr/>
          <p:nvPr/>
        </p:nvSpPr>
        <p:spPr>
          <a:xfrm>
            <a:off x="54735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1" name="Shape 89"/>
          <p:cNvSpPr/>
          <p:nvPr/>
        </p:nvSpPr>
        <p:spPr>
          <a:xfrm>
            <a:off x="58164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2" name="Shape 90"/>
          <p:cNvSpPr/>
          <p:nvPr/>
        </p:nvSpPr>
        <p:spPr>
          <a:xfrm>
            <a:off x="61593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3" name="Shape 91"/>
          <p:cNvSpPr/>
          <p:nvPr/>
        </p:nvSpPr>
        <p:spPr>
          <a:xfrm>
            <a:off x="30732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4" name="Shape 92"/>
          <p:cNvSpPr/>
          <p:nvPr/>
        </p:nvSpPr>
        <p:spPr>
          <a:xfrm>
            <a:off x="34161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5" name="Shape 93"/>
          <p:cNvSpPr/>
          <p:nvPr/>
        </p:nvSpPr>
        <p:spPr>
          <a:xfrm>
            <a:off x="37590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6" name="Shape 94"/>
          <p:cNvSpPr/>
          <p:nvPr/>
        </p:nvSpPr>
        <p:spPr>
          <a:xfrm>
            <a:off x="41019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7" name="Shape 95"/>
          <p:cNvSpPr/>
          <p:nvPr/>
        </p:nvSpPr>
        <p:spPr>
          <a:xfrm>
            <a:off x="44448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8" name="Shape 96"/>
          <p:cNvSpPr/>
          <p:nvPr/>
        </p:nvSpPr>
        <p:spPr>
          <a:xfrm>
            <a:off x="47877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9" name="Shape 97"/>
          <p:cNvSpPr/>
          <p:nvPr/>
        </p:nvSpPr>
        <p:spPr>
          <a:xfrm>
            <a:off x="51306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0" name="Shape 98"/>
          <p:cNvSpPr/>
          <p:nvPr/>
        </p:nvSpPr>
        <p:spPr>
          <a:xfrm>
            <a:off x="54735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1" name="Shape 99"/>
          <p:cNvSpPr/>
          <p:nvPr/>
        </p:nvSpPr>
        <p:spPr>
          <a:xfrm>
            <a:off x="58164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1593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3" name="Shape 101"/>
          <p:cNvSpPr/>
          <p:nvPr/>
        </p:nvSpPr>
        <p:spPr>
          <a:xfrm>
            <a:off x="6629248" y="3295650"/>
            <a:ext cx="11430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Text 102"/>
          <p:cNvSpPr/>
          <p:nvPr/>
        </p:nvSpPr>
        <p:spPr>
          <a:xfrm>
            <a:off x="6794348" y="32448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  52%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6629248" y="3511550"/>
            <a:ext cx="114300" cy="1143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6" name="Text 104"/>
          <p:cNvSpPr/>
          <p:nvPr/>
        </p:nvSpPr>
        <p:spPr>
          <a:xfrm>
            <a:off x="6794348" y="34607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  33%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6629248" y="3727450"/>
            <a:ext cx="114300" cy="1143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8" name="Text 106"/>
          <p:cNvSpPr/>
          <p:nvPr/>
        </p:nvSpPr>
        <p:spPr>
          <a:xfrm>
            <a:off x="6794348" y="36766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  15%</a:t>
            </a:r>
            <a:endParaRPr lang="en-US" sz="10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Bar-of-pie — revenue with the long tail detailed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13608" y="2105660"/>
            <a:ext cx="2926080" cy="2926080"/>
          </a:xfrm>
          <a:prstGeom prst="pie">
            <a:avLst>
              <a:gd name="adj1" fmla="val 2160000"/>
              <a:gd name="adj2" fmla="val 7920000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671744" y="4375566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27%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413608" y="2105660"/>
            <a:ext cx="2926080" cy="2926080"/>
          </a:xfrm>
          <a:prstGeom prst="pie">
            <a:avLst>
              <a:gd name="adj1" fmla="val 7920000"/>
              <a:gd name="adj2" fmla="val 15120000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552505" y="3284856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33%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13608" y="2105660"/>
            <a:ext cx="2926080" cy="2926080"/>
          </a:xfrm>
          <a:prstGeom prst="pie">
            <a:avLst>
              <a:gd name="adj1" fmla="val 15120000"/>
              <a:gd name="adj2" fmla="val 19440000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57232" y="261076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20%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13608" y="2105660"/>
            <a:ext cx="2926080" cy="2926080"/>
          </a:xfrm>
          <a:prstGeom prst="pie">
            <a:avLst>
              <a:gd name="adj1" fmla="val 19440000"/>
              <a:gd name="adj2" fmla="val 2160000"/>
            </a:avLst>
          </a:prstGeom>
          <a:solidFill>
            <a:srgbClr val="89878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49722" y="3473450"/>
            <a:ext cx="668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20%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60272" y="2178812"/>
            <a:ext cx="889016" cy="529935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6060272" y="4428653"/>
            <a:ext cx="889016" cy="529935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6949288" y="2178812"/>
            <a:ext cx="355600" cy="926592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68388" y="2546858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Nordics 7%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949288" y="3105404"/>
            <a:ext cx="355600" cy="694944"/>
          </a:xfrm>
          <a:prstGeom prst="rect">
            <a:avLst/>
          </a:prstGeom>
          <a:solidFill>
            <a:srgbClr val="4A3AA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68388" y="3357626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Benelux 5%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949288" y="3800348"/>
            <a:ext cx="355600" cy="115824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68388" y="4284218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DACH 8%</a:t>
            </a:r>
            <a:endParaRPr lang="en-US" sz="10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Small multiples — one panel per brand, shared scale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479648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47964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84583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21201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819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32259" y="3304617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3662739" y="2981036"/>
            <a:ext cx="366183" cy="35406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98443" y="295055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4028923" y="2671233"/>
            <a:ext cx="366183" cy="30980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64626" y="2640753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4395106" y="2184400"/>
            <a:ext cx="366183" cy="48683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730809" y="2153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9648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122181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553981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553981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553981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122181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122181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122181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122181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55398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92016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8634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65253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706593" y="374719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5737073" y="3689158"/>
            <a:ext cx="366183" cy="8851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072776" y="365867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03256" y="3689158"/>
            <a:ext cx="366183" cy="4425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438959" y="370293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6469439" y="3556385"/>
            <a:ext cx="366183" cy="17703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805143" y="352590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553981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196514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7628314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628314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628314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196514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7196514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7196514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7196514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762831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799449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836068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872686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7780926" y="4543829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7811406" y="4308764"/>
            <a:ext cx="366183" cy="265545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147109" y="427828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8177589" y="3954703"/>
            <a:ext cx="366183" cy="35406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8513293" y="392422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8543773" y="3290839"/>
            <a:ext cx="366183" cy="663864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879476" y="3260359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628314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Bubble size legend + quadrant matrix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1879600"/>
            <a:ext cx="2781300" cy="12192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4" name="Text 2"/>
          <p:cNvSpPr/>
          <p:nvPr/>
        </p:nvSpPr>
        <p:spPr>
          <a:xfrm>
            <a:off x="3530448" y="1905000"/>
            <a:ext cx="26797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 marks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260948" y="1879600"/>
            <a:ext cx="2781300" cy="1219200"/>
          </a:xfrm>
          <a:prstGeom prst="rect">
            <a:avLst/>
          </a:prstGeom>
          <a:solidFill>
            <a:srgbClr val="FAF9F6"/>
          </a:solidFill>
          <a:ln/>
        </p:spPr>
      </p:sp>
      <p:sp>
        <p:nvSpPr>
          <p:cNvPr id="6" name="Text 4"/>
          <p:cNvSpPr/>
          <p:nvPr/>
        </p:nvSpPr>
        <p:spPr>
          <a:xfrm>
            <a:off x="6311748" y="1905000"/>
            <a:ext cx="26797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098800"/>
            <a:ext cx="2781300" cy="2032000"/>
          </a:xfrm>
          <a:prstGeom prst="rect">
            <a:avLst/>
          </a:prstGeom>
          <a:solidFill>
            <a:srgbClr val="FAF9F6"/>
          </a:solidFill>
          <a:ln/>
        </p:spPr>
      </p:sp>
      <p:sp>
        <p:nvSpPr>
          <p:cNvPr id="8" name="Text 6"/>
          <p:cNvSpPr/>
          <p:nvPr/>
        </p:nvSpPr>
        <p:spPr>
          <a:xfrm>
            <a:off x="3530448" y="3124200"/>
            <a:ext cx="26797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Dogs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260948" y="3098800"/>
            <a:ext cx="2781300" cy="20320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10" name="Text 8"/>
          <p:cNvSpPr/>
          <p:nvPr/>
        </p:nvSpPr>
        <p:spPr>
          <a:xfrm>
            <a:off x="6311748" y="3124200"/>
            <a:ext cx="26797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Cash cows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260948" y="1879600"/>
            <a:ext cx="0" cy="325120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3479648" y="3098800"/>
            <a:ext cx="5562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479648" y="43180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047848" y="4229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479648" y="3505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479648" y="26924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47848" y="2603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28736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39988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51240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762492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406232" y="1908861"/>
            <a:ext cx="585216" cy="585216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406232" y="1737411"/>
            <a:ext cx="585216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7890821" y="2080267"/>
            <a:ext cx="413810" cy="413810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890821" y="1823114"/>
            <a:ext cx="41381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4431900" y="3954532"/>
            <a:ext cx="320536" cy="32053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164841" y="2430683"/>
            <a:ext cx="523433" cy="523433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342790" y="3308913"/>
            <a:ext cx="392575" cy="39257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080860" y="1790192"/>
            <a:ext cx="585216" cy="58521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981204" y="2668947"/>
            <a:ext cx="453306" cy="45330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687160" y="200025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713674" y="260985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8459911" y="28130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760765" y="34226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4777836" y="403225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Datamark axis (Tufte range frame)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28848" y="5105400"/>
            <a:ext cx="50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16500"/>
            <a:ext cx="355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28848" y="1905000"/>
            <a:ext cx="50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1816100"/>
            <a:ext cx="355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947262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3977742" y="3025140"/>
            <a:ext cx="996188" cy="1600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943450" y="29946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4973930" y="2905125"/>
            <a:ext cx="996188" cy="12001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93963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5970118" y="2665095"/>
            <a:ext cx="996188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935826" y="263461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6966306" y="2465070"/>
            <a:ext cx="996188" cy="2000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32014" y="243459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947262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3977742" y="3425190"/>
            <a:ext cx="996188" cy="800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943450" y="33947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973930" y="3425190"/>
            <a:ext cx="996188" cy="40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39638" y="343471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5970118" y="330517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935826" y="327469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6966306" y="314515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32014" y="311467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511388" y="23793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511388" y="305943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0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Diverging heatmap (YoY change, 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887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30539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1192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393825" cy="973667"/>
          </a:xfrm>
          <a:prstGeom prst="rect">
            <a:avLst/>
          </a:prstGeom>
          <a:solidFill>
            <a:srgbClr val="C6D1EE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98873" y="1993900"/>
            <a:ext cx="1393825" cy="973667"/>
          </a:xfrm>
          <a:prstGeom prst="rect">
            <a:avLst/>
          </a:prstGeom>
          <a:solidFill>
            <a:srgbClr val="9FB4E5"/>
          </a:solidFill>
          <a:ln/>
        </p:spPr>
      </p:sp>
      <p:sp>
        <p:nvSpPr>
          <p:cNvPr id="11" name="Text 9"/>
          <p:cNvSpPr/>
          <p:nvPr/>
        </p:nvSpPr>
        <p:spPr>
          <a:xfrm>
            <a:off x="4898873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5398" y="1993900"/>
            <a:ext cx="1393825" cy="973667"/>
          </a:xfrm>
          <a:prstGeom prst="rect">
            <a:avLst/>
          </a:prstGeom>
          <a:solidFill>
            <a:srgbClr val="F9E6E6"/>
          </a:solidFill>
          <a:ln/>
        </p:spPr>
      </p:sp>
      <p:sp>
        <p:nvSpPr>
          <p:cNvPr id="13" name="Text 11"/>
          <p:cNvSpPr/>
          <p:nvPr/>
        </p:nvSpPr>
        <p:spPr>
          <a:xfrm>
            <a:off x="6305398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-2.0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11923" y="1993900"/>
            <a:ext cx="1393825" cy="973667"/>
          </a:xfrm>
          <a:prstGeom prst="rect">
            <a:avLst/>
          </a:prstGeom>
          <a:solidFill>
            <a:srgbClr val="6690DB"/>
          </a:solidFill>
          <a:ln/>
        </p:spPr>
      </p:sp>
      <p:sp>
        <p:nvSpPr>
          <p:cNvPr id="15" name="Text 13"/>
          <p:cNvSpPr/>
          <p:nvPr/>
        </p:nvSpPr>
        <p:spPr>
          <a:xfrm>
            <a:off x="7711923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8.0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980267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980267"/>
            <a:ext cx="1393825" cy="973667"/>
          </a:xfrm>
          <a:prstGeom prst="rect">
            <a:avLst/>
          </a:prstGeom>
          <a:solidFill>
            <a:srgbClr val="F0B8B8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-5.0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98873" y="2980267"/>
            <a:ext cx="1393825" cy="973667"/>
          </a:xfrm>
          <a:prstGeom prst="rect">
            <a:avLst/>
          </a:prstGeom>
          <a:solidFill>
            <a:srgbClr val="F6D8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98873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-3.0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05398" y="2980267"/>
            <a:ext cx="1393825" cy="973667"/>
          </a:xfrm>
          <a:prstGeom prst="rect">
            <a:avLst/>
          </a:prstGeom>
          <a:solidFill>
            <a:srgbClr val="E5EAF7"/>
          </a:solidFill>
          <a:ln/>
        </p:spPr>
      </p:sp>
      <p:sp>
        <p:nvSpPr>
          <p:cNvPr id="22" name="Text 20"/>
          <p:cNvSpPr/>
          <p:nvPr/>
        </p:nvSpPr>
        <p:spPr>
          <a:xfrm>
            <a:off x="6305398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11923" y="2980267"/>
            <a:ext cx="1393825" cy="973667"/>
          </a:xfrm>
          <a:prstGeom prst="rect">
            <a:avLst/>
          </a:prstGeom>
          <a:solidFill>
            <a:srgbClr val="F2F5FB"/>
          </a:solidFill>
          <a:ln/>
        </p:spPr>
      </p:sp>
      <p:sp>
        <p:nvSpPr>
          <p:cNvPr id="24" name="Text 22"/>
          <p:cNvSpPr/>
          <p:nvPr/>
        </p:nvSpPr>
        <p:spPr>
          <a:xfrm>
            <a:off x="7711923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966633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966633"/>
            <a:ext cx="1393825" cy="973667"/>
          </a:xfrm>
          <a:prstGeom prst="rect">
            <a:avLst/>
          </a:prstGeom>
          <a:solidFill>
            <a:srgbClr val="F2F5FB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98873" y="3966633"/>
            <a:ext cx="1393825" cy="973667"/>
          </a:xfrm>
          <a:prstGeom prst="rect">
            <a:avLst/>
          </a:prstGeom>
          <a:solidFill>
            <a:srgbClr val="D6DEF2"/>
          </a:solidFill>
          <a:ln/>
        </p:spPr>
      </p:sp>
      <p:sp>
        <p:nvSpPr>
          <p:cNvPr id="29" name="Text 27"/>
          <p:cNvSpPr/>
          <p:nvPr/>
        </p:nvSpPr>
        <p:spPr>
          <a:xfrm>
            <a:off x="4898873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05398" y="3966633"/>
            <a:ext cx="1393825" cy="973667"/>
          </a:xfrm>
          <a:prstGeom prst="rect">
            <a:avLst/>
          </a:prstGeom>
          <a:solidFill>
            <a:srgbClr val="B4C3E9"/>
          </a:solidFill>
          <a:ln/>
        </p:spPr>
      </p:sp>
      <p:sp>
        <p:nvSpPr>
          <p:cNvPr id="31" name="Text 29"/>
          <p:cNvSpPr/>
          <p:nvPr/>
        </p:nvSpPr>
        <p:spPr>
          <a:xfrm>
            <a:off x="6305398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5.0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711923" y="3966633"/>
            <a:ext cx="1393825" cy="9736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Text 31"/>
          <p:cNvSpPr/>
          <p:nvPr/>
        </p:nvSpPr>
        <p:spPr>
          <a:xfrm>
            <a:off x="7711923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9.0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0B8B8"/>
          </a:solidFill>
          <a:ln/>
        </p:spPr>
      </p:sp>
      <p:sp>
        <p:nvSpPr>
          <p:cNvPr id="35" name="Shape 33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F2C3C3"/>
          </a:solidFill>
          <a:ln/>
        </p:spPr>
      </p:sp>
      <p:sp>
        <p:nvSpPr>
          <p:cNvPr id="36" name="Shape 34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F4CDCC"/>
          </a:solidFill>
          <a:ln/>
        </p:spPr>
      </p:sp>
      <p:sp>
        <p:nvSpPr>
          <p:cNvPr id="37" name="Shape 35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F6D6D6"/>
          </a:solidFill>
          <a:ln/>
        </p:spPr>
      </p:sp>
      <p:sp>
        <p:nvSpPr>
          <p:cNvPr id="38" name="Shape 36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F7DEDE"/>
          </a:solidFill>
          <a:ln/>
        </p:spPr>
      </p:sp>
      <p:sp>
        <p:nvSpPr>
          <p:cNvPr id="39" name="Shape 37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F9E7E7"/>
          </a:solidFill>
          <a:ln/>
        </p:spPr>
      </p:sp>
      <p:sp>
        <p:nvSpPr>
          <p:cNvPr id="40" name="Shape 38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FBEFEF"/>
          </a:solidFill>
          <a:ln/>
        </p:spPr>
      </p:sp>
      <p:sp>
        <p:nvSpPr>
          <p:cNvPr id="41" name="Shape 39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FDF6F6"/>
          </a:solidFill>
          <a:ln/>
        </p:spPr>
      </p:sp>
      <p:sp>
        <p:nvSpPr>
          <p:cNvPr id="42" name="Shape 40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FFFDFD"/>
          </a:solidFill>
          <a:ln/>
        </p:spPr>
      </p:sp>
      <p:sp>
        <p:nvSpPr>
          <p:cNvPr id="43" name="Shape 41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F9FAFD"/>
          </a:solidFill>
          <a:ln/>
        </p:spPr>
      </p:sp>
      <p:sp>
        <p:nvSpPr>
          <p:cNvPr id="44" name="Shape 42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5" name="Shape 43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E9EDF8"/>
          </a:solidFill>
          <a:ln/>
        </p:spPr>
      </p:sp>
      <p:sp>
        <p:nvSpPr>
          <p:cNvPr id="46" name="Shape 44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E1E6F5"/>
          </a:solidFill>
          <a:ln/>
        </p:spPr>
      </p:sp>
      <p:sp>
        <p:nvSpPr>
          <p:cNvPr id="47" name="Shape 45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D8DFF3"/>
          </a:solidFill>
          <a:ln/>
        </p:spPr>
      </p:sp>
      <p:sp>
        <p:nvSpPr>
          <p:cNvPr id="48" name="Shape 46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CED7F0"/>
          </a:solidFill>
          <a:ln/>
        </p:spPr>
      </p:sp>
      <p:sp>
        <p:nvSpPr>
          <p:cNvPr id="49" name="Shape 47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C4CFED"/>
          </a:solidFill>
          <a:ln/>
        </p:spPr>
      </p:sp>
      <p:sp>
        <p:nvSpPr>
          <p:cNvPr id="50" name="Shape 48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B9C7EB"/>
          </a:solidFill>
          <a:ln/>
        </p:spPr>
      </p:sp>
      <p:sp>
        <p:nvSpPr>
          <p:cNvPr id="51" name="Shape 49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ADBEE8"/>
          </a:solidFill>
          <a:ln/>
        </p:spPr>
      </p:sp>
      <p:sp>
        <p:nvSpPr>
          <p:cNvPr id="52" name="Shape 50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A0B5E5"/>
          </a:solidFill>
          <a:ln/>
        </p:spPr>
      </p:sp>
      <p:sp>
        <p:nvSpPr>
          <p:cNvPr id="53" name="Shape 51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92ABE2"/>
          </a:solidFill>
          <a:ln/>
        </p:spPr>
      </p:sp>
      <p:sp>
        <p:nvSpPr>
          <p:cNvPr id="54" name="Shape 52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55" name="Shape 53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6E94DC"/>
          </a:solidFill>
          <a:ln/>
        </p:spPr>
      </p:sp>
      <p:sp>
        <p:nvSpPr>
          <p:cNvPr id="56" name="Shape 54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5487D9"/>
          </a:solidFill>
          <a:ln/>
        </p:spPr>
      </p:sp>
      <p:sp>
        <p:nvSpPr>
          <p:cNvPr id="57" name="Shape 55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Text 56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-5.0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9.0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4000348" y="5149850"/>
            <a:ext cx="254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tile map (auto-detected layout)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" name="Text 2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988" dirty="0"/>
          </a:p>
        </p:txBody>
      </p:sp>
      <p:sp>
        <p:nvSpPr>
          <p:cNvPr id="5" name="Shape 3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" name="Text 4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988" dirty="0"/>
          </a:p>
        </p:txBody>
      </p:sp>
      <p:sp>
        <p:nvSpPr>
          <p:cNvPr id="7" name="Shape 5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" name="Text 6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988" dirty="0"/>
          </a:p>
        </p:txBody>
      </p:sp>
      <p:sp>
        <p:nvSpPr>
          <p:cNvPr id="9" name="Shape 7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" name="Text 8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988" dirty="0"/>
          </a:p>
        </p:txBody>
      </p:sp>
      <p:sp>
        <p:nvSpPr>
          <p:cNvPr id="11" name="Shape 9"/>
          <p:cNvSpPr/>
          <p:nvPr/>
        </p:nvSpPr>
        <p:spPr>
          <a:xfrm>
            <a:off x="8115941" y="2229644"/>
            <a:ext cx="369094" cy="369094"/>
          </a:xfrm>
          <a:prstGeom prst="rect">
            <a:avLst/>
          </a:prstGeom>
          <a:solidFill>
            <a:srgbClr val="DFE6F5"/>
          </a:solidFill>
          <a:ln/>
        </p:spPr>
      </p:sp>
      <p:sp>
        <p:nvSpPr>
          <p:cNvPr id="12" name="Text 10"/>
          <p:cNvSpPr/>
          <p:nvPr/>
        </p:nvSpPr>
        <p:spPr>
          <a:xfrm>
            <a:off x="8115941" y="2255441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988" dirty="0"/>
          </a:p>
        </p:txBody>
      </p:sp>
      <p:sp>
        <p:nvSpPr>
          <p:cNvPr id="13" name="Text 11"/>
          <p:cNvSpPr/>
          <p:nvPr/>
        </p:nvSpPr>
        <p:spPr>
          <a:xfrm>
            <a:off x="8115941" y="241419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D8E0F3"/>
          </a:solidFill>
          <a:ln/>
        </p:spPr>
      </p:sp>
      <p:sp>
        <p:nvSpPr>
          <p:cNvPr id="15" name="Text 13"/>
          <p:cNvSpPr/>
          <p:nvPr/>
        </p:nvSpPr>
        <p:spPr>
          <a:xfrm>
            <a:off x="4107504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988" dirty="0"/>
          </a:p>
        </p:txBody>
      </p:sp>
      <p:sp>
        <p:nvSpPr>
          <p:cNvPr id="16" name="Text 14"/>
          <p:cNvSpPr/>
          <p:nvPr/>
        </p:nvSpPr>
        <p:spPr>
          <a:xfrm>
            <a:off x="4107504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8" name="Text 16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988" dirty="0"/>
          </a:p>
        </p:txBody>
      </p:sp>
      <p:sp>
        <p:nvSpPr>
          <p:cNvPr id="19" name="Shape 17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0" name="Text 18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988" dirty="0"/>
          </a:p>
        </p:txBody>
      </p:sp>
      <p:sp>
        <p:nvSpPr>
          <p:cNvPr id="21" name="Shape 19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2" name="Text 20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988" dirty="0"/>
          </a:p>
        </p:txBody>
      </p:sp>
      <p:sp>
        <p:nvSpPr>
          <p:cNvPr id="23" name="Shape 21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4" name="Text 22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988" dirty="0"/>
          </a:p>
        </p:txBody>
      </p:sp>
      <p:sp>
        <p:nvSpPr>
          <p:cNvPr id="25" name="Shape 23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6" name="Text 24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988" dirty="0"/>
          </a:p>
        </p:txBody>
      </p:sp>
      <p:sp>
        <p:nvSpPr>
          <p:cNvPr id="27" name="Shape 25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8" name="Text 26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988" dirty="0"/>
          </a:p>
        </p:txBody>
      </p:sp>
      <p:sp>
        <p:nvSpPr>
          <p:cNvPr id="29" name="Shape 27"/>
          <p:cNvSpPr/>
          <p:nvPr/>
        </p:nvSpPr>
        <p:spPr>
          <a:xfrm>
            <a:off x="7314254" y="2630488"/>
            <a:ext cx="369094" cy="369094"/>
          </a:xfrm>
          <a:prstGeom prst="rect">
            <a:avLst/>
          </a:prstGeom>
          <a:solidFill>
            <a:srgbClr val="96AEE3"/>
          </a:solidFill>
          <a:ln/>
        </p:spPr>
      </p:sp>
      <p:sp>
        <p:nvSpPr>
          <p:cNvPr id="30" name="Text 28"/>
          <p:cNvSpPr/>
          <p:nvPr/>
        </p:nvSpPr>
        <p:spPr>
          <a:xfrm>
            <a:off x="7314254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988" dirty="0"/>
          </a:p>
        </p:txBody>
      </p:sp>
      <p:sp>
        <p:nvSpPr>
          <p:cNvPr id="31" name="Text 29"/>
          <p:cNvSpPr/>
          <p:nvPr/>
        </p:nvSpPr>
        <p:spPr>
          <a:xfrm>
            <a:off x="7314254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3" name="Text 31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988" dirty="0"/>
          </a:p>
        </p:txBody>
      </p:sp>
      <p:sp>
        <p:nvSpPr>
          <p:cNvPr id="34" name="Shape 32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5" name="Text 33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988" dirty="0"/>
          </a:p>
        </p:txBody>
      </p:sp>
      <p:sp>
        <p:nvSpPr>
          <p:cNvPr id="36" name="Shape 34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7" name="Text 35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988" dirty="0"/>
          </a:p>
        </p:txBody>
      </p:sp>
      <p:sp>
        <p:nvSpPr>
          <p:cNvPr id="38" name="Shape 36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9" name="Text 37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988" dirty="0"/>
          </a:p>
        </p:txBody>
      </p:sp>
      <p:sp>
        <p:nvSpPr>
          <p:cNvPr id="40" name="Shape 38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1" name="Text 39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988" dirty="0"/>
          </a:p>
        </p:txBody>
      </p:sp>
      <p:sp>
        <p:nvSpPr>
          <p:cNvPr id="42" name="Shape 40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3" name="Text 41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988" dirty="0"/>
          </a:p>
        </p:txBody>
      </p:sp>
      <p:sp>
        <p:nvSpPr>
          <p:cNvPr id="44" name="Shape 42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5" name="Text 43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988" dirty="0"/>
          </a:p>
        </p:txBody>
      </p:sp>
      <p:sp>
        <p:nvSpPr>
          <p:cNvPr id="46" name="Shape 44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CFD9F1"/>
          </a:solidFill>
          <a:ln/>
        </p:spPr>
      </p:sp>
      <p:sp>
        <p:nvSpPr>
          <p:cNvPr id="47" name="Text 45"/>
          <p:cNvSpPr/>
          <p:nvPr/>
        </p:nvSpPr>
        <p:spPr>
          <a:xfrm>
            <a:off x="6111723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988" dirty="0"/>
          </a:p>
        </p:txBody>
      </p:sp>
      <p:sp>
        <p:nvSpPr>
          <p:cNvPr id="48" name="Text 46"/>
          <p:cNvSpPr/>
          <p:nvPr/>
        </p:nvSpPr>
        <p:spPr>
          <a:xfrm>
            <a:off x="6111723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0" name="Text 48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988" dirty="0"/>
          </a:p>
        </p:txBody>
      </p:sp>
      <p:sp>
        <p:nvSpPr>
          <p:cNvPr id="51" name="Shape 49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2" name="Text 50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988" dirty="0"/>
          </a:p>
        </p:txBody>
      </p:sp>
      <p:sp>
        <p:nvSpPr>
          <p:cNvPr id="53" name="Shape 51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4" name="Text 52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988" dirty="0"/>
          </a:p>
        </p:txBody>
      </p:sp>
      <p:sp>
        <p:nvSpPr>
          <p:cNvPr id="55" name="Shape 53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6" name="Text 54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988" dirty="0"/>
          </a:p>
        </p:txBody>
      </p:sp>
      <p:sp>
        <p:nvSpPr>
          <p:cNvPr id="57" name="Shape 55"/>
          <p:cNvSpPr/>
          <p:nvPr/>
        </p:nvSpPr>
        <p:spPr>
          <a:xfrm>
            <a:off x="3706660" y="3432175"/>
            <a:ext cx="369094" cy="369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Text 56"/>
          <p:cNvSpPr/>
          <p:nvPr/>
        </p:nvSpPr>
        <p:spPr>
          <a:xfrm>
            <a:off x="3706660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988" dirty="0"/>
          </a:p>
        </p:txBody>
      </p:sp>
      <p:sp>
        <p:nvSpPr>
          <p:cNvPr id="59" name="Text 57"/>
          <p:cNvSpPr/>
          <p:nvPr/>
        </p:nvSpPr>
        <p:spPr>
          <a:xfrm>
            <a:off x="3706660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1" name="Text 59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988" dirty="0"/>
          </a:p>
        </p:txBody>
      </p:sp>
      <p:sp>
        <p:nvSpPr>
          <p:cNvPr id="62" name="Shape 60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3" name="Text 61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988" dirty="0"/>
          </a:p>
        </p:txBody>
      </p:sp>
      <p:sp>
        <p:nvSpPr>
          <p:cNvPr id="64" name="Shape 62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E9EEF9"/>
          </a:solidFill>
          <a:ln/>
        </p:spPr>
      </p:sp>
      <p:sp>
        <p:nvSpPr>
          <p:cNvPr id="65" name="Text 63"/>
          <p:cNvSpPr/>
          <p:nvPr/>
        </p:nvSpPr>
        <p:spPr>
          <a:xfrm>
            <a:off x="4909191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988" dirty="0"/>
          </a:p>
        </p:txBody>
      </p:sp>
      <p:sp>
        <p:nvSpPr>
          <p:cNvPr id="66" name="Text 64"/>
          <p:cNvSpPr/>
          <p:nvPr/>
        </p:nvSpPr>
        <p:spPr>
          <a:xfrm>
            <a:off x="4909191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8" name="Text 66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988" dirty="0"/>
          </a:p>
        </p:txBody>
      </p:sp>
      <p:sp>
        <p:nvSpPr>
          <p:cNvPr id="69" name="Shape 67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0" name="Text 68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988" dirty="0"/>
          </a:p>
        </p:txBody>
      </p:sp>
      <p:sp>
        <p:nvSpPr>
          <p:cNvPr id="71" name="Shape 69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Text 70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988" dirty="0"/>
          </a:p>
        </p:txBody>
      </p:sp>
      <p:sp>
        <p:nvSpPr>
          <p:cNvPr id="73" name="Shape 71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Text 72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988" dirty="0"/>
          </a:p>
        </p:txBody>
      </p:sp>
      <p:sp>
        <p:nvSpPr>
          <p:cNvPr id="75" name="Shape 73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Text 74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988" dirty="0"/>
          </a:p>
        </p:txBody>
      </p:sp>
      <p:sp>
        <p:nvSpPr>
          <p:cNvPr id="77" name="Shape 75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8" name="Text 76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988" dirty="0"/>
          </a:p>
        </p:txBody>
      </p:sp>
      <p:sp>
        <p:nvSpPr>
          <p:cNvPr id="79" name="Shape 77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0" name="Text 78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988" dirty="0"/>
          </a:p>
        </p:txBody>
      </p:sp>
      <p:sp>
        <p:nvSpPr>
          <p:cNvPr id="81" name="Shape 79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2" name="Text 80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988" dirty="0"/>
          </a:p>
        </p:txBody>
      </p:sp>
      <p:sp>
        <p:nvSpPr>
          <p:cNvPr id="83" name="Shape 81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4" name="Text 82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988" dirty="0"/>
          </a:p>
        </p:txBody>
      </p:sp>
      <p:sp>
        <p:nvSpPr>
          <p:cNvPr id="85" name="Shape 8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6" name="Text 84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988" dirty="0"/>
          </a:p>
        </p:txBody>
      </p:sp>
      <p:sp>
        <p:nvSpPr>
          <p:cNvPr id="87" name="Shape 8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8" name="Text 86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988" dirty="0"/>
          </a:p>
        </p:txBody>
      </p:sp>
      <p:sp>
        <p:nvSpPr>
          <p:cNvPr id="89" name="Shape 8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0" name="Text 88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988" dirty="0"/>
          </a:p>
        </p:txBody>
      </p:sp>
      <p:sp>
        <p:nvSpPr>
          <p:cNvPr id="91" name="Shape 8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2" name="Text 90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988" dirty="0"/>
          </a:p>
        </p:txBody>
      </p:sp>
      <p:sp>
        <p:nvSpPr>
          <p:cNvPr id="93" name="Shape 9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94" name="Text 92"/>
          <p:cNvSpPr/>
          <p:nvPr/>
        </p:nvSpPr>
        <p:spPr>
          <a:xfrm>
            <a:off x="6913410" y="3858816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988" dirty="0"/>
          </a:p>
        </p:txBody>
      </p:sp>
      <p:sp>
        <p:nvSpPr>
          <p:cNvPr id="95" name="Text 93"/>
          <p:cNvSpPr/>
          <p:nvPr/>
        </p:nvSpPr>
        <p:spPr>
          <a:xfrm>
            <a:off x="6913410" y="401756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00" dirty="0"/>
          </a:p>
        </p:txBody>
      </p:sp>
      <p:sp>
        <p:nvSpPr>
          <p:cNvPr id="96" name="Shape 94"/>
          <p:cNvSpPr/>
          <p:nvPr/>
        </p:nvSpPr>
        <p:spPr>
          <a:xfrm>
            <a:off x="4909191" y="4233863"/>
            <a:ext cx="369094" cy="369094"/>
          </a:xfrm>
          <a:prstGeom prst="rect">
            <a:avLst/>
          </a:prstGeom>
          <a:solidFill>
            <a:srgbClr val="87A4E0"/>
          </a:solidFill>
          <a:ln/>
        </p:spPr>
      </p:sp>
      <p:sp>
        <p:nvSpPr>
          <p:cNvPr id="97" name="Text 95"/>
          <p:cNvSpPr/>
          <p:nvPr/>
        </p:nvSpPr>
        <p:spPr>
          <a:xfrm>
            <a:off x="4909191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988" dirty="0"/>
          </a:p>
        </p:txBody>
      </p:sp>
      <p:sp>
        <p:nvSpPr>
          <p:cNvPr id="98" name="Text 96"/>
          <p:cNvSpPr/>
          <p:nvPr/>
        </p:nvSpPr>
        <p:spPr>
          <a:xfrm>
            <a:off x="4909191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800" dirty="0"/>
          </a:p>
        </p:txBody>
      </p:sp>
      <p:sp>
        <p:nvSpPr>
          <p:cNvPr id="99" name="Shape 97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0" name="Text 98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988" dirty="0"/>
          </a:p>
        </p:txBody>
      </p:sp>
      <p:sp>
        <p:nvSpPr>
          <p:cNvPr id="101" name="Shape 99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2" name="Text 100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988" dirty="0"/>
          </a:p>
        </p:txBody>
      </p:sp>
      <p:sp>
        <p:nvSpPr>
          <p:cNvPr id="103" name="Shape 101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4" name="Text 102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988" dirty="0"/>
          </a:p>
        </p:txBody>
      </p:sp>
      <p:sp>
        <p:nvSpPr>
          <p:cNvPr id="105" name="Shape 103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ECF0F9"/>
          </a:solidFill>
          <a:ln/>
        </p:spPr>
      </p:sp>
      <p:sp>
        <p:nvSpPr>
          <p:cNvPr id="106" name="Text 104"/>
          <p:cNvSpPr/>
          <p:nvPr/>
        </p:nvSpPr>
        <p:spPr>
          <a:xfrm>
            <a:off x="6512566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988" dirty="0"/>
          </a:p>
        </p:txBody>
      </p:sp>
      <p:sp>
        <p:nvSpPr>
          <p:cNvPr id="107" name="Text 105"/>
          <p:cNvSpPr/>
          <p:nvPr/>
        </p:nvSpPr>
        <p:spPr>
          <a:xfrm>
            <a:off x="6512566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800" dirty="0"/>
          </a:p>
        </p:txBody>
      </p:sp>
      <p:sp>
        <p:nvSpPr>
          <p:cNvPr id="108" name="Shape 106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9" name="Text 107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988" dirty="0"/>
          </a:p>
        </p:txBody>
      </p:sp>
      <p:sp>
        <p:nvSpPr>
          <p:cNvPr id="110" name="Shape 108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11" name="Text 109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988" dirty="0"/>
          </a:p>
        </p:txBody>
      </p:sp>
      <p:sp>
        <p:nvSpPr>
          <p:cNvPr id="112" name="Shape 110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AEC0E8"/>
          </a:solidFill>
          <a:ln/>
        </p:spPr>
      </p:sp>
      <p:sp>
        <p:nvSpPr>
          <p:cNvPr id="113" name="Text 111"/>
          <p:cNvSpPr/>
          <p:nvPr/>
        </p:nvSpPr>
        <p:spPr>
          <a:xfrm>
            <a:off x="6512566" y="4660503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988" dirty="0"/>
          </a:p>
        </p:txBody>
      </p:sp>
      <p:sp>
        <p:nvSpPr>
          <p:cNvPr id="114" name="Text 112"/>
          <p:cNvSpPr/>
          <p:nvPr/>
        </p:nvSpPr>
        <p:spPr>
          <a:xfrm>
            <a:off x="6512566" y="481925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800" dirty="0"/>
          </a:p>
        </p:txBody>
      </p:sp>
      <p:sp>
        <p:nvSpPr>
          <p:cNvPr id="115" name="Shape 113"/>
          <p:cNvSpPr/>
          <p:nvPr/>
        </p:nvSpPr>
        <p:spPr>
          <a:xfrm>
            <a:off x="3706660" y="509905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16" name="Shape 114"/>
          <p:cNvSpPr/>
          <p:nvPr/>
        </p:nvSpPr>
        <p:spPr>
          <a:xfrm>
            <a:off x="3770160" y="509905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3833660" y="509905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118" name="Shape 116"/>
          <p:cNvSpPr/>
          <p:nvPr/>
        </p:nvSpPr>
        <p:spPr>
          <a:xfrm>
            <a:off x="3897160" y="509905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19" name="Shape 117"/>
          <p:cNvSpPr/>
          <p:nvPr/>
        </p:nvSpPr>
        <p:spPr>
          <a:xfrm>
            <a:off x="3960660" y="509905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024160" y="509905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087660" y="509905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151160" y="509905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214660" y="509905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278160" y="509905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341660" y="509905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405160" y="509905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468660" y="509905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532160" y="509905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595660" y="509905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659160" y="509905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722660" y="509905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786160" y="509905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849660" y="509905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913160" y="509905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976660" y="509905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040160" y="509905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103660" y="509905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38" name="Shape 136"/>
          <p:cNvSpPr/>
          <p:nvPr/>
        </p:nvSpPr>
        <p:spPr>
          <a:xfrm>
            <a:off x="5167160" y="509905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9" name="Text 137"/>
          <p:cNvSpPr/>
          <p:nvPr/>
        </p:nvSpPr>
        <p:spPr>
          <a:xfrm>
            <a:off x="3706660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140" name="Text 138"/>
          <p:cNvSpPr/>
          <p:nvPr/>
        </p:nvSpPr>
        <p:spPr>
          <a:xfrm>
            <a:off x="4468660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50" dirty="0"/>
          </a:p>
        </p:txBody>
      </p:sp>
      <p:sp>
        <p:nvSpPr>
          <p:cNvPr id="141" name="Shape 139"/>
          <p:cNvSpPr/>
          <p:nvPr/>
        </p:nvSpPr>
        <p:spPr>
          <a:xfrm>
            <a:off x="5357660" y="509905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42" name="Text 140"/>
          <p:cNvSpPr/>
          <p:nvPr/>
        </p:nvSpPr>
        <p:spPr>
          <a:xfrm>
            <a:off x="5497360" y="507365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Highlighted max point (per-cell color on line)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44748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94228" y="29756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 flipV="1">
            <a:off x="3675228" y="2945130"/>
            <a:ext cx="1203960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48708" y="291465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98188" y="273558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V="1">
            <a:off x="4879188" y="2257044"/>
            <a:ext cx="1203960" cy="6880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39968" y="2213864"/>
            <a:ext cx="86360" cy="863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702148" y="204749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178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3148" y="2257044"/>
            <a:ext cx="1203960" cy="448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256628" y="26746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06108" y="24955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7287108" y="2513076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460588" y="248259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10068" y="230352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Stepped line (staircase)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286944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94241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901538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708834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516131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852816" y="29413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883296" y="29718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90593" y="2971800"/>
            <a:ext cx="0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60113" y="29413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690593" y="29718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97889" y="2438400"/>
            <a:ext cx="0" cy="5334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67409" y="2407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97889" y="24384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05186" y="2438400"/>
            <a:ext cx="0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74706" y="2407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305186" y="24384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12483" y="1905000"/>
            <a:ext cx="0" cy="5334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082003" y="18745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12483" y="19050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19779" y="1905000"/>
            <a:ext cx="0" cy="2667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889299" y="21412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479648" y="5105400"/>
            <a:ext cx="48437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74228" y="2085975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 rate</a:t>
            </a:r>
            <a:endParaRPr lang="en-US" sz="10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Stepped area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977742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019249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060757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102265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4143773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4185281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4226789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4268296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4309804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351312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392820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434328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75836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517343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558851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600359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641867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683375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724883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766390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807898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849406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890914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932422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973930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015437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056945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5098453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5139961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5181469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5222977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5264484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5305992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5347500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389008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30516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472024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513531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555039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596547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638055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679563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721071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762578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804086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845594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87102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928610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970118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6011625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6053133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6094641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6136149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6177657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6219165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6260672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302180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343688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385196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426704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468212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6509719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551227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6592735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6634243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6675751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6717259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6758766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6800274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6841782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883290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6924798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6966306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7007813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7049321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7090829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7132337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7173845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7215353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7256860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7298368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7339876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7381384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7422892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7464400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7505907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7547415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7588923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7630431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7671939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7713447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7754954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7796462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7837970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7879478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7920986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977742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4019249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3" name="Shape 111"/>
          <p:cNvSpPr/>
          <p:nvPr/>
        </p:nvSpPr>
        <p:spPr>
          <a:xfrm>
            <a:off x="4060757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4" name="Shape 112"/>
          <p:cNvSpPr/>
          <p:nvPr/>
        </p:nvSpPr>
        <p:spPr>
          <a:xfrm>
            <a:off x="4102265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5" name="Shape 113"/>
          <p:cNvSpPr/>
          <p:nvPr/>
        </p:nvSpPr>
        <p:spPr>
          <a:xfrm>
            <a:off x="4143773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6" name="Shape 114"/>
          <p:cNvSpPr/>
          <p:nvPr/>
        </p:nvSpPr>
        <p:spPr>
          <a:xfrm>
            <a:off x="4185281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4226789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4268296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9" name="Shape 117"/>
          <p:cNvSpPr/>
          <p:nvPr/>
        </p:nvSpPr>
        <p:spPr>
          <a:xfrm>
            <a:off x="4309804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351312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392820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434328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475836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517343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558851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600359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641867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683375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724883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766390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807898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849406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890914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932422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973930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015437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056945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5098453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5139961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5181469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5222977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5264484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5305992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5347500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5389008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5430516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5472024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5513531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5555039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5596547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5638055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5679563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5721071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5762578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5804086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5845594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5887102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5928610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5970118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6011625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6053133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6094641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6136149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6177657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219165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6260672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302180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6343688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6385196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426704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6468212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6509719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6551227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592735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6634243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6" name="Shape 174"/>
          <p:cNvSpPr/>
          <p:nvPr/>
        </p:nvSpPr>
        <p:spPr>
          <a:xfrm>
            <a:off x="6675751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6717259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8" name="Shape 176"/>
          <p:cNvSpPr/>
          <p:nvPr/>
        </p:nvSpPr>
        <p:spPr>
          <a:xfrm>
            <a:off x="6758766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800274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841782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883290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924798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3" name="Shape 181"/>
          <p:cNvSpPr/>
          <p:nvPr/>
        </p:nvSpPr>
        <p:spPr>
          <a:xfrm>
            <a:off x="6966306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4" name="Shape 182"/>
          <p:cNvSpPr/>
          <p:nvPr/>
        </p:nvSpPr>
        <p:spPr>
          <a:xfrm>
            <a:off x="7007813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7049321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6" name="Shape 184"/>
          <p:cNvSpPr/>
          <p:nvPr/>
        </p:nvSpPr>
        <p:spPr>
          <a:xfrm>
            <a:off x="7090829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7" name="Shape 185"/>
          <p:cNvSpPr/>
          <p:nvPr/>
        </p:nvSpPr>
        <p:spPr>
          <a:xfrm>
            <a:off x="7132337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8" name="Shape 186"/>
          <p:cNvSpPr/>
          <p:nvPr/>
        </p:nvSpPr>
        <p:spPr>
          <a:xfrm>
            <a:off x="7173845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9" name="Shape 187"/>
          <p:cNvSpPr/>
          <p:nvPr/>
        </p:nvSpPr>
        <p:spPr>
          <a:xfrm>
            <a:off x="7215353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0" name="Shape 188"/>
          <p:cNvSpPr/>
          <p:nvPr/>
        </p:nvSpPr>
        <p:spPr>
          <a:xfrm>
            <a:off x="7256860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1" name="Shape 189"/>
          <p:cNvSpPr/>
          <p:nvPr/>
        </p:nvSpPr>
        <p:spPr>
          <a:xfrm>
            <a:off x="7298368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7339876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3" name="Shape 191"/>
          <p:cNvSpPr/>
          <p:nvPr/>
        </p:nvSpPr>
        <p:spPr>
          <a:xfrm>
            <a:off x="7381384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4" name="Shape 192"/>
          <p:cNvSpPr/>
          <p:nvPr/>
        </p:nvSpPr>
        <p:spPr>
          <a:xfrm>
            <a:off x="7422892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5" name="Shape 193"/>
          <p:cNvSpPr/>
          <p:nvPr/>
        </p:nvSpPr>
        <p:spPr>
          <a:xfrm>
            <a:off x="7464400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6" name="Shape 194"/>
          <p:cNvSpPr/>
          <p:nvPr/>
        </p:nvSpPr>
        <p:spPr>
          <a:xfrm>
            <a:off x="7505907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7" name="Shape 195"/>
          <p:cNvSpPr/>
          <p:nvPr/>
        </p:nvSpPr>
        <p:spPr>
          <a:xfrm>
            <a:off x="7547415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8" name="Shape 196"/>
          <p:cNvSpPr/>
          <p:nvPr/>
        </p:nvSpPr>
        <p:spPr>
          <a:xfrm>
            <a:off x="7588923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9" name="Shape 197"/>
          <p:cNvSpPr/>
          <p:nvPr/>
        </p:nvSpPr>
        <p:spPr>
          <a:xfrm>
            <a:off x="7630431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7671939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1" name="Shape 199"/>
          <p:cNvSpPr/>
          <p:nvPr/>
        </p:nvSpPr>
        <p:spPr>
          <a:xfrm>
            <a:off x="7713447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2" name="Shape 200"/>
          <p:cNvSpPr/>
          <p:nvPr/>
        </p:nvSpPr>
        <p:spPr>
          <a:xfrm>
            <a:off x="7754954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3" name="Shape 201"/>
          <p:cNvSpPr/>
          <p:nvPr/>
        </p:nvSpPr>
        <p:spPr>
          <a:xfrm>
            <a:off x="7796462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4" name="Shape 202"/>
          <p:cNvSpPr/>
          <p:nvPr/>
        </p:nvSpPr>
        <p:spPr>
          <a:xfrm>
            <a:off x="7837970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5" name="Shape 203"/>
          <p:cNvSpPr/>
          <p:nvPr/>
        </p:nvSpPr>
        <p:spPr>
          <a:xfrm>
            <a:off x="7879478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6" name="Shape 204"/>
          <p:cNvSpPr/>
          <p:nvPr/>
        </p:nvSpPr>
        <p:spPr>
          <a:xfrm>
            <a:off x="7920986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8" name="Text 206"/>
          <p:cNvSpPr/>
          <p:nvPr/>
        </p:nvSpPr>
        <p:spPr>
          <a:xfrm>
            <a:off x="8511388" y="312077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Desktop</a:t>
            </a:r>
            <a:endParaRPr lang="en-US" sz="1000" dirty="0"/>
          </a:p>
        </p:txBody>
      </p:sp>
      <p:sp>
        <p:nvSpPr>
          <p:cNvPr id="209" name="Text 207"/>
          <p:cNvSpPr/>
          <p:nvPr/>
        </p:nvSpPr>
        <p:spPr>
          <a:xfrm>
            <a:off x="8511388" y="4230243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Mobile</a:t>
            </a:r>
            <a:endParaRPr lang="en-US" sz="10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with value ticks on both flanks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7964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34349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256060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935635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663923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527773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71785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119910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79648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712048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48198" y="224282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04709" y="2134023"/>
            <a:ext cx="1243489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4604709" y="224282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343498" y="2134023"/>
            <a:ext cx="1125061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" name="Text 15"/>
          <p:cNvSpPr/>
          <p:nvPr/>
        </p:nvSpPr>
        <p:spPr>
          <a:xfrm>
            <a:off x="6343498" y="2242820"/>
            <a:ext cx="11250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848198" y="285496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042178" y="2746163"/>
            <a:ext cx="1806019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4042178" y="2854960"/>
            <a:ext cx="18060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43498" y="2746163"/>
            <a:ext cx="1924447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6343498" y="2854960"/>
            <a:ext cx="19244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848198" y="346710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49426" y="3358303"/>
            <a:ext cx="1598771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4249426" y="3467100"/>
            <a:ext cx="159877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343498" y="3358303"/>
            <a:ext cx="1776413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6343498" y="3467100"/>
            <a:ext cx="17764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848198" y="407924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900778" y="3970443"/>
            <a:ext cx="947420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8"/>
          <p:cNvSpPr/>
          <p:nvPr/>
        </p:nvSpPr>
        <p:spPr>
          <a:xfrm>
            <a:off x="4900778" y="4079240"/>
            <a:ext cx="947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320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343498" y="3970443"/>
            <a:ext cx="1213882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2" name="Text 30"/>
          <p:cNvSpPr/>
          <p:nvPr/>
        </p:nvSpPr>
        <p:spPr>
          <a:xfrm>
            <a:off x="6343498" y="4079240"/>
            <a:ext cx="12138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410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848198" y="469138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492915" y="4582583"/>
            <a:ext cx="355282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5492915" y="4691380"/>
            <a:ext cx="3552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343498" y="4582583"/>
            <a:ext cx="473710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7" name="Text 35"/>
          <p:cNvSpPr/>
          <p:nvPr/>
        </p:nvSpPr>
        <p:spPr>
          <a:xfrm>
            <a:off x="6343498" y="4691380"/>
            <a:ext cx="473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160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848198" y="2032000"/>
            <a:ext cx="0" cy="30607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43498" y="2032000"/>
            <a:ext cx="0" cy="30607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63229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612759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5040160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6719735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4448023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7311873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3855885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7904010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326374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849614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85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 overlap (Excel-style, 45%)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12643" y="3425190"/>
            <a:ext cx="588706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261843" y="417004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43416" y="3065145"/>
            <a:ext cx="588706" cy="20402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3592616" y="3990023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10913" y="3185160"/>
            <a:ext cx="588706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660113" y="4050030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41686" y="2905125"/>
            <a:ext cx="588706" cy="22002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4990886" y="3910013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9183" y="3305175"/>
            <a:ext cx="588706" cy="18002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6058383" y="4110038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439956" y="2785110"/>
            <a:ext cx="588706" cy="23202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" name="Text 16"/>
          <p:cNvSpPr/>
          <p:nvPr/>
        </p:nvSpPr>
        <p:spPr>
          <a:xfrm>
            <a:off x="6389156" y="385000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7453" y="2665095"/>
            <a:ext cx="588706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456653" y="3789998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838226" y="2305050"/>
            <a:ext cx="588706" cy="28003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7787426" y="360997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17128" y="361950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717128" y="37995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Narrow gap width (histogram look, gapWidth 0)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073248" y="4411641"/>
            <a:ext cx="12954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22448" y="4663271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073248" y="3962739"/>
            <a:ext cx="12954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22448" y="4091940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073248" y="3595455"/>
            <a:ext cx="12954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22448" y="368384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368648" y="4289213"/>
            <a:ext cx="12954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17848" y="460205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368648" y="3758692"/>
            <a:ext cx="12954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17848" y="3928703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368648" y="3411813"/>
            <a:ext cx="12954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17848" y="3490002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664048" y="4146381"/>
            <a:ext cx="12954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13248" y="4530640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664048" y="3513836"/>
            <a:ext cx="12954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13248" y="3734858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664048" y="3126147"/>
            <a:ext cx="12954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13248" y="3224742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959448" y="3962739"/>
            <a:ext cx="12954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908648" y="4438819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959448" y="3248575"/>
            <a:ext cx="12954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908648" y="351040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959448" y="2799673"/>
            <a:ext cx="12954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908648" y="2928874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Area with negative values (net income over time)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054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446532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18516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54508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275514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071381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867248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663114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458981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877581" y="3073146"/>
            <a:ext cx="39511" cy="7627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3910742" y="3105150"/>
            <a:ext cx="39511" cy="752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3943903" y="3137154"/>
            <a:ext cx="39511" cy="7414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977064" y="3169158"/>
            <a:ext cx="39511" cy="7307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010225" y="3201162"/>
            <a:ext cx="39511" cy="7200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043386" y="3233166"/>
            <a:ext cx="39511" cy="7094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076548" y="3265170"/>
            <a:ext cx="39511" cy="69875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109709" y="3297174"/>
            <a:ext cx="39511" cy="6880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142870" y="3329178"/>
            <a:ext cx="39511" cy="6774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176031" y="3361182"/>
            <a:ext cx="39511" cy="6667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209192" y="3393186"/>
            <a:ext cx="39511" cy="6560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242353" y="3425190"/>
            <a:ext cx="39511" cy="6454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275514" y="3457194"/>
            <a:ext cx="39511" cy="6347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308675" y="3489198"/>
            <a:ext cx="39511" cy="6240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341836" y="3521202"/>
            <a:ext cx="39511" cy="6134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374998" y="3553206"/>
            <a:ext cx="39511" cy="6027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408159" y="3585210"/>
            <a:ext cx="39511" cy="5920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41320" y="3617214"/>
            <a:ext cx="39511" cy="5814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474481" y="3649218"/>
            <a:ext cx="39511" cy="5707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507642" y="3681222"/>
            <a:ext cx="39511" cy="5600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4540803" y="3713226"/>
            <a:ext cx="39511" cy="5494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4573964" y="3745230"/>
            <a:ext cx="39511" cy="5387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4607125" y="3777234"/>
            <a:ext cx="39511" cy="52806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4640286" y="3809238"/>
            <a:ext cx="39511" cy="5173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4673448" y="3825240"/>
            <a:ext cx="39511" cy="52139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4706609" y="3825240"/>
            <a:ext cx="39511" cy="5400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739770" y="3825240"/>
            <a:ext cx="39511" cy="5587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772931" y="3825240"/>
            <a:ext cx="39511" cy="5774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806092" y="3825240"/>
            <a:ext cx="39511" cy="5960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4839253" y="3825240"/>
            <a:ext cx="39511" cy="6147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4872414" y="3825240"/>
            <a:ext cx="39511" cy="6334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4905575" y="3825240"/>
            <a:ext cx="39511" cy="6520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4938736" y="3825240"/>
            <a:ext cx="39511" cy="6707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4971898" y="3825240"/>
            <a:ext cx="39511" cy="6894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005059" y="3825240"/>
            <a:ext cx="39511" cy="70808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038220" y="3825240"/>
            <a:ext cx="39511" cy="7267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071381" y="3825240"/>
            <a:ext cx="39511" cy="7454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104542" y="3825240"/>
            <a:ext cx="39511" cy="7640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137703" y="3825240"/>
            <a:ext cx="39511" cy="7827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170864" y="3825240"/>
            <a:ext cx="39511" cy="8014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204025" y="3825240"/>
            <a:ext cx="39511" cy="82010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237186" y="3825240"/>
            <a:ext cx="39511" cy="8387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270348" y="3825240"/>
            <a:ext cx="39511" cy="8574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303509" y="3825240"/>
            <a:ext cx="39511" cy="8761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5336670" y="3825240"/>
            <a:ext cx="39511" cy="89477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5369831" y="3825240"/>
            <a:ext cx="39511" cy="9134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5402992" y="3825240"/>
            <a:ext cx="39511" cy="93211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5436153" y="3825240"/>
            <a:ext cx="39511" cy="9507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5469314" y="3819906"/>
            <a:ext cx="39511" cy="9454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5502475" y="3809238"/>
            <a:ext cx="39511" cy="9161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5535636" y="3798570"/>
            <a:ext cx="39511" cy="8867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5568798" y="3787902"/>
            <a:ext cx="39511" cy="8574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5601959" y="3777234"/>
            <a:ext cx="39511" cy="8281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5635120" y="3766566"/>
            <a:ext cx="39511" cy="7987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5668281" y="3755898"/>
            <a:ext cx="39511" cy="76943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5701442" y="3745230"/>
            <a:ext cx="39511" cy="740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5734603" y="3734562"/>
            <a:ext cx="39511" cy="7107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5767764" y="3723894"/>
            <a:ext cx="39511" cy="6814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5800925" y="3713226"/>
            <a:ext cx="39511" cy="6520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5834086" y="3702558"/>
            <a:ext cx="39511" cy="6227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5867248" y="3691890"/>
            <a:ext cx="39511" cy="59340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5900409" y="3681222"/>
            <a:ext cx="39511" cy="5640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5933570" y="3670554"/>
            <a:ext cx="39511" cy="5347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5966731" y="3659886"/>
            <a:ext cx="39511" cy="5053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5999892" y="3649218"/>
            <a:ext cx="39511" cy="47605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033053" y="3638550"/>
            <a:ext cx="39511" cy="4467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6066214" y="3627882"/>
            <a:ext cx="39511" cy="4173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6099375" y="3617214"/>
            <a:ext cx="39511" cy="3880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6132536" y="3606546"/>
            <a:ext cx="39511" cy="35871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6165698" y="3595878"/>
            <a:ext cx="39511" cy="3293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6198859" y="3585210"/>
            <a:ext cx="39511" cy="3000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6232020" y="3574542"/>
            <a:ext cx="39511" cy="2707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6265181" y="3550539"/>
            <a:ext cx="39511" cy="27470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6298342" y="3513201"/>
            <a:ext cx="39511" cy="31203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6331503" y="3475863"/>
            <a:ext cx="39511" cy="3493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6364664" y="3438525"/>
            <a:ext cx="39511" cy="3867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6397825" y="3401187"/>
            <a:ext cx="39511" cy="42405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6430986" y="3363849"/>
            <a:ext cx="39511" cy="46139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6464148" y="3326511"/>
            <a:ext cx="39511" cy="4987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6497309" y="3289173"/>
            <a:ext cx="39511" cy="5360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6530470" y="3251835"/>
            <a:ext cx="39511" cy="5734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6563631" y="3214497"/>
            <a:ext cx="39511" cy="6107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596792" y="3177159"/>
            <a:ext cx="39511" cy="6480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6629953" y="3139821"/>
            <a:ext cx="39511" cy="6854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6663114" y="3102483"/>
            <a:ext cx="39511" cy="7227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6696275" y="3065145"/>
            <a:ext cx="39511" cy="7600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6729436" y="3027807"/>
            <a:ext cx="39511" cy="7974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6762598" y="2990469"/>
            <a:ext cx="39511" cy="8347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6795759" y="2953131"/>
            <a:ext cx="39511" cy="87210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6828920" y="2915793"/>
            <a:ext cx="39511" cy="90944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6862081" y="2878455"/>
            <a:ext cx="39511" cy="9467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6895242" y="2841117"/>
            <a:ext cx="39511" cy="9841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2" name="Shape 110"/>
          <p:cNvSpPr/>
          <p:nvPr/>
        </p:nvSpPr>
        <p:spPr>
          <a:xfrm>
            <a:off x="6928403" y="2803779"/>
            <a:ext cx="39511" cy="102146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3" name="Shape 111"/>
          <p:cNvSpPr/>
          <p:nvPr/>
        </p:nvSpPr>
        <p:spPr>
          <a:xfrm>
            <a:off x="6961564" y="2766441"/>
            <a:ext cx="39511" cy="105879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4" name="Shape 112"/>
          <p:cNvSpPr/>
          <p:nvPr/>
        </p:nvSpPr>
        <p:spPr>
          <a:xfrm>
            <a:off x="6994725" y="2729103"/>
            <a:ext cx="39511" cy="10961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5" name="Shape 113"/>
          <p:cNvSpPr/>
          <p:nvPr/>
        </p:nvSpPr>
        <p:spPr>
          <a:xfrm>
            <a:off x="7027886" y="2691765"/>
            <a:ext cx="39511" cy="11334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6" name="Shape 114"/>
          <p:cNvSpPr/>
          <p:nvPr/>
        </p:nvSpPr>
        <p:spPr>
          <a:xfrm>
            <a:off x="7061048" y="2662428"/>
            <a:ext cx="39511" cy="116281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7" name="Shape 115"/>
          <p:cNvSpPr/>
          <p:nvPr/>
        </p:nvSpPr>
        <p:spPr>
          <a:xfrm>
            <a:off x="7094209" y="2641092"/>
            <a:ext cx="39511" cy="11841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8" name="Shape 116"/>
          <p:cNvSpPr/>
          <p:nvPr/>
        </p:nvSpPr>
        <p:spPr>
          <a:xfrm>
            <a:off x="7127370" y="2619756"/>
            <a:ext cx="39511" cy="120548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9" name="Shape 117"/>
          <p:cNvSpPr/>
          <p:nvPr/>
        </p:nvSpPr>
        <p:spPr>
          <a:xfrm>
            <a:off x="7160531" y="2598420"/>
            <a:ext cx="39511" cy="12268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0" name="Shape 118"/>
          <p:cNvSpPr/>
          <p:nvPr/>
        </p:nvSpPr>
        <p:spPr>
          <a:xfrm>
            <a:off x="7193692" y="2577084"/>
            <a:ext cx="39511" cy="12481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1" name="Shape 119"/>
          <p:cNvSpPr/>
          <p:nvPr/>
        </p:nvSpPr>
        <p:spPr>
          <a:xfrm>
            <a:off x="7226853" y="2555748"/>
            <a:ext cx="39511" cy="126949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2" name="Shape 120"/>
          <p:cNvSpPr/>
          <p:nvPr/>
        </p:nvSpPr>
        <p:spPr>
          <a:xfrm>
            <a:off x="7260014" y="2534412"/>
            <a:ext cx="39511" cy="129082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3" name="Shape 121"/>
          <p:cNvSpPr/>
          <p:nvPr/>
        </p:nvSpPr>
        <p:spPr>
          <a:xfrm>
            <a:off x="7293175" y="2513076"/>
            <a:ext cx="39511" cy="13121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4" name="Shape 122"/>
          <p:cNvSpPr/>
          <p:nvPr/>
        </p:nvSpPr>
        <p:spPr>
          <a:xfrm>
            <a:off x="7326336" y="2491740"/>
            <a:ext cx="39511" cy="13335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5" name="Shape 123"/>
          <p:cNvSpPr/>
          <p:nvPr/>
        </p:nvSpPr>
        <p:spPr>
          <a:xfrm>
            <a:off x="7359498" y="2470404"/>
            <a:ext cx="39511" cy="135483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6" name="Shape 124"/>
          <p:cNvSpPr/>
          <p:nvPr/>
        </p:nvSpPr>
        <p:spPr>
          <a:xfrm>
            <a:off x="7392659" y="2449068"/>
            <a:ext cx="39511" cy="13761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7" name="Shape 125"/>
          <p:cNvSpPr/>
          <p:nvPr/>
        </p:nvSpPr>
        <p:spPr>
          <a:xfrm>
            <a:off x="7425820" y="2427732"/>
            <a:ext cx="39511" cy="13975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8" name="Shape 126"/>
          <p:cNvSpPr/>
          <p:nvPr/>
        </p:nvSpPr>
        <p:spPr>
          <a:xfrm>
            <a:off x="7458981" y="2406396"/>
            <a:ext cx="39511" cy="14188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9" name="Shape 127"/>
          <p:cNvSpPr/>
          <p:nvPr/>
        </p:nvSpPr>
        <p:spPr>
          <a:xfrm>
            <a:off x="7492142" y="2385060"/>
            <a:ext cx="39511" cy="14401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0" name="Shape 128"/>
          <p:cNvSpPr/>
          <p:nvPr/>
        </p:nvSpPr>
        <p:spPr>
          <a:xfrm>
            <a:off x="7525303" y="2363724"/>
            <a:ext cx="39511" cy="146151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1" name="Shape 129"/>
          <p:cNvSpPr/>
          <p:nvPr/>
        </p:nvSpPr>
        <p:spPr>
          <a:xfrm>
            <a:off x="7558464" y="2342388"/>
            <a:ext cx="39511" cy="14828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2" name="Shape 130"/>
          <p:cNvSpPr/>
          <p:nvPr/>
        </p:nvSpPr>
        <p:spPr>
          <a:xfrm>
            <a:off x="7591625" y="2321052"/>
            <a:ext cx="39511" cy="15041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3" name="Shape 131"/>
          <p:cNvSpPr/>
          <p:nvPr/>
        </p:nvSpPr>
        <p:spPr>
          <a:xfrm>
            <a:off x="7624786" y="2299716"/>
            <a:ext cx="39511" cy="15255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4" name="Shape 132"/>
          <p:cNvSpPr/>
          <p:nvPr/>
        </p:nvSpPr>
        <p:spPr>
          <a:xfrm>
            <a:off x="7657948" y="2278380"/>
            <a:ext cx="39511" cy="15468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5" name="Shape 133"/>
          <p:cNvSpPr/>
          <p:nvPr/>
        </p:nvSpPr>
        <p:spPr>
          <a:xfrm>
            <a:off x="7691109" y="2257044"/>
            <a:ext cx="39511" cy="15681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6" name="Shape 134"/>
          <p:cNvSpPr/>
          <p:nvPr/>
        </p:nvSpPr>
        <p:spPr>
          <a:xfrm>
            <a:off x="7724270" y="2235708"/>
            <a:ext cx="39511" cy="15895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7" name="Shape 135"/>
          <p:cNvSpPr/>
          <p:nvPr/>
        </p:nvSpPr>
        <p:spPr>
          <a:xfrm>
            <a:off x="7757431" y="2214372"/>
            <a:ext cx="39511" cy="16108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8" name="Shape 136"/>
          <p:cNvSpPr/>
          <p:nvPr/>
        </p:nvSpPr>
        <p:spPr>
          <a:xfrm>
            <a:off x="7790592" y="2193036"/>
            <a:ext cx="39511" cy="16322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9" name="Shape 137"/>
          <p:cNvSpPr/>
          <p:nvPr/>
        </p:nvSpPr>
        <p:spPr>
          <a:xfrm>
            <a:off x="7823753" y="2171700"/>
            <a:ext cx="39511" cy="16535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0" name="Shape 138"/>
          <p:cNvSpPr/>
          <p:nvPr/>
        </p:nvSpPr>
        <p:spPr>
          <a:xfrm>
            <a:off x="3479648" y="3825240"/>
            <a:ext cx="47752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8305648" y="290741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income</a:t>
            </a:r>
            <a:endParaRPr lang="en-US" sz="10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Trajectory trail (one entity over time)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180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29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505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6924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603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029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8832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33848" y="3911600"/>
            <a:ext cx="741680" cy="16256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rot="6120000">
            <a:off x="5653888" y="3942080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1" name="Shape 19"/>
          <p:cNvSpPr/>
          <p:nvPr/>
        </p:nvSpPr>
        <p:spPr>
          <a:xfrm flipV="1">
            <a:off x="6075528" y="3505200"/>
            <a:ext cx="463550" cy="56896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2340000">
            <a:off x="6256503" y="3738880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3" name="Shape 21"/>
          <p:cNvSpPr/>
          <p:nvPr/>
        </p:nvSpPr>
        <p:spPr>
          <a:xfrm>
            <a:off x="6539078" y="3505200"/>
            <a:ext cx="1112520" cy="8128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rot="5640000">
            <a:off x="7044538" y="3495040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5" name="Shape 23"/>
          <p:cNvSpPr/>
          <p:nvPr/>
        </p:nvSpPr>
        <p:spPr>
          <a:xfrm flipV="1">
            <a:off x="7651598" y="2895600"/>
            <a:ext cx="648970" cy="69088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rot="2580000">
            <a:off x="7925283" y="3190240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7" name="Shape 25"/>
          <p:cNvSpPr/>
          <p:nvPr/>
        </p:nvSpPr>
        <p:spPr>
          <a:xfrm flipV="1">
            <a:off x="8300568" y="2367280"/>
            <a:ext cx="741680" cy="52832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rot="3300000">
            <a:off x="8620608" y="2580640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9" name="Shape 27"/>
          <p:cNvSpPr/>
          <p:nvPr/>
        </p:nvSpPr>
        <p:spPr>
          <a:xfrm>
            <a:off x="5295748" y="38735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37428" y="403606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500978" y="34671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613498" y="35483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262468" y="28575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004148" y="23291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397348" y="38290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2019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139028" y="399161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602578" y="34226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715098" y="350393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364068" y="28130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679028" y="228473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with jittered raw-data dots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15214" y="3185160"/>
            <a:ext cx="0" cy="3733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15214" y="403860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3662" y="31851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42519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0653" y="3558540"/>
            <a:ext cx="1029123" cy="48006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82524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493341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78869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87696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73224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058752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67578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253106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61933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447461" y="33794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132989" y="31661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900653" y="363474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286348" y="2545080"/>
            <a:ext cx="0" cy="3733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86348" y="36118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54795" y="25450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54795" y="382524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771786" y="2918460"/>
            <a:ext cx="1029123" cy="69342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771786" y="339852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64475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050003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558829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244357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929885" y="33794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38712" y="33794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124240" y="31661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633066" y="29527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318594" y="27393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004122" y="25260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771786" y="320802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8157481" y="36118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157481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925928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925928" y="44653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642919" y="3825240"/>
            <a:ext cx="1029123" cy="42672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642919" y="40386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235608" y="44462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921136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429963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8115491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801018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309845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7995373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504199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8189727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875255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642919" y="38481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Continuous color scale (a Color row)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79648" y="1936750"/>
            <a:ext cx="53975" cy="88900"/>
          </a:xfrm>
          <a:prstGeom prst="rect">
            <a:avLst/>
          </a:prstGeom>
          <a:solidFill>
            <a:srgbClr val="EFF2FA"/>
          </a:solidFill>
          <a:ln/>
        </p:spPr>
      </p:sp>
      <p:sp>
        <p:nvSpPr>
          <p:cNvPr id="21" name="Shape 19"/>
          <p:cNvSpPr/>
          <p:nvPr/>
        </p:nvSpPr>
        <p:spPr>
          <a:xfrm>
            <a:off x="3527273" y="1936750"/>
            <a:ext cx="53975" cy="88900"/>
          </a:xfrm>
          <a:prstGeom prst="rect">
            <a:avLst/>
          </a:prstGeom>
          <a:solidFill>
            <a:srgbClr val="EAEFF9"/>
          </a:solidFill>
          <a:ln/>
        </p:spPr>
      </p:sp>
      <p:sp>
        <p:nvSpPr>
          <p:cNvPr id="22" name="Shape 20"/>
          <p:cNvSpPr/>
          <p:nvPr/>
        </p:nvSpPr>
        <p:spPr>
          <a:xfrm>
            <a:off x="3574898" y="1936750"/>
            <a:ext cx="53975" cy="88900"/>
          </a:xfrm>
          <a:prstGeom prst="rect">
            <a:avLst/>
          </a:prstGeom>
          <a:solidFill>
            <a:srgbClr val="E6EBF7"/>
          </a:solidFill>
          <a:ln/>
        </p:spPr>
      </p:sp>
      <p:sp>
        <p:nvSpPr>
          <p:cNvPr id="23" name="Shape 21"/>
          <p:cNvSpPr/>
          <p:nvPr/>
        </p:nvSpPr>
        <p:spPr>
          <a:xfrm>
            <a:off x="3622523" y="1936750"/>
            <a:ext cx="53975" cy="88900"/>
          </a:xfrm>
          <a:prstGeom prst="rect">
            <a:avLst/>
          </a:prstGeom>
          <a:solidFill>
            <a:srgbClr val="E1E7F6"/>
          </a:solidFill>
          <a:ln/>
        </p:spPr>
      </p:sp>
      <p:sp>
        <p:nvSpPr>
          <p:cNvPr id="24" name="Shape 22"/>
          <p:cNvSpPr/>
          <p:nvPr/>
        </p:nvSpPr>
        <p:spPr>
          <a:xfrm>
            <a:off x="3670148" y="1936750"/>
            <a:ext cx="53975" cy="88900"/>
          </a:xfrm>
          <a:prstGeom prst="rect">
            <a:avLst/>
          </a:prstGeom>
          <a:solidFill>
            <a:srgbClr val="DCE3F5"/>
          </a:solidFill>
          <a:ln/>
        </p:spPr>
      </p:sp>
      <p:sp>
        <p:nvSpPr>
          <p:cNvPr id="25" name="Shape 23"/>
          <p:cNvSpPr/>
          <p:nvPr/>
        </p:nvSpPr>
        <p:spPr>
          <a:xfrm>
            <a:off x="3717773" y="1936750"/>
            <a:ext cx="53975" cy="88900"/>
          </a:xfrm>
          <a:prstGeom prst="rect">
            <a:avLst/>
          </a:prstGeom>
          <a:solidFill>
            <a:srgbClr val="D8DFF3"/>
          </a:solidFill>
          <a:ln/>
        </p:spPr>
      </p:sp>
      <p:sp>
        <p:nvSpPr>
          <p:cNvPr id="26" name="Shape 24"/>
          <p:cNvSpPr/>
          <p:nvPr/>
        </p:nvSpPr>
        <p:spPr>
          <a:xfrm>
            <a:off x="3765398" y="1936750"/>
            <a:ext cx="53975" cy="88900"/>
          </a:xfrm>
          <a:prstGeom prst="rect">
            <a:avLst/>
          </a:prstGeom>
          <a:solidFill>
            <a:srgbClr val="D2DBF2"/>
          </a:solidFill>
          <a:ln/>
        </p:spPr>
      </p:sp>
      <p:sp>
        <p:nvSpPr>
          <p:cNvPr id="27" name="Shape 25"/>
          <p:cNvSpPr/>
          <p:nvPr/>
        </p:nvSpPr>
        <p:spPr>
          <a:xfrm>
            <a:off x="3813023" y="1936750"/>
            <a:ext cx="53975" cy="88900"/>
          </a:xfrm>
          <a:prstGeom prst="rect">
            <a:avLst/>
          </a:prstGeom>
          <a:solidFill>
            <a:srgbClr val="CDD7F0"/>
          </a:solidFill>
          <a:ln/>
        </p:spPr>
      </p:sp>
      <p:sp>
        <p:nvSpPr>
          <p:cNvPr id="28" name="Shape 26"/>
          <p:cNvSpPr/>
          <p:nvPr/>
        </p:nvSpPr>
        <p:spPr>
          <a:xfrm>
            <a:off x="3860648" y="1936750"/>
            <a:ext cx="53975" cy="88900"/>
          </a:xfrm>
          <a:prstGeom prst="rect">
            <a:avLst/>
          </a:prstGeom>
          <a:solidFill>
            <a:srgbClr val="C8D3EF"/>
          </a:solidFill>
          <a:ln/>
        </p:spPr>
      </p:sp>
      <p:sp>
        <p:nvSpPr>
          <p:cNvPr id="29" name="Shape 27"/>
          <p:cNvSpPr/>
          <p:nvPr/>
        </p:nvSpPr>
        <p:spPr>
          <a:xfrm>
            <a:off x="3908273" y="1936750"/>
            <a:ext cx="53975" cy="88900"/>
          </a:xfrm>
          <a:prstGeom prst="rect">
            <a:avLst/>
          </a:prstGeom>
          <a:solidFill>
            <a:srgbClr val="C2CFED"/>
          </a:solidFill>
          <a:ln/>
        </p:spPr>
      </p:sp>
      <p:sp>
        <p:nvSpPr>
          <p:cNvPr id="30" name="Shape 28"/>
          <p:cNvSpPr/>
          <p:nvPr/>
        </p:nvSpPr>
        <p:spPr>
          <a:xfrm>
            <a:off x="3955898" y="1936750"/>
            <a:ext cx="53975" cy="88900"/>
          </a:xfrm>
          <a:prstGeom prst="rect">
            <a:avLst/>
          </a:prstGeom>
          <a:solidFill>
            <a:srgbClr val="BCCAEC"/>
          </a:solidFill>
          <a:ln/>
        </p:spPr>
      </p:sp>
      <p:sp>
        <p:nvSpPr>
          <p:cNvPr id="31" name="Shape 29"/>
          <p:cNvSpPr/>
          <p:nvPr/>
        </p:nvSpPr>
        <p:spPr>
          <a:xfrm>
            <a:off x="4003523" y="1936750"/>
            <a:ext cx="53975" cy="88900"/>
          </a:xfrm>
          <a:prstGeom prst="rect">
            <a:avLst/>
          </a:prstGeom>
          <a:solidFill>
            <a:srgbClr val="B6C5EA"/>
          </a:solidFill>
          <a:ln/>
        </p:spPr>
      </p:sp>
      <p:sp>
        <p:nvSpPr>
          <p:cNvPr id="32" name="Shape 30"/>
          <p:cNvSpPr/>
          <p:nvPr/>
        </p:nvSpPr>
        <p:spPr>
          <a:xfrm>
            <a:off x="4051148" y="1936750"/>
            <a:ext cx="53975" cy="889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33" name="Shape 31"/>
          <p:cNvSpPr/>
          <p:nvPr/>
        </p:nvSpPr>
        <p:spPr>
          <a:xfrm>
            <a:off x="4098773" y="1936750"/>
            <a:ext cx="53975" cy="88900"/>
          </a:xfrm>
          <a:prstGeom prst="rect">
            <a:avLst/>
          </a:prstGeom>
          <a:solidFill>
            <a:srgbClr val="A9BCE7"/>
          </a:solidFill>
          <a:ln/>
        </p:spPr>
      </p:sp>
      <p:sp>
        <p:nvSpPr>
          <p:cNvPr id="34" name="Shape 32"/>
          <p:cNvSpPr/>
          <p:nvPr/>
        </p:nvSpPr>
        <p:spPr>
          <a:xfrm>
            <a:off x="4146398" y="1936750"/>
            <a:ext cx="53975" cy="88900"/>
          </a:xfrm>
          <a:prstGeom prst="rect">
            <a:avLst/>
          </a:prstGeom>
          <a:solidFill>
            <a:srgbClr val="A2B7E6"/>
          </a:solidFill>
          <a:ln/>
        </p:spPr>
      </p:sp>
      <p:sp>
        <p:nvSpPr>
          <p:cNvPr id="35" name="Shape 33"/>
          <p:cNvSpPr/>
          <p:nvPr/>
        </p:nvSpPr>
        <p:spPr>
          <a:xfrm>
            <a:off x="4194023" y="1936750"/>
            <a:ext cx="53975" cy="88900"/>
          </a:xfrm>
          <a:prstGeom prst="rect">
            <a:avLst/>
          </a:prstGeom>
          <a:solidFill>
            <a:srgbClr val="9BB1E4"/>
          </a:solidFill>
          <a:ln/>
        </p:spPr>
      </p:sp>
      <p:sp>
        <p:nvSpPr>
          <p:cNvPr id="36" name="Shape 34"/>
          <p:cNvSpPr/>
          <p:nvPr/>
        </p:nvSpPr>
        <p:spPr>
          <a:xfrm>
            <a:off x="4241648" y="1936750"/>
            <a:ext cx="53975" cy="88900"/>
          </a:xfrm>
          <a:prstGeom prst="rect">
            <a:avLst/>
          </a:prstGeom>
          <a:solidFill>
            <a:srgbClr val="93ACE2"/>
          </a:solidFill>
          <a:ln/>
        </p:spPr>
      </p:sp>
      <p:sp>
        <p:nvSpPr>
          <p:cNvPr id="37" name="Shape 35"/>
          <p:cNvSpPr/>
          <p:nvPr/>
        </p:nvSpPr>
        <p:spPr>
          <a:xfrm>
            <a:off x="4289273" y="1936750"/>
            <a:ext cx="53975" cy="88900"/>
          </a:xfrm>
          <a:prstGeom prst="rect">
            <a:avLst/>
          </a:prstGeom>
          <a:solidFill>
            <a:srgbClr val="8AA6E1"/>
          </a:solidFill>
          <a:ln/>
        </p:spPr>
      </p:sp>
      <p:sp>
        <p:nvSpPr>
          <p:cNvPr id="38" name="Shape 36"/>
          <p:cNvSpPr/>
          <p:nvPr/>
        </p:nvSpPr>
        <p:spPr>
          <a:xfrm>
            <a:off x="4336898" y="1936750"/>
            <a:ext cx="53975" cy="88900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39" name="Shape 37"/>
          <p:cNvSpPr/>
          <p:nvPr/>
        </p:nvSpPr>
        <p:spPr>
          <a:xfrm>
            <a:off x="4384523" y="1936750"/>
            <a:ext cx="53975" cy="88900"/>
          </a:xfrm>
          <a:prstGeom prst="rect">
            <a:avLst/>
          </a:prstGeom>
          <a:solidFill>
            <a:srgbClr val="779ADE"/>
          </a:solidFill>
          <a:ln/>
        </p:spPr>
      </p:sp>
      <p:sp>
        <p:nvSpPr>
          <p:cNvPr id="40" name="Shape 38"/>
          <p:cNvSpPr/>
          <p:nvPr/>
        </p:nvSpPr>
        <p:spPr>
          <a:xfrm>
            <a:off x="4432148" y="1936750"/>
            <a:ext cx="53975" cy="88900"/>
          </a:xfrm>
          <a:prstGeom prst="rect">
            <a:avLst/>
          </a:prstGeom>
          <a:solidFill>
            <a:srgbClr val="6B93DC"/>
          </a:solidFill>
          <a:ln/>
        </p:spPr>
      </p:sp>
      <p:sp>
        <p:nvSpPr>
          <p:cNvPr id="41" name="Shape 39"/>
          <p:cNvSpPr/>
          <p:nvPr/>
        </p:nvSpPr>
        <p:spPr>
          <a:xfrm>
            <a:off x="4479773" y="1936750"/>
            <a:ext cx="53975" cy="88900"/>
          </a:xfrm>
          <a:prstGeom prst="rect">
            <a:avLst/>
          </a:prstGeom>
          <a:solidFill>
            <a:srgbClr val="5E8CDA"/>
          </a:solidFill>
          <a:ln/>
        </p:spPr>
      </p:sp>
      <p:sp>
        <p:nvSpPr>
          <p:cNvPr id="42" name="Shape 40"/>
          <p:cNvSpPr/>
          <p:nvPr/>
        </p:nvSpPr>
        <p:spPr>
          <a:xfrm>
            <a:off x="4527398" y="1936750"/>
            <a:ext cx="53975" cy="88900"/>
          </a:xfrm>
          <a:prstGeom prst="rect">
            <a:avLst/>
          </a:prstGeom>
          <a:solidFill>
            <a:srgbClr val="4E84D9"/>
          </a:solidFill>
          <a:ln/>
        </p:spPr>
      </p:sp>
      <p:sp>
        <p:nvSpPr>
          <p:cNvPr id="43" name="Shape 41"/>
          <p:cNvSpPr/>
          <p:nvPr/>
        </p:nvSpPr>
        <p:spPr>
          <a:xfrm>
            <a:off x="4575023" y="1936750"/>
            <a:ext cx="53975" cy="88900"/>
          </a:xfrm>
          <a:prstGeom prst="rect">
            <a:avLst/>
          </a:prstGeom>
          <a:solidFill>
            <a:srgbClr val="397CD7"/>
          </a:solidFill>
          <a:ln/>
        </p:spPr>
      </p:sp>
      <p:sp>
        <p:nvSpPr>
          <p:cNvPr id="44" name="Text 42"/>
          <p:cNvSpPr/>
          <p:nvPr/>
        </p:nvSpPr>
        <p:spPr>
          <a:xfrm>
            <a:off x="2971648" y="1917700"/>
            <a:ext cx="48260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Color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3479648" y="2032000"/>
            <a:ext cx="114300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750" dirty="0"/>
          </a:p>
        </p:txBody>
      </p:sp>
      <p:sp>
        <p:nvSpPr>
          <p:cNvPr id="46" name="Text 44"/>
          <p:cNvSpPr/>
          <p:nvPr/>
        </p:nvSpPr>
        <p:spPr>
          <a:xfrm>
            <a:off x="3479648" y="2032000"/>
            <a:ext cx="114300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4275938" y="3959225"/>
            <a:ext cx="76200" cy="76200"/>
          </a:xfrm>
          <a:prstGeom prst="ellipse">
            <a:avLst/>
          </a:prstGeom>
          <a:solidFill>
            <a:srgbClr val="F1F4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179860" y="3014663"/>
            <a:ext cx="76200" cy="76200"/>
          </a:xfrm>
          <a:prstGeom prst="ellipse">
            <a:avLst/>
          </a:prstGeom>
          <a:solidFill>
            <a:srgbClr val="D6DE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222848" y="3505835"/>
            <a:ext cx="76200" cy="76200"/>
          </a:xfrm>
          <a:prstGeom prst="ellipse">
            <a:avLst/>
          </a:prstGeom>
          <a:solidFill>
            <a:srgbClr val="BBC9E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265835" y="2447925"/>
            <a:ext cx="76200" cy="76200"/>
          </a:xfrm>
          <a:prstGeom prst="ellipse">
            <a:avLst/>
          </a:prstGeom>
          <a:solidFill>
            <a:srgbClr val="A5B9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752563" y="3770313"/>
            <a:ext cx="76200" cy="76200"/>
          </a:xfrm>
          <a:prstGeom prst="ellipse">
            <a:avLst/>
          </a:prstGeom>
          <a:solidFill>
            <a:srgbClr val="7C9DD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586953" y="282575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527523" y="4261485"/>
            <a:ext cx="76200" cy="76200"/>
          </a:xfrm>
          <a:prstGeom prst="ellipse">
            <a:avLst/>
          </a:prstGeom>
          <a:solidFill>
            <a:srgbClr val="E2E8F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779108" y="3203575"/>
            <a:ext cx="76200" cy="76200"/>
          </a:xfrm>
          <a:prstGeom prst="ellipse">
            <a:avLst/>
          </a:prstGeom>
          <a:solidFill>
            <a:srgbClr val="C4D0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377538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5281460" y="297021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6324448" y="346138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7367435" y="24034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7854163" y="372586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8056093" y="278130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5629123" y="421703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6880708" y="315912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Smoothed line (Catmull-Rom)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3053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5052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7051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19050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479648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249993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20339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790685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561030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331376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101722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3864820" y="4267331"/>
            <a:ext cx="26988" cy="3796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3891809" y="4217203"/>
            <a:ext cx="32443" cy="5012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3924251" y="4156820"/>
            <a:ext cx="37332" cy="6038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3961584" y="4088085"/>
            <a:ext cx="41658" cy="6873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4003242" y="4012905"/>
            <a:ext cx="45420" cy="7518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4048662" y="3933183"/>
            <a:ext cx="48617" cy="7972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097278" y="3850824"/>
            <a:ext cx="51250" cy="8235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4148528" y="3767733"/>
            <a:ext cx="53319" cy="8309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4201847" y="3685813"/>
            <a:ext cx="54823" cy="8191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4256670" y="3606971"/>
            <a:ext cx="55764" cy="7884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4312433" y="3533109"/>
            <a:ext cx="56140" cy="7386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4368573" y="3466133"/>
            <a:ext cx="55952" cy="669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4424525" y="3407947"/>
            <a:ext cx="55199" cy="581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4479724" y="3360455"/>
            <a:ext cx="53883" cy="4749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4533607" y="3325563"/>
            <a:ext cx="52002" cy="348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V="1">
            <a:off x="4585609" y="3305175"/>
            <a:ext cx="49557" cy="203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flipV="1">
            <a:off x="4635166" y="3301659"/>
            <a:ext cx="48147" cy="351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683313" y="3301659"/>
            <a:ext cx="48147" cy="128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31459" y="3314551"/>
            <a:ext cx="48147" cy="269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779606" y="3341508"/>
            <a:ext cx="48147" cy="3867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827753" y="3380184"/>
            <a:ext cx="48147" cy="4805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875899" y="3428237"/>
            <a:ext cx="48147" cy="5508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924046" y="3483322"/>
            <a:ext cx="48147" cy="5977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972192" y="3543095"/>
            <a:ext cx="48147" cy="6211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020339" y="3605213"/>
            <a:ext cx="48147" cy="6211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068486" y="3667330"/>
            <a:ext cx="48147" cy="5977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116632" y="3727103"/>
            <a:ext cx="48147" cy="5508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164779" y="3782188"/>
            <a:ext cx="48147" cy="4805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212925" y="3830241"/>
            <a:ext cx="48147" cy="3867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261072" y="3868917"/>
            <a:ext cx="48147" cy="269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309219" y="3895874"/>
            <a:ext cx="48147" cy="128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flipV="1">
            <a:off x="5357365" y="3905250"/>
            <a:ext cx="48147" cy="351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V="1">
            <a:off x="5405512" y="3883763"/>
            <a:ext cx="48147" cy="2148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 flipV="1">
            <a:off x="5453658" y="3845868"/>
            <a:ext cx="48147" cy="378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 flipV="1">
            <a:off x="5501805" y="3793908"/>
            <a:ext cx="48147" cy="5196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V="1">
            <a:off x="5549952" y="3730228"/>
            <a:ext cx="48147" cy="6368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5598098" y="3657172"/>
            <a:ext cx="48147" cy="73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5646245" y="3577084"/>
            <a:ext cx="48147" cy="800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flipV="1">
            <a:off x="5694392" y="3492308"/>
            <a:ext cx="48147" cy="847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5742538" y="3405188"/>
            <a:ext cx="48147" cy="871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5790685" y="3318067"/>
            <a:ext cx="48147" cy="871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5838831" y="3233291"/>
            <a:ext cx="48147" cy="847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V="1">
            <a:off x="5886978" y="3153203"/>
            <a:ext cx="48147" cy="800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 flipV="1">
            <a:off x="5935125" y="3080147"/>
            <a:ext cx="48147" cy="73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 flipV="1">
            <a:off x="5983271" y="3016467"/>
            <a:ext cx="48147" cy="6368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 flipV="1">
            <a:off x="6031418" y="2964507"/>
            <a:ext cx="48147" cy="5196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 flipV="1">
            <a:off x="6079564" y="2926612"/>
            <a:ext cx="48147" cy="378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 flipV="1">
            <a:off x="6127711" y="2905125"/>
            <a:ext cx="48147" cy="2148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flipV="1">
            <a:off x="6175858" y="2901389"/>
            <a:ext cx="48147" cy="373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224004" y="2901389"/>
            <a:ext cx="48147" cy="122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6272151" y="2913681"/>
            <a:ext cx="48147" cy="2606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6320297" y="2939744"/>
            <a:ext cx="48147" cy="3757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6368444" y="2977322"/>
            <a:ext cx="48147" cy="4683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6416591" y="3024158"/>
            <a:ext cx="48147" cy="5384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6464737" y="3077998"/>
            <a:ext cx="48147" cy="585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6512884" y="3136585"/>
            <a:ext cx="48147" cy="6107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561030" y="3197662"/>
            <a:ext cx="48147" cy="6131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6609177" y="3258973"/>
            <a:ext cx="48147" cy="5929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6657324" y="3318263"/>
            <a:ext cx="48147" cy="5501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6705470" y="3373274"/>
            <a:ext cx="48147" cy="4847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6753617" y="3421752"/>
            <a:ext cx="48147" cy="396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6801763" y="3461440"/>
            <a:ext cx="48147" cy="2864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6849910" y="3490081"/>
            <a:ext cx="48147" cy="1533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 flipV="1">
            <a:off x="6898057" y="3505200"/>
            <a:ext cx="48147" cy="2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 flipV="1">
            <a:off x="6946203" y="3488211"/>
            <a:ext cx="48147" cy="1698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 flipV="1">
            <a:off x="6994350" y="3456170"/>
            <a:ext cx="48147" cy="3204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 flipV="1">
            <a:off x="7042497" y="3411219"/>
            <a:ext cx="48147" cy="4495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 flipV="1">
            <a:off x="7090643" y="3355494"/>
            <a:ext cx="48147" cy="557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 flipV="1">
            <a:off x="7138790" y="3291135"/>
            <a:ext cx="48147" cy="6435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 flipV="1">
            <a:off x="7186936" y="3220282"/>
            <a:ext cx="48147" cy="7085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 flipV="1">
            <a:off x="7235083" y="3145072"/>
            <a:ext cx="48147" cy="7521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 flipV="1">
            <a:off x="7283230" y="3067645"/>
            <a:ext cx="48147" cy="7742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 flipV="1">
            <a:off x="7331376" y="2990141"/>
            <a:ext cx="48147" cy="7750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 flipV="1">
            <a:off x="7379523" y="2914697"/>
            <a:ext cx="48147" cy="754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 flipV="1">
            <a:off x="7427669" y="2843452"/>
            <a:ext cx="48147" cy="712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 flipV="1">
            <a:off x="7475816" y="2778547"/>
            <a:ext cx="48147" cy="6490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 flipV="1">
            <a:off x="7523963" y="2722119"/>
            <a:ext cx="48147" cy="5642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 flipV="1">
            <a:off x="7572109" y="2676307"/>
            <a:ext cx="48147" cy="4581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 flipV="1">
            <a:off x="7620256" y="2643251"/>
            <a:ext cx="48147" cy="33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 flipV="1">
            <a:off x="7668402" y="2625090"/>
            <a:ext cx="48147" cy="1816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 flipV="1">
            <a:off x="7716549" y="2621564"/>
            <a:ext cx="49557" cy="352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766106" y="2621564"/>
            <a:ext cx="52002" cy="844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818108" y="2630012"/>
            <a:ext cx="53883" cy="1895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871991" y="2648970"/>
            <a:ext cx="55199" cy="2800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927190" y="2676971"/>
            <a:ext cx="55952" cy="3558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983142" y="2712552"/>
            <a:ext cx="56140" cy="416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8039282" y="2754247"/>
            <a:ext cx="55764" cy="463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8095045" y="2800590"/>
            <a:ext cx="54823" cy="4952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149868" y="2850118"/>
            <a:ext cx="53319" cy="5124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203187" y="2901365"/>
            <a:ext cx="51250" cy="5150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254437" y="2952865"/>
            <a:ext cx="48617" cy="5028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303054" y="3003155"/>
            <a:ext cx="45420" cy="4761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8348473" y="3050768"/>
            <a:ext cx="41658" cy="4347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8390131" y="3094240"/>
            <a:ext cx="37332" cy="3786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8427464" y="3132106"/>
            <a:ext cx="32443" cy="307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8459906" y="3162901"/>
            <a:ext cx="26988" cy="2225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3834340" y="42748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4604686" y="327469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375032" y="387477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4537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915723" y="34747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7686069" y="259461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8456415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 flipV="1">
            <a:off x="3864820" y="4495441"/>
            <a:ext cx="26988" cy="98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 flipV="1">
            <a:off x="3891809" y="4483447"/>
            <a:ext cx="32443" cy="1199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 flipV="1">
            <a:off x="3924251" y="4469578"/>
            <a:ext cx="37332" cy="1386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 flipV="1">
            <a:off x="3961584" y="4454069"/>
            <a:ext cx="41658" cy="155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 flipV="1">
            <a:off x="4003242" y="4437152"/>
            <a:ext cx="45420" cy="169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 flipV="1">
            <a:off x="4048662" y="4419064"/>
            <a:ext cx="48617" cy="1808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 flipV="1">
            <a:off x="4097278" y="4400038"/>
            <a:ext cx="51250" cy="1902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 flipV="1">
            <a:off x="4148528" y="4380309"/>
            <a:ext cx="53319" cy="1972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 flipV="1">
            <a:off x="4201847" y="4360112"/>
            <a:ext cx="54823" cy="201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 flipV="1">
            <a:off x="4256670" y="4339679"/>
            <a:ext cx="55764" cy="204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 flipV="1">
            <a:off x="4312433" y="4319247"/>
            <a:ext cx="56140" cy="204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 flipV="1">
            <a:off x="4368573" y="4299049"/>
            <a:ext cx="55952" cy="201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 flipV="1">
            <a:off x="4424525" y="4279320"/>
            <a:ext cx="55199" cy="1972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 flipV="1">
            <a:off x="4479724" y="4260294"/>
            <a:ext cx="53883" cy="1902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 flipV="1">
            <a:off x="4533607" y="4242206"/>
            <a:ext cx="52002" cy="1808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 flipV="1">
            <a:off x="4585609" y="4225290"/>
            <a:ext cx="49557" cy="169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 flipV="1">
            <a:off x="4635166" y="4208603"/>
            <a:ext cx="48147" cy="1668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 flipV="1">
            <a:off x="4683313" y="4191184"/>
            <a:ext cx="48147" cy="1741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 flipV="1">
            <a:off x="4731459" y="4173238"/>
            <a:ext cx="48147" cy="1794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 flipV="1">
            <a:off x="4779606" y="4154969"/>
            <a:ext cx="48147" cy="1826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 flipV="1">
            <a:off x="4827753" y="4136583"/>
            <a:ext cx="48147" cy="1838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 flipV="1">
            <a:off x="4875899" y="4118284"/>
            <a:ext cx="48147" cy="182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 flipV="1">
            <a:off x="4924046" y="4100279"/>
            <a:ext cx="48147" cy="18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 flipV="1">
            <a:off x="4972192" y="4082772"/>
            <a:ext cx="48147" cy="1750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 flipV="1">
            <a:off x="5020339" y="4065968"/>
            <a:ext cx="48147" cy="1680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 flipV="1">
            <a:off x="5068486" y="4050073"/>
            <a:ext cx="48147" cy="1589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 flipV="1">
            <a:off x="5116632" y="4035291"/>
            <a:ext cx="48147" cy="1478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 flipV="1">
            <a:off x="5164779" y="4021827"/>
            <a:ext cx="48147" cy="1346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 flipV="1">
            <a:off x="5212925" y="4009887"/>
            <a:ext cx="48147" cy="119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 flipV="1">
            <a:off x="5261072" y="3999676"/>
            <a:ext cx="48147" cy="1021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 flipV="1">
            <a:off x="5309219" y="3991398"/>
            <a:ext cx="48147" cy="827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 flipV="1">
            <a:off x="5357365" y="3985260"/>
            <a:ext cx="48147" cy="613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 flipV="1">
            <a:off x="5405512" y="3982276"/>
            <a:ext cx="48147" cy="29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5453658" y="3982276"/>
            <a:ext cx="48147" cy="67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5501805" y="3982955"/>
            <a:ext cx="48147" cy="378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5549952" y="3986740"/>
            <a:ext cx="48147" cy="633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5598098" y="3993073"/>
            <a:ext cx="48147" cy="832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5646245" y="4001400"/>
            <a:ext cx="48147" cy="976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694392" y="4011162"/>
            <a:ext cx="48147" cy="1064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742538" y="4021803"/>
            <a:ext cx="48147" cy="1096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790685" y="4032766"/>
            <a:ext cx="48147" cy="1072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838831" y="4043495"/>
            <a:ext cx="48147" cy="993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886978" y="4053433"/>
            <a:ext cx="48147" cy="859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935125" y="4062023"/>
            <a:ext cx="48147" cy="668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83271" y="4068708"/>
            <a:ext cx="48147" cy="422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31418" y="4072932"/>
            <a:ext cx="48147" cy="120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 flipV="1">
            <a:off x="6079564" y="4071770"/>
            <a:ext cx="48147" cy="236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 flipV="1">
            <a:off x="6127711" y="4065270"/>
            <a:ext cx="48147" cy="65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 flipV="1">
            <a:off x="6175858" y="4054561"/>
            <a:ext cx="48147" cy="1070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 flipV="1">
            <a:off x="6224004" y="4040228"/>
            <a:ext cx="48147" cy="1433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 flipV="1">
            <a:off x="6272151" y="4022711"/>
            <a:ext cx="48147" cy="1751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 flipV="1">
            <a:off x="6320297" y="4002450"/>
            <a:ext cx="48147" cy="2026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 flipV="1">
            <a:off x="6368444" y="3979883"/>
            <a:ext cx="48147" cy="2256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 flipV="1">
            <a:off x="6416591" y="3955452"/>
            <a:ext cx="48147" cy="244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 flipV="1">
            <a:off x="6464737" y="3929594"/>
            <a:ext cx="48147" cy="2585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 flipV="1">
            <a:off x="6512884" y="3902750"/>
            <a:ext cx="48147" cy="2684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 flipV="1">
            <a:off x="6561030" y="3875359"/>
            <a:ext cx="48147" cy="2739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 flipV="1">
            <a:off x="6609177" y="3847860"/>
            <a:ext cx="48147" cy="2749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 flipV="1">
            <a:off x="6657324" y="3820694"/>
            <a:ext cx="48147" cy="2716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 flipV="1">
            <a:off x="6705470" y="3794299"/>
            <a:ext cx="48147" cy="2639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 flipV="1">
            <a:off x="6753617" y="3769115"/>
            <a:ext cx="48147" cy="251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 flipV="1">
            <a:off x="6801763" y="3745582"/>
            <a:ext cx="48147" cy="2353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 flipV="1">
            <a:off x="6849910" y="3724138"/>
            <a:ext cx="48147" cy="2144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 flipV="1">
            <a:off x="6898057" y="3705225"/>
            <a:ext cx="48147" cy="1891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 flipV="1">
            <a:off x="6946203" y="3688841"/>
            <a:ext cx="48147" cy="163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 flipV="1">
            <a:off x="6994350" y="3674479"/>
            <a:ext cx="48147" cy="1436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 flipV="1">
            <a:off x="7042497" y="3661816"/>
            <a:ext cx="48147" cy="1266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 flipV="1">
            <a:off x="7090643" y="3650531"/>
            <a:ext cx="48147" cy="1128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 flipV="1">
            <a:off x="7138790" y="3640300"/>
            <a:ext cx="48147" cy="1023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 flipV="1">
            <a:off x="7186936" y="3630802"/>
            <a:ext cx="48147" cy="94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 flipV="1">
            <a:off x="7235083" y="3621714"/>
            <a:ext cx="48147" cy="908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 flipV="1">
            <a:off x="7283230" y="3612713"/>
            <a:ext cx="48147" cy="90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 flipV="1">
            <a:off x="7331376" y="3603479"/>
            <a:ext cx="48147" cy="923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 flipV="1">
            <a:off x="7379523" y="3593688"/>
            <a:ext cx="48147" cy="979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 flipV="1">
            <a:off x="7427669" y="3583017"/>
            <a:ext cx="48147" cy="1067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 flipV="1">
            <a:off x="7475816" y="3571146"/>
            <a:ext cx="48147" cy="1187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 flipV="1">
            <a:off x="7523963" y="3557751"/>
            <a:ext cx="48147" cy="1339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 flipV="1">
            <a:off x="7572109" y="3542509"/>
            <a:ext cx="48147" cy="1524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 flipV="1">
            <a:off x="7620256" y="3525100"/>
            <a:ext cx="48147" cy="1740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 flipV="1">
            <a:off x="7668402" y="3505200"/>
            <a:ext cx="48147" cy="199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 flipV="1">
            <a:off x="7716549" y="3482009"/>
            <a:ext cx="49557" cy="2319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 flipV="1">
            <a:off x="7766106" y="3455311"/>
            <a:ext cx="52002" cy="266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 flipV="1">
            <a:off x="7818108" y="3425664"/>
            <a:ext cx="53883" cy="2964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 flipV="1">
            <a:off x="7871991" y="3393624"/>
            <a:ext cx="55199" cy="320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 flipV="1">
            <a:off x="7927190" y="3359747"/>
            <a:ext cx="55952" cy="3387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 flipV="1">
            <a:off x="7983142" y="3324591"/>
            <a:ext cx="56140" cy="3515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 flipV="1">
            <a:off x="8039282" y="3288713"/>
            <a:ext cx="55764" cy="3587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 flipV="1">
            <a:off x="8095045" y="3252668"/>
            <a:ext cx="54823" cy="3604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 flipV="1">
            <a:off x="8149868" y="3217015"/>
            <a:ext cx="53319" cy="3565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 flipV="1">
            <a:off x="8203187" y="3182308"/>
            <a:ext cx="51250" cy="3470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 flipV="1">
            <a:off x="8254437" y="3149106"/>
            <a:ext cx="48617" cy="3320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 flipV="1">
            <a:off x="8303054" y="3117964"/>
            <a:ext cx="45420" cy="3114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 flipV="1">
            <a:off x="8348473" y="3089440"/>
            <a:ext cx="41658" cy="2852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 flipV="1">
            <a:off x="8390131" y="3064090"/>
            <a:ext cx="37332" cy="2535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 flipV="1">
            <a:off x="8427464" y="3042471"/>
            <a:ext cx="32443" cy="2161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 flipV="1">
            <a:off x="8459906" y="3025140"/>
            <a:ext cx="26988" cy="1733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3834340" y="447484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4604686" y="41948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5375032" y="395478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145378" y="403479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915723" y="367474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7686069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8456415" y="299466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3479648" y="5105400"/>
            <a:ext cx="53924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6" name="Text 224"/>
          <p:cNvSpPr/>
          <p:nvPr/>
        </p:nvSpPr>
        <p:spPr>
          <a:xfrm>
            <a:off x="8922868" y="2939415"/>
            <a:ext cx="2209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227" name="Text 225"/>
          <p:cNvSpPr/>
          <p:nvPr/>
        </p:nvSpPr>
        <p:spPr>
          <a:xfrm>
            <a:off x="8922868" y="3110865"/>
            <a:ext cx="2209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Waterfall with grouping spacers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82572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819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33067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08314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3562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58809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4057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198660" y="3270504"/>
            <a:ext cx="501650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3122460" y="4092702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00310" y="3270504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3951135" y="2971800"/>
            <a:ext cx="501650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3874935" y="3025902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452785" y="2971800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4703610" y="2779776"/>
            <a:ext cx="501650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4627410" y="2780538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205260" y="2779776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5456085" y="2779776"/>
            <a:ext cx="50165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57735" y="2779776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6208560" y="2779776"/>
            <a:ext cx="501650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3" name="Text 21"/>
          <p:cNvSpPr/>
          <p:nvPr/>
        </p:nvSpPr>
        <p:spPr>
          <a:xfrm>
            <a:off x="6132360" y="2812542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710210" y="3035808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961035" y="3035808"/>
            <a:ext cx="501650" cy="8534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6" name="Text 24"/>
          <p:cNvSpPr/>
          <p:nvPr/>
        </p:nvSpPr>
        <p:spPr>
          <a:xfrm>
            <a:off x="6884835" y="2851658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462685" y="3121152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7713510" y="3121152"/>
            <a:ext cx="50165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8215160" y="3121152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8465985" y="3121152"/>
            <a:ext cx="501650" cy="198424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31" name="Text 29"/>
          <p:cNvSpPr/>
          <p:nvPr/>
        </p:nvSpPr>
        <p:spPr>
          <a:xfrm>
            <a:off x="8389785" y="4018026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with auto-summary bars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40928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0448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962074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57274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514861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210061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067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2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047848" y="2019300"/>
            <a:ext cx="6096000" cy="439057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12" name="Text 10"/>
          <p:cNvSpPr/>
          <p:nvPr/>
        </p:nvSpPr>
        <p:spPr>
          <a:xfrm>
            <a:off x="3047848" y="2143579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1: Discovery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19845" y="2203269"/>
            <a:ext cx="1242229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4" name="Shape 12"/>
          <p:cNvSpPr/>
          <p:nvPr/>
        </p:nvSpPr>
        <p:spPr>
          <a:xfrm>
            <a:off x="4719845" y="2203269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62074" y="2203269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174848" y="2608036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Research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409288" y="2471057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719845" y="2614386"/>
            <a:ext cx="93167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3174848" y="3072493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Interviews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409288" y="2935514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30402" y="3078843"/>
            <a:ext cx="93167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3047848" y="3412671"/>
            <a:ext cx="6096000" cy="439057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23" name="Text 21"/>
          <p:cNvSpPr/>
          <p:nvPr/>
        </p:nvSpPr>
        <p:spPr>
          <a:xfrm>
            <a:off x="3047848" y="353695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2: Build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962074" y="3596640"/>
            <a:ext cx="2484459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25" name="Shape 23"/>
          <p:cNvSpPr/>
          <p:nvPr/>
        </p:nvSpPr>
        <p:spPr>
          <a:xfrm>
            <a:off x="5962074" y="3596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446533" y="3596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174848" y="4001407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Backend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409288" y="3864429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62074" y="4007757"/>
            <a:ext cx="155278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8"/>
          <p:cNvSpPr/>
          <p:nvPr/>
        </p:nvSpPr>
        <p:spPr>
          <a:xfrm>
            <a:off x="3174848" y="4465864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Frontend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409288" y="4328886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583189" y="4472214"/>
            <a:ext cx="155278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Text 31"/>
          <p:cNvSpPr/>
          <p:nvPr/>
        </p:nvSpPr>
        <p:spPr>
          <a:xfrm>
            <a:off x="3174848" y="4930321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409288" y="4793343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825418" y="4936671"/>
            <a:ext cx="621115" cy="177800"/>
          </a:xfrm>
          <a:prstGeom prst="rect">
            <a:avLst/>
          </a:prstGeom>
          <a:solidFill>
            <a:srgbClr val="2A78D6"/>
          </a:solidFill>
          <a:ln/>
        </p:spPr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Notched boxplots (median CI)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415214" y="3345180"/>
            <a:ext cx="0" cy="280035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15214" y="4085273"/>
            <a:ext cx="0" cy="220027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33451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83662" y="43053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625215"/>
            <a:ext cx="1029123" cy="460058"/>
          </a:xfrm>
          <a:custGeom>
            <a:avLst/>
            <a:gdLst/>
            <a:ahLst/>
            <a:cxnLst/>
            <a:rect l="l" t="t" r="r" b="b"/>
            <a:pathLst>
              <a:path w="1029123" h="460058">
                <a:moveTo>
                  <a:pt x="0" y="0"/>
                </a:moveTo>
                <a:lnTo>
                  <a:pt x="1029123" y="0"/>
                </a:lnTo>
                <a:lnTo>
                  <a:pt x="1029123" y="11622"/>
                </a:lnTo>
                <a:lnTo>
                  <a:pt x="771843" y="240030"/>
                </a:lnTo>
                <a:lnTo>
                  <a:pt x="1029123" y="460058"/>
                </a:lnTo>
                <a:lnTo>
                  <a:pt x="1029123" y="460058"/>
                </a:lnTo>
                <a:lnTo>
                  <a:pt x="0" y="460058"/>
                </a:lnTo>
                <a:lnTo>
                  <a:pt x="0" y="460058"/>
                </a:lnTo>
                <a:lnTo>
                  <a:pt x="257281" y="240030"/>
                </a:lnTo>
                <a:lnTo>
                  <a:pt x="0" y="11622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57933" y="3865245"/>
            <a:ext cx="51456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900653" y="3674745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286348" y="2945130"/>
            <a:ext cx="0" cy="360045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86348" y="3845243"/>
            <a:ext cx="0" cy="14001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54795" y="294513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54795" y="39852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771786" y="3305175"/>
            <a:ext cx="1029123" cy="540068"/>
          </a:xfrm>
          <a:custGeom>
            <a:avLst/>
            <a:gdLst/>
            <a:ahLst/>
            <a:cxnLst/>
            <a:rect l="l" t="t" r="r" b="b"/>
            <a:pathLst>
              <a:path w="1029123" h="540068">
                <a:moveTo>
                  <a:pt x="0" y="0"/>
                </a:moveTo>
                <a:lnTo>
                  <a:pt x="1029123" y="0"/>
                </a:lnTo>
                <a:lnTo>
                  <a:pt x="1029123" y="51909"/>
                </a:lnTo>
                <a:lnTo>
                  <a:pt x="771843" y="320040"/>
                </a:lnTo>
                <a:lnTo>
                  <a:pt x="1029123" y="540068"/>
                </a:lnTo>
                <a:lnTo>
                  <a:pt x="1029123" y="540068"/>
                </a:lnTo>
                <a:lnTo>
                  <a:pt x="0" y="540068"/>
                </a:lnTo>
                <a:lnTo>
                  <a:pt x="0" y="540068"/>
                </a:lnTo>
                <a:lnTo>
                  <a:pt x="257281" y="320040"/>
                </a:lnTo>
                <a:lnTo>
                  <a:pt x="0" y="51909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29067" y="3625215"/>
            <a:ext cx="51456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771786" y="3434715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8157481" y="1905000"/>
            <a:ext cx="0" cy="500063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157481" y="3285173"/>
            <a:ext cx="0" cy="220027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925928" y="19050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925928" y="35052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42919" y="2405063"/>
            <a:ext cx="1029123" cy="880110"/>
          </a:xfrm>
          <a:custGeom>
            <a:avLst/>
            <a:gdLst/>
            <a:ahLst/>
            <a:cxnLst/>
            <a:rect l="l" t="t" r="r" b="b"/>
            <a:pathLst>
              <a:path w="1029123" h="880110">
                <a:moveTo>
                  <a:pt x="0" y="0"/>
                </a:moveTo>
                <a:lnTo>
                  <a:pt x="1029123" y="0"/>
                </a:lnTo>
                <a:lnTo>
                  <a:pt x="1029123" y="103113"/>
                </a:lnTo>
                <a:lnTo>
                  <a:pt x="771842" y="540067"/>
                </a:lnTo>
                <a:lnTo>
                  <a:pt x="1029123" y="880110"/>
                </a:lnTo>
                <a:lnTo>
                  <a:pt x="1029123" y="880110"/>
                </a:lnTo>
                <a:lnTo>
                  <a:pt x="0" y="880110"/>
                </a:lnTo>
                <a:lnTo>
                  <a:pt x="0" y="880110"/>
                </a:lnTo>
                <a:lnTo>
                  <a:pt x="257281" y="540067"/>
                </a:lnTo>
                <a:lnTo>
                  <a:pt x="0" y="103113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00200" y="2945130"/>
            <a:ext cx="51456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642919" y="275463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peer range + us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03114" y="3101340"/>
            <a:ext cx="985468" cy="1137920"/>
          </a:xfrm>
          <a:custGeom>
            <a:avLst/>
            <a:gdLst/>
            <a:ahLst/>
            <a:cxnLst/>
            <a:rect l="l" t="t" r="r" b="b"/>
            <a:pathLst>
              <a:path w="985468" h="113792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13792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2514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0" y="56896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45618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617646" y="1963420"/>
            <a:ext cx="2956403" cy="3413760"/>
          </a:xfrm>
          <a:custGeom>
            <a:avLst/>
            <a:gdLst/>
            <a:ahLst/>
            <a:cxnLst/>
            <a:rect l="l" t="t" r="r" b="b"/>
            <a:pathLst>
              <a:path w="2956403" h="3413760">
                <a:moveTo>
                  <a:pt x="1478201" y="0"/>
                </a:moveTo>
                <a:lnTo>
                  <a:pt x="2956403" y="853440"/>
                </a:lnTo>
                <a:lnTo>
                  <a:pt x="2956403" y="2560320"/>
                </a:lnTo>
                <a:lnTo>
                  <a:pt x="1478201" y="3413760"/>
                </a:lnTo>
                <a:lnTo>
                  <a:pt x="0" y="2560320"/>
                </a:lnTo>
                <a:lnTo>
                  <a:pt x="0" y="85344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33948" y="188722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96128" y="1993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95848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93673" y="28321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3673" y="43307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95848" y="36703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30418" y="51689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Process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4864013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72902" y="43307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64013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67162" y="28321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095848" y="2532380"/>
            <a:ext cx="985468" cy="853440"/>
          </a:xfrm>
          <a:custGeom>
            <a:avLst/>
            <a:gdLst/>
            <a:ahLst/>
            <a:cxnLst/>
            <a:rect l="l" t="t" r="r" b="b"/>
            <a:pathLst>
              <a:path w="985468" h="853440">
                <a:moveTo>
                  <a:pt x="0" y="568960"/>
                </a:moveTo>
                <a:lnTo>
                  <a:pt x="492734" y="853440"/>
                </a:lnTo>
                <a:lnTo>
                  <a:pt x="985468" y="568960"/>
                </a:lnTo>
                <a:lnTo>
                  <a:pt x="0" y="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6588581" y="3101340"/>
            <a:ext cx="492734" cy="1137920"/>
          </a:xfrm>
          <a:custGeom>
            <a:avLst/>
            <a:gdLst/>
            <a:ahLst/>
            <a:cxnLst/>
            <a:rect l="l" t="t" r="r" b="b"/>
            <a:pathLst>
              <a:path w="492734" h="1137920">
                <a:moveTo>
                  <a:pt x="0" y="284480"/>
                </a:moveTo>
                <a:lnTo>
                  <a:pt x="0" y="853440"/>
                </a:lnTo>
                <a:lnTo>
                  <a:pt x="492734" y="1137920"/>
                </a:lnTo>
                <a:lnTo>
                  <a:pt x="492734" y="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6095848" y="3954780"/>
            <a:ext cx="985468" cy="853440"/>
          </a:xfrm>
          <a:custGeom>
            <a:avLst/>
            <a:gdLst/>
            <a:ahLst/>
            <a:cxnLst/>
            <a:rect l="l" t="t" r="r" b="b"/>
            <a:pathLst>
              <a:path w="985468" h="853440">
                <a:moveTo>
                  <a:pt x="492734" y="0"/>
                </a:moveTo>
                <a:lnTo>
                  <a:pt x="0" y="568960"/>
                </a:lnTo>
                <a:lnTo>
                  <a:pt x="0" y="853440"/>
                </a:lnTo>
                <a:lnTo>
                  <a:pt x="985468" y="28448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5110380" y="3954780"/>
            <a:ext cx="985468" cy="853440"/>
          </a:xfrm>
          <a:custGeom>
            <a:avLst/>
            <a:gdLst/>
            <a:ahLst/>
            <a:cxnLst/>
            <a:rect l="l" t="t" r="r" b="b"/>
            <a:pathLst>
              <a:path w="985468" h="853440">
                <a:moveTo>
                  <a:pt x="985468" y="568960"/>
                </a:moveTo>
                <a:lnTo>
                  <a:pt x="492734" y="0"/>
                </a:lnTo>
                <a:lnTo>
                  <a:pt x="0" y="284480"/>
                </a:lnTo>
                <a:lnTo>
                  <a:pt x="985468" y="85344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110380" y="3243580"/>
            <a:ext cx="492734" cy="995680"/>
          </a:xfrm>
          <a:custGeom>
            <a:avLst/>
            <a:gdLst/>
            <a:ahLst/>
            <a:cxnLst/>
            <a:rect l="l" t="t" r="r" b="b"/>
            <a:pathLst>
              <a:path w="492734" h="995680">
                <a:moveTo>
                  <a:pt x="492734" y="711200"/>
                </a:moveTo>
                <a:lnTo>
                  <a:pt x="492734" y="142240"/>
                </a:lnTo>
                <a:lnTo>
                  <a:pt x="246367" y="0"/>
                </a:lnTo>
                <a:lnTo>
                  <a:pt x="0" y="99568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5356747" y="2532380"/>
            <a:ext cx="739101" cy="853440"/>
          </a:xfrm>
          <a:custGeom>
            <a:avLst/>
            <a:gdLst/>
            <a:ahLst/>
            <a:cxnLst/>
            <a:rect l="l" t="t" r="r" b="b"/>
            <a:pathLst>
              <a:path w="739101" h="853440">
                <a:moveTo>
                  <a:pt x="246367" y="853440"/>
                </a:moveTo>
                <a:lnTo>
                  <a:pt x="739101" y="568960"/>
                </a:lnTo>
                <a:lnTo>
                  <a:pt x="739101" y="0"/>
                </a:lnTo>
                <a:lnTo>
                  <a:pt x="0" y="71120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246367" y="711200"/>
                </a:lnTo>
                <a:close/>
              </a:path>
            </a:pathLst>
          </a:custGeom>
          <a:ln w="12700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603114" y="3101340"/>
            <a:ext cx="985468" cy="1422400"/>
          </a:xfrm>
          <a:custGeom>
            <a:avLst/>
            <a:gdLst/>
            <a:ahLst/>
            <a:cxnLst/>
            <a:rect l="l" t="t" r="r" b="b"/>
            <a:pathLst>
              <a:path w="985468" h="142240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42240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12700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864013" y="2816860"/>
            <a:ext cx="2217302" cy="1564640"/>
          </a:xfrm>
          <a:custGeom>
            <a:avLst/>
            <a:gdLst/>
            <a:ahLst/>
            <a:cxnLst/>
            <a:rect l="l" t="t" r="r" b="b"/>
            <a:pathLst>
              <a:path w="2217302" h="1564640">
                <a:moveTo>
                  <a:pt x="1231835" y="0"/>
                </a:moveTo>
                <a:lnTo>
                  <a:pt x="2217302" y="284480"/>
                </a:lnTo>
                <a:lnTo>
                  <a:pt x="2217302" y="1422400"/>
                </a:lnTo>
                <a:lnTo>
                  <a:pt x="1231835" y="1422400"/>
                </a:lnTo>
                <a:lnTo>
                  <a:pt x="0" y="1564640"/>
                </a:lnTo>
                <a:lnTo>
                  <a:pt x="246367" y="284480"/>
                </a:lnTo>
                <a:close/>
              </a:path>
            </a:pathLst>
          </a:custGeom>
          <a:solidFill>
            <a:srgbClr val="008300">
              <a:alpha val="18000"/>
            </a:srgbClr>
          </a:solidFill>
          <a:ln w="20320">
            <a:solidFill>
              <a:srgbClr val="00830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65368" y="278638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050835" y="307086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050835" y="420878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065368" y="420878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833533" y="435102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79900" y="307086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52514E"/>
          </a:solidFill>
          <a:ln/>
        </p:spPr>
      </p:sp>
      <p:sp>
        <p:nvSpPr>
          <p:cNvPr id="37" name="Text 35"/>
          <p:cNvSpPr/>
          <p:nvPr/>
        </p:nvSpPr>
        <p:spPr>
          <a:xfrm>
            <a:off x="3174848" y="18034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Peer range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013048" y="1847850"/>
            <a:ext cx="88900" cy="8890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39" name="Text 37"/>
          <p:cNvSpPr/>
          <p:nvPr/>
        </p:nvSpPr>
        <p:spPr>
          <a:xfrm>
            <a:off x="4140048" y="180340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</a:t>
            </a:r>
            <a:endParaRPr lang="en-US" sz="10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Long tail collapsed into Other (otherBucket)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00448" y="5143500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527648" y="5143500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61114" y="4289213"/>
            <a:ext cx="1151467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10314" y="4602057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61114" y="3840311"/>
            <a:ext cx="1151467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10314" y="3969512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61114" y="3473027"/>
            <a:ext cx="1151467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10314" y="3561419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361114" y="3350599"/>
            <a:ext cx="1151467" cy="122428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61114" y="3166957"/>
            <a:ext cx="1151467" cy="183642"/>
          </a:xfrm>
          <a:prstGeom prst="rect">
            <a:avLst/>
          </a:prstGeom>
          <a:solidFill>
            <a:srgbClr val="4A3AA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10314" y="3163528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73248" y="2982807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088314" y="4166785"/>
            <a:ext cx="1151467" cy="938615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37514" y="4540843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88314" y="3636264"/>
            <a:ext cx="1151467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37514" y="3806275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088314" y="3289385"/>
            <a:ext cx="1151467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37514" y="3367574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088314" y="3146552"/>
            <a:ext cx="1151467" cy="142833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088314" y="2922101"/>
            <a:ext cx="1151467" cy="224451"/>
          </a:xfrm>
          <a:prstGeom prst="rect">
            <a:avLst/>
          </a:prstGeom>
          <a:solidFill>
            <a:srgbClr val="4A3AA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37514" y="2939076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800448" y="2737951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107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815514" y="4044357"/>
            <a:ext cx="1151467" cy="106104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4714" y="4479629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815514" y="3411813"/>
            <a:ext cx="1151467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64714" y="3632835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815514" y="3024124"/>
            <a:ext cx="1151467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4714" y="3122718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815514" y="2860887"/>
            <a:ext cx="1151467" cy="163237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764714" y="2847255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815514" y="2616031"/>
            <a:ext cx="1151467" cy="244856"/>
          </a:xfrm>
          <a:prstGeom prst="rect">
            <a:avLst/>
          </a:prstGeom>
          <a:solidFill>
            <a:srgbClr val="4A3AA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64714" y="2643209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527648" y="2431881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122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305648" y="265273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305648" y="2856780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Gov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305648" y="3132243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305648" y="3642360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8305648" y="448915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Calendar heatmap (daily commits)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006600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047848" y="2877457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Wed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047848" y="3748314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3047848" y="4619171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Sun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3327248" y="1803400"/>
            <a:ext cx="217714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068962" y="1803400"/>
            <a:ext cx="217714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3327248" y="2006600"/>
            <a:ext cx="416379" cy="416379"/>
          </a:xfrm>
          <a:prstGeom prst="rect">
            <a:avLst/>
          </a:prstGeom>
          <a:solidFill>
            <a:srgbClr val="CFD8F1"/>
          </a:solidFill>
          <a:ln/>
        </p:spPr>
      </p:sp>
      <p:sp>
        <p:nvSpPr>
          <p:cNvPr id="10" name="Shape 8"/>
          <p:cNvSpPr/>
          <p:nvPr/>
        </p:nvSpPr>
        <p:spPr>
          <a:xfrm>
            <a:off x="3327248" y="2442029"/>
            <a:ext cx="416379" cy="416379"/>
          </a:xfrm>
          <a:prstGeom prst="rect">
            <a:avLst/>
          </a:prstGeom>
          <a:solidFill>
            <a:srgbClr val="B3C3E9"/>
          </a:solidFill>
          <a:ln/>
        </p:spPr>
      </p:sp>
      <p:sp>
        <p:nvSpPr>
          <p:cNvPr id="11" name="Shape 9"/>
          <p:cNvSpPr/>
          <p:nvPr/>
        </p:nvSpPr>
        <p:spPr>
          <a:xfrm>
            <a:off x="3327248" y="2877457"/>
            <a:ext cx="416379" cy="416379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12" name="Shape 10"/>
          <p:cNvSpPr/>
          <p:nvPr/>
        </p:nvSpPr>
        <p:spPr>
          <a:xfrm>
            <a:off x="3327248" y="3312886"/>
            <a:ext cx="416379" cy="416379"/>
          </a:xfrm>
          <a:prstGeom prst="rect">
            <a:avLst/>
          </a:prstGeom>
          <a:solidFill>
            <a:srgbClr val="7A9CDE"/>
          </a:solidFill>
          <a:ln/>
        </p:spPr>
      </p:sp>
      <p:sp>
        <p:nvSpPr>
          <p:cNvPr id="13" name="Shape 11"/>
          <p:cNvSpPr/>
          <p:nvPr/>
        </p:nvSpPr>
        <p:spPr>
          <a:xfrm>
            <a:off x="3327248" y="3748314"/>
            <a:ext cx="416379" cy="416379"/>
          </a:xfrm>
          <a:prstGeom prst="rect">
            <a:avLst/>
          </a:prstGeom>
          <a:solidFill>
            <a:srgbClr val="C2CEED"/>
          </a:solidFill>
          <a:ln/>
        </p:spPr>
      </p:sp>
      <p:sp>
        <p:nvSpPr>
          <p:cNvPr id="14" name="Shape 12"/>
          <p:cNvSpPr/>
          <p:nvPr/>
        </p:nvSpPr>
        <p:spPr>
          <a:xfrm>
            <a:off x="3327248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5" name="Shape 13"/>
          <p:cNvSpPr/>
          <p:nvPr/>
        </p:nvSpPr>
        <p:spPr>
          <a:xfrm>
            <a:off x="3327248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6" name="Shape 14"/>
          <p:cNvSpPr/>
          <p:nvPr/>
        </p:nvSpPr>
        <p:spPr>
          <a:xfrm>
            <a:off x="3762676" y="2006600"/>
            <a:ext cx="416379" cy="416379"/>
          </a:xfrm>
          <a:prstGeom prst="rect">
            <a:avLst/>
          </a:prstGeom>
          <a:solidFill>
            <a:srgbClr val="A3B7E6"/>
          </a:solidFill>
          <a:ln/>
        </p:spPr>
      </p:sp>
      <p:sp>
        <p:nvSpPr>
          <p:cNvPr id="17" name="Shape 15"/>
          <p:cNvSpPr/>
          <p:nvPr/>
        </p:nvSpPr>
        <p:spPr>
          <a:xfrm>
            <a:off x="3762676" y="2442029"/>
            <a:ext cx="416379" cy="416379"/>
          </a:xfrm>
          <a:prstGeom prst="rect">
            <a:avLst/>
          </a:prstGeom>
          <a:solidFill>
            <a:srgbClr val="E6EBF8"/>
          </a:solidFill>
          <a:ln/>
        </p:spPr>
      </p:sp>
      <p:sp>
        <p:nvSpPr>
          <p:cNvPr id="18" name="Shape 16"/>
          <p:cNvSpPr/>
          <p:nvPr/>
        </p:nvSpPr>
        <p:spPr>
          <a:xfrm>
            <a:off x="3762676" y="2877457"/>
            <a:ext cx="416379" cy="416379"/>
          </a:xfrm>
          <a:prstGeom prst="rect">
            <a:avLst/>
          </a:prstGeom>
          <a:solidFill>
            <a:srgbClr val="5D8BDA"/>
          </a:solidFill>
          <a:ln/>
        </p:spPr>
      </p:sp>
      <p:sp>
        <p:nvSpPr>
          <p:cNvPr id="19" name="Shape 17"/>
          <p:cNvSpPr/>
          <p:nvPr/>
        </p:nvSpPr>
        <p:spPr>
          <a:xfrm>
            <a:off x="3762676" y="3312886"/>
            <a:ext cx="416379" cy="416379"/>
          </a:xfrm>
          <a:prstGeom prst="rect">
            <a:avLst/>
          </a:prstGeom>
          <a:solidFill>
            <a:srgbClr val="90AAE2"/>
          </a:solidFill>
          <a:ln/>
        </p:spPr>
      </p:sp>
      <p:sp>
        <p:nvSpPr>
          <p:cNvPr id="20" name="Shape 18"/>
          <p:cNvSpPr/>
          <p:nvPr/>
        </p:nvSpPr>
        <p:spPr>
          <a:xfrm>
            <a:off x="3762676" y="3748314"/>
            <a:ext cx="416379" cy="416379"/>
          </a:xfrm>
          <a:prstGeom prst="rect">
            <a:avLst/>
          </a:prstGeom>
          <a:solidFill>
            <a:srgbClr val="CFD8F1"/>
          </a:solidFill>
          <a:ln/>
        </p:spPr>
      </p:sp>
      <p:sp>
        <p:nvSpPr>
          <p:cNvPr id="21" name="Shape 19"/>
          <p:cNvSpPr/>
          <p:nvPr/>
        </p:nvSpPr>
        <p:spPr>
          <a:xfrm>
            <a:off x="3762676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2" name="Shape 20"/>
          <p:cNvSpPr/>
          <p:nvPr/>
        </p:nvSpPr>
        <p:spPr>
          <a:xfrm>
            <a:off x="3762676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3" name="Shape 21"/>
          <p:cNvSpPr/>
          <p:nvPr/>
        </p:nvSpPr>
        <p:spPr>
          <a:xfrm>
            <a:off x="4198105" y="2006600"/>
            <a:ext cx="416379" cy="416379"/>
          </a:xfrm>
          <a:prstGeom prst="rect">
            <a:avLst/>
          </a:prstGeom>
          <a:solidFill>
            <a:srgbClr val="B3C3E9"/>
          </a:solidFill>
          <a:ln/>
        </p:spPr>
      </p:sp>
      <p:sp>
        <p:nvSpPr>
          <p:cNvPr id="24" name="Shape 22"/>
          <p:cNvSpPr/>
          <p:nvPr/>
        </p:nvSpPr>
        <p:spPr>
          <a:xfrm>
            <a:off x="4198105" y="2442029"/>
            <a:ext cx="416379" cy="416379"/>
          </a:xfrm>
          <a:prstGeom prst="rect">
            <a:avLst/>
          </a:prstGeom>
          <a:solidFill>
            <a:srgbClr val="7A9CDE"/>
          </a:solidFill>
          <a:ln/>
        </p:spPr>
      </p:sp>
      <p:sp>
        <p:nvSpPr>
          <p:cNvPr id="25" name="Shape 23"/>
          <p:cNvSpPr/>
          <p:nvPr/>
        </p:nvSpPr>
        <p:spPr>
          <a:xfrm>
            <a:off x="4198105" y="2877457"/>
            <a:ext cx="416379" cy="416379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26" name="Shape 24"/>
          <p:cNvSpPr/>
          <p:nvPr/>
        </p:nvSpPr>
        <p:spPr>
          <a:xfrm>
            <a:off x="4198105" y="3312886"/>
            <a:ext cx="416379" cy="416379"/>
          </a:xfrm>
          <a:prstGeom prst="rect">
            <a:avLst/>
          </a:prstGeom>
          <a:solidFill>
            <a:srgbClr val="C2CEED"/>
          </a:solidFill>
          <a:ln/>
        </p:spPr>
      </p:sp>
      <p:sp>
        <p:nvSpPr>
          <p:cNvPr id="27" name="Shape 25"/>
          <p:cNvSpPr/>
          <p:nvPr/>
        </p:nvSpPr>
        <p:spPr>
          <a:xfrm>
            <a:off x="4198105" y="3748314"/>
            <a:ext cx="416379" cy="416379"/>
          </a:xfrm>
          <a:prstGeom prst="rect">
            <a:avLst/>
          </a:prstGeom>
          <a:solidFill>
            <a:srgbClr val="A3B7E6"/>
          </a:solidFill>
          <a:ln/>
        </p:spPr>
      </p:sp>
      <p:sp>
        <p:nvSpPr>
          <p:cNvPr id="28" name="Shape 26"/>
          <p:cNvSpPr/>
          <p:nvPr/>
        </p:nvSpPr>
        <p:spPr>
          <a:xfrm>
            <a:off x="4198105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9" name="Shape 27"/>
          <p:cNvSpPr/>
          <p:nvPr/>
        </p:nvSpPr>
        <p:spPr>
          <a:xfrm>
            <a:off x="4198105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0" name="Shape 28"/>
          <p:cNvSpPr/>
          <p:nvPr/>
        </p:nvSpPr>
        <p:spPr>
          <a:xfrm>
            <a:off x="4633533" y="2006600"/>
            <a:ext cx="416379" cy="41637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633533" y="2442029"/>
            <a:ext cx="416379" cy="416379"/>
          </a:xfrm>
          <a:prstGeom prst="rect">
            <a:avLst/>
          </a:prstGeom>
          <a:solidFill>
            <a:srgbClr val="CFD8F1"/>
          </a:solidFill>
          <a:ln/>
        </p:spPr>
      </p:sp>
      <p:sp>
        <p:nvSpPr>
          <p:cNvPr id="32" name="Shape 30"/>
          <p:cNvSpPr/>
          <p:nvPr/>
        </p:nvSpPr>
        <p:spPr>
          <a:xfrm>
            <a:off x="4633533" y="2877457"/>
            <a:ext cx="416379" cy="416379"/>
          </a:xfrm>
          <a:prstGeom prst="rect">
            <a:avLst/>
          </a:prstGeom>
          <a:solidFill>
            <a:srgbClr val="B3C3E9"/>
          </a:solidFill>
          <a:ln/>
        </p:spPr>
      </p:sp>
      <p:sp>
        <p:nvSpPr>
          <p:cNvPr id="33" name="Shape 31"/>
          <p:cNvSpPr/>
          <p:nvPr/>
        </p:nvSpPr>
        <p:spPr>
          <a:xfrm>
            <a:off x="4633533" y="3312886"/>
            <a:ext cx="416379" cy="416379"/>
          </a:xfrm>
          <a:prstGeom prst="rect">
            <a:avLst/>
          </a:prstGeom>
          <a:solidFill>
            <a:srgbClr val="90AAE2"/>
          </a:solidFill>
          <a:ln/>
        </p:spPr>
      </p:sp>
      <p:sp>
        <p:nvSpPr>
          <p:cNvPr id="34" name="Shape 32"/>
          <p:cNvSpPr/>
          <p:nvPr/>
        </p:nvSpPr>
        <p:spPr>
          <a:xfrm>
            <a:off x="4633533" y="3748314"/>
            <a:ext cx="416379" cy="416379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35" name="Shape 33"/>
          <p:cNvSpPr/>
          <p:nvPr/>
        </p:nvSpPr>
        <p:spPr>
          <a:xfrm>
            <a:off x="4633533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6" name="Shape 34"/>
          <p:cNvSpPr/>
          <p:nvPr/>
        </p:nvSpPr>
        <p:spPr>
          <a:xfrm>
            <a:off x="4633533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7" name="Shape 35"/>
          <p:cNvSpPr/>
          <p:nvPr/>
        </p:nvSpPr>
        <p:spPr>
          <a:xfrm>
            <a:off x="5068962" y="2006600"/>
            <a:ext cx="416379" cy="416379"/>
          </a:xfrm>
          <a:prstGeom prst="rect">
            <a:avLst/>
          </a:prstGeom>
          <a:solidFill>
            <a:srgbClr val="C2CEED"/>
          </a:solidFill>
          <a:ln/>
        </p:spPr>
      </p:sp>
      <p:sp>
        <p:nvSpPr>
          <p:cNvPr id="38" name="Shape 36"/>
          <p:cNvSpPr/>
          <p:nvPr/>
        </p:nvSpPr>
        <p:spPr>
          <a:xfrm>
            <a:off x="5068962" y="2442029"/>
            <a:ext cx="416379" cy="416379"/>
          </a:xfrm>
          <a:prstGeom prst="rect">
            <a:avLst/>
          </a:prstGeom>
          <a:solidFill>
            <a:srgbClr val="A3B7E6"/>
          </a:solidFill>
          <a:ln/>
        </p:spPr>
      </p:sp>
      <p:sp>
        <p:nvSpPr>
          <p:cNvPr id="39" name="Text 37"/>
          <p:cNvSpPr/>
          <p:nvPr/>
        </p:nvSpPr>
        <p:spPr>
          <a:xfrm>
            <a:off x="2946248" y="5118100"/>
            <a:ext cx="330200" cy="3483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3327248" y="5118100"/>
            <a:ext cx="348343" cy="348343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1" name="Shape 39"/>
          <p:cNvSpPr/>
          <p:nvPr/>
        </p:nvSpPr>
        <p:spPr>
          <a:xfrm>
            <a:off x="3688290" y="5118100"/>
            <a:ext cx="348343" cy="348343"/>
          </a:xfrm>
          <a:prstGeom prst="rect">
            <a:avLst/>
          </a:prstGeom>
          <a:solidFill>
            <a:srgbClr val="E7ECF8"/>
          </a:solidFill>
          <a:ln/>
        </p:spPr>
      </p:sp>
      <p:sp>
        <p:nvSpPr>
          <p:cNvPr id="42" name="Shape 40"/>
          <p:cNvSpPr/>
          <p:nvPr/>
        </p:nvSpPr>
        <p:spPr>
          <a:xfrm>
            <a:off x="4049333" y="5118100"/>
            <a:ext cx="348343" cy="348343"/>
          </a:xfrm>
          <a:prstGeom prst="rect">
            <a:avLst/>
          </a:prstGeom>
          <a:solidFill>
            <a:srgbClr val="DDE4F5"/>
          </a:solidFill>
          <a:ln/>
        </p:spPr>
      </p:sp>
      <p:sp>
        <p:nvSpPr>
          <p:cNvPr id="43" name="Shape 41"/>
          <p:cNvSpPr/>
          <p:nvPr/>
        </p:nvSpPr>
        <p:spPr>
          <a:xfrm>
            <a:off x="4410376" y="5118100"/>
            <a:ext cx="348343" cy="348343"/>
          </a:xfrm>
          <a:prstGeom prst="rect">
            <a:avLst/>
          </a:prstGeom>
          <a:solidFill>
            <a:srgbClr val="D2DBF2"/>
          </a:solidFill>
          <a:ln/>
        </p:spPr>
      </p:sp>
      <p:sp>
        <p:nvSpPr>
          <p:cNvPr id="44" name="Shape 42"/>
          <p:cNvSpPr/>
          <p:nvPr/>
        </p:nvSpPr>
        <p:spPr>
          <a:xfrm>
            <a:off x="4771419" y="5118100"/>
            <a:ext cx="348343" cy="348343"/>
          </a:xfrm>
          <a:prstGeom prst="rect">
            <a:avLst/>
          </a:prstGeom>
          <a:solidFill>
            <a:srgbClr val="C7D2EE"/>
          </a:solidFill>
          <a:ln/>
        </p:spPr>
      </p:sp>
      <p:sp>
        <p:nvSpPr>
          <p:cNvPr id="45" name="Shape 43"/>
          <p:cNvSpPr/>
          <p:nvPr/>
        </p:nvSpPr>
        <p:spPr>
          <a:xfrm>
            <a:off x="5132462" y="5118100"/>
            <a:ext cx="348343" cy="348343"/>
          </a:xfrm>
          <a:prstGeom prst="rect">
            <a:avLst/>
          </a:prstGeom>
          <a:solidFill>
            <a:srgbClr val="BAC8EB"/>
          </a:solidFill>
          <a:ln/>
        </p:spPr>
      </p:sp>
      <p:sp>
        <p:nvSpPr>
          <p:cNvPr id="46" name="Shape 44"/>
          <p:cNvSpPr/>
          <p:nvPr/>
        </p:nvSpPr>
        <p:spPr>
          <a:xfrm>
            <a:off x="5493505" y="5118100"/>
            <a:ext cx="348343" cy="348343"/>
          </a:xfrm>
          <a:prstGeom prst="rect">
            <a:avLst/>
          </a:prstGeom>
          <a:solidFill>
            <a:srgbClr val="ACBEE8"/>
          </a:solidFill>
          <a:ln/>
        </p:spPr>
      </p:sp>
      <p:sp>
        <p:nvSpPr>
          <p:cNvPr id="47" name="Shape 45"/>
          <p:cNvSpPr/>
          <p:nvPr/>
        </p:nvSpPr>
        <p:spPr>
          <a:xfrm>
            <a:off x="5854548" y="5118100"/>
            <a:ext cx="348343" cy="348343"/>
          </a:xfrm>
          <a:prstGeom prst="rect">
            <a:avLst/>
          </a:prstGeom>
          <a:solidFill>
            <a:srgbClr val="9CB3E4"/>
          </a:solidFill>
          <a:ln/>
        </p:spPr>
      </p:sp>
      <p:sp>
        <p:nvSpPr>
          <p:cNvPr id="48" name="Shape 46"/>
          <p:cNvSpPr/>
          <p:nvPr/>
        </p:nvSpPr>
        <p:spPr>
          <a:xfrm>
            <a:off x="6215590" y="5118100"/>
            <a:ext cx="348343" cy="348343"/>
          </a:xfrm>
          <a:prstGeom prst="rect">
            <a:avLst/>
          </a:prstGeom>
          <a:solidFill>
            <a:srgbClr val="8BA6E1"/>
          </a:solidFill>
          <a:ln/>
        </p:spPr>
      </p:sp>
      <p:sp>
        <p:nvSpPr>
          <p:cNvPr id="49" name="Shape 47"/>
          <p:cNvSpPr/>
          <p:nvPr/>
        </p:nvSpPr>
        <p:spPr>
          <a:xfrm>
            <a:off x="6576633" y="5118100"/>
            <a:ext cx="348343" cy="348343"/>
          </a:xfrm>
          <a:prstGeom prst="rect">
            <a:avLst/>
          </a:prstGeom>
          <a:solidFill>
            <a:srgbClr val="7599DD"/>
          </a:solidFill>
          <a:ln/>
        </p:spPr>
      </p:sp>
      <p:sp>
        <p:nvSpPr>
          <p:cNvPr id="50" name="Shape 48"/>
          <p:cNvSpPr/>
          <p:nvPr/>
        </p:nvSpPr>
        <p:spPr>
          <a:xfrm>
            <a:off x="6937676" y="5118100"/>
            <a:ext cx="348343" cy="348343"/>
          </a:xfrm>
          <a:prstGeom prst="rect">
            <a:avLst/>
          </a:prstGeom>
          <a:solidFill>
            <a:srgbClr val="598ADA"/>
          </a:solidFill>
          <a:ln/>
        </p:spPr>
      </p:sp>
      <p:sp>
        <p:nvSpPr>
          <p:cNvPr id="51" name="Shape 49"/>
          <p:cNvSpPr/>
          <p:nvPr/>
        </p:nvSpPr>
        <p:spPr>
          <a:xfrm>
            <a:off x="7298719" y="5118100"/>
            <a:ext cx="348343" cy="3483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Text 50"/>
          <p:cNvSpPr/>
          <p:nvPr/>
        </p:nvSpPr>
        <p:spPr>
          <a:xfrm>
            <a:off x="7685162" y="5118100"/>
            <a:ext cx="381000" cy="3483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More</a:t>
            </a:r>
            <a:endParaRPr lang="en-US" sz="8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with stacked flanks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Text 2"/>
          <p:cNvSpPr/>
          <p:nvPr/>
        </p:nvSpPr>
        <p:spPr>
          <a:xfrm>
            <a:off x="3606648" y="1803400"/>
            <a:ext cx="6248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 FT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30768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" name="Text 4"/>
          <p:cNvSpPr/>
          <p:nvPr/>
        </p:nvSpPr>
        <p:spPr>
          <a:xfrm>
            <a:off x="4434688" y="1803400"/>
            <a:ext cx="6248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 PT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135728" y="18478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8" name="Text 6"/>
          <p:cNvSpPr/>
          <p:nvPr/>
        </p:nvSpPr>
        <p:spPr>
          <a:xfrm>
            <a:off x="5262728" y="1803400"/>
            <a:ext cx="48768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 FT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826608" y="1847850"/>
            <a:ext cx="88900" cy="8890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0" name="Text 8"/>
          <p:cNvSpPr/>
          <p:nvPr/>
        </p:nvSpPr>
        <p:spPr>
          <a:xfrm>
            <a:off x="5953608" y="1803400"/>
            <a:ext cx="48768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 PT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848198" y="226187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196846" y="2140373"/>
            <a:ext cx="65135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5196846" y="2261870"/>
            <a:ext cx="65135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04709" y="2140373"/>
            <a:ext cx="592138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" name="Text 13"/>
          <p:cNvSpPr/>
          <p:nvPr/>
        </p:nvSpPr>
        <p:spPr>
          <a:xfrm>
            <a:off x="4604709" y="2261870"/>
            <a:ext cx="5921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343498" y="2140373"/>
            <a:ext cx="710565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7" name="Text 15"/>
          <p:cNvSpPr/>
          <p:nvPr/>
        </p:nvSpPr>
        <p:spPr>
          <a:xfrm>
            <a:off x="6343498" y="2261870"/>
            <a:ext cx="71056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054063" y="2140373"/>
            <a:ext cx="414496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9" name="Text 17"/>
          <p:cNvSpPr/>
          <p:nvPr/>
        </p:nvSpPr>
        <p:spPr>
          <a:xfrm>
            <a:off x="7054063" y="2261870"/>
            <a:ext cx="41449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848198" y="291211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41564" y="2790613"/>
            <a:ext cx="1006634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4841564" y="2912110"/>
            <a:ext cx="100663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042178" y="2790613"/>
            <a:ext cx="799386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4042178" y="2912110"/>
            <a:ext cx="79938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343498" y="2790613"/>
            <a:ext cx="1243489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" name="Text 24"/>
          <p:cNvSpPr/>
          <p:nvPr/>
        </p:nvSpPr>
        <p:spPr>
          <a:xfrm>
            <a:off x="6343498" y="291211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586986" y="2790613"/>
            <a:ext cx="680958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28" name="Text 26"/>
          <p:cNvSpPr/>
          <p:nvPr/>
        </p:nvSpPr>
        <p:spPr>
          <a:xfrm>
            <a:off x="7586986" y="2912110"/>
            <a:ext cx="68095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230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848198" y="356235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959991" y="3440853"/>
            <a:ext cx="888206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Text 29"/>
          <p:cNvSpPr/>
          <p:nvPr/>
        </p:nvSpPr>
        <p:spPr>
          <a:xfrm>
            <a:off x="4959991" y="3562350"/>
            <a:ext cx="8882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249426" y="3440853"/>
            <a:ext cx="710565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3" name="Text 31"/>
          <p:cNvSpPr/>
          <p:nvPr/>
        </p:nvSpPr>
        <p:spPr>
          <a:xfrm>
            <a:off x="4249426" y="3562350"/>
            <a:ext cx="71056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343498" y="3440853"/>
            <a:ext cx="1184275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" name="Text 33"/>
          <p:cNvSpPr/>
          <p:nvPr/>
        </p:nvSpPr>
        <p:spPr>
          <a:xfrm>
            <a:off x="6343498" y="3562350"/>
            <a:ext cx="118427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527773" y="3440853"/>
            <a:ext cx="592138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37" name="Text 35"/>
          <p:cNvSpPr/>
          <p:nvPr/>
        </p:nvSpPr>
        <p:spPr>
          <a:xfrm>
            <a:off x="7527773" y="3562350"/>
            <a:ext cx="5921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848198" y="421259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315274" y="4091093"/>
            <a:ext cx="532924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Text 38"/>
          <p:cNvSpPr/>
          <p:nvPr/>
        </p:nvSpPr>
        <p:spPr>
          <a:xfrm>
            <a:off x="5315274" y="4212590"/>
            <a:ext cx="53292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180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900778" y="4091093"/>
            <a:ext cx="414496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42" name="Text 40"/>
          <p:cNvSpPr/>
          <p:nvPr/>
        </p:nvSpPr>
        <p:spPr>
          <a:xfrm>
            <a:off x="4900778" y="4212590"/>
            <a:ext cx="41449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6343498" y="4091093"/>
            <a:ext cx="828992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44" name="Text 42"/>
          <p:cNvSpPr/>
          <p:nvPr/>
        </p:nvSpPr>
        <p:spPr>
          <a:xfrm>
            <a:off x="6343498" y="4212590"/>
            <a:ext cx="82899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280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7172490" y="4091093"/>
            <a:ext cx="384889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46" name="Text 44"/>
          <p:cNvSpPr/>
          <p:nvPr/>
        </p:nvSpPr>
        <p:spPr>
          <a:xfrm>
            <a:off x="7172490" y="4212590"/>
            <a:ext cx="3848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130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848198" y="486283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5670556" y="4741333"/>
            <a:ext cx="17764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492915" y="4741333"/>
            <a:ext cx="177641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0" name="Shape 48"/>
          <p:cNvSpPr/>
          <p:nvPr/>
        </p:nvSpPr>
        <p:spPr>
          <a:xfrm>
            <a:off x="6343498" y="4741333"/>
            <a:ext cx="325676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51" name="Text 49"/>
          <p:cNvSpPr/>
          <p:nvPr/>
        </p:nvSpPr>
        <p:spPr>
          <a:xfrm>
            <a:off x="6343498" y="4862830"/>
            <a:ext cx="3256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6669173" y="4741333"/>
            <a:ext cx="148034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53" name="Shape 51"/>
          <p:cNvSpPr/>
          <p:nvPr/>
        </p:nvSpPr>
        <p:spPr>
          <a:xfrm>
            <a:off x="58481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3434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with per-spoke scales (mixed KPIs)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757652" y="3314700"/>
            <a:ext cx="676391" cy="643286"/>
          </a:xfrm>
          <a:custGeom>
            <a:avLst/>
            <a:gdLst/>
            <a:ahLst/>
            <a:cxnLst/>
            <a:rect l="l" t="t" r="r" b="b"/>
            <a:pathLst>
              <a:path w="676391" h="643286">
                <a:moveTo>
                  <a:pt x="338196" y="0"/>
                </a:moveTo>
                <a:lnTo>
                  <a:pt x="676391" y="245714"/>
                </a:lnTo>
                <a:lnTo>
                  <a:pt x="547212" y="643286"/>
                </a:lnTo>
                <a:lnTo>
                  <a:pt x="129179" y="643286"/>
                </a:lnTo>
                <a:lnTo>
                  <a:pt x="0" y="245714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19456" y="2959100"/>
            <a:ext cx="1352783" cy="1286573"/>
          </a:xfrm>
          <a:custGeom>
            <a:avLst/>
            <a:gdLst/>
            <a:ahLst/>
            <a:cxnLst/>
            <a:rect l="l" t="t" r="r" b="b"/>
            <a:pathLst>
              <a:path w="1352783" h="1286573">
                <a:moveTo>
                  <a:pt x="676391" y="0"/>
                </a:moveTo>
                <a:lnTo>
                  <a:pt x="1352783" y="491427"/>
                </a:lnTo>
                <a:lnTo>
                  <a:pt x="1094424" y="1286573"/>
                </a:lnTo>
                <a:lnTo>
                  <a:pt x="258359" y="1286573"/>
                </a:lnTo>
                <a:lnTo>
                  <a:pt x="0" y="491427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81261" y="2603500"/>
            <a:ext cx="2029174" cy="1929859"/>
          </a:xfrm>
          <a:custGeom>
            <a:avLst/>
            <a:gdLst/>
            <a:ahLst/>
            <a:cxnLst/>
            <a:rect l="l" t="t" r="r" b="b"/>
            <a:pathLst>
              <a:path w="2029174" h="1929859">
                <a:moveTo>
                  <a:pt x="1014587" y="0"/>
                </a:moveTo>
                <a:lnTo>
                  <a:pt x="2029174" y="737141"/>
                </a:lnTo>
                <a:lnTo>
                  <a:pt x="1641636" y="1929859"/>
                </a:lnTo>
                <a:lnTo>
                  <a:pt x="387538" y="1929859"/>
                </a:lnTo>
                <a:lnTo>
                  <a:pt x="0" y="737141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43065" y="2247900"/>
            <a:ext cx="2705566" cy="2573146"/>
          </a:xfrm>
          <a:custGeom>
            <a:avLst/>
            <a:gdLst/>
            <a:ahLst/>
            <a:cxnLst/>
            <a:rect l="l" t="t" r="r" b="b"/>
            <a:pathLst>
              <a:path w="2705566" h="2573146">
                <a:moveTo>
                  <a:pt x="1352783" y="0"/>
                </a:moveTo>
                <a:lnTo>
                  <a:pt x="2705566" y="982854"/>
                </a:lnTo>
                <a:lnTo>
                  <a:pt x="2188849" y="2573146"/>
                </a:lnTo>
                <a:lnTo>
                  <a:pt x="516717" y="2573146"/>
                </a:lnTo>
                <a:lnTo>
                  <a:pt x="0" y="982854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27548" y="1993900"/>
            <a:ext cx="73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 $m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V="1">
            <a:off x="6095848" y="3230754"/>
            <a:ext cx="1352783" cy="4395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21101" y="3118307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95848" y="3670300"/>
            <a:ext cx="836066" cy="11507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76703" y="4793793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 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V="1">
            <a:off x="5259782" y="3670300"/>
            <a:ext cx="836066" cy="11507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46973" y="4793793"/>
            <a:ext cx="6680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Headcount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743065" y="3230754"/>
            <a:ext cx="1352783" cy="4395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071154" y="3118307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Uptime 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49849" y="2569087"/>
            <a:ext cx="2379033" cy="2251959"/>
          </a:xfrm>
          <a:custGeom>
            <a:avLst/>
            <a:gdLst/>
            <a:ahLst/>
            <a:cxnLst/>
            <a:rect l="l" t="t" r="r" b="b"/>
            <a:pathLst>
              <a:path w="2379033" h="2251959">
                <a:moveTo>
                  <a:pt x="1345999" y="0"/>
                </a:moveTo>
                <a:lnTo>
                  <a:pt x="2379033" y="765560"/>
                </a:lnTo>
                <a:lnTo>
                  <a:pt x="2182064" y="2251959"/>
                </a:lnTo>
                <a:lnTo>
                  <a:pt x="652676" y="2055490"/>
                </a:lnTo>
                <a:lnTo>
                  <a:pt x="0" y="663871"/>
                </a:lnTo>
                <a:close/>
              </a:path>
            </a:pathLst>
          </a:custGeom>
          <a:solidFill>
            <a:srgbClr val="2A78D6">
              <a:alpha val="18000"/>
            </a:srgbClr>
          </a:solidFill>
          <a:ln w="2032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65368" y="2538607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098402" y="3304167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901433" y="4790566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2045" y="4594097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19369" y="3202479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43065" y="2247900"/>
            <a:ext cx="2705566" cy="2573146"/>
          </a:xfrm>
          <a:custGeom>
            <a:avLst/>
            <a:gdLst/>
            <a:ahLst/>
            <a:cxnLst/>
            <a:rect l="l" t="t" r="r" b="b"/>
            <a:pathLst>
              <a:path w="2705566" h="2573146">
                <a:moveTo>
                  <a:pt x="1352783" y="0"/>
                </a:moveTo>
                <a:lnTo>
                  <a:pt x="2705566" y="982854"/>
                </a:lnTo>
                <a:lnTo>
                  <a:pt x="1875324" y="2141616"/>
                </a:lnTo>
                <a:lnTo>
                  <a:pt x="516717" y="2573146"/>
                </a:lnTo>
                <a:lnTo>
                  <a:pt x="0" y="982854"/>
                </a:lnTo>
                <a:close/>
              </a:path>
            </a:pathLst>
          </a:custGeom>
          <a:solidFill>
            <a:srgbClr val="1BAF7A">
              <a:alpha val="18000"/>
            </a:srgbClr>
          </a:solidFill>
          <a:ln w="20320">
            <a:solidFill>
              <a:srgbClr val="1BAF7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065368" y="221742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18150" y="3200274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87909" y="4359036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229302" y="4790566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712585" y="3200274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8"/>
          <p:cNvSpPr/>
          <p:nvPr/>
        </p:nvSpPr>
        <p:spPr>
          <a:xfrm>
            <a:off x="317484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60156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2" name="Text 30"/>
          <p:cNvSpPr/>
          <p:nvPr/>
        </p:nvSpPr>
        <p:spPr>
          <a:xfrm>
            <a:off x="372856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Missing-data bridge (bridgeGaps)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46532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82524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18516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54508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309804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139961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970118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800274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630431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864246" y="37947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3894726" y="2865120"/>
            <a:ext cx="1660313" cy="9601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524559" y="283464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55039" y="2865120"/>
            <a:ext cx="1660313" cy="32004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184873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7215353" y="2033016"/>
            <a:ext cx="830157" cy="11521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015029" y="20025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511388" y="194729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Signups</a:t>
            </a:r>
            <a:endParaRPr lang="en-US" sz="10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Floating range columns (transparent base)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54373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35498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16623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03435" y="2705100"/>
            <a:ext cx="920750" cy="16002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52635" y="340995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84560" y="2545080"/>
            <a:ext cx="920750" cy="14401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33760" y="316992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65685" y="2225040"/>
            <a:ext cx="920750" cy="19202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14885" y="308991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446810" y="2385060"/>
            <a:ext cx="920750" cy="128016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6010" y="292989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073248" y="5105400"/>
            <a:ext cx="55245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48548" y="2939415"/>
            <a:ext cx="4953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Range</a:t>
            </a:r>
            <a:endParaRPr lang="en-US" sz="100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waterfall bridge + %-of-total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765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798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0831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0864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0897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End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0464" y="2971800"/>
            <a:ext cx="668867" cy="21336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164264" y="394335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909331" y="297180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4243764" y="2545080"/>
            <a:ext cx="668867" cy="4267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167564" y="266319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12631" y="254508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5247064" y="2545080"/>
            <a:ext cx="668867" cy="320040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6" name="Text 14"/>
          <p:cNvSpPr/>
          <p:nvPr/>
        </p:nvSpPr>
        <p:spPr>
          <a:xfrm>
            <a:off x="5170864" y="260985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15931" y="286512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6250364" y="2331720"/>
            <a:ext cx="668867" cy="5334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6174164" y="250317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+25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919231" y="233172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253664" y="2331720"/>
            <a:ext cx="668867" cy="213360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77464" y="234315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22531" y="254508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8256964" y="2545080"/>
            <a:ext cx="668867" cy="256032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8180764" y="372999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1844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9118448" y="437642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9118448" y="373634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9118448" y="309626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9118448" y="245618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9118448" y="1816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544418" y="251460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193898" y="233553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3574898" y="2417064"/>
            <a:ext cx="1003300" cy="1280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547718" y="2386584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197198" y="220751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8198" y="2417064"/>
            <a:ext cx="1003300" cy="2560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551018" y="2642616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200498" y="246354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V="1">
            <a:off x="5581498" y="2289048"/>
            <a:ext cx="1003300" cy="38404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554318" y="225856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203798" y="207949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6584798" y="2289048"/>
            <a:ext cx="1003300" cy="19202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557618" y="2450592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207098" y="227152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 flipV="1">
            <a:off x="7588098" y="2353056"/>
            <a:ext cx="1003300" cy="1280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560918" y="2322576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210398" y="214350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43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9143848" y="2149856"/>
            <a:ext cx="457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268980"/>
            <a:ext cx="1589741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047848" y="409194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073248" y="2044700"/>
            <a:ext cx="1589741" cy="12242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256159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22448" y="186055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88389" y="3137807"/>
            <a:ext cx="2225638" cy="196759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62989" y="4026354"/>
            <a:ext cx="22764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88389" y="2044700"/>
            <a:ext cx="2225638" cy="1093107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62989" y="2496004"/>
            <a:ext cx="22764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637589" y="1860550"/>
            <a:ext cx="232723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939426" y="3881120"/>
            <a:ext cx="1589741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914026" y="439801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939426" y="2044700"/>
            <a:ext cx="1589741" cy="18364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914026" y="286766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888626" y="186055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Mekko base + overlaid line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022448" y="514350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(29%)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637589" y="5143500"/>
            <a:ext cx="232723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(41%)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888626" y="514350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(29%)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073248" y="5105400"/>
            <a:ext cx="54559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79968" y="287718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 B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579968" y="440753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 A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55456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554568" y="4251325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554568" y="348615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554568" y="2720975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554568" y="19558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837638" y="270287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487118" y="252380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3868118" y="2427288"/>
            <a:ext cx="1933089" cy="30607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770728" y="239680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20208" y="221773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801208" y="2427288"/>
            <a:ext cx="1933089" cy="956469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703817" y="3353276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353297" y="317420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579968" y="3180556"/>
            <a:ext cx="5638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 %</a:t>
            </a:r>
            <a:endParaRPr lang="en-US" sz="10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independent line axes (mixed KPIs)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20083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66918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113753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7720" y="5041392"/>
            <a:ext cx="897890" cy="6400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644555" y="5028590"/>
            <a:ext cx="897890" cy="7681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91390" y="5033391"/>
            <a:ext cx="897890" cy="7200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38225" y="5009388"/>
            <a:ext cx="897890" cy="9601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073248" y="5105400"/>
            <a:ext cx="53873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511388" y="493395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6185" y="50749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65665" y="48958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V="1">
            <a:off x="3746665" y="3505200"/>
            <a:ext cx="1346835" cy="16002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63020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12500" y="32956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93500" y="3505200"/>
            <a:ext cx="1346835" cy="3200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9855" y="379476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059335" y="361569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 flipV="1">
            <a:off x="6440335" y="2438400"/>
            <a:ext cx="1346835" cy="13868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756690" y="24079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06170" y="22288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511388" y="2235200"/>
            <a:ext cx="6324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716185" y="507492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365665" y="48958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1,200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 flipV="1">
            <a:off x="3746665" y="3905250"/>
            <a:ext cx="1346835" cy="120015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63020" y="387477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12500" y="36957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1,500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093500" y="3905250"/>
            <a:ext cx="1346835" cy="40005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09855" y="427482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059335" y="40957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1,400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V="1">
            <a:off x="6440335" y="2305050"/>
            <a:ext cx="1346835" cy="200025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56690" y="227457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406170" y="20955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1,900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8511388" y="2032000"/>
            <a:ext cx="6324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Orders k</a:t>
            </a:r>
            <a:endParaRPr lang="en-US" sz="10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Hexagonal tile map (US)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152384" y="182880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22386" y="182880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27586" y="182880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397588" y="182880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708240" y="221839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78243" y="221839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8187804" y="221839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157806" y="221839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667368" y="221839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DFE6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37370" y="2283555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637370" y="2442305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3631948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D8E0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01950" y="267315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601950" y="283190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1512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081514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91076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61078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070639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40641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550203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520205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029767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99769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509331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79333" y="267315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479333" y="283190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468458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96AEE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438461" y="267315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438461" y="283190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7948022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918024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8427586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97588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871730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841732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351294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321296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830857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00860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310421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280423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789985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759987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6269549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CFD9F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239551" y="3062751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6239551" y="3221501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6749113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719115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7228677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DDE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198679" y="3062751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7198679" y="3221501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7708240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CAD5E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678243" y="3062751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7678243" y="3221501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8187804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157806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3152384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122386" y="3452349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3122386" y="3611099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3631948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601950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111512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081514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91076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9EEF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561078" y="3452349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4561078" y="3611099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5070639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5040641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5550203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5520205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6029767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5999769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6509331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6479333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6988895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6958897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7468458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7438461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7948022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7918024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4351294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EF1F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321296" y="3841947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1000" dirty="0"/>
          </a:p>
        </p:txBody>
      </p:sp>
      <p:sp>
        <p:nvSpPr>
          <p:cNvPr id="86" name="Text 84"/>
          <p:cNvSpPr/>
          <p:nvPr/>
        </p:nvSpPr>
        <p:spPr>
          <a:xfrm>
            <a:off x="4321296" y="4000697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800" dirty="0"/>
          </a:p>
        </p:txBody>
      </p:sp>
      <p:sp>
        <p:nvSpPr>
          <p:cNvPr id="87" name="Shape 85"/>
          <p:cNvSpPr/>
          <p:nvPr/>
        </p:nvSpPr>
        <p:spPr>
          <a:xfrm>
            <a:off x="4830857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4800860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5310421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280423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5789985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5759987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6269549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6239551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6749113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8EDF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6719115" y="3841947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1000" dirty="0"/>
          </a:p>
        </p:txBody>
      </p:sp>
      <p:sp>
        <p:nvSpPr>
          <p:cNvPr id="97" name="Text 95"/>
          <p:cNvSpPr/>
          <p:nvPr/>
        </p:nvSpPr>
        <p:spPr>
          <a:xfrm>
            <a:off x="6719115" y="4000697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800" dirty="0"/>
          </a:p>
        </p:txBody>
      </p:sp>
      <p:sp>
        <p:nvSpPr>
          <p:cNvPr id="98" name="Shape 96"/>
          <p:cNvSpPr/>
          <p:nvPr/>
        </p:nvSpPr>
        <p:spPr>
          <a:xfrm>
            <a:off x="7228677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F1F4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7198679" y="3841947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1000" dirty="0"/>
          </a:p>
        </p:txBody>
      </p:sp>
      <p:sp>
        <p:nvSpPr>
          <p:cNvPr id="100" name="Text 98"/>
          <p:cNvSpPr/>
          <p:nvPr/>
        </p:nvSpPr>
        <p:spPr>
          <a:xfrm>
            <a:off x="7198679" y="4000697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00" dirty="0"/>
          </a:p>
        </p:txBody>
      </p:sp>
      <p:sp>
        <p:nvSpPr>
          <p:cNvPr id="101" name="Shape 99"/>
          <p:cNvSpPr/>
          <p:nvPr/>
        </p:nvSpPr>
        <p:spPr>
          <a:xfrm>
            <a:off x="4591076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87A4E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4561078" y="4231545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1000" dirty="0"/>
          </a:p>
        </p:txBody>
      </p:sp>
      <p:sp>
        <p:nvSpPr>
          <p:cNvPr id="103" name="Text 101"/>
          <p:cNvSpPr/>
          <p:nvPr/>
        </p:nvSpPr>
        <p:spPr>
          <a:xfrm>
            <a:off x="4561078" y="4390295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800" dirty="0"/>
          </a:p>
        </p:txBody>
      </p:sp>
      <p:sp>
        <p:nvSpPr>
          <p:cNvPr id="104" name="Shape 102"/>
          <p:cNvSpPr/>
          <p:nvPr/>
        </p:nvSpPr>
        <p:spPr>
          <a:xfrm>
            <a:off x="5070639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5040641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1000" dirty="0"/>
          </a:p>
        </p:txBody>
      </p:sp>
      <p:sp>
        <p:nvSpPr>
          <p:cNvPr id="106" name="Shape 104"/>
          <p:cNvSpPr/>
          <p:nvPr/>
        </p:nvSpPr>
        <p:spPr>
          <a:xfrm>
            <a:off x="5550203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5520205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1000" dirty="0"/>
          </a:p>
        </p:txBody>
      </p:sp>
      <p:sp>
        <p:nvSpPr>
          <p:cNvPr id="108" name="Shape 106"/>
          <p:cNvSpPr/>
          <p:nvPr/>
        </p:nvSpPr>
        <p:spPr>
          <a:xfrm>
            <a:off x="6029767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5999769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1000" dirty="0"/>
          </a:p>
        </p:txBody>
      </p:sp>
      <p:sp>
        <p:nvSpPr>
          <p:cNvPr id="110" name="Shape 108"/>
          <p:cNvSpPr/>
          <p:nvPr/>
        </p:nvSpPr>
        <p:spPr>
          <a:xfrm>
            <a:off x="6509331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CF0F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6479333" y="4231545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1000" dirty="0"/>
          </a:p>
        </p:txBody>
      </p:sp>
      <p:sp>
        <p:nvSpPr>
          <p:cNvPr id="112" name="Text 110"/>
          <p:cNvSpPr/>
          <p:nvPr/>
        </p:nvSpPr>
        <p:spPr>
          <a:xfrm>
            <a:off x="6479333" y="4390295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800" dirty="0"/>
          </a:p>
        </p:txBody>
      </p:sp>
      <p:sp>
        <p:nvSpPr>
          <p:cNvPr id="113" name="Shape 111"/>
          <p:cNvSpPr/>
          <p:nvPr/>
        </p:nvSpPr>
        <p:spPr>
          <a:xfrm>
            <a:off x="6988895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6958897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1000" dirty="0"/>
          </a:p>
        </p:txBody>
      </p:sp>
      <p:sp>
        <p:nvSpPr>
          <p:cNvPr id="115" name="Shape 113"/>
          <p:cNvSpPr/>
          <p:nvPr/>
        </p:nvSpPr>
        <p:spPr>
          <a:xfrm>
            <a:off x="3392166" y="455598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3362168" y="455598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6749113" y="455598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AEC0E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6719115" y="462114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1000" dirty="0"/>
          </a:p>
        </p:txBody>
      </p:sp>
      <p:sp>
        <p:nvSpPr>
          <p:cNvPr id="119" name="Text 117"/>
          <p:cNvSpPr/>
          <p:nvPr/>
        </p:nvSpPr>
        <p:spPr>
          <a:xfrm>
            <a:off x="6719115" y="477989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800" dirty="0"/>
          </a:p>
        </p:txBody>
      </p:sp>
      <p:sp>
        <p:nvSpPr>
          <p:cNvPr id="120" name="Shape 118"/>
          <p:cNvSpPr/>
          <p:nvPr/>
        </p:nvSpPr>
        <p:spPr>
          <a:xfrm>
            <a:off x="3122386" y="506730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21" name="Shape 119"/>
          <p:cNvSpPr/>
          <p:nvPr/>
        </p:nvSpPr>
        <p:spPr>
          <a:xfrm>
            <a:off x="3185886" y="506730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3249386" y="506730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123" name="Shape 121"/>
          <p:cNvSpPr/>
          <p:nvPr/>
        </p:nvSpPr>
        <p:spPr>
          <a:xfrm>
            <a:off x="3312886" y="506730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24" name="Shape 122"/>
          <p:cNvSpPr/>
          <p:nvPr/>
        </p:nvSpPr>
        <p:spPr>
          <a:xfrm>
            <a:off x="3376386" y="506730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25" name="Shape 123"/>
          <p:cNvSpPr/>
          <p:nvPr/>
        </p:nvSpPr>
        <p:spPr>
          <a:xfrm>
            <a:off x="3439886" y="506730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26" name="Shape 124"/>
          <p:cNvSpPr/>
          <p:nvPr/>
        </p:nvSpPr>
        <p:spPr>
          <a:xfrm>
            <a:off x="3503386" y="506730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27" name="Shape 125"/>
          <p:cNvSpPr/>
          <p:nvPr/>
        </p:nvSpPr>
        <p:spPr>
          <a:xfrm>
            <a:off x="3566886" y="506730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28" name="Shape 126"/>
          <p:cNvSpPr/>
          <p:nvPr/>
        </p:nvSpPr>
        <p:spPr>
          <a:xfrm>
            <a:off x="3630386" y="506730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29" name="Shape 127"/>
          <p:cNvSpPr/>
          <p:nvPr/>
        </p:nvSpPr>
        <p:spPr>
          <a:xfrm>
            <a:off x="3693886" y="506730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30" name="Shape 128"/>
          <p:cNvSpPr/>
          <p:nvPr/>
        </p:nvSpPr>
        <p:spPr>
          <a:xfrm>
            <a:off x="3757386" y="506730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31" name="Shape 129"/>
          <p:cNvSpPr/>
          <p:nvPr/>
        </p:nvSpPr>
        <p:spPr>
          <a:xfrm>
            <a:off x="3820886" y="506730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3884386" y="506730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33" name="Shape 131"/>
          <p:cNvSpPr/>
          <p:nvPr/>
        </p:nvSpPr>
        <p:spPr>
          <a:xfrm>
            <a:off x="3947886" y="506730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011386" y="506730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074886" y="506730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36" name="Shape 134"/>
          <p:cNvSpPr/>
          <p:nvPr/>
        </p:nvSpPr>
        <p:spPr>
          <a:xfrm>
            <a:off x="4138386" y="506730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37" name="Shape 135"/>
          <p:cNvSpPr/>
          <p:nvPr/>
        </p:nvSpPr>
        <p:spPr>
          <a:xfrm>
            <a:off x="4201886" y="506730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38" name="Shape 136"/>
          <p:cNvSpPr/>
          <p:nvPr/>
        </p:nvSpPr>
        <p:spPr>
          <a:xfrm>
            <a:off x="4265386" y="506730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39" name="Shape 137"/>
          <p:cNvSpPr/>
          <p:nvPr/>
        </p:nvSpPr>
        <p:spPr>
          <a:xfrm>
            <a:off x="4328886" y="506730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40" name="Shape 138"/>
          <p:cNvSpPr/>
          <p:nvPr/>
        </p:nvSpPr>
        <p:spPr>
          <a:xfrm>
            <a:off x="4392386" y="506730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41" name="Shape 139"/>
          <p:cNvSpPr/>
          <p:nvPr/>
        </p:nvSpPr>
        <p:spPr>
          <a:xfrm>
            <a:off x="4455886" y="506730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4519386" y="506730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43" name="Shape 141"/>
          <p:cNvSpPr/>
          <p:nvPr/>
        </p:nvSpPr>
        <p:spPr>
          <a:xfrm>
            <a:off x="4582886" y="506730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4" name="Text 142"/>
          <p:cNvSpPr/>
          <p:nvPr/>
        </p:nvSpPr>
        <p:spPr>
          <a:xfrm>
            <a:off x="3122386" y="518795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145" name="Text 143"/>
          <p:cNvSpPr/>
          <p:nvPr/>
        </p:nvSpPr>
        <p:spPr>
          <a:xfrm>
            <a:off x="3884386" y="518795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50" dirty="0"/>
          </a:p>
        </p:txBody>
      </p:sp>
      <p:sp>
        <p:nvSpPr>
          <p:cNvPr id="146" name="Shape 144"/>
          <p:cNvSpPr/>
          <p:nvPr/>
        </p:nvSpPr>
        <p:spPr>
          <a:xfrm>
            <a:off x="4773386" y="506730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47" name="Text 145"/>
          <p:cNvSpPr/>
          <p:nvPr/>
        </p:nvSpPr>
        <p:spPr>
          <a:xfrm>
            <a:off x="4913086" y="504190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Tile map with per-region mini-bars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" name="Text 2"/>
          <p:cNvSpPr/>
          <p:nvPr/>
        </p:nvSpPr>
        <p:spPr>
          <a:xfrm>
            <a:off x="3706660" y="185094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" name="Text 4"/>
          <p:cNvSpPr/>
          <p:nvPr/>
        </p:nvSpPr>
        <p:spPr>
          <a:xfrm>
            <a:off x="8115941" y="185094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" name="Text 6"/>
          <p:cNvSpPr/>
          <p:nvPr/>
        </p:nvSpPr>
        <p:spPr>
          <a:xfrm>
            <a:off x="7314254" y="225178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" name="Text 8"/>
          <p:cNvSpPr/>
          <p:nvPr/>
        </p:nvSpPr>
        <p:spPr>
          <a:xfrm>
            <a:off x="7715098" y="225178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8115941" y="2229644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" name="Text 10"/>
          <p:cNvSpPr/>
          <p:nvPr/>
        </p:nvSpPr>
        <p:spPr>
          <a:xfrm>
            <a:off x="8115941" y="225178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4" name="Shape 12"/>
          <p:cNvSpPr/>
          <p:nvPr/>
        </p:nvSpPr>
        <p:spPr>
          <a:xfrm>
            <a:off x="4148104" y="2909461"/>
            <a:ext cx="65623" cy="3844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4220077" y="2901771"/>
            <a:ext cx="65623" cy="4613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" name="Shape 14"/>
          <p:cNvSpPr/>
          <p:nvPr/>
        </p:nvSpPr>
        <p:spPr>
          <a:xfrm>
            <a:off x="4292051" y="2897927"/>
            <a:ext cx="65623" cy="4998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7" name="Shape 15"/>
          <p:cNvSpPr/>
          <p:nvPr/>
        </p:nvSpPr>
        <p:spPr>
          <a:xfrm>
            <a:off x="4364024" y="2886393"/>
            <a:ext cx="65623" cy="61516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8" name="Text 16"/>
          <p:cNvSpPr/>
          <p:nvPr/>
        </p:nvSpPr>
        <p:spPr>
          <a:xfrm>
            <a:off x="4107504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0" name="Text 18"/>
          <p:cNvSpPr/>
          <p:nvPr/>
        </p:nvSpPr>
        <p:spPr>
          <a:xfrm>
            <a:off x="4508348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2" name="Text 20"/>
          <p:cNvSpPr/>
          <p:nvPr/>
        </p:nvSpPr>
        <p:spPr>
          <a:xfrm>
            <a:off x="4909191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4" name="Text 22"/>
          <p:cNvSpPr/>
          <p:nvPr/>
        </p:nvSpPr>
        <p:spPr>
          <a:xfrm>
            <a:off x="5310035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6" name="Text 24"/>
          <p:cNvSpPr/>
          <p:nvPr/>
        </p:nvSpPr>
        <p:spPr>
          <a:xfrm>
            <a:off x="5710879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8" name="Text 26"/>
          <p:cNvSpPr/>
          <p:nvPr/>
        </p:nvSpPr>
        <p:spPr>
          <a:xfrm>
            <a:off x="6111723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30" name="Text 28"/>
          <p:cNvSpPr/>
          <p:nvPr/>
        </p:nvSpPr>
        <p:spPr>
          <a:xfrm>
            <a:off x="6512566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7314254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32" name="Shape 30"/>
          <p:cNvSpPr/>
          <p:nvPr/>
        </p:nvSpPr>
        <p:spPr>
          <a:xfrm>
            <a:off x="7354854" y="2878703"/>
            <a:ext cx="65623" cy="692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7426827" y="2871014"/>
            <a:ext cx="65623" cy="768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4" name="Shape 32"/>
          <p:cNvSpPr/>
          <p:nvPr/>
        </p:nvSpPr>
        <p:spPr>
          <a:xfrm>
            <a:off x="7498801" y="2863324"/>
            <a:ext cx="65623" cy="8458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" name="Shape 33"/>
          <p:cNvSpPr/>
          <p:nvPr/>
        </p:nvSpPr>
        <p:spPr>
          <a:xfrm>
            <a:off x="7570774" y="2847945"/>
            <a:ext cx="65623" cy="9996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36" name="Text 34"/>
          <p:cNvSpPr/>
          <p:nvPr/>
        </p:nvSpPr>
        <p:spPr>
          <a:xfrm>
            <a:off x="7314254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38" name="Text 36"/>
          <p:cNvSpPr/>
          <p:nvPr/>
        </p:nvSpPr>
        <p:spPr>
          <a:xfrm>
            <a:off x="7715098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0" name="Text 38"/>
          <p:cNvSpPr/>
          <p:nvPr/>
        </p:nvSpPr>
        <p:spPr>
          <a:xfrm>
            <a:off x="8115941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2" name="Text 40"/>
          <p:cNvSpPr/>
          <p:nvPr/>
        </p:nvSpPr>
        <p:spPr>
          <a:xfrm>
            <a:off x="4107504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4" name="Text 42"/>
          <p:cNvSpPr/>
          <p:nvPr/>
        </p:nvSpPr>
        <p:spPr>
          <a:xfrm>
            <a:off x="4508348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6" name="Text 44"/>
          <p:cNvSpPr/>
          <p:nvPr/>
        </p:nvSpPr>
        <p:spPr>
          <a:xfrm>
            <a:off x="4909191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8" name="Text 46"/>
          <p:cNvSpPr/>
          <p:nvPr/>
        </p:nvSpPr>
        <p:spPr>
          <a:xfrm>
            <a:off x="5310035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50" name="Text 48"/>
          <p:cNvSpPr/>
          <p:nvPr/>
        </p:nvSpPr>
        <p:spPr>
          <a:xfrm>
            <a:off x="5710879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2323" y="3302615"/>
            <a:ext cx="65623" cy="461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6224296" y="3294926"/>
            <a:ext cx="65623" cy="5382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4" name="Shape 52"/>
          <p:cNvSpPr/>
          <p:nvPr/>
        </p:nvSpPr>
        <p:spPr>
          <a:xfrm>
            <a:off x="6296269" y="3291081"/>
            <a:ext cx="65623" cy="5767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55" name="Shape 53"/>
          <p:cNvSpPr/>
          <p:nvPr/>
        </p:nvSpPr>
        <p:spPr>
          <a:xfrm>
            <a:off x="6368243" y="3279547"/>
            <a:ext cx="65623" cy="69205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56" name="Text 54"/>
          <p:cNvSpPr/>
          <p:nvPr/>
        </p:nvSpPr>
        <p:spPr>
          <a:xfrm>
            <a:off x="6111723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58" name="Text 56"/>
          <p:cNvSpPr/>
          <p:nvPr/>
        </p:nvSpPr>
        <p:spPr>
          <a:xfrm>
            <a:off x="6512566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0" name="Text 58"/>
          <p:cNvSpPr/>
          <p:nvPr/>
        </p:nvSpPr>
        <p:spPr>
          <a:xfrm>
            <a:off x="6913410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2" name="Text 60"/>
          <p:cNvSpPr/>
          <p:nvPr/>
        </p:nvSpPr>
        <p:spPr>
          <a:xfrm>
            <a:off x="7314254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4" name="Text 62"/>
          <p:cNvSpPr/>
          <p:nvPr/>
        </p:nvSpPr>
        <p:spPr>
          <a:xfrm>
            <a:off x="7715098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3706660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6" name="Shape 64"/>
          <p:cNvSpPr/>
          <p:nvPr/>
        </p:nvSpPr>
        <p:spPr>
          <a:xfrm>
            <a:off x="3747260" y="3634254"/>
            <a:ext cx="65623" cy="1153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3819234" y="3615030"/>
            <a:ext cx="65623" cy="1345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8" name="Shape 66"/>
          <p:cNvSpPr/>
          <p:nvPr/>
        </p:nvSpPr>
        <p:spPr>
          <a:xfrm>
            <a:off x="3891207" y="3595807"/>
            <a:ext cx="65623" cy="15378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69" name="Shape 67"/>
          <p:cNvSpPr/>
          <p:nvPr/>
        </p:nvSpPr>
        <p:spPr>
          <a:xfrm>
            <a:off x="3963180" y="3565049"/>
            <a:ext cx="65623" cy="184547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70" name="Text 68"/>
          <p:cNvSpPr/>
          <p:nvPr/>
        </p:nvSpPr>
        <p:spPr>
          <a:xfrm>
            <a:off x="3706660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2" name="Text 70"/>
          <p:cNvSpPr/>
          <p:nvPr/>
        </p:nvSpPr>
        <p:spPr>
          <a:xfrm>
            <a:off x="4107504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850" dirty="0"/>
          </a:p>
        </p:txBody>
      </p:sp>
      <p:sp>
        <p:nvSpPr>
          <p:cNvPr id="73" name="Shape 71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4" name="Text 72"/>
          <p:cNvSpPr/>
          <p:nvPr/>
        </p:nvSpPr>
        <p:spPr>
          <a:xfrm>
            <a:off x="4508348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6" name="Text 74"/>
          <p:cNvSpPr/>
          <p:nvPr/>
        </p:nvSpPr>
        <p:spPr>
          <a:xfrm>
            <a:off x="4909191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850" dirty="0"/>
          </a:p>
        </p:txBody>
      </p:sp>
      <p:sp>
        <p:nvSpPr>
          <p:cNvPr id="77" name="Shape 75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8" name="Text 76"/>
          <p:cNvSpPr/>
          <p:nvPr/>
        </p:nvSpPr>
        <p:spPr>
          <a:xfrm>
            <a:off x="5310035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850" dirty="0"/>
          </a:p>
        </p:txBody>
      </p:sp>
      <p:sp>
        <p:nvSpPr>
          <p:cNvPr id="79" name="Shape 77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0" name="Text 78"/>
          <p:cNvSpPr/>
          <p:nvPr/>
        </p:nvSpPr>
        <p:spPr>
          <a:xfrm>
            <a:off x="5710879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850" dirty="0"/>
          </a:p>
        </p:txBody>
      </p:sp>
      <p:sp>
        <p:nvSpPr>
          <p:cNvPr id="81" name="Shape 79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2" name="Text 80"/>
          <p:cNvSpPr/>
          <p:nvPr/>
        </p:nvSpPr>
        <p:spPr>
          <a:xfrm>
            <a:off x="6111723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850" dirty="0"/>
          </a:p>
        </p:txBody>
      </p:sp>
      <p:sp>
        <p:nvSpPr>
          <p:cNvPr id="83" name="Shape 81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4" name="Text 82"/>
          <p:cNvSpPr/>
          <p:nvPr/>
        </p:nvSpPr>
        <p:spPr>
          <a:xfrm>
            <a:off x="6512566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850" dirty="0"/>
          </a:p>
        </p:txBody>
      </p:sp>
      <p:sp>
        <p:nvSpPr>
          <p:cNvPr id="85" name="Shape 83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6" name="Text 84"/>
          <p:cNvSpPr/>
          <p:nvPr/>
        </p:nvSpPr>
        <p:spPr>
          <a:xfrm>
            <a:off x="6913410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850" dirty="0"/>
          </a:p>
        </p:txBody>
      </p:sp>
      <p:sp>
        <p:nvSpPr>
          <p:cNvPr id="87" name="Shape 85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8" name="Text 86"/>
          <p:cNvSpPr/>
          <p:nvPr/>
        </p:nvSpPr>
        <p:spPr>
          <a:xfrm>
            <a:off x="7314254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850" dirty="0"/>
          </a:p>
        </p:txBody>
      </p:sp>
      <p:sp>
        <p:nvSpPr>
          <p:cNvPr id="89" name="Shape 87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0" name="Text 88"/>
          <p:cNvSpPr/>
          <p:nvPr/>
        </p:nvSpPr>
        <p:spPr>
          <a:xfrm>
            <a:off x="7715098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850" dirty="0"/>
          </a:p>
        </p:txBody>
      </p:sp>
      <p:sp>
        <p:nvSpPr>
          <p:cNvPr id="91" name="Shape 89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2" name="Text 90"/>
          <p:cNvSpPr/>
          <p:nvPr/>
        </p:nvSpPr>
        <p:spPr>
          <a:xfrm>
            <a:off x="4508348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850" dirty="0"/>
          </a:p>
        </p:txBody>
      </p:sp>
      <p:sp>
        <p:nvSpPr>
          <p:cNvPr id="93" name="Shape 91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4" name="Text 92"/>
          <p:cNvSpPr/>
          <p:nvPr/>
        </p:nvSpPr>
        <p:spPr>
          <a:xfrm>
            <a:off x="4909191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850" dirty="0"/>
          </a:p>
        </p:txBody>
      </p:sp>
      <p:sp>
        <p:nvSpPr>
          <p:cNvPr id="95" name="Shape 9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6" name="Text 94"/>
          <p:cNvSpPr/>
          <p:nvPr/>
        </p:nvSpPr>
        <p:spPr>
          <a:xfrm>
            <a:off x="5310035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850" dirty="0"/>
          </a:p>
        </p:txBody>
      </p:sp>
      <p:sp>
        <p:nvSpPr>
          <p:cNvPr id="97" name="Shape 9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8" name="Text 96"/>
          <p:cNvSpPr/>
          <p:nvPr/>
        </p:nvSpPr>
        <p:spPr>
          <a:xfrm>
            <a:off x="5710879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850" dirty="0"/>
          </a:p>
        </p:txBody>
      </p:sp>
      <p:sp>
        <p:nvSpPr>
          <p:cNvPr id="99" name="Shape 9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0" name="Text 98"/>
          <p:cNvSpPr/>
          <p:nvPr/>
        </p:nvSpPr>
        <p:spPr>
          <a:xfrm>
            <a:off x="6111723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850" dirty="0"/>
          </a:p>
        </p:txBody>
      </p:sp>
      <p:sp>
        <p:nvSpPr>
          <p:cNvPr id="101" name="Shape 9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2" name="Text 100"/>
          <p:cNvSpPr/>
          <p:nvPr/>
        </p:nvSpPr>
        <p:spPr>
          <a:xfrm>
            <a:off x="6512566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850" dirty="0"/>
          </a:p>
        </p:txBody>
      </p:sp>
      <p:sp>
        <p:nvSpPr>
          <p:cNvPr id="103" name="Shape 10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4" name="Text 102"/>
          <p:cNvSpPr/>
          <p:nvPr/>
        </p:nvSpPr>
        <p:spPr>
          <a:xfrm>
            <a:off x="6913410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850" dirty="0"/>
          </a:p>
        </p:txBody>
      </p:sp>
      <p:sp>
        <p:nvSpPr>
          <p:cNvPr id="105" name="Shape 103"/>
          <p:cNvSpPr/>
          <p:nvPr/>
        </p:nvSpPr>
        <p:spPr>
          <a:xfrm>
            <a:off x="4909191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6" name="Shape 104"/>
          <p:cNvSpPr/>
          <p:nvPr/>
        </p:nvSpPr>
        <p:spPr>
          <a:xfrm>
            <a:off x="4949792" y="4474389"/>
            <a:ext cx="65623" cy="768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5021765" y="4455165"/>
            <a:ext cx="65623" cy="9611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5093738" y="4443631"/>
            <a:ext cx="65623" cy="10765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9" name="Shape 107"/>
          <p:cNvSpPr/>
          <p:nvPr/>
        </p:nvSpPr>
        <p:spPr>
          <a:xfrm>
            <a:off x="5165712" y="4428252"/>
            <a:ext cx="65623" cy="123031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10" name="Text 108"/>
          <p:cNvSpPr/>
          <p:nvPr/>
        </p:nvSpPr>
        <p:spPr>
          <a:xfrm>
            <a:off x="4909191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850" dirty="0"/>
          </a:p>
        </p:txBody>
      </p:sp>
      <p:sp>
        <p:nvSpPr>
          <p:cNvPr id="111" name="Shape 109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2" name="Text 110"/>
          <p:cNvSpPr/>
          <p:nvPr/>
        </p:nvSpPr>
        <p:spPr>
          <a:xfrm>
            <a:off x="5310035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850" dirty="0"/>
          </a:p>
        </p:txBody>
      </p:sp>
      <p:sp>
        <p:nvSpPr>
          <p:cNvPr id="113" name="Shape 111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4" name="Text 112"/>
          <p:cNvSpPr/>
          <p:nvPr/>
        </p:nvSpPr>
        <p:spPr>
          <a:xfrm>
            <a:off x="5710879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850" dirty="0"/>
          </a:p>
        </p:txBody>
      </p:sp>
      <p:sp>
        <p:nvSpPr>
          <p:cNvPr id="115" name="Shape 113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6" name="Text 114"/>
          <p:cNvSpPr/>
          <p:nvPr/>
        </p:nvSpPr>
        <p:spPr>
          <a:xfrm>
            <a:off x="6111723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850" dirty="0"/>
          </a:p>
        </p:txBody>
      </p:sp>
      <p:sp>
        <p:nvSpPr>
          <p:cNvPr id="117" name="Shape 115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8" name="Text 116"/>
          <p:cNvSpPr/>
          <p:nvPr/>
        </p:nvSpPr>
        <p:spPr>
          <a:xfrm>
            <a:off x="6512566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850" dirty="0"/>
          </a:p>
        </p:txBody>
      </p:sp>
      <p:sp>
        <p:nvSpPr>
          <p:cNvPr id="119" name="Shape 117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0" name="Text 118"/>
          <p:cNvSpPr/>
          <p:nvPr/>
        </p:nvSpPr>
        <p:spPr>
          <a:xfrm>
            <a:off x="6913410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850" dirty="0"/>
          </a:p>
        </p:txBody>
      </p:sp>
      <p:sp>
        <p:nvSpPr>
          <p:cNvPr id="121" name="Shape 119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2" name="Text 120"/>
          <p:cNvSpPr/>
          <p:nvPr/>
        </p:nvSpPr>
        <p:spPr>
          <a:xfrm>
            <a:off x="3706660" y="465685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850" dirty="0"/>
          </a:p>
        </p:txBody>
      </p:sp>
      <p:sp>
        <p:nvSpPr>
          <p:cNvPr id="123" name="Shape 121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4" name="Shape 122"/>
          <p:cNvSpPr/>
          <p:nvPr/>
        </p:nvSpPr>
        <p:spPr>
          <a:xfrm>
            <a:off x="6553167" y="4894456"/>
            <a:ext cx="65623" cy="576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5" name="Shape 123"/>
          <p:cNvSpPr/>
          <p:nvPr/>
        </p:nvSpPr>
        <p:spPr>
          <a:xfrm>
            <a:off x="6625140" y="4886767"/>
            <a:ext cx="65623" cy="6536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6697113" y="4879077"/>
            <a:ext cx="65623" cy="7305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27" name="Shape 125"/>
          <p:cNvSpPr/>
          <p:nvPr/>
        </p:nvSpPr>
        <p:spPr>
          <a:xfrm>
            <a:off x="6769087" y="4867543"/>
            <a:ext cx="65623" cy="84584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28" name="Text 126"/>
          <p:cNvSpPr/>
          <p:nvPr/>
        </p:nvSpPr>
        <p:spPr>
          <a:xfrm>
            <a:off x="6512566" y="465685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850" dirty="0"/>
          </a:p>
        </p:txBody>
      </p:sp>
      <p:sp>
        <p:nvSpPr>
          <p:cNvPr id="129" name="Shape 127"/>
          <p:cNvSpPr/>
          <p:nvPr/>
        </p:nvSpPr>
        <p:spPr>
          <a:xfrm>
            <a:off x="3706660" y="51117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0" name="Text 128"/>
          <p:cNvSpPr/>
          <p:nvPr/>
        </p:nvSpPr>
        <p:spPr>
          <a:xfrm>
            <a:off x="383366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850" dirty="0"/>
          </a:p>
        </p:txBody>
      </p:sp>
      <p:sp>
        <p:nvSpPr>
          <p:cNvPr id="131" name="Shape 129"/>
          <p:cNvSpPr/>
          <p:nvPr/>
        </p:nvSpPr>
        <p:spPr>
          <a:xfrm>
            <a:off x="4123220" y="51117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Text 130"/>
          <p:cNvSpPr/>
          <p:nvPr/>
        </p:nvSpPr>
        <p:spPr>
          <a:xfrm>
            <a:off x="425022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850" dirty="0"/>
          </a:p>
        </p:txBody>
      </p:sp>
      <p:sp>
        <p:nvSpPr>
          <p:cNvPr id="133" name="Shape 131"/>
          <p:cNvSpPr/>
          <p:nvPr/>
        </p:nvSpPr>
        <p:spPr>
          <a:xfrm>
            <a:off x="4539780" y="51117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34" name="Text 132"/>
          <p:cNvSpPr/>
          <p:nvPr/>
        </p:nvSpPr>
        <p:spPr>
          <a:xfrm>
            <a:off x="466678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850" dirty="0"/>
          </a:p>
        </p:txBody>
      </p:sp>
      <p:sp>
        <p:nvSpPr>
          <p:cNvPr id="135" name="Shape 133"/>
          <p:cNvSpPr/>
          <p:nvPr/>
        </p:nvSpPr>
        <p:spPr>
          <a:xfrm>
            <a:off x="4956340" y="5111750"/>
            <a:ext cx="88900" cy="8890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36" name="Text 134"/>
          <p:cNvSpPr/>
          <p:nvPr/>
        </p:nvSpPr>
        <p:spPr>
          <a:xfrm>
            <a:off x="508334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85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chart with negative segments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606552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29184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9766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-0.5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45897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32029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0.5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16603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139961" y="5143500"/>
            <a:ext cx="16603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800274" y="5143500"/>
            <a:ext cx="16603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56366" y="3014472"/>
            <a:ext cx="1106876" cy="166420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05566" y="3751326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756366" y="1905000"/>
            <a:ext cx="1106876" cy="1109472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05566" y="2364486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756366" y="4678680"/>
            <a:ext cx="1106876" cy="416052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705566" y="4791456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-15%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16680" y="2990353"/>
            <a:ext cx="1106876" cy="168832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65880" y="3739267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416680" y="1905000"/>
            <a:ext cx="1106876" cy="108535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365880" y="2352427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39%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416680" y="4678680"/>
            <a:ext cx="1106876" cy="24119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365880" y="4704025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-9%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076993" y="2971800"/>
            <a:ext cx="1106876" cy="17068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026193" y="3729990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076993" y="1905000"/>
            <a:ext cx="1106876" cy="10668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026193" y="2343150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076993" y="4678680"/>
            <a:ext cx="1106876" cy="42672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026193" y="4796790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-15%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479648" y="467868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11388" y="235267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Renewal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511388" y="373951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511388" y="480631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Returns</a:t>
            </a:r>
            <a:endParaRPr lang="en-US" sz="10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Semi-circle gauge (market share)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28848" y="1841500"/>
            <a:ext cx="5334000" cy="5334000"/>
          </a:xfrm>
          <a:prstGeom prst="pie">
            <a:avLst>
              <a:gd name="adj1" fmla="val 10800000"/>
              <a:gd name="adj2" fmla="val 15336000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923277" y="2823281"/>
            <a:ext cx="55192" cy="4281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445944" y="2716356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42%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428848" y="1841500"/>
            <a:ext cx="5334000" cy="5334000"/>
          </a:xfrm>
          <a:prstGeom prst="pie">
            <a:avLst>
              <a:gd name="adj1" fmla="val 15336000"/>
              <a:gd name="adj2" fmla="val 18360000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6597973" y="1807652"/>
            <a:ext cx="13089" cy="68613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14632" y="1693690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Rival A 28%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28848" y="1841500"/>
            <a:ext cx="5334000" cy="5334000"/>
          </a:xfrm>
          <a:prstGeom prst="pie">
            <a:avLst>
              <a:gd name="adj1" fmla="val 18360000"/>
              <a:gd name="adj2" fmla="val 20304000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8213226" y="2823281"/>
            <a:ext cx="55192" cy="4281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83471" y="2716356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Rival B 18%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428848" y="1841500"/>
            <a:ext cx="5334000" cy="5334000"/>
          </a:xfrm>
          <a:prstGeom prst="pie">
            <a:avLst>
              <a:gd name="adj1" fmla="val 20304000"/>
              <a:gd name="adj2" fmla="val 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8728083" y="3993286"/>
            <a:ext cx="68613" cy="13089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815408" y="3894466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Others 12%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428848" y="4292600"/>
            <a:ext cx="5334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70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Pareto chart (defect causes)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Scratches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97113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Dents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86902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Misalign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76691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Cracks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66480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Paint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56269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22896" y="2545080"/>
            <a:ext cx="598593" cy="25603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172096" y="372999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20786" y="3398520"/>
            <a:ext cx="598593" cy="17068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069986" y="415671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18676" y="4145280"/>
            <a:ext cx="598593" cy="9601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67876" y="453009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16566" y="4465320"/>
            <a:ext cx="598593" cy="6400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65766" y="469011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814456" y="4785360"/>
            <a:ext cx="598593" cy="32004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63656" y="485013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712346" y="4892040"/>
            <a:ext cx="598593" cy="2133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661546" y="490347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073248" y="5105400"/>
            <a:ext cx="53873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11388" y="48431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Defects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48598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485988" y="34163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485988" y="1816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491713" y="379476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141193" y="361569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 flipV="1">
            <a:off x="3522193" y="2970733"/>
            <a:ext cx="897890" cy="85450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389603" y="294025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039083" y="276118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67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4420083" y="2490673"/>
            <a:ext cx="897890" cy="48006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287493" y="246019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936973" y="228112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82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 flipV="1">
            <a:off x="5317973" y="2170633"/>
            <a:ext cx="897890" cy="3200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185383" y="214015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834863" y="196108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92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 flipV="1">
            <a:off x="6215863" y="2010613"/>
            <a:ext cx="897890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083273" y="198013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732753" y="180106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 flipV="1">
            <a:off x="7113753" y="1905000"/>
            <a:ext cx="897890" cy="10561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981163" y="18745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630643" y="16954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8511388" y="1631950"/>
            <a:ext cx="6324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Cumulative %</a:t>
            </a:r>
            <a:endParaRPr lang="en-US" sz="10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Bump chart (brand rank by year)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21548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166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58784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77402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96020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723488" y="2006600"/>
            <a:ext cx="1186180" cy="78105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909668" y="2787650"/>
            <a:ext cx="1186180" cy="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6095848" y="2006600"/>
            <a:ext cx="1186180" cy="78105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282028" y="2006600"/>
            <a:ext cx="1186180" cy="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72688" y="195580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858868" y="273685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45048" y="273685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231228" y="195580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17408" y="195580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047848" y="19113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Acme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531708" y="19113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Acme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3723488" y="2006600"/>
            <a:ext cx="1186180" cy="78105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909668" y="2006600"/>
            <a:ext cx="1186180" cy="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95848" y="2006600"/>
            <a:ext cx="1186180" cy="156210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7282028" y="2787650"/>
            <a:ext cx="1186180" cy="78105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672688" y="273685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858868" y="195580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45048" y="195580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231228" y="351790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417408" y="273685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047848" y="26924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Globex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531708" y="26924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Globex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723488" y="3568700"/>
            <a:ext cx="1186180" cy="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909668" y="3568700"/>
            <a:ext cx="1186180" cy="78105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6095848" y="2787650"/>
            <a:ext cx="1186180" cy="156210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82028" y="2787650"/>
            <a:ext cx="1186180" cy="78105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672688" y="351790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858868" y="351790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45048" y="429895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231228" y="273685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417408" y="351790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47848" y="34734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Initech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531708" y="34734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Initech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723488" y="4349750"/>
            <a:ext cx="1186180" cy="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4909668" y="3568700"/>
            <a:ext cx="1186180" cy="78105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095848" y="3568700"/>
            <a:ext cx="1186180" cy="78105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282028" y="4349750"/>
            <a:ext cx="1186180" cy="78105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672688" y="429895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858868" y="429895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045048" y="351790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231228" y="429895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417408" y="508000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47848" y="42545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Umbrella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8531708" y="50355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Umbrella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3723488" y="5130800"/>
            <a:ext cx="1186180" cy="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909668" y="5130800"/>
            <a:ext cx="1186180" cy="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095848" y="5130800"/>
            <a:ext cx="1186180" cy="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7282028" y="4349750"/>
            <a:ext cx="1186180" cy="78105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367268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85886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04504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23122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417408" y="429895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047848" y="50355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4A3A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Soylent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8531708" y="42545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4A3A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Soylent</a:t>
            </a:r>
            <a:endParaRPr lang="en-US" sz="100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Horizontal profile chart (line)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87156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0788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94420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8052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01684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30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6676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60308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63940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67572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712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047848" y="2055283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47848" y="25971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3139017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047848" y="3680883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Innovation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047848" y="42227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047848" y="4764617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535520" y="2120053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616800" y="2055283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 flipV="1">
            <a:off x="6840576" y="2150533"/>
            <a:ext cx="725424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810096" y="2661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91376" y="2597150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840576" y="2692400"/>
            <a:ext cx="1139952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950048" y="3203787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031328" y="3139017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 flipV="1">
            <a:off x="7203288" y="3234267"/>
            <a:ext cx="777240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72808" y="3745653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254088" y="3680883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203288" y="3776133"/>
            <a:ext cx="1295400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468208" y="42875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549488" y="4222750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 flipV="1">
            <a:off x="6322416" y="4318000"/>
            <a:ext cx="2176272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291936" y="4829387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373216" y="4764617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Horizontal profile chart (stacked area)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976343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23178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70013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016848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2470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671543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01837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365213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712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226949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47848" y="288417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047848" y="349885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47848" y="411353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472821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Central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2950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3756508" y="18288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32038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" name="Text 18"/>
          <p:cNvSpPr/>
          <p:nvPr/>
        </p:nvSpPr>
        <p:spPr>
          <a:xfrm>
            <a:off x="4447388" y="18288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29508" y="18415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375650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320388" y="18415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444738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629508" y="2364740"/>
            <a:ext cx="271471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3629508" y="2390352"/>
            <a:ext cx="275680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3629508" y="2415963"/>
            <a:ext cx="279889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3629508" y="2441575"/>
            <a:ext cx="284098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3629508" y="2467187"/>
            <a:ext cx="288306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3629508" y="2492798"/>
            <a:ext cx="292515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3629508" y="2518410"/>
            <a:ext cx="296724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3629508" y="2544022"/>
            <a:ext cx="300933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629508" y="2569633"/>
            <a:ext cx="305142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629508" y="2595245"/>
            <a:ext cx="309351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629508" y="2620857"/>
            <a:ext cx="313560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3629508" y="2646468"/>
            <a:ext cx="317768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3629508" y="2672080"/>
            <a:ext cx="321977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3629508" y="2697692"/>
            <a:ext cx="326186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3629508" y="2723303"/>
            <a:ext cx="330395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3629508" y="2748915"/>
            <a:ext cx="334604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3629508" y="2774527"/>
            <a:ext cx="338813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3629508" y="2800138"/>
            <a:ext cx="343022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629508" y="2825750"/>
            <a:ext cx="347230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629508" y="2851362"/>
            <a:ext cx="351439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629508" y="2876973"/>
            <a:ext cx="355648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3629508" y="2902585"/>
            <a:ext cx="359857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3629508" y="2928197"/>
            <a:ext cx="364066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3629508" y="2953808"/>
            <a:ext cx="368275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3629508" y="2979420"/>
            <a:ext cx="366872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3629508" y="3005032"/>
            <a:ext cx="359857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3629508" y="3030643"/>
            <a:ext cx="352842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3629508" y="3056255"/>
            <a:ext cx="345827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629508" y="3081867"/>
            <a:ext cx="338813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629508" y="3107478"/>
            <a:ext cx="331798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629508" y="3133090"/>
            <a:ext cx="324783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3629508" y="3158702"/>
            <a:ext cx="317768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3629508" y="3184313"/>
            <a:ext cx="310754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3629508" y="3209925"/>
            <a:ext cx="303739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3629508" y="3235537"/>
            <a:ext cx="296724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3629508" y="3261148"/>
            <a:ext cx="289709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3629508" y="3286760"/>
            <a:ext cx="282695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3629508" y="3312372"/>
            <a:ext cx="275680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3629508" y="3337983"/>
            <a:ext cx="268665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3629508" y="3363595"/>
            <a:ext cx="261650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3629508" y="3389207"/>
            <a:ext cx="254636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3629508" y="3414818"/>
            <a:ext cx="247621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3629508" y="3440430"/>
            <a:ext cx="240606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3629508" y="3466042"/>
            <a:ext cx="233591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3629508" y="3491653"/>
            <a:ext cx="226576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3629508" y="3517265"/>
            <a:ext cx="219562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3629508" y="3542877"/>
            <a:ext cx="212547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3629508" y="3568488"/>
            <a:ext cx="205532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3629508" y="3594100"/>
            <a:ext cx="204550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3629508" y="3619712"/>
            <a:ext cx="209601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3629508" y="3645323"/>
            <a:ext cx="214651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3629508" y="3670935"/>
            <a:ext cx="219702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3629508" y="3696547"/>
            <a:ext cx="224753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3629508" y="3722158"/>
            <a:ext cx="229803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3629508" y="3747770"/>
            <a:ext cx="234854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3629508" y="3773382"/>
            <a:ext cx="239905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3629508" y="3798993"/>
            <a:ext cx="244955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3629508" y="3824605"/>
            <a:ext cx="250006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3629508" y="3850217"/>
            <a:ext cx="255056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3629508" y="3875828"/>
            <a:ext cx="260107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3629508" y="3901440"/>
            <a:ext cx="265158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3629508" y="3927052"/>
            <a:ext cx="270208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3629508" y="3952663"/>
            <a:ext cx="275259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3629508" y="3978275"/>
            <a:ext cx="280310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3629508" y="4003887"/>
            <a:ext cx="285360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3629508" y="4029498"/>
            <a:ext cx="290411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3629508" y="4055110"/>
            <a:ext cx="295461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3629508" y="4080722"/>
            <a:ext cx="300512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3629508" y="4106333"/>
            <a:ext cx="305563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3629508" y="4131945"/>
            <a:ext cx="310613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3629508" y="4157557"/>
            <a:ext cx="315664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3629508" y="4183168"/>
            <a:ext cx="320715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3629508" y="4208780"/>
            <a:ext cx="321416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3629508" y="4234392"/>
            <a:ext cx="317768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3629508" y="4260003"/>
            <a:ext cx="314121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3629508" y="4285615"/>
            <a:ext cx="310473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3629508" y="4311227"/>
            <a:ext cx="306825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3629508" y="4336838"/>
            <a:ext cx="303178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3629508" y="4362450"/>
            <a:ext cx="299530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3629508" y="4388062"/>
            <a:ext cx="295882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3629508" y="4413673"/>
            <a:ext cx="292235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3629508" y="4439285"/>
            <a:ext cx="288587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3629508" y="4464897"/>
            <a:ext cx="284939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3629508" y="4490508"/>
            <a:ext cx="281292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3629508" y="4516120"/>
            <a:ext cx="277644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3629508" y="4541732"/>
            <a:ext cx="273996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629508" y="4567343"/>
            <a:ext cx="270349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2" name="Shape 110"/>
          <p:cNvSpPr/>
          <p:nvPr/>
        </p:nvSpPr>
        <p:spPr>
          <a:xfrm>
            <a:off x="3629508" y="4592955"/>
            <a:ext cx="266701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3" name="Shape 111"/>
          <p:cNvSpPr/>
          <p:nvPr/>
        </p:nvSpPr>
        <p:spPr>
          <a:xfrm>
            <a:off x="3629508" y="4618567"/>
            <a:ext cx="263053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4" name="Shape 112"/>
          <p:cNvSpPr/>
          <p:nvPr/>
        </p:nvSpPr>
        <p:spPr>
          <a:xfrm>
            <a:off x="3629508" y="4644178"/>
            <a:ext cx="259406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5" name="Shape 113"/>
          <p:cNvSpPr/>
          <p:nvPr/>
        </p:nvSpPr>
        <p:spPr>
          <a:xfrm>
            <a:off x="3629508" y="4669790"/>
            <a:ext cx="255758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6" name="Shape 114"/>
          <p:cNvSpPr/>
          <p:nvPr/>
        </p:nvSpPr>
        <p:spPr>
          <a:xfrm>
            <a:off x="3629508" y="4695402"/>
            <a:ext cx="252110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7" name="Shape 115"/>
          <p:cNvSpPr/>
          <p:nvPr/>
        </p:nvSpPr>
        <p:spPr>
          <a:xfrm>
            <a:off x="3629508" y="4721013"/>
            <a:ext cx="248463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8" name="Shape 116"/>
          <p:cNvSpPr/>
          <p:nvPr/>
        </p:nvSpPr>
        <p:spPr>
          <a:xfrm>
            <a:off x="3629508" y="4746625"/>
            <a:ext cx="244815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9" name="Shape 117"/>
          <p:cNvSpPr/>
          <p:nvPr/>
        </p:nvSpPr>
        <p:spPr>
          <a:xfrm>
            <a:off x="3629508" y="4772237"/>
            <a:ext cx="241167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0" name="Shape 118"/>
          <p:cNvSpPr/>
          <p:nvPr/>
        </p:nvSpPr>
        <p:spPr>
          <a:xfrm>
            <a:off x="3629508" y="4797848"/>
            <a:ext cx="237520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1" name="Shape 119"/>
          <p:cNvSpPr/>
          <p:nvPr/>
        </p:nvSpPr>
        <p:spPr>
          <a:xfrm>
            <a:off x="6344222" y="2364740"/>
            <a:ext cx="167652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6386310" y="2390352"/>
            <a:ext cx="166249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6428399" y="2415963"/>
            <a:ext cx="164847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6470488" y="2441575"/>
            <a:ext cx="163444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6512576" y="2467187"/>
            <a:ext cx="162041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6554665" y="2492798"/>
            <a:ext cx="160638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6596753" y="2518410"/>
            <a:ext cx="159235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6638842" y="2544022"/>
            <a:ext cx="157832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9" name="Shape 127"/>
          <p:cNvSpPr/>
          <p:nvPr/>
        </p:nvSpPr>
        <p:spPr>
          <a:xfrm>
            <a:off x="6680931" y="2569633"/>
            <a:ext cx="156429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6723019" y="2595245"/>
            <a:ext cx="155026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6765108" y="2620857"/>
            <a:ext cx="153623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6807196" y="2646468"/>
            <a:ext cx="152220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6849285" y="2672080"/>
            <a:ext cx="150817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6891374" y="2697692"/>
            <a:ext cx="149414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6933462" y="2723303"/>
            <a:ext cx="148011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6975551" y="2748915"/>
            <a:ext cx="146608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7017639" y="2774527"/>
            <a:ext cx="145205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7059728" y="2800138"/>
            <a:ext cx="143802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7101817" y="2825750"/>
            <a:ext cx="142399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7143905" y="2851362"/>
            <a:ext cx="140996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7185994" y="2876973"/>
            <a:ext cx="139593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7228082" y="2902585"/>
            <a:ext cx="138190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7270171" y="2928197"/>
            <a:ext cx="136787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7312260" y="2953808"/>
            <a:ext cx="135385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7298230" y="2979420"/>
            <a:ext cx="136787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7228082" y="3005032"/>
            <a:ext cx="140996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7157935" y="3030643"/>
            <a:ext cx="145205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7087787" y="3056255"/>
            <a:ext cx="149414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7017639" y="3081867"/>
            <a:ext cx="153623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6947492" y="3107478"/>
            <a:ext cx="157832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6877344" y="3133090"/>
            <a:ext cx="162041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6807196" y="3158702"/>
            <a:ext cx="166249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6737049" y="3184313"/>
            <a:ext cx="170458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6666901" y="3209925"/>
            <a:ext cx="174667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6596753" y="3235537"/>
            <a:ext cx="178876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6526606" y="3261148"/>
            <a:ext cx="183085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6456458" y="3286760"/>
            <a:ext cx="187294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6386310" y="3312372"/>
            <a:ext cx="191503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6316163" y="3337983"/>
            <a:ext cx="195712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6246015" y="3363595"/>
            <a:ext cx="199920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6175868" y="3389207"/>
            <a:ext cx="204129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6105720" y="3414818"/>
            <a:ext cx="208338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6035572" y="3440430"/>
            <a:ext cx="212547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5965425" y="3466042"/>
            <a:ext cx="216756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5895277" y="3491653"/>
            <a:ext cx="220965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5825129" y="3517265"/>
            <a:ext cx="225174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5754982" y="3542877"/>
            <a:ext cx="229382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5684834" y="3568488"/>
            <a:ext cx="233591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5675013" y="3594100"/>
            <a:ext cx="233872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5725520" y="3619712"/>
            <a:ext cx="230224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5776026" y="3645323"/>
            <a:ext cx="226576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5826532" y="3670935"/>
            <a:ext cx="222929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5877039" y="3696547"/>
            <a:ext cx="219281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5927545" y="3722158"/>
            <a:ext cx="215633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5978051" y="3747770"/>
            <a:ext cx="211986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6" name="Shape 174"/>
          <p:cNvSpPr/>
          <p:nvPr/>
        </p:nvSpPr>
        <p:spPr>
          <a:xfrm>
            <a:off x="6028557" y="3773382"/>
            <a:ext cx="208338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6079064" y="3798993"/>
            <a:ext cx="204690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8" name="Shape 176"/>
          <p:cNvSpPr/>
          <p:nvPr/>
        </p:nvSpPr>
        <p:spPr>
          <a:xfrm>
            <a:off x="6129570" y="3824605"/>
            <a:ext cx="201043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180076" y="3850217"/>
            <a:ext cx="197395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230583" y="3875828"/>
            <a:ext cx="193747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281089" y="3901440"/>
            <a:ext cx="190100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331595" y="3927052"/>
            <a:ext cx="186452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3" name="Shape 181"/>
          <p:cNvSpPr/>
          <p:nvPr/>
        </p:nvSpPr>
        <p:spPr>
          <a:xfrm>
            <a:off x="6382102" y="3952663"/>
            <a:ext cx="182804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4" name="Shape 182"/>
          <p:cNvSpPr/>
          <p:nvPr/>
        </p:nvSpPr>
        <p:spPr>
          <a:xfrm>
            <a:off x="6432608" y="3978275"/>
            <a:ext cx="179157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6483114" y="4003887"/>
            <a:ext cx="175509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6" name="Shape 184"/>
          <p:cNvSpPr/>
          <p:nvPr/>
        </p:nvSpPr>
        <p:spPr>
          <a:xfrm>
            <a:off x="6533621" y="4029498"/>
            <a:ext cx="171861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7" name="Shape 185"/>
          <p:cNvSpPr/>
          <p:nvPr/>
        </p:nvSpPr>
        <p:spPr>
          <a:xfrm>
            <a:off x="6584127" y="4055110"/>
            <a:ext cx="168214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8" name="Shape 186"/>
          <p:cNvSpPr/>
          <p:nvPr/>
        </p:nvSpPr>
        <p:spPr>
          <a:xfrm>
            <a:off x="6634633" y="4080722"/>
            <a:ext cx="164566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9" name="Shape 187"/>
          <p:cNvSpPr/>
          <p:nvPr/>
        </p:nvSpPr>
        <p:spPr>
          <a:xfrm>
            <a:off x="6685140" y="4106333"/>
            <a:ext cx="160918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0" name="Shape 188"/>
          <p:cNvSpPr/>
          <p:nvPr/>
        </p:nvSpPr>
        <p:spPr>
          <a:xfrm>
            <a:off x="6735646" y="4131945"/>
            <a:ext cx="157271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1" name="Shape 189"/>
          <p:cNvSpPr/>
          <p:nvPr/>
        </p:nvSpPr>
        <p:spPr>
          <a:xfrm>
            <a:off x="6786152" y="4157557"/>
            <a:ext cx="153623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6836658" y="4183168"/>
            <a:ext cx="149975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3" name="Shape 191"/>
          <p:cNvSpPr/>
          <p:nvPr/>
        </p:nvSpPr>
        <p:spPr>
          <a:xfrm>
            <a:off x="6843673" y="4208780"/>
            <a:ext cx="149274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4" name="Shape 192"/>
          <p:cNvSpPr/>
          <p:nvPr/>
        </p:nvSpPr>
        <p:spPr>
          <a:xfrm>
            <a:off x="6807196" y="4234392"/>
            <a:ext cx="151518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5" name="Shape 193"/>
          <p:cNvSpPr/>
          <p:nvPr/>
        </p:nvSpPr>
        <p:spPr>
          <a:xfrm>
            <a:off x="6770720" y="4260003"/>
            <a:ext cx="153763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6" name="Shape 194"/>
          <p:cNvSpPr/>
          <p:nvPr/>
        </p:nvSpPr>
        <p:spPr>
          <a:xfrm>
            <a:off x="6734243" y="4285615"/>
            <a:ext cx="156008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7" name="Shape 195"/>
          <p:cNvSpPr/>
          <p:nvPr/>
        </p:nvSpPr>
        <p:spPr>
          <a:xfrm>
            <a:off x="6697766" y="4311227"/>
            <a:ext cx="158253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8" name="Shape 196"/>
          <p:cNvSpPr/>
          <p:nvPr/>
        </p:nvSpPr>
        <p:spPr>
          <a:xfrm>
            <a:off x="6661289" y="4336838"/>
            <a:ext cx="160497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9" name="Shape 197"/>
          <p:cNvSpPr/>
          <p:nvPr/>
        </p:nvSpPr>
        <p:spPr>
          <a:xfrm>
            <a:off x="6624813" y="4362450"/>
            <a:ext cx="162742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6588336" y="4388062"/>
            <a:ext cx="164987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1" name="Shape 199"/>
          <p:cNvSpPr/>
          <p:nvPr/>
        </p:nvSpPr>
        <p:spPr>
          <a:xfrm>
            <a:off x="6551859" y="4413673"/>
            <a:ext cx="167232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2" name="Shape 200"/>
          <p:cNvSpPr/>
          <p:nvPr/>
        </p:nvSpPr>
        <p:spPr>
          <a:xfrm>
            <a:off x="6515382" y="4439285"/>
            <a:ext cx="169476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3" name="Shape 201"/>
          <p:cNvSpPr/>
          <p:nvPr/>
        </p:nvSpPr>
        <p:spPr>
          <a:xfrm>
            <a:off x="6478905" y="4464897"/>
            <a:ext cx="171721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4" name="Shape 202"/>
          <p:cNvSpPr/>
          <p:nvPr/>
        </p:nvSpPr>
        <p:spPr>
          <a:xfrm>
            <a:off x="6442429" y="4490508"/>
            <a:ext cx="173966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5" name="Shape 203"/>
          <p:cNvSpPr/>
          <p:nvPr/>
        </p:nvSpPr>
        <p:spPr>
          <a:xfrm>
            <a:off x="6405952" y="4516120"/>
            <a:ext cx="176210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6" name="Shape 204"/>
          <p:cNvSpPr/>
          <p:nvPr/>
        </p:nvSpPr>
        <p:spPr>
          <a:xfrm>
            <a:off x="6369475" y="4541732"/>
            <a:ext cx="178455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6332998" y="4567343"/>
            <a:ext cx="180700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8" name="Shape 206"/>
          <p:cNvSpPr/>
          <p:nvPr/>
        </p:nvSpPr>
        <p:spPr>
          <a:xfrm>
            <a:off x="6296521" y="4592955"/>
            <a:ext cx="182945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9" name="Shape 207"/>
          <p:cNvSpPr/>
          <p:nvPr/>
        </p:nvSpPr>
        <p:spPr>
          <a:xfrm>
            <a:off x="6260045" y="4618567"/>
            <a:ext cx="185189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0" name="Shape 208"/>
          <p:cNvSpPr/>
          <p:nvPr/>
        </p:nvSpPr>
        <p:spPr>
          <a:xfrm>
            <a:off x="6223568" y="4644178"/>
            <a:ext cx="187434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1" name="Shape 209"/>
          <p:cNvSpPr/>
          <p:nvPr/>
        </p:nvSpPr>
        <p:spPr>
          <a:xfrm>
            <a:off x="6187091" y="4669790"/>
            <a:ext cx="189679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2" name="Shape 210"/>
          <p:cNvSpPr/>
          <p:nvPr/>
        </p:nvSpPr>
        <p:spPr>
          <a:xfrm>
            <a:off x="6150614" y="4695402"/>
            <a:ext cx="191924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3" name="Shape 211"/>
          <p:cNvSpPr/>
          <p:nvPr/>
        </p:nvSpPr>
        <p:spPr>
          <a:xfrm>
            <a:off x="6114138" y="4721013"/>
            <a:ext cx="194168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4" name="Shape 212"/>
          <p:cNvSpPr/>
          <p:nvPr/>
        </p:nvSpPr>
        <p:spPr>
          <a:xfrm>
            <a:off x="6077661" y="4746625"/>
            <a:ext cx="196413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5" name="Shape 213"/>
          <p:cNvSpPr/>
          <p:nvPr/>
        </p:nvSpPr>
        <p:spPr>
          <a:xfrm>
            <a:off x="6041184" y="4772237"/>
            <a:ext cx="198658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6" name="Shape 214"/>
          <p:cNvSpPr/>
          <p:nvPr/>
        </p:nvSpPr>
        <p:spPr>
          <a:xfrm>
            <a:off x="6004707" y="4797848"/>
            <a:ext cx="2009029" cy="31962"/>
          </a:xfrm>
          <a:prstGeom prst="rect">
            <a:avLst/>
          </a:prstGeom>
          <a:solidFill>
            <a:srgbClr val="1BAF7A"/>
          </a:solidFill>
          <a:ln/>
        </p:spPr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Two-level treemap (region | product)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1828800"/>
            <a:ext cx="2146300" cy="3467100"/>
          </a:xfrm>
          <a:prstGeom prst="rect">
            <a:avLst/>
          </a:prstGeom>
          <a:solidFill>
            <a:srgbClr val="EFF2FA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11348" y="1841500"/>
            <a:ext cx="2082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098648" y="2019300"/>
            <a:ext cx="2095500" cy="1553972"/>
          </a:xfrm>
          <a:prstGeom prst="rect">
            <a:avLst/>
          </a:prstGeom>
          <a:solidFill>
            <a:srgbClr val="7297D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136748" y="2044700"/>
            <a:ext cx="203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3136748" y="2197100"/>
            <a:ext cx="203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098648" y="3585972"/>
            <a:ext cx="1284654" cy="1684528"/>
          </a:xfrm>
          <a:prstGeom prst="rect">
            <a:avLst/>
          </a:prstGeom>
          <a:solidFill>
            <a:srgbClr val="92ABE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36748" y="3611372"/>
            <a:ext cx="122115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3136748" y="3763772"/>
            <a:ext cx="122115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396001" y="3585972"/>
            <a:ext cx="798146" cy="1684528"/>
          </a:xfrm>
          <a:prstGeom prst="rect">
            <a:avLst/>
          </a:prstGeom>
          <a:solidFill>
            <a:srgbClr val="AABCE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34101" y="3611372"/>
            <a:ext cx="734646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4434101" y="3763772"/>
            <a:ext cx="734646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5232248" y="1828800"/>
            <a:ext cx="2232660" cy="3467100"/>
          </a:xfrm>
          <a:prstGeom prst="rect">
            <a:avLst/>
          </a:prstGeom>
          <a:solidFill>
            <a:srgbClr val="EFF6F2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270348" y="1841500"/>
            <a:ext cx="21691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257648" y="2019300"/>
            <a:ext cx="2181860" cy="1995854"/>
          </a:xfrm>
          <a:prstGeom prst="rect">
            <a:avLst/>
          </a:prstGeom>
          <a:solidFill>
            <a:srgbClr val="6FBE9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95748" y="2044700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5295748" y="2197100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5257648" y="4027854"/>
            <a:ext cx="2181860" cy="1242646"/>
          </a:xfrm>
          <a:prstGeom prst="rect">
            <a:avLst/>
          </a:prstGeom>
          <a:solidFill>
            <a:srgbClr val="90C9A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295748" y="4053254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295748" y="4205654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7477608" y="1828800"/>
            <a:ext cx="1628140" cy="3467100"/>
          </a:xfrm>
          <a:prstGeom prst="rect">
            <a:avLst/>
          </a:prstGeom>
          <a:solidFill>
            <a:srgbClr val="FDF5EF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515708" y="1841500"/>
            <a:ext cx="15646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503008" y="2019300"/>
            <a:ext cx="1577340" cy="1533358"/>
          </a:xfrm>
          <a:prstGeom prst="rect">
            <a:avLst/>
          </a:prstGeom>
          <a:solidFill>
            <a:srgbClr val="F0B36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541108" y="2044700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7541108" y="2197100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7503008" y="3565358"/>
            <a:ext cx="1577340" cy="1018005"/>
          </a:xfrm>
          <a:prstGeom prst="rect">
            <a:avLst/>
          </a:prstGeom>
          <a:solidFill>
            <a:srgbClr val="F2C08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541108" y="3590758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7541108" y="3743158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503008" y="4596063"/>
            <a:ext cx="1577340" cy="674437"/>
          </a:xfrm>
          <a:prstGeom prst="rect">
            <a:avLst/>
          </a:prstGeom>
          <a:solidFill>
            <a:srgbClr val="F4CDA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541108" y="4621463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7541108" y="4773863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94</Slides>
  <Notes>94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94</vt:i4>
      </vt:variant>
    </vt:vector>
  </HeadingPairs>
  <TitlesOfParts>
    <vt:vector size="9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2026-07-05T17:11:11Z</dcterms:created>
  <dcterms:modified xsi:type="dcterms:W3CDTF">2026-07-05T17:11:11Z</dcterms:modified>
</cp:coreProperties>
</file>
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</p:sldIdLst>
  <p:notesMasterIdLst>
    <p:notesMasterId r:id="rId1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notesMaster" Target="notesMasters/notesMaster1.xml"/><Relationship Id="rId124" Type="http://schemas.openxmlformats.org/officeDocument/2006/relationships/presProps" Target="presProps.xml"/><Relationship Id="rId125" Type="http://schemas.openxmlformats.org/officeDocument/2006/relationships/viewProps" Target="viewProps.xml"/><Relationship Id="rId126" Type="http://schemas.openxmlformats.org/officeDocument/2006/relationships/theme" Target="theme/theme1.xml"/><Relationship Id="rId1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3552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2279"/>
            <a:ext cx="56159" cy="4331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27551" y="4659478"/>
            <a:ext cx="56159" cy="4459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77360" y="4646676"/>
            <a:ext cx="56159" cy="4587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27170" y="4633874"/>
            <a:ext cx="56159" cy="4715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76979" y="4621073"/>
            <a:ext cx="56159" cy="4843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226789" y="4608271"/>
            <a:ext cx="56159" cy="4971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76598" y="4595470"/>
            <a:ext cx="56159" cy="5099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326407" y="4582668"/>
            <a:ext cx="56159" cy="5227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76217" y="4569866"/>
            <a:ext cx="56159" cy="5355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426026" y="4557065"/>
            <a:ext cx="56159" cy="5483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475836" y="4544263"/>
            <a:ext cx="56159" cy="561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525645" y="4531462"/>
            <a:ext cx="56159" cy="5739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575454" y="4518660"/>
            <a:ext cx="56159" cy="5867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625264" y="4505858"/>
            <a:ext cx="56159" cy="5995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675073" y="4493057"/>
            <a:ext cx="56159" cy="612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724883" y="4480255"/>
            <a:ext cx="56159" cy="6251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774692" y="4467454"/>
            <a:ext cx="56159" cy="6379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824501" y="4454652"/>
            <a:ext cx="56159" cy="6507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874311" y="4441850"/>
            <a:ext cx="56159" cy="6635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924120" y="4429049"/>
            <a:ext cx="56159" cy="6763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973930" y="4415714"/>
            <a:ext cx="56159" cy="6896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5023739" y="4401845"/>
            <a:ext cx="56159" cy="7035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5073548" y="4387977"/>
            <a:ext cx="56159" cy="7174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5123358" y="4374109"/>
            <a:ext cx="56159" cy="7312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73167" y="4360240"/>
            <a:ext cx="56159" cy="745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222977" y="4346372"/>
            <a:ext cx="56159" cy="7590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272786" y="4332503"/>
            <a:ext cx="56159" cy="7728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322595" y="4318635"/>
            <a:ext cx="56159" cy="786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372405" y="4304767"/>
            <a:ext cx="56159" cy="800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422214" y="4290898"/>
            <a:ext cx="56159" cy="8145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472024" y="4277030"/>
            <a:ext cx="56159" cy="8283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521833" y="4263161"/>
            <a:ext cx="56159" cy="8422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571642" y="4249293"/>
            <a:ext cx="56159" cy="856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621452" y="4235425"/>
            <a:ext cx="56159" cy="8699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671261" y="4221556"/>
            <a:ext cx="56159" cy="883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721071" y="4207688"/>
            <a:ext cx="56159" cy="8977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770880" y="4193819"/>
            <a:ext cx="56159" cy="9115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820689" y="4179951"/>
            <a:ext cx="56159" cy="9254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870499" y="4166083"/>
            <a:ext cx="56159" cy="9393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920308" y="4152214"/>
            <a:ext cx="56159" cy="953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970118" y="4137279"/>
            <a:ext cx="56159" cy="9681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6019927" y="4121277"/>
            <a:ext cx="56159" cy="9841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6069736" y="4105275"/>
            <a:ext cx="56159" cy="10001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6119546" y="4089273"/>
            <a:ext cx="56159" cy="1016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169355" y="4073271"/>
            <a:ext cx="56159" cy="10321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6219165" y="4057269"/>
            <a:ext cx="56159" cy="10481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6268974" y="4041267"/>
            <a:ext cx="56159" cy="1064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318783" y="4025265"/>
            <a:ext cx="56159" cy="10801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6368593" y="4009263"/>
            <a:ext cx="56159" cy="109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418402" y="3993261"/>
            <a:ext cx="56159" cy="11121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468212" y="3977259"/>
            <a:ext cx="56159" cy="11281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518021" y="3961257"/>
            <a:ext cx="56159" cy="1144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567830" y="3945255"/>
            <a:ext cx="56159" cy="11601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617640" y="3929253"/>
            <a:ext cx="56159" cy="11761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667449" y="3913251"/>
            <a:ext cx="56159" cy="11921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717259" y="3897249"/>
            <a:ext cx="56159" cy="12081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767068" y="3881247"/>
            <a:ext cx="56159" cy="1224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816877" y="3865245"/>
            <a:ext cx="56159" cy="12401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866687" y="3849243"/>
            <a:ext cx="56159" cy="12561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916496" y="3833241"/>
            <a:ext cx="56159" cy="12721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966306" y="3817772"/>
            <a:ext cx="56159" cy="12876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7016115" y="3802837"/>
            <a:ext cx="56159" cy="13025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7065924" y="3787902"/>
            <a:ext cx="56159" cy="13174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7115734" y="3772967"/>
            <a:ext cx="56159" cy="13324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7165543" y="3758032"/>
            <a:ext cx="56159" cy="13473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7215353" y="3743096"/>
            <a:ext cx="56159" cy="1362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7265162" y="3728161"/>
            <a:ext cx="56159" cy="13772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7314971" y="3713226"/>
            <a:ext cx="56159" cy="13921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7364781" y="3698291"/>
            <a:ext cx="56159" cy="14071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7414590" y="3683356"/>
            <a:ext cx="56159" cy="14220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7464400" y="3668420"/>
            <a:ext cx="56159" cy="14369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514209" y="3653485"/>
            <a:ext cx="56159" cy="14519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564018" y="3638550"/>
            <a:ext cx="56159" cy="14668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613828" y="3623615"/>
            <a:ext cx="56159" cy="1481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663637" y="3608680"/>
            <a:ext cx="56159" cy="149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713447" y="3593744"/>
            <a:ext cx="56159" cy="1511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763256" y="3578809"/>
            <a:ext cx="56159" cy="15265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813065" y="3563874"/>
            <a:ext cx="56159" cy="15415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862875" y="3548939"/>
            <a:ext cx="56159" cy="15564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912684" y="3534004"/>
            <a:ext cx="56159" cy="15713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3977742" y="3924452"/>
            <a:ext cx="56159" cy="7478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6" name="Shape 94"/>
          <p:cNvSpPr/>
          <p:nvPr/>
        </p:nvSpPr>
        <p:spPr>
          <a:xfrm>
            <a:off x="4027551" y="3909517"/>
            <a:ext cx="56159" cy="7499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7" name="Shape 95"/>
          <p:cNvSpPr/>
          <p:nvPr/>
        </p:nvSpPr>
        <p:spPr>
          <a:xfrm>
            <a:off x="4077360" y="3894582"/>
            <a:ext cx="56159" cy="752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8" name="Shape 96"/>
          <p:cNvSpPr/>
          <p:nvPr/>
        </p:nvSpPr>
        <p:spPr>
          <a:xfrm>
            <a:off x="4127170" y="3879647"/>
            <a:ext cx="56159" cy="7542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9" name="Shape 97"/>
          <p:cNvSpPr/>
          <p:nvPr/>
        </p:nvSpPr>
        <p:spPr>
          <a:xfrm>
            <a:off x="4176979" y="3864712"/>
            <a:ext cx="56159" cy="7563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0" name="Shape 98"/>
          <p:cNvSpPr/>
          <p:nvPr/>
        </p:nvSpPr>
        <p:spPr>
          <a:xfrm>
            <a:off x="4226789" y="3849776"/>
            <a:ext cx="56159" cy="7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1" name="Shape 99"/>
          <p:cNvSpPr/>
          <p:nvPr/>
        </p:nvSpPr>
        <p:spPr>
          <a:xfrm>
            <a:off x="4276598" y="3834841"/>
            <a:ext cx="56159" cy="7606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326407" y="3819906"/>
            <a:ext cx="56159" cy="7627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376217" y="3804971"/>
            <a:ext cx="56159" cy="7648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426026" y="3790036"/>
            <a:ext cx="56159" cy="7670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475836" y="3775100"/>
            <a:ext cx="56159" cy="7691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525645" y="3760165"/>
            <a:ext cx="56159" cy="7712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575454" y="3745230"/>
            <a:ext cx="56159" cy="773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625264" y="3730295"/>
            <a:ext cx="56159" cy="7755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675073" y="3715360"/>
            <a:ext cx="56159" cy="7776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724883" y="3700424"/>
            <a:ext cx="56159" cy="7798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4774692" y="3685489"/>
            <a:ext cx="56159" cy="7819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824501" y="3670554"/>
            <a:ext cx="56159" cy="784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874311" y="3655619"/>
            <a:ext cx="56159" cy="7862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924120" y="3640684"/>
            <a:ext cx="56159" cy="7883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973930" y="3626815"/>
            <a:ext cx="56159" cy="7888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023739" y="3614014"/>
            <a:ext cx="56159" cy="7878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073548" y="3601212"/>
            <a:ext cx="56159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123358" y="3588410"/>
            <a:ext cx="56159" cy="7856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173167" y="3575609"/>
            <a:ext cx="56159" cy="7846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5222977" y="3562807"/>
            <a:ext cx="56159" cy="783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5272786" y="3550006"/>
            <a:ext cx="56159" cy="7824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5322595" y="3537204"/>
            <a:ext cx="56159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5372405" y="3524402"/>
            <a:ext cx="56159" cy="7803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5422214" y="3511601"/>
            <a:ext cx="56159" cy="7792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5472024" y="3498799"/>
            <a:ext cx="56159" cy="7782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5521833" y="3485998"/>
            <a:ext cx="56159" cy="7771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5571642" y="3473196"/>
            <a:ext cx="56159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5621452" y="3460394"/>
            <a:ext cx="56159" cy="7750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5671261" y="3447593"/>
            <a:ext cx="56159" cy="7739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5721071" y="3434791"/>
            <a:ext cx="56159" cy="7728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770880" y="3421990"/>
            <a:ext cx="56159" cy="7718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5820689" y="3409188"/>
            <a:ext cx="56159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5870499" y="3396386"/>
            <a:ext cx="56159" cy="7696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5920308" y="3383585"/>
            <a:ext cx="56159" cy="7686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970118" y="3370250"/>
            <a:ext cx="56159" cy="7670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019927" y="3356381"/>
            <a:ext cx="56159" cy="7648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6069736" y="3342513"/>
            <a:ext cx="56159" cy="7627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6119546" y="3328645"/>
            <a:ext cx="56159" cy="7606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6169355" y="3314776"/>
            <a:ext cx="56159" cy="7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219165" y="3300908"/>
            <a:ext cx="56159" cy="7563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6268974" y="3287039"/>
            <a:ext cx="56159" cy="7542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6318783" y="3273171"/>
            <a:ext cx="56159" cy="752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6368593" y="3259303"/>
            <a:ext cx="56159" cy="7499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418402" y="3245434"/>
            <a:ext cx="56159" cy="7478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468212" y="3231566"/>
            <a:ext cx="56159" cy="7456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518021" y="3217697"/>
            <a:ext cx="56159" cy="7435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6567830" y="3203829"/>
            <a:ext cx="56159" cy="7414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6617640" y="3189961"/>
            <a:ext cx="56159" cy="73929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667449" y="3176092"/>
            <a:ext cx="56159" cy="7371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717259" y="3162224"/>
            <a:ext cx="56159" cy="7350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767068" y="3148355"/>
            <a:ext cx="56159" cy="73289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816877" y="3134487"/>
            <a:ext cx="56159" cy="7307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866687" y="3120619"/>
            <a:ext cx="56159" cy="7286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916496" y="3106750"/>
            <a:ext cx="56159" cy="7264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966306" y="3094482"/>
            <a:ext cx="56159" cy="723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7016115" y="3083814"/>
            <a:ext cx="56159" cy="71902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7065924" y="3073146"/>
            <a:ext cx="56159" cy="71475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7115734" y="3062478"/>
            <a:ext cx="56159" cy="7104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7165543" y="3051810"/>
            <a:ext cx="56159" cy="7062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7215353" y="3041142"/>
            <a:ext cx="56159" cy="7019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7265162" y="3030474"/>
            <a:ext cx="56159" cy="6976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7314971" y="3019806"/>
            <a:ext cx="56159" cy="6934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7364781" y="3009138"/>
            <a:ext cx="56159" cy="6891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7414590" y="2998470"/>
            <a:ext cx="56159" cy="6848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7464400" y="2987802"/>
            <a:ext cx="56159" cy="6806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7514209" y="2977134"/>
            <a:ext cx="56159" cy="6763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7564018" y="2966466"/>
            <a:ext cx="56159" cy="6720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7613828" y="2955798"/>
            <a:ext cx="56159" cy="6678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7663637" y="2945130"/>
            <a:ext cx="56159" cy="6635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7713447" y="2934462"/>
            <a:ext cx="56159" cy="6592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7763256" y="2923794"/>
            <a:ext cx="56159" cy="6550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7813065" y="2913126"/>
            <a:ext cx="56159" cy="65074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7862875" y="2902458"/>
            <a:ext cx="56159" cy="6464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7912684" y="2891790"/>
            <a:ext cx="56159" cy="6422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177" name="Text 175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5" name="Text 23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" name="Text 25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75938" y="44881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179860" y="29768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22848" y="3762756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265835" y="207010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752563" y="418592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586953" y="267462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527523" y="497179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79108" y="327914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119785" y="21717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6301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629123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880708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5" name="Text 23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" name="Text 25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988914" y="3528822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85141" y="247280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78004" y="4011361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36604" y="2833624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47565" y="3147597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160561" y="1964825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54565" y="4898839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223360" y="4435602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58382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72323" y="2978031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028721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424716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012251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119785" y="22769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702080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430116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5900" y="0"/>
                </a:moveTo>
                <a:lnTo>
                  <a:pt x="1637972" y="7802"/>
                </a:lnTo>
                <a:lnTo>
                  <a:pt x="1788447" y="31127"/>
                </a:lnTo>
                <a:lnTo>
                  <a:pt x="1935745" y="69730"/>
                </a:lnTo>
                <a:lnTo>
                  <a:pt x="2078318" y="123204"/>
                </a:lnTo>
                <a:lnTo>
                  <a:pt x="2214670" y="190990"/>
                </a:lnTo>
                <a:lnTo>
                  <a:pt x="2343369" y="272374"/>
                </a:lnTo>
                <a:lnTo>
                  <a:pt x="2463063" y="366502"/>
                </a:lnTo>
                <a:lnTo>
                  <a:pt x="2572495" y="472386"/>
                </a:lnTo>
                <a:lnTo>
                  <a:pt x="2670516" y="588914"/>
                </a:lnTo>
                <a:lnTo>
                  <a:pt x="2756096" y="714861"/>
                </a:lnTo>
                <a:lnTo>
                  <a:pt x="2828337" y="848906"/>
                </a:lnTo>
                <a:lnTo>
                  <a:pt x="2886480" y="989640"/>
                </a:lnTo>
                <a:lnTo>
                  <a:pt x="2929915" y="1135586"/>
                </a:lnTo>
                <a:lnTo>
                  <a:pt x="2958185" y="1285211"/>
                </a:lnTo>
                <a:lnTo>
                  <a:pt x="2970993" y="1436943"/>
                </a:lnTo>
                <a:lnTo>
                  <a:pt x="2968206" y="1589189"/>
                </a:lnTo>
                <a:lnTo>
                  <a:pt x="2949851" y="1740351"/>
                </a:lnTo>
                <a:lnTo>
                  <a:pt x="2916123" y="188884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2916123" y="1888841"/>
                </a:moveTo>
                <a:lnTo>
                  <a:pt x="2868374" y="2030569"/>
                </a:lnTo>
                <a:lnTo>
                  <a:pt x="2806621" y="2166779"/>
                </a:lnTo>
                <a:lnTo>
                  <a:pt x="2731488" y="2296092"/>
                </a:lnTo>
                <a:lnTo>
                  <a:pt x="2643736" y="2417197"/>
                </a:lnTo>
                <a:lnTo>
                  <a:pt x="2544256" y="2528868"/>
                </a:lnTo>
                <a:lnTo>
                  <a:pt x="2434054" y="2629973"/>
                </a:lnTo>
                <a:lnTo>
                  <a:pt x="2314247" y="2719488"/>
                </a:lnTo>
                <a:lnTo>
                  <a:pt x="2186049" y="2796507"/>
                </a:lnTo>
                <a:lnTo>
                  <a:pt x="2050757" y="2860249"/>
                </a:lnTo>
                <a:lnTo>
                  <a:pt x="1909744" y="2910068"/>
                </a:lnTo>
                <a:lnTo>
                  <a:pt x="1764437" y="2945460"/>
                </a:lnTo>
                <a:lnTo>
                  <a:pt x="1616308" y="2966066"/>
                </a:lnTo>
                <a:lnTo>
                  <a:pt x="1466858" y="2971678"/>
                </a:lnTo>
                <a:lnTo>
                  <a:pt x="1317601" y="2962238"/>
                </a:lnTo>
                <a:lnTo>
                  <a:pt x="1170049" y="2937843"/>
                </a:lnTo>
                <a:lnTo>
                  <a:pt x="1025697" y="2898738"/>
                </a:lnTo>
                <a:lnTo>
                  <a:pt x="886007" y="2845321"/>
                </a:lnTo>
                <a:lnTo>
                  <a:pt x="752393" y="2778133"/>
                </a:lnTo>
                <a:lnTo>
                  <a:pt x="626211" y="2697854"/>
                </a:lnTo>
                <a:lnTo>
                  <a:pt x="508737" y="2605298"/>
                </a:lnTo>
                <a:lnTo>
                  <a:pt x="401163" y="2501402"/>
                </a:lnTo>
                <a:lnTo>
                  <a:pt x="304577" y="2387218"/>
                </a:lnTo>
                <a:lnTo>
                  <a:pt x="219958" y="2263904"/>
                </a:lnTo>
                <a:lnTo>
                  <a:pt x="148164" y="2132708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164" y="2132708"/>
                </a:moveTo>
                <a:lnTo>
                  <a:pt x="88992" y="1992403"/>
                </a:lnTo>
                <a:lnTo>
                  <a:pt x="44489" y="1846779"/>
                </a:lnTo>
                <a:lnTo>
                  <a:pt x="15124" y="1697366"/>
                </a:lnTo>
                <a:lnTo>
                  <a:pt x="1205" y="1545731"/>
                </a:lnTo>
                <a:lnTo>
                  <a:pt x="2878" y="1393468"/>
                </a:lnTo>
                <a:lnTo>
                  <a:pt x="20125" y="1242176"/>
                </a:lnTo>
                <a:lnTo>
                  <a:pt x="52765" y="1093444"/>
                </a:lnTo>
                <a:lnTo>
                  <a:pt x="100455" y="948833"/>
                </a:lnTo>
                <a:lnTo>
                  <a:pt x="162695" y="809862"/>
                </a:lnTo>
                <a:lnTo>
                  <a:pt x="238831" y="677990"/>
                </a:lnTo>
                <a:lnTo>
                  <a:pt x="328064" y="554603"/>
                </a:lnTo>
                <a:lnTo>
                  <a:pt x="429455" y="440997"/>
                </a:lnTo>
                <a:lnTo>
                  <a:pt x="541941" y="338363"/>
                </a:lnTo>
                <a:lnTo>
                  <a:pt x="664341" y="247781"/>
                </a:lnTo>
                <a:lnTo>
                  <a:pt x="795368" y="17020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795368" y="170201"/>
                </a:moveTo>
                <a:lnTo>
                  <a:pt x="925575" y="109697"/>
                </a:lnTo>
                <a:lnTo>
                  <a:pt x="1061013" y="62043"/>
                </a:lnTo>
                <a:lnTo>
                  <a:pt x="1200419" y="27682"/>
                </a:lnTo>
                <a:lnTo>
                  <a:pt x="1342490" y="6937"/>
                </a:lnTo>
                <a:lnTo>
                  <a:pt x="1485900" y="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5900" y="0"/>
                </a:moveTo>
                <a:lnTo>
                  <a:pt x="1637972" y="7802"/>
                </a:lnTo>
                <a:lnTo>
                  <a:pt x="1788447" y="31127"/>
                </a:lnTo>
                <a:lnTo>
                  <a:pt x="1935745" y="69730"/>
                </a:lnTo>
                <a:lnTo>
                  <a:pt x="2078318" y="123204"/>
                </a:lnTo>
                <a:lnTo>
                  <a:pt x="2214670" y="190990"/>
                </a:lnTo>
                <a:lnTo>
                  <a:pt x="2343369" y="272374"/>
                </a:lnTo>
                <a:lnTo>
                  <a:pt x="2463063" y="366502"/>
                </a:lnTo>
                <a:lnTo>
                  <a:pt x="2572495" y="472386"/>
                </a:lnTo>
                <a:lnTo>
                  <a:pt x="2670516" y="588914"/>
                </a:lnTo>
                <a:lnTo>
                  <a:pt x="2756096" y="714861"/>
                </a:lnTo>
                <a:lnTo>
                  <a:pt x="2828337" y="848906"/>
                </a:lnTo>
                <a:lnTo>
                  <a:pt x="2886480" y="989640"/>
                </a:lnTo>
                <a:lnTo>
                  <a:pt x="2929915" y="1135586"/>
                </a:lnTo>
                <a:lnTo>
                  <a:pt x="2958185" y="1285211"/>
                </a:lnTo>
                <a:lnTo>
                  <a:pt x="2970993" y="1436943"/>
                </a:lnTo>
                <a:lnTo>
                  <a:pt x="2968206" y="1589189"/>
                </a:lnTo>
                <a:lnTo>
                  <a:pt x="2949851" y="1740351"/>
                </a:lnTo>
                <a:lnTo>
                  <a:pt x="2916123" y="188884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2916123" y="1888841"/>
                </a:moveTo>
                <a:lnTo>
                  <a:pt x="2868374" y="2030569"/>
                </a:lnTo>
                <a:lnTo>
                  <a:pt x="2806621" y="2166779"/>
                </a:lnTo>
                <a:lnTo>
                  <a:pt x="2731488" y="2296092"/>
                </a:lnTo>
                <a:lnTo>
                  <a:pt x="2643736" y="2417197"/>
                </a:lnTo>
                <a:lnTo>
                  <a:pt x="2544256" y="2528868"/>
                </a:lnTo>
                <a:lnTo>
                  <a:pt x="2434054" y="2629973"/>
                </a:lnTo>
                <a:lnTo>
                  <a:pt x="2314247" y="2719488"/>
                </a:lnTo>
                <a:lnTo>
                  <a:pt x="2186049" y="2796507"/>
                </a:lnTo>
                <a:lnTo>
                  <a:pt x="2050757" y="2860249"/>
                </a:lnTo>
                <a:lnTo>
                  <a:pt x="1909744" y="2910068"/>
                </a:lnTo>
                <a:lnTo>
                  <a:pt x="1764437" y="2945460"/>
                </a:lnTo>
                <a:lnTo>
                  <a:pt x="1616308" y="2966066"/>
                </a:lnTo>
                <a:lnTo>
                  <a:pt x="1466858" y="2971678"/>
                </a:lnTo>
                <a:lnTo>
                  <a:pt x="1317601" y="2962238"/>
                </a:lnTo>
                <a:lnTo>
                  <a:pt x="1170049" y="2937843"/>
                </a:lnTo>
                <a:lnTo>
                  <a:pt x="1025697" y="2898738"/>
                </a:lnTo>
                <a:lnTo>
                  <a:pt x="886007" y="2845321"/>
                </a:lnTo>
                <a:lnTo>
                  <a:pt x="752393" y="2778133"/>
                </a:lnTo>
                <a:lnTo>
                  <a:pt x="626211" y="2697854"/>
                </a:lnTo>
                <a:lnTo>
                  <a:pt x="508737" y="2605298"/>
                </a:lnTo>
                <a:lnTo>
                  <a:pt x="401163" y="2501402"/>
                </a:lnTo>
                <a:lnTo>
                  <a:pt x="304577" y="2387218"/>
                </a:lnTo>
                <a:lnTo>
                  <a:pt x="219958" y="2263904"/>
                </a:lnTo>
                <a:lnTo>
                  <a:pt x="148164" y="2132708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164" y="2132708"/>
                </a:moveTo>
                <a:lnTo>
                  <a:pt x="88992" y="1992403"/>
                </a:lnTo>
                <a:lnTo>
                  <a:pt x="44489" y="1846779"/>
                </a:lnTo>
                <a:lnTo>
                  <a:pt x="15124" y="1697366"/>
                </a:lnTo>
                <a:lnTo>
                  <a:pt x="1205" y="1545731"/>
                </a:lnTo>
                <a:lnTo>
                  <a:pt x="2878" y="1393468"/>
                </a:lnTo>
                <a:lnTo>
                  <a:pt x="20125" y="1242176"/>
                </a:lnTo>
                <a:lnTo>
                  <a:pt x="52765" y="1093444"/>
                </a:lnTo>
                <a:lnTo>
                  <a:pt x="100455" y="948833"/>
                </a:lnTo>
                <a:lnTo>
                  <a:pt x="162695" y="809862"/>
                </a:lnTo>
                <a:lnTo>
                  <a:pt x="238831" y="677990"/>
                </a:lnTo>
                <a:lnTo>
                  <a:pt x="328064" y="554603"/>
                </a:lnTo>
                <a:lnTo>
                  <a:pt x="429455" y="440997"/>
                </a:lnTo>
                <a:lnTo>
                  <a:pt x="541941" y="338363"/>
                </a:lnTo>
                <a:lnTo>
                  <a:pt x="664341" y="247781"/>
                </a:lnTo>
                <a:lnTo>
                  <a:pt x="795368" y="17020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795368" y="170201"/>
                </a:moveTo>
                <a:lnTo>
                  <a:pt x="925575" y="109697"/>
                </a:lnTo>
                <a:lnTo>
                  <a:pt x="1061013" y="62043"/>
                </a:lnTo>
                <a:lnTo>
                  <a:pt x="1200419" y="27682"/>
                </a:lnTo>
                <a:lnTo>
                  <a:pt x="1342490" y="6937"/>
                </a:lnTo>
                <a:lnTo>
                  <a:pt x="1485900" y="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Funnel — Sales pipeline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29228" y="1828800"/>
            <a:ext cx="5163820" cy="5384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200279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29228" y="2002790"/>
            <a:ext cx="5163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61992" y="2557780"/>
            <a:ext cx="3098292" cy="5384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3047848" y="273177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992" y="2731770"/>
            <a:ext cx="30982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138" y="236728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60.0%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93533" y="3286760"/>
            <a:ext cx="1635210" cy="5384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Text 9"/>
          <p:cNvSpPr/>
          <p:nvPr/>
        </p:nvSpPr>
        <p:spPr>
          <a:xfrm>
            <a:off x="3047848" y="346075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93533" y="3460750"/>
            <a:ext cx="16352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03138" y="309626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52.8%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02335" y="4015740"/>
            <a:ext cx="817605" cy="53848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5" name="Text 13"/>
          <p:cNvSpPr/>
          <p:nvPr/>
        </p:nvSpPr>
        <p:spPr>
          <a:xfrm>
            <a:off x="3047848" y="418973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Negotiation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02335" y="4189730"/>
            <a:ext cx="81760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3138" y="382524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50.0%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52947" y="4744720"/>
            <a:ext cx="516382" cy="53848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491871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52947" y="4918710"/>
            <a:ext cx="5163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03138" y="455422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63.2%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Share of revenue under subscription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3" name="Text 101"/>
          <p:cNvSpPr/>
          <p:nvPr/>
        </p:nvSpPr>
        <p:spPr>
          <a:xfrm>
            <a:off x="6629248" y="3263900"/>
            <a:ext cx="24892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68%</a:t>
            </a:r>
            <a:endParaRPr lang="en-US" sz="2600" dirty="0"/>
          </a:p>
        </p:txBody>
      </p:sp>
      <p:sp>
        <p:nvSpPr>
          <p:cNvPr id="104" name="Text 102"/>
          <p:cNvSpPr/>
          <p:nvPr/>
        </p:nvSpPr>
        <p:spPr>
          <a:xfrm>
            <a:off x="6629248" y="3683000"/>
            <a:ext cx="2489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Subscription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Treemap — Revenue by product 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20900" cy="346710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542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3111348" y="20066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206848" y="1828800"/>
            <a:ext cx="2476500" cy="1975757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44948" y="18542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244948" y="20066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206848" y="3817257"/>
            <a:ext cx="2476500" cy="1478643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44948" y="38426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244948" y="39950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696048" y="1828800"/>
            <a:ext cx="1409700" cy="172720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34148" y="18542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734148" y="20066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696048" y="3568700"/>
            <a:ext cx="1409700" cy="1074738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34148" y="35941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734148" y="37465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696048" y="4656138"/>
            <a:ext cx="1409700" cy="639763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34148" y="46815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Training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734148" y="48339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— Revenue by region and product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Violin — Response 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798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864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33776" y="4411980"/>
            <a:ext cx="1685544" cy="266700"/>
          </a:xfrm>
          <a:custGeom>
            <a:avLst/>
            <a:gdLst/>
            <a:ahLst/>
            <a:cxnLst/>
            <a:rect l="l" t="t" r="r" b="b"/>
            <a:pathLst>
              <a:path w="1685544" h="266700">
                <a:moveTo>
                  <a:pt x="1033777" y="266700"/>
                </a:moveTo>
                <a:lnTo>
                  <a:pt x="1070442" y="260032"/>
                </a:lnTo>
                <a:lnTo>
                  <a:pt x="1110864" y="253365"/>
                </a:lnTo>
                <a:lnTo>
                  <a:pt x="1154707" y="246697"/>
                </a:lnTo>
                <a:lnTo>
                  <a:pt x="1201478" y="240030"/>
                </a:lnTo>
                <a:lnTo>
                  <a:pt x="1250533" y="233362"/>
                </a:lnTo>
                <a:lnTo>
                  <a:pt x="1301085" y="226695"/>
                </a:lnTo>
                <a:lnTo>
                  <a:pt x="1352233" y="220027"/>
                </a:lnTo>
                <a:lnTo>
                  <a:pt x="1402991" y="213360"/>
                </a:lnTo>
                <a:lnTo>
                  <a:pt x="1452321" y="206693"/>
                </a:lnTo>
                <a:lnTo>
                  <a:pt x="1499178" y="200025"/>
                </a:lnTo>
                <a:lnTo>
                  <a:pt x="1542545" y="193357"/>
                </a:lnTo>
                <a:lnTo>
                  <a:pt x="1581477" y="186690"/>
                </a:lnTo>
                <a:lnTo>
                  <a:pt x="1615135" y="180022"/>
                </a:lnTo>
                <a:lnTo>
                  <a:pt x="1642818" y="173355"/>
                </a:lnTo>
                <a:lnTo>
                  <a:pt x="1663980" y="166687"/>
                </a:lnTo>
                <a:lnTo>
                  <a:pt x="1678251" y="160020"/>
                </a:lnTo>
                <a:lnTo>
                  <a:pt x="1685443" y="153352"/>
                </a:lnTo>
                <a:lnTo>
                  <a:pt x="1685544" y="146685"/>
                </a:lnTo>
                <a:lnTo>
                  <a:pt x="1678717" y="140018"/>
                </a:lnTo>
                <a:lnTo>
                  <a:pt x="1665279" y="133350"/>
                </a:lnTo>
                <a:lnTo>
                  <a:pt x="1645686" y="126682"/>
                </a:lnTo>
                <a:lnTo>
                  <a:pt x="1620508" y="120015"/>
                </a:lnTo>
                <a:lnTo>
                  <a:pt x="1590404" y="113347"/>
                </a:lnTo>
                <a:lnTo>
                  <a:pt x="1556094" y="106680"/>
                </a:lnTo>
                <a:lnTo>
                  <a:pt x="1518338" y="100013"/>
                </a:lnTo>
                <a:lnTo>
                  <a:pt x="1477903" y="93345"/>
                </a:lnTo>
                <a:lnTo>
                  <a:pt x="1435549" y="86677"/>
                </a:lnTo>
                <a:lnTo>
                  <a:pt x="1392006" y="80010"/>
                </a:lnTo>
                <a:lnTo>
                  <a:pt x="1347960" y="73343"/>
                </a:lnTo>
                <a:lnTo>
                  <a:pt x="1304039" y="66675"/>
                </a:lnTo>
                <a:lnTo>
                  <a:pt x="1260809" y="60007"/>
                </a:lnTo>
                <a:lnTo>
                  <a:pt x="1218766" y="53340"/>
                </a:lnTo>
                <a:lnTo>
                  <a:pt x="1178333" y="46672"/>
                </a:lnTo>
                <a:lnTo>
                  <a:pt x="1139866" y="40005"/>
                </a:lnTo>
                <a:lnTo>
                  <a:pt x="1103650" y="33337"/>
                </a:lnTo>
                <a:lnTo>
                  <a:pt x="1069902" y="26670"/>
                </a:lnTo>
                <a:lnTo>
                  <a:pt x="1038777" y="20002"/>
                </a:lnTo>
                <a:lnTo>
                  <a:pt x="1010369" y="13335"/>
                </a:lnTo>
                <a:lnTo>
                  <a:pt x="984716" y="6668"/>
                </a:lnTo>
                <a:lnTo>
                  <a:pt x="961801" y="0"/>
                </a:lnTo>
                <a:lnTo>
                  <a:pt x="723743" y="0"/>
                </a:lnTo>
                <a:lnTo>
                  <a:pt x="700828" y="6668"/>
                </a:lnTo>
                <a:lnTo>
                  <a:pt x="675175" y="13335"/>
                </a:lnTo>
                <a:lnTo>
                  <a:pt x="646767" y="20002"/>
                </a:lnTo>
                <a:lnTo>
                  <a:pt x="615642" y="26670"/>
                </a:lnTo>
                <a:lnTo>
                  <a:pt x="581894" y="33337"/>
                </a:lnTo>
                <a:lnTo>
                  <a:pt x="545678" y="40005"/>
                </a:lnTo>
                <a:lnTo>
                  <a:pt x="507211" y="46672"/>
                </a:lnTo>
                <a:lnTo>
                  <a:pt x="466778" y="53340"/>
                </a:lnTo>
                <a:lnTo>
                  <a:pt x="424735" y="60007"/>
                </a:lnTo>
                <a:lnTo>
                  <a:pt x="381505" y="66675"/>
                </a:lnTo>
                <a:lnTo>
                  <a:pt x="337584" y="73343"/>
                </a:lnTo>
                <a:lnTo>
                  <a:pt x="293538" y="80010"/>
                </a:lnTo>
                <a:lnTo>
                  <a:pt x="249995" y="86677"/>
                </a:lnTo>
                <a:lnTo>
                  <a:pt x="207641" y="93345"/>
                </a:lnTo>
                <a:lnTo>
                  <a:pt x="167206" y="100013"/>
                </a:lnTo>
                <a:lnTo>
                  <a:pt x="129450" y="106680"/>
                </a:lnTo>
                <a:lnTo>
                  <a:pt x="95140" y="113347"/>
                </a:lnTo>
                <a:lnTo>
                  <a:pt x="65036" y="120015"/>
                </a:lnTo>
                <a:lnTo>
                  <a:pt x="39858" y="126682"/>
                </a:lnTo>
                <a:lnTo>
                  <a:pt x="20265" y="133350"/>
                </a:lnTo>
                <a:lnTo>
                  <a:pt x="6827" y="140018"/>
                </a:lnTo>
                <a:lnTo>
                  <a:pt x="0" y="146685"/>
                </a:lnTo>
                <a:lnTo>
                  <a:pt x="101" y="153352"/>
                </a:lnTo>
                <a:lnTo>
                  <a:pt x="7293" y="160020"/>
                </a:lnTo>
                <a:lnTo>
                  <a:pt x="21564" y="166687"/>
                </a:lnTo>
                <a:lnTo>
                  <a:pt x="42726" y="173355"/>
                </a:lnTo>
                <a:lnTo>
                  <a:pt x="70409" y="180022"/>
                </a:lnTo>
                <a:lnTo>
                  <a:pt x="104067" y="186690"/>
                </a:lnTo>
                <a:lnTo>
                  <a:pt x="142999" y="193357"/>
                </a:lnTo>
                <a:lnTo>
                  <a:pt x="186366" y="200025"/>
                </a:lnTo>
                <a:lnTo>
                  <a:pt x="233223" y="206693"/>
                </a:lnTo>
                <a:lnTo>
                  <a:pt x="282553" y="213360"/>
                </a:lnTo>
                <a:lnTo>
                  <a:pt x="333311" y="220027"/>
                </a:lnTo>
                <a:lnTo>
                  <a:pt x="384459" y="226695"/>
                </a:lnTo>
                <a:lnTo>
                  <a:pt x="435011" y="233362"/>
                </a:lnTo>
                <a:lnTo>
                  <a:pt x="484066" y="240030"/>
                </a:lnTo>
                <a:lnTo>
                  <a:pt x="530837" y="246697"/>
                </a:lnTo>
                <a:lnTo>
                  <a:pt x="574680" y="253365"/>
                </a:lnTo>
                <a:lnTo>
                  <a:pt x="615102" y="260032"/>
                </a:lnTo>
                <a:lnTo>
                  <a:pt x="651767" y="266700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781577" y="4559332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40376" y="4007187"/>
            <a:ext cx="1685544" cy="396200"/>
          </a:xfrm>
          <a:custGeom>
            <a:avLst/>
            <a:gdLst/>
            <a:ahLst/>
            <a:cxnLst/>
            <a:rect l="l" t="t" r="r" b="b"/>
            <a:pathLst>
              <a:path w="1685544" h="396200">
                <a:moveTo>
                  <a:pt x="1014916" y="396200"/>
                </a:moveTo>
                <a:lnTo>
                  <a:pt x="1059531" y="386295"/>
                </a:lnTo>
                <a:lnTo>
                  <a:pt x="1110209" y="376390"/>
                </a:lnTo>
                <a:lnTo>
                  <a:pt x="1166302" y="366485"/>
                </a:lnTo>
                <a:lnTo>
                  <a:pt x="1226780" y="356580"/>
                </a:lnTo>
                <a:lnTo>
                  <a:pt x="1290238" y="346675"/>
                </a:lnTo>
                <a:lnTo>
                  <a:pt x="1354950" y="336770"/>
                </a:lnTo>
                <a:lnTo>
                  <a:pt x="1418936" y="326865"/>
                </a:lnTo>
                <a:lnTo>
                  <a:pt x="1480073" y="316960"/>
                </a:lnTo>
                <a:lnTo>
                  <a:pt x="1536219" y="307055"/>
                </a:lnTo>
                <a:lnTo>
                  <a:pt x="1585373" y="297150"/>
                </a:lnTo>
                <a:lnTo>
                  <a:pt x="1625829" y="287245"/>
                </a:lnTo>
                <a:lnTo>
                  <a:pt x="1656339" y="277340"/>
                </a:lnTo>
                <a:lnTo>
                  <a:pt x="1676240" y="267435"/>
                </a:lnTo>
                <a:lnTo>
                  <a:pt x="1685544" y="257530"/>
                </a:lnTo>
                <a:lnTo>
                  <a:pt x="1684948" y="247625"/>
                </a:lnTo>
                <a:lnTo>
                  <a:pt x="1675779" y="237720"/>
                </a:lnTo>
                <a:lnTo>
                  <a:pt x="1659845" y="227815"/>
                </a:lnTo>
                <a:lnTo>
                  <a:pt x="1639236" y="217910"/>
                </a:lnTo>
                <a:lnTo>
                  <a:pt x="1616068" y="208005"/>
                </a:lnTo>
                <a:lnTo>
                  <a:pt x="1592246" y="198100"/>
                </a:lnTo>
                <a:lnTo>
                  <a:pt x="1569247" y="188195"/>
                </a:lnTo>
                <a:lnTo>
                  <a:pt x="1547981" y="178290"/>
                </a:lnTo>
                <a:lnTo>
                  <a:pt x="1528744" y="168385"/>
                </a:lnTo>
                <a:lnTo>
                  <a:pt x="1511249" y="158480"/>
                </a:lnTo>
                <a:lnTo>
                  <a:pt x="1494746" y="148575"/>
                </a:lnTo>
                <a:lnTo>
                  <a:pt x="1478184" y="138670"/>
                </a:lnTo>
                <a:lnTo>
                  <a:pt x="1460396" y="128765"/>
                </a:lnTo>
                <a:lnTo>
                  <a:pt x="1440269" y="118860"/>
                </a:lnTo>
                <a:lnTo>
                  <a:pt x="1416889" y="108955"/>
                </a:lnTo>
                <a:lnTo>
                  <a:pt x="1389639" y="99050"/>
                </a:lnTo>
                <a:lnTo>
                  <a:pt x="1358252" y="89145"/>
                </a:lnTo>
                <a:lnTo>
                  <a:pt x="1322833" y="79240"/>
                </a:lnTo>
                <a:lnTo>
                  <a:pt x="1283834" y="69335"/>
                </a:lnTo>
                <a:lnTo>
                  <a:pt x="1242014" y="59430"/>
                </a:lnTo>
                <a:lnTo>
                  <a:pt x="1198367" y="49525"/>
                </a:lnTo>
                <a:lnTo>
                  <a:pt x="1154046" y="39620"/>
                </a:lnTo>
                <a:lnTo>
                  <a:pt x="1110263" y="29715"/>
                </a:lnTo>
                <a:lnTo>
                  <a:pt x="1068192" y="19810"/>
                </a:lnTo>
                <a:lnTo>
                  <a:pt x="1028879" y="9905"/>
                </a:lnTo>
                <a:lnTo>
                  <a:pt x="993161" y="0"/>
                </a:lnTo>
                <a:lnTo>
                  <a:pt x="692383" y="0"/>
                </a:lnTo>
                <a:lnTo>
                  <a:pt x="656665" y="9905"/>
                </a:lnTo>
                <a:lnTo>
                  <a:pt x="617352" y="19810"/>
                </a:lnTo>
                <a:lnTo>
                  <a:pt x="575281" y="29715"/>
                </a:lnTo>
                <a:lnTo>
                  <a:pt x="531498" y="39620"/>
                </a:lnTo>
                <a:lnTo>
                  <a:pt x="487177" y="49525"/>
                </a:lnTo>
                <a:lnTo>
                  <a:pt x="443530" y="59430"/>
                </a:lnTo>
                <a:lnTo>
                  <a:pt x="401710" y="69335"/>
                </a:lnTo>
                <a:lnTo>
                  <a:pt x="362711" y="79240"/>
                </a:lnTo>
                <a:lnTo>
                  <a:pt x="327292" y="89145"/>
                </a:lnTo>
                <a:lnTo>
                  <a:pt x="295905" y="99050"/>
                </a:lnTo>
                <a:lnTo>
                  <a:pt x="268655" y="108955"/>
                </a:lnTo>
                <a:lnTo>
                  <a:pt x="245275" y="118860"/>
                </a:lnTo>
                <a:lnTo>
                  <a:pt x="225148" y="128765"/>
                </a:lnTo>
                <a:lnTo>
                  <a:pt x="207360" y="138670"/>
                </a:lnTo>
                <a:lnTo>
                  <a:pt x="190798" y="148575"/>
                </a:lnTo>
                <a:lnTo>
                  <a:pt x="174295" y="158480"/>
                </a:lnTo>
                <a:lnTo>
                  <a:pt x="156800" y="168385"/>
                </a:lnTo>
                <a:lnTo>
                  <a:pt x="137563" y="178290"/>
                </a:lnTo>
                <a:lnTo>
                  <a:pt x="116297" y="188195"/>
                </a:lnTo>
                <a:lnTo>
                  <a:pt x="93298" y="198100"/>
                </a:lnTo>
                <a:lnTo>
                  <a:pt x="69476" y="208005"/>
                </a:lnTo>
                <a:lnTo>
                  <a:pt x="46308" y="217910"/>
                </a:lnTo>
                <a:lnTo>
                  <a:pt x="25699" y="227815"/>
                </a:lnTo>
                <a:lnTo>
                  <a:pt x="9765" y="237720"/>
                </a:lnTo>
                <a:lnTo>
                  <a:pt x="596" y="247625"/>
                </a:lnTo>
                <a:lnTo>
                  <a:pt x="0" y="257530"/>
                </a:lnTo>
                <a:lnTo>
                  <a:pt x="9304" y="267435"/>
                </a:lnTo>
                <a:lnTo>
                  <a:pt x="29205" y="277340"/>
                </a:lnTo>
                <a:lnTo>
                  <a:pt x="59715" y="287245"/>
                </a:lnTo>
                <a:lnTo>
                  <a:pt x="100171" y="297150"/>
                </a:lnTo>
                <a:lnTo>
                  <a:pt x="149325" y="307055"/>
                </a:lnTo>
                <a:lnTo>
                  <a:pt x="205471" y="316960"/>
                </a:lnTo>
                <a:lnTo>
                  <a:pt x="266608" y="326865"/>
                </a:lnTo>
                <a:lnTo>
                  <a:pt x="330594" y="336770"/>
                </a:lnTo>
                <a:lnTo>
                  <a:pt x="395306" y="346675"/>
                </a:lnTo>
                <a:lnTo>
                  <a:pt x="458764" y="356580"/>
                </a:lnTo>
                <a:lnTo>
                  <a:pt x="519242" y="366485"/>
                </a:lnTo>
                <a:lnTo>
                  <a:pt x="575335" y="376390"/>
                </a:lnTo>
                <a:lnTo>
                  <a:pt x="626013" y="386295"/>
                </a:lnTo>
                <a:lnTo>
                  <a:pt x="670628" y="396200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88177" y="423529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46976" y="2111998"/>
            <a:ext cx="1685544" cy="786154"/>
          </a:xfrm>
          <a:custGeom>
            <a:avLst/>
            <a:gdLst/>
            <a:ahLst/>
            <a:cxnLst/>
            <a:rect l="l" t="t" r="r" b="b"/>
            <a:pathLst>
              <a:path w="1685544" h="786154">
                <a:moveTo>
                  <a:pt x="965668" y="786154"/>
                </a:moveTo>
                <a:lnTo>
                  <a:pt x="993047" y="766500"/>
                </a:lnTo>
                <a:lnTo>
                  <a:pt x="1022653" y="746846"/>
                </a:lnTo>
                <a:lnTo>
                  <a:pt x="1053936" y="727192"/>
                </a:lnTo>
                <a:lnTo>
                  <a:pt x="1086385" y="707538"/>
                </a:lnTo>
                <a:lnTo>
                  <a:pt x="1119622" y="687884"/>
                </a:lnTo>
                <a:lnTo>
                  <a:pt x="1153474" y="668231"/>
                </a:lnTo>
                <a:lnTo>
                  <a:pt x="1188012" y="648577"/>
                </a:lnTo>
                <a:lnTo>
                  <a:pt x="1223519" y="628923"/>
                </a:lnTo>
                <a:lnTo>
                  <a:pt x="1260409" y="609269"/>
                </a:lnTo>
                <a:lnTo>
                  <a:pt x="1299095" y="589615"/>
                </a:lnTo>
                <a:lnTo>
                  <a:pt x="1339827" y="569961"/>
                </a:lnTo>
                <a:lnTo>
                  <a:pt x="1382533" y="550308"/>
                </a:lnTo>
                <a:lnTo>
                  <a:pt x="1426714" y="530654"/>
                </a:lnTo>
                <a:lnTo>
                  <a:pt x="1471401" y="511000"/>
                </a:lnTo>
                <a:lnTo>
                  <a:pt x="1515213" y="491346"/>
                </a:lnTo>
                <a:lnTo>
                  <a:pt x="1556508" y="471692"/>
                </a:lnTo>
                <a:lnTo>
                  <a:pt x="1593618" y="452038"/>
                </a:lnTo>
                <a:lnTo>
                  <a:pt x="1625100" y="432385"/>
                </a:lnTo>
                <a:lnTo>
                  <a:pt x="1649982" y="412731"/>
                </a:lnTo>
                <a:lnTo>
                  <a:pt x="1667910" y="393077"/>
                </a:lnTo>
                <a:lnTo>
                  <a:pt x="1679192" y="373423"/>
                </a:lnTo>
                <a:lnTo>
                  <a:pt x="1684681" y="353769"/>
                </a:lnTo>
                <a:lnTo>
                  <a:pt x="1685544" y="334115"/>
                </a:lnTo>
                <a:lnTo>
                  <a:pt x="1682958" y="314461"/>
                </a:lnTo>
                <a:lnTo>
                  <a:pt x="1677792" y="294808"/>
                </a:lnTo>
                <a:lnTo>
                  <a:pt x="1670364" y="275154"/>
                </a:lnTo>
                <a:lnTo>
                  <a:pt x="1660332" y="255500"/>
                </a:lnTo>
                <a:lnTo>
                  <a:pt x="1646737" y="235846"/>
                </a:lnTo>
                <a:lnTo>
                  <a:pt x="1628213" y="216192"/>
                </a:lnTo>
                <a:lnTo>
                  <a:pt x="1603290" y="196538"/>
                </a:lnTo>
                <a:lnTo>
                  <a:pt x="1570750" y="176885"/>
                </a:lnTo>
                <a:lnTo>
                  <a:pt x="1529935" y="157231"/>
                </a:lnTo>
                <a:lnTo>
                  <a:pt x="1480956" y="137577"/>
                </a:lnTo>
                <a:lnTo>
                  <a:pt x="1424765" y="117923"/>
                </a:lnTo>
                <a:lnTo>
                  <a:pt x="1363072" y="98269"/>
                </a:lnTo>
                <a:lnTo>
                  <a:pt x="1298140" y="78615"/>
                </a:lnTo>
                <a:lnTo>
                  <a:pt x="1232503" y="58962"/>
                </a:lnTo>
                <a:lnTo>
                  <a:pt x="1168667" y="39308"/>
                </a:lnTo>
                <a:lnTo>
                  <a:pt x="1108842" y="19654"/>
                </a:lnTo>
                <a:lnTo>
                  <a:pt x="1054739" y="0"/>
                </a:lnTo>
                <a:lnTo>
                  <a:pt x="630805" y="0"/>
                </a:lnTo>
                <a:lnTo>
                  <a:pt x="576702" y="19654"/>
                </a:lnTo>
                <a:lnTo>
                  <a:pt x="516877" y="39308"/>
                </a:lnTo>
                <a:lnTo>
                  <a:pt x="453041" y="58962"/>
                </a:lnTo>
                <a:lnTo>
                  <a:pt x="387404" y="78615"/>
                </a:lnTo>
                <a:lnTo>
                  <a:pt x="322472" y="98269"/>
                </a:lnTo>
                <a:lnTo>
                  <a:pt x="260779" y="117923"/>
                </a:lnTo>
                <a:lnTo>
                  <a:pt x="204588" y="137577"/>
                </a:lnTo>
                <a:lnTo>
                  <a:pt x="155609" y="157231"/>
                </a:lnTo>
                <a:lnTo>
                  <a:pt x="114794" y="176885"/>
                </a:lnTo>
                <a:lnTo>
                  <a:pt x="82254" y="196538"/>
                </a:lnTo>
                <a:lnTo>
                  <a:pt x="57331" y="216192"/>
                </a:lnTo>
                <a:lnTo>
                  <a:pt x="38807" y="235846"/>
                </a:lnTo>
                <a:lnTo>
                  <a:pt x="25212" y="255500"/>
                </a:lnTo>
                <a:lnTo>
                  <a:pt x="15180" y="275154"/>
                </a:lnTo>
                <a:lnTo>
                  <a:pt x="7752" y="294808"/>
                </a:lnTo>
                <a:lnTo>
                  <a:pt x="2586" y="314461"/>
                </a:lnTo>
                <a:lnTo>
                  <a:pt x="0" y="334115"/>
                </a:lnTo>
                <a:lnTo>
                  <a:pt x="863" y="353769"/>
                </a:lnTo>
                <a:lnTo>
                  <a:pt x="6352" y="373423"/>
                </a:lnTo>
                <a:lnTo>
                  <a:pt x="17634" y="393077"/>
                </a:lnTo>
                <a:lnTo>
                  <a:pt x="35562" y="412731"/>
                </a:lnTo>
                <a:lnTo>
                  <a:pt x="60444" y="432385"/>
                </a:lnTo>
                <a:lnTo>
                  <a:pt x="91926" y="452038"/>
                </a:lnTo>
                <a:lnTo>
                  <a:pt x="129036" y="471692"/>
                </a:lnTo>
                <a:lnTo>
                  <a:pt x="170331" y="491346"/>
                </a:lnTo>
                <a:lnTo>
                  <a:pt x="214143" y="511000"/>
                </a:lnTo>
                <a:lnTo>
                  <a:pt x="258830" y="530654"/>
                </a:lnTo>
                <a:lnTo>
                  <a:pt x="303011" y="550308"/>
                </a:lnTo>
                <a:lnTo>
                  <a:pt x="345717" y="569961"/>
                </a:lnTo>
                <a:lnTo>
                  <a:pt x="386449" y="589615"/>
                </a:lnTo>
                <a:lnTo>
                  <a:pt x="425135" y="609269"/>
                </a:lnTo>
                <a:lnTo>
                  <a:pt x="462025" y="628923"/>
                </a:lnTo>
                <a:lnTo>
                  <a:pt x="497532" y="648577"/>
                </a:lnTo>
                <a:lnTo>
                  <a:pt x="532070" y="668231"/>
                </a:lnTo>
                <a:lnTo>
                  <a:pt x="565922" y="687884"/>
                </a:lnTo>
                <a:lnTo>
                  <a:pt x="599159" y="707538"/>
                </a:lnTo>
                <a:lnTo>
                  <a:pt x="631608" y="727192"/>
                </a:lnTo>
                <a:lnTo>
                  <a:pt x="662891" y="746846"/>
                </a:lnTo>
                <a:lnTo>
                  <a:pt x="692497" y="766500"/>
                </a:lnTo>
                <a:lnTo>
                  <a:pt x="719876" y="78615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94777" y="247507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Candlestick — 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752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2772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791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11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831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6851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871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8890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910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74238" y="403860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23743" y="4251960"/>
            <a:ext cx="300990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76218" y="382524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25723" y="4251960"/>
            <a:ext cx="30099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8198" y="3611880"/>
            <a:ext cx="0" cy="10668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27703" y="3825240"/>
            <a:ext cx="30099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80178" y="3611880"/>
            <a:ext cx="0" cy="64008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683" y="3825240"/>
            <a:ext cx="30099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82158" y="339852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31663" y="3611880"/>
            <a:ext cx="300990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4138" y="297180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33643" y="3185160"/>
            <a:ext cx="300990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86118" y="275844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35623" y="3185160"/>
            <a:ext cx="30099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88098" y="318516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37603" y="3398520"/>
            <a:ext cx="300990" cy="42672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90078" y="339852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39583" y="3611880"/>
            <a:ext cx="300990" cy="21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792058" y="297180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41563" y="3185160"/>
            <a:ext cx="300990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2028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996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Grand total — sum of all category totals (top-right)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98533"/>
            <a:ext cx="453390" cy="1606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206716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154204"/>
            <a:ext cx="453390" cy="19511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4034552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970054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10913" y="3268980"/>
            <a:ext cx="453390" cy="18364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660113" y="409194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7003" y="3001169"/>
            <a:ext cx="453390" cy="21042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5126203" y="3958034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71518" y="2817019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9183" y="3383756"/>
            <a:ext cx="453390" cy="172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058383" y="414932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75273" y="2886393"/>
            <a:ext cx="453390" cy="22190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/>
          <p:nvPr/>
        </p:nvSpPr>
        <p:spPr>
          <a:xfrm>
            <a:off x="6524473" y="3900646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869788" y="2702243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103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507453" y="2771616"/>
            <a:ext cx="453390" cy="2333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7456653" y="384325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73543" y="2427288"/>
            <a:ext cx="453390" cy="26781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5" name="Text 23"/>
          <p:cNvSpPr/>
          <p:nvPr/>
        </p:nvSpPr>
        <p:spPr>
          <a:xfrm>
            <a:off x="7922743" y="3671094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268058" y="2243138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343748" y="1854200"/>
            <a:ext cx="3225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17128" y="3680619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717128" y="385278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397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IBCS scenarios — PY / AC / FC / PL by fill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539848" y="514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539848" y="3992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539848" y="28405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539848" y="168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971648" y="5270500"/>
            <a:ext cx="1657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628998" y="5270500"/>
            <a:ext cx="1657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270500"/>
            <a:ext cx="1657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943698" y="5270500"/>
            <a:ext cx="1657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54223" y="3390053"/>
            <a:ext cx="263525" cy="1842347"/>
          </a:xfrm>
          <a:prstGeom prst="rect">
            <a:avLst/>
          </a:prstGeom>
          <a:solidFill>
            <a:srgbClr val="BFC8D8"/>
          </a:solidFill>
          <a:ln/>
        </p:spPr>
      </p:sp>
      <p:sp>
        <p:nvSpPr>
          <p:cNvPr id="12" name="Text 10"/>
          <p:cNvSpPr/>
          <p:nvPr/>
        </p:nvSpPr>
        <p:spPr>
          <a:xfrm>
            <a:off x="3203423" y="4215977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530448" y="3343995"/>
            <a:ext cx="263525" cy="1888405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14" name="Text 12"/>
          <p:cNvSpPr/>
          <p:nvPr/>
        </p:nvSpPr>
        <p:spPr>
          <a:xfrm>
            <a:off x="3479648" y="4192947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082898" y="3274907"/>
            <a:ext cx="263525" cy="1957493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32098" y="4158403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911573" y="3274907"/>
            <a:ext cx="263525" cy="1957493"/>
          </a:xfrm>
          <a:prstGeom prst="rect">
            <a:avLst/>
          </a:prstGeom>
          <a:solidFill>
            <a:srgbClr val="BFC8D8"/>
          </a:solidFill>
          <a:ln/>
        </p:spPr>
      </p:sp>
      <p:sp>
        <p:nvSpPr>
          <p:cNvPr id="18" name="Text 16"/>
          <p:cNvSpPr/>
          <p:nvPr/>
        </p:nvSpPr>
        <p:spPr>
          <a:xfrm>
            <a:off x="4860773" y="4158403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187798" y="3205819"/>
            <a:ext cx="263525" cy="2026581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20" name="Text 18"/>
          <p:cNvSpPr/>
          <p:nvPr/>
        </p:nvSpPr>
        <p:spPr>
          <a:xfrm>
            <a:off x="5136998" y="4123859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740248" y="3159760"/>
            <a:ext cx="263525" cy="2072640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89448" y="4100830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568923" y="3159760"/>
            <a:ext cx="263525" cy="2072640"/>
          </a:xfrm>
          <a:prstGeom prst="rect">
            <a:avLst/>
          </a:prstGeom>
          <a:solidFill>
            <a:srgbClr val="BFC8D8"/>
          </a:solidFill>
          <a:ln/>
        </p:spPr>
      </p:sp>
      <p:sp>
        <p:nvSpPr>
          <p:cNvPr id="24" name="Text 22"/>
          <p:cNvSpPr/>
          <p:nvPr/>
        </p:nvSpPr>
        <p:spPr>
          <a:xfrm>
            <a:off x="6518123" y="4100830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45148" y="3021584"/>
            <a:ext cx="263525" cy="2210816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26" name="Text 24"/>
          <p:cNvSpPr/>
          <p:nvPr/>
        </p:nvSpPr>
        <p:spPr>
          <a:xfrm>
            <a:off x="6794348" y="4031742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96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397598" y="3044613"/>
            <a:ext cx="263525" cy="2187787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46798" y="4043257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226273" y="3044613"/>
            <a:ext cx="263525" cy="2187787"/>
          </a:xfrm>
          <a:prstGeom prst="rect">
            <a:avLst/>
          </a:prstGeom>
          <a:solidFill>
            <a:srgbClr val="BFC8D8"/>
          </a:solidFill>
          <a:ln/>
        </p:spPr>
      </p:sp>
      <p:sp>
        <p:nvSpPr>
          <p:cNvPr id="30" name="Text 28"/>
          <p:cNvSpPr/>
          <p:nvPr/>
        </p:nvSpPr>
        <p:spPr>
          <a:xfrm>
            <a:off x="8175473" y="4043257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778723" y="2883408"/>
            <a:ext cx="263525" cy="2348992"/>
          </a:xfrm>
          <a:prstGeom prst="rect">
            <a:avLst/>
          </a:prstGeom>
          <a:solidFill>
            <a:srgbClr val="91A3C1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727923" y="3962654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054948" y="2929467"/>
            <a:ext cx="263525" cy="2302933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004148" y="3985683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971648" y="5232400"/>
            <a:ext cx="6629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270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IBCS variance tier — actual vs plan (Δ below)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539848" y="46990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539848" y="31305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539848" y="1562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971648" y="5397500"/>
            <a:ext cx="15163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488028" y="5397500"/>
            <a:ext cx="15163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04408" y="5397500"/>
            <a:ext cx="15163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20788" y="5397500"/>
            <a:ext cx="15163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30728" y="2215642"/>
            <a:ext cx="492760" cy="2572258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11" name="Text 9"/>
          <p:cNvSpPr/>
          <p:nvPr/>
        </p:nvSpPr>
        <p:spPr>
          <a:xfrm>
            <a:off x="3179928" y="3406521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736188" y="2121535"/>
            <a:ext cx="492760" cy="2666365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85388" y="3359468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47108" y="2027428"/>
            <a:ext cx="492760" cy="2760472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15" name="Text 13"/>
          <p:cNvSpPr/>
          <p:nvPr/>
        </p:nvSpPr>
        <p:spPr>
          <a:xfrm>
            <a:off x="4696308" y="3312414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52568" y="2090166"/>
            <a:ext cx="492760" cy="2697734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01768" y="3343783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63488" y="1776476"/>
            <a:ext cx="492760" cy="3011424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19" name="Text 17"/>
          <p:cNvSpPr/>
          <p:nvPr/>
        </p:nvSpPr>
        <p:spPr>
          <a:xfrm>
            <a:off x="6212688" y="3186938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768948" y="1807845"/>
            <a:ext cx="492760" cy="2980055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18148" y="3202623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779868" y="1933321"/>
            <a:ext cx="492760" cy="2854579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23" name="Text 21"/>
          <p:cNvSpPr/>
          <p:nvPr/>
        </p:nvSpPr>
        <p:spPr>
          <a:xfrm>
            <a:off x="7729068" y="3265361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285328" y="1651000"/>
            <a:ext cx="492760" cy="3136900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34528" y="3124200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971648" y="5073650"/>
            <a:ext cx="60655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50743" y="5073650"/>
            <a:ext cx="758190" cy="4572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8" name="Text 26"/>
          <p:cNvSpPr/>
          <p:nvPr/>
        </p:nvSpPr>
        <p:spPr>
          <a:xfrm>
            <a:off x="2971648" y="5132070"/>
            <a:ext cx="15163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867123" y="5043170"/>
            <a:ext cx="758190" cy="30480"/>
          </a:xfrm>
          <a:prstGeom prst="rect">
            <a:avLst/>
          </a:prstGeom>
          <a:solidFill>
            <a:srgbClr val="0CA30C"/>
          </a:solidFill>
          <a:ln/>
        </p:spPr>
      </p:sp>
      <p:sp>
        <p:nvSpPr>
          <p:cNvPr id="30" name="Text 28"/>
          <p:cNvSpPr/>
          <p:nvPr/>
        </p:nvSpPr>
        <p:spPr>
          <a:xfrm>
            <a:off x="4488028" y="4909820"/>
            <a:ext cx="15163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CA3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383503" y="5058410"/>
            <a:ext cx="758190" cy="15240"/>
          </a:xfrm>
          <a:prstGeom prst="rect">
            <a:avLst/>
          </a:prstGeom>
          <a:solidFill>
            <a:srgbClr val="0CA30C"/>
          </a:solidFill>
          <a:ln/>
        </p:spPr>
      </p:sp>
      <p:sp>
        <p:nvSpPr>
          <p:cNvPr id="32" name="Text 30"/>
          <p:cNvSpPr/>
          <p:nvPr/>
        </p:nvSpPr>
        <p:spPr>
          <a:xfrm>
            <a:off x="6004408" y="4925060"/>
            <a:ext cx="15163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CA3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899883" y="5073650"/>
            <a:ext cx="758190" cy="13716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34" name="Text 32"/>
          <p:cNvSpPr/>
          <p:nvPr/>
        </p:nvSpPr>
        <p:spPr>
          <a:xfrm>
            <a:off x="7520788" y="5223510"/>
            <a:ext cx="15163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-9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971648" y="4787900"/>
            <a:ext cx="60655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087968" y="313372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(PL)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087968" y="33051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 (AC)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9627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30241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quadratic (degree 2) trend fit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74973" y="2722880"/>
            <a:ext cx="121682" cy="213798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296654" y="2936678"/>
            <a:ext cx="121682" cy="201974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418336" y="3138653"/>
            <a:ext cx="121682" cy="190151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4540018" y="3328803"/>
            <a:ext cx="121682" cy="178327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4661700" y="3507130"/>
            <a:ext cx="121682" cy="166503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83382" y="3673634"/>
            <a:ext cx="121682" cy="15468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905064" y="3828313"/>
            <a:ext cx="121682" cy="142856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5026746" y="3971169"/>
            <a:ext cx="121682" cy="131032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5148428" y="4102202"/>
            <a:ext cx="121682" cy="119209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5270109" y="4221410"/>
            <a:ext cx="121682" cy="107385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5391791" y="4328795"/>
            <a:ext cx="121682" cy="95561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5513473" y="4424356"/>
            <a:ext cx="121682" cy="83737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5635155" y="4508094"/>
            <a:ext cx="121682" cy="71914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5756837" y="4580007"/>
            <a:ext cx="121682" cy="6009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5878519" y="4640097"/>
            <a:ext cx="121682" cy="48266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000201" y="4688364"/>
            <a:ext cx="121682" cy="36443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121883" y="4724806"/>
            <a:ext cx="121682" cy="24619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43564" y="4749425"/>
            <a:ext cx="121682" cy="12795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365246" y="4762221"/>
            <a:ext cx="121682" cy="972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 flipV="1">
            <a:off x="6486928" y="4752340"/>
            <a:ext cx="121682" cy="10852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 flipV="1">
            <a:off x="6608610" y="4729664"/>
            <a:ext cx="121682" cy="22676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 flipV="1">
            <a:off x="6730292" y="4695165"/>
            <a:ext cx="121682" cy="345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 flipV="1">
            <a:off x="6851974" y="4648841"/>
            <a:ext cx="121682" cy="46323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 flipV="1">
            <a:off x="6973656" y="4590694"/>
            <a:ext cx="121682" cy="58147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 flipV="1">
            <a:off x="7095338" y="4520724"/>
            <a:ext cx="121682" cy="69971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 flipV="1">
            <a:off x="7217019" y="4438929"/>
            <a:ext cx="121682" cy="81794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 flipV="1">
            <a:off x="7338701" y="4345311"/>
            <a:ext cx="121682" cy="93618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 flipV="1">
            <a:off x="7460383" y="4239870"/>
            <a:ext cx="121682" cy="105442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 flipV="1">
            <a:off x="7582065" y="4122604"/>
            <a:ext cx="121682" cy="117265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 flipV="1">
            <a:off x="7703747" y="3993515"/>
            <a:ext cx="121682" cy="129089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 flipV="1">
            <a:off x="7825429" y="3852602"/>
            <a:ext cx="121682" cy="140913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 flipV="1">
            <a:off x="7947111" y="3699866"/>
            <a:ext cx="121682" cy="152737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 flipV="1">
            <a:off x="8068793" y="3535305"/>
            <a:ext cx="121682" cy="16456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 flipV="1">
            <a:off x="8190474" y="3358921"/>
            <a:ext cx="121682" cy="176384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 flipV="1">
            <a:off x="8312156" y="3170714"/>
            <a:ext cx="121682" cy="188208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 flipV="1">
            <a:off x="8433838" y="2970682"/>
            <a:ext cx="121682" cy="200031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 flipV="1">
            <a:off x="8555520" y="2758827"/>
            <a:ext cx="121682" cy="211855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 flipV="1">
            <a:off x="8677202" y="2535149"/>
            <a:ext cx="121682" cy="223679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 flipV="1">
            <a:off x="8798884" y="2299646"/>
            <a:ext cx="121682" cy="235502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 flipV="1">
            <a:off x="8920566" y="2052320"/>
            <a:ext cx="121682" cy="247326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0" name="Text 58"/>
          <p:cNvSpPr/>
          <p:nvPr/>
        </p:nvSpPr>
        <p:spPr>
          <a:xfrm>
            <a:off x="7695286" y="1905000"/>
            <a:ext cx="1346962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1.00 · quadratic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4136873" y="2654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832198" y="37922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27523" y="44424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222848" y="4686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918173" y="46050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613498" y="411734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308823" y="330454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004148" y="20040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238473" y="2609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4933798" y="374777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5629123" y="439801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6324448" y="4641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7019773" y="456057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7715098" y="407289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8410423" y="326009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8884768" y="195961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210560"/>
            <a:ext cx="958555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262B1"/>
          </a:solidFill>
          <a:ln/>
        </p:spPr>
      </p:sp>
      <p:sp>
        <p:nvSpPr>
          <p:cNvPr id="43" name="Text 41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64230" y="3787140"/>
            <a:ext cx="766844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819845" y="3600450"/>
            <a:ext cx="421764" cy="177800"/>
          </a:xfrm>
          <a:prstGeom prst="rect">
            <a:avLst/>
          </a:prstGeom>
          <a:solidFill>
            <a:srgbClr val="2262B1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1" name="Shape 49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52" name="Text 50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1556" y="4940300"/>
            <a:ext cx="1341977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58" name="Shape 56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7171" y="4753610"/>
            <a:ext cx="319518" cy="177800"/>
          </a:xfrm>
          <a:prstGeom prst="rect">
            <a:avLst/>
          </a:prstGeom>
          <a:solidFill>
            <a:srgbClr val="2262B1"/>
          </a:solidFill>
          <a:ln/>
        </p:spPr>
      </p:sp>
      <p:sp>
        <p:nvSpPr>
          <p:cNvPr id="60" name="Text 58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62" name="Shape 60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16200000">
            <a:off x="580714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5" name="Shape 63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rot="16200000">
            <a:off x="625447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8" name="Shape 66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047067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9581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963333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8744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84535" y="50927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27523" y="373803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70510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13498" y="292523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56485" y="238336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86135" y="50482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29123" y="3693583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72110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15098" y="2880783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58085" y="2338917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1403350" y="0"/>
                </a:moveTo>
                <a:lnTo>
                  <a:pt x="1547952" y="7470"/>
                </a:lnTo>
                <a:lnTo>
                  <a:pt x="1691015" y="29800"/>
                </a:lnTo>
                <a:lnTo>
                  <a:pt x="1831015" y="66752"/>
                </a:lnTo>
                <a:lnTo>
                  <a:pt x="1966462" y="117933"/>
                </a:lnTo>
                <a:lnTo>
                  <a:pt x="2095915" y="182799"/>
                </a:lnTo>
                <a:lnTo>
                  <a:pt x="2217995" y="260658"/>
                </a:lnTo>
                <a:lnTo>
                  <a:pt x="2331402" y="350682"/>
                </a:lnTo>
                <a:lnTo>
                  <a:pt x="2434930" y="451912"/>
                </a:lnTo>
                <a:lnTo>
                  <a:pt x="2527475" y="563271"/>
                </a:lnTo>
                <a:lnTo>
                  <a:pt x="2608054" y="683573"/>
                </a:lnTo>
                <a:lnTo>
                  <a:pt x="2675808" y="811537"/>
                </a:lnTo>
                <a:lnTo>
                  <a:pt x="2730015" y="945802"/>
                </a:lnTo>
                <a:lnTo>
                  <a:pt x="2770100" y="1084938"/>
                </a:lnTo>
                <a:lnTo>
                  <a:pt x="2795634" y="1227464"/>
                </a:lnTo>
                <a:lnTo>
                  <a:pt x="2806347" y="1371862"/>
                </a:lnTo>
                <a:lnTo>
                  <a:pt x="2802123" y="1516595"/>
                </a:lnTo>
                <a:lnTo>
                  <a:pt x="2783009" y="1660122"/>
                </a:lnTo>
                <a:lnTo>
                  <a:pt x="2749207" y="1800916"/>
                </a:lnTo>
                <a:lnTo>
                  <a:pt x="2701078" y="1937478"/>
                </a:lnTo>
                <a:lnTo>
                  <a:pt x="2639134" y="2068354"/>
                </a:lnTo>
                <a:lnTo>
                  <a:pt x="2564034" y="2192150"/>
                </a:lnTo>
                <a:lnTo>
                  <a:pt x="2476577" y="2307549"/>
                </a:lnTo>
                <a:lnTo>
                  <a:pt x="2377695" y="2413322"/>
                </a:lnTo>
                <a:lnTo>
                  <a:pt x="2268441" y="2508343"/>
                </a:lnTo>
                <a:lnTo>
                  <a:pt x="2149977" y="2591600"/>
                </a:lnTo>
                <a:lnTo>
                  <a:pt x="2023565" y="2662208"/>
                </a:lnTo>
                <a:lnTo>
                  <a:pt x="1890550" y="2719415"/>
                </a:lnTo>
                <a:lnTo>
                  <a:pt x="1752349" y="2762611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1752349" y="2762611"/>
                </a:moveTo>
                <a:lnTo>
                  <a:pt x="1610066" y="2791392"/>
                </a:lnTo>
                <a:lnTo>
                  <a:pt x="1465571" y="2805320"/>
                </a:lnTo>
                <a:lnTo>
                  <a:pt x="1320410" y="2804247"/>
                </a:lnTo>
                <a:lnTo>
                  <a:pt x="1176137" y="2788184"/>
                </a:lnTo>
                <a:lnTo>
                  <a:pt x="1034295" y="2757303"/>
                </a:lnTo>
                <a:lnTo>
                  <a:pt x="896402" y="2711935"/>
                </a:lnTo>
                <a:lnTo>
                  <a:pt x="763933" y="2652564"/>
                </a:lnTo>
                <a:lnTo>
                  <a:pt x="638306" y="2579827"/>
                </a:lnTo>
                <a:lnTo>
                  <a:pt x="520865" y="2494502"/>
                </a:lnTo>
                <a:lnTo>
                  <a:pt x="412867" y="2397500"/>
                </a:lnTo>
                <a:lnTo>
                  <a:pt x="315468" y="2289862"/>
                </a:lnTo>
                <a:lnTo>
                  <a:pt x="229708" y="2172737"/>
                </a:lnTo>
                <a:lnTo>
                  <a:pt x="156507" y="2047380"/>
                </a:lnTo>
                <a:lnTo>
                  <a:pt x="96648" y="1915132"/>
                </a:lnTo>
                <a:lnTo>
                  <a:pt x="50770" y="1777407"/>
                </a:lnTo>
                <a:lnTo>
                  <a:pt x="19365" y="1635680"/>
                </a:lnTo>
                <a:lnTo>
                  <a:pt x="2769" y="1491467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2769" y="1491467"/>
                </a:moveTo>
                <a:lnTo>
                  <a:pt x="1122" y="1347254"/>
                </a:lnTo>
                <a:lnTo>
                  <a:pt x="14284" y="1203632"/>
                </a:lnTo>
                <a:lnTo>
                  <a:pt x="42118" y="1062121"/>
                </a:lnTo>
                <a:lnTo>
                  <a:pt x="84328" y="924213"/>
                </a:lnTo>
                <a:lnTo>
                  <a:pt x="140470" y="791366"/>
                </a:lnTo>
                <a:lnTo>
                  <a:pt x="209950" y="664982"/>
                </a:lnTo>
                <a:lnTo>
                  <a:pt x="292034" y="546397"/>
                </a:lnTo>
                <a:lnTo>
                  <a:pt x="385856" y="436863"/>
                </a:lnTo>
                <a:lnTo>
                  <a:pt x="490424" y="337537"/>
                </a:lnTo>
                <a:lnTo>
                  <a:pt x="604635" y="249467"/>
                </a:lnTo>
                <a:lnTo>
                  <a:pt x="727281" y="173585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727281" y="173585"/>
                </a:moveTo>
                <a:lnTo>
                  <a:pt x="854116" y="111943"/>
                </a:lnTo>
                <a:lnTo>
                  <a:pt x="986497" y="63341"/>
                </a:lnTo>
                <a:lnTo>
                  <a:pt x="1123087" y="28270"/>
                </a:lnTo>
                <a:lnTo>
                  <a:pt x="1262507" y="7085"/>
                </a:lnTo>
                <a:lnTo>
                  <a:pt x="1403350" y="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Grouped boxplots (2024 vs 2025)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36066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333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3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87766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87766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48987" y="339852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48987" y="467868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79368" y="382524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9368" y="425196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58899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8899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20120" y="25450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20120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50501" y="3185160"/>
            <a:ext cx="616797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50501" y="361188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3003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3003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91253" y="36118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91253" y="489204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21634" y="403860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1634" y="446532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42663" y="31851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42663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03883" y="31851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03883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34264" y="361188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4264" y="403860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3796" y="233172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13796" y="382524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75017" y="23317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5017" y="42519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5398" y="2971800"/>
            <a:ext cx="616797" cy="85344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5398" y="339852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84929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84929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46150" y="33985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46150" y="46786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76531" y="382524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76531" y="425196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Dumbbell range (before vs after)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21583" y="345440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8583" y="34163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2383" y="3025140"/>
            <a:ext cx="0" cy="4800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583" y="297434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8583" y="293624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19853" y="285432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6853" y="281622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0653" y="2705100"/>
            <a:ext cx="0" cy="20002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9853" y="265430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6853" y="26162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18123" y="313436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5123" y="309626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68923" y="3185160"/>
            <a:ext cx="0" cy="12001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8123" y="3254375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5123" y="321627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16393" y="261429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3393" y="257619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67193" y="2305050"/>
            <a:ext cx="0" cy="36004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16393" y="225425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3393" y="221615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17128" y="221932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17128" y="257937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with confidence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3148" y="3431858"/>
            <a:ext cx="56515" cy="733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9" name="Shape 7"/>
          <p:cNvSpPr/>
          <p:nvPr/>
        </p:nvSpPr>
        <p:spPr>
          <a:xfrm>
            <a:off x="6133313" y="3413189"/>
            <a:ext cx="56515" cy="2200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0" name="Shape 8"/>
          <p:cNvSpPr/>
          <p:nvPr/>
        </p:nvSpPr>
        <p:spPr>
          <a:xfrm>
            <a:off x="6183478" y="3394519"/>
            <a:ext cx="56515" cy="366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643" y="3375851"/>
            <a:ext cx="56515" cy="5134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83808" y="3357182"/>
            <a:ext cx="56515" cy="6600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333973" y="3338513"/>
            <a:ext cx="56515" cy="806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4138" y="3319844"/>
            <a:ext cx="56515" cy="953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4303" y="3301175"/>
            <a:ext cx="56515" cy="11001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84468" y="3282506"/>
            <a:ext cx="56515" cy="12468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4633" y="3263837"/>
            <a:ext cx="56515" cy="1393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4798" y="3245168"/>
            <a:ext cx="56515" cy="15401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634963" y="3226499"/>
            <a:ext cx="56515" cy="16868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685128" y="3207830"/>
            <a:ext cx="56515" cy="18335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5293" y="3189161"/>
            <a:ext cx="56515" cy="19802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785458" y="3170492"/>
            <a:ext cx="56515" cy="21269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835623" y="3151823"/>
            <a:ext cx="56515" cy="22736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85788" y="3133154"/>
            <a:ext cx="56515" cy="24203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935953" y="3114485"/>
            <a:ext cx="56515" cy="25669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986118" y="3095816"/>
            <a:ext cx="56515" cy="2713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036283" y="3077147"/>
            <a:ext cx="56515" cy="28603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448" y="3058478"/>
            <a:ext cx="56515" cy="30070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136613" y="3039809"/>
            <a:ext cx="56515" cy="3153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6778" y="3021140"/>
            <a:ext cx="56515" cy="33004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236943" y="3002471"/>
            <a:ext cx="56515" cy="34471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87108" y="2982468"/>
            <a:ext cx="56515" cy="3600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3" name="Shape 31"/>
          <p:cNvSpPr/>
          <p:nvPr/>
        </p:nvSpPr>
        <p:spPr>
          <a:xfrm>
            <a:off x="7337273" y="2961132"/>
            <a:ext cx="56515" cy="37604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4" name="Shape 32"/>
          <p:cNvSpPr/>
          <p:nvPr/>
        </p:nvSpPr>
        <p:spPr>
          <a:xfrm>
            <a:off x="7387438" y="2939796"/>
            <a:ext cx="56515" cy="39204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437603" y="2918460"/>
            <a:ext cx="56515" cy="4080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87768" y="2897124"/>
            <a:ext cx="56515" cy="42405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537933" y="2875788"/>
            <a:ext cx="56515" cy="44005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588098" y="2854452"/>
            <a:ext cx="56515" cy="45605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9" name="Shape 37"/>
          <p:cNvSpPr/>
          <p:nvPr/>
        </p:nvSpPr>
        <p:spPr>
          <a:xfrm>
            <a:off x="7638263" y="2833116"/>
            <a:ext cx="56515" cy="47205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8428" y="2811780"/>
            <a:ext cx="56515" cy="48806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38593" y="2790444"/>
            <a:ext cx="56515" cy="50406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8758" y="2769108"/>
            <a:ext cx="56515" cy="52006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3" name="Shape 41"/>
          <p:cNvSpPr/>
          <p:nvPr/>
        </p:nvSpPr>
        <p:spPr>
          <a:xfrm>
            <a:off x="7838923" y="2747772"/>
            <a:ext cx="56515" cy="5360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4" name="Shape 42"/>
          <p:cNvSpPr/>
          <p:nvPr/>
        </p:nvSpPr>
        <p:spPr>
          <a:xfrm>
            <a:off x="7889088" y="2726436"/>
            <a:ext cx="56515" cy="55206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5" name="Shape 43"/>
          <p:cNvSpPr/>
          <p:nvPr/>
        </p:nvSpPr>
        <p:spPr>
          <a:xfrm>
            <a:off x="7939253" y="2705100"/>
            <a:ext cx="56515" cy="5680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89418" y="2683764"/>
            <a:ext cx="56515" cy="5840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39583" y="2662428"/>
            <a:ext cx="56515" cy="60007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8" name="Shape 46"/>
          <p:cNvSpPr/>
          <p:nvPr/>
        </p:nvSpPr>
        <p:spPr>
          <a:xfrm>
            <a:off x="8089748" y="2641092"/>
            <a:ext cx="56515" cy="6160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9" name="Shape 47"/>
          <p:cNvSpPr/>
          <p:nvPr/>
        </p:nvSpPr>
        <p:spPr>
          <a:xfrm>
            <a:off x="8139913" y="2619756"/>
            <a:ext cx="56515" cy="63207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0" name="Shape 48"/>
          <p:cNvSpPr/>
          <p:nvPr/>
        </p:nvSpPr>
        <p:spPr>
          <a:xfrm>
            <a:off x="8190078" y="2598420"/>
            <a:ext cx="56515" cy="64808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1" name="Shape 49"/>
          <p:cNvSpPr/>
          <p:nvPr/>
        </p:nvSpPr>
        <p:spPr>
          <a:xfrm>
            <a:off x="8240243" y="2577084"/>
            <a:ext cx="56515" cy="66408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90408" y="2555748"/>
            <a:ext cx="56515" cy="68008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3" name="Shape 51"/>
          <p:cNvSpPr/>
          <p:nvPr/>
        </p:nvSpPr>
        <p:spPr>
          <a:xfrm>
            <a:off x="8340573" y="2534412"/>
            <a:ext cx="56515" cy="69608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4" name="Shape 52"/>
          <p:cNvSpPr/>
          <p:nvPr/>
        </p:nvSpPr>
        <p:spPr>
          <a:xfrm>
            <a:off x="8390738" y="2513076"/>
            <a:ext cx="56515" cy="71208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5" name="Shape 53"/>
          <p:cNvSpPr/>
          <p:nvPr/>
        </p:nvSpPr>
        <p:spPr>
          <a:xfrm>
            <a:off x="8440903" y="2491740"/>
            <a:ext cx="56515" cy="72809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6" name="Shape 54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3644748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4228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3675228" y="363321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8708" y="36027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98188" y="342366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 flipV="1">
            <a:off x="4879188" y="3441192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52668" y="3410712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02148" y="323164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 flipV="1">
            <a:off x="6083148" y="3185160"/>
            <a:ext cx="1203960" cy="256032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256628" y="315468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0610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 flipV="1">
            <a:off x="7287108" y="2897124"/>
            <a:ext cx="1203960" cy="288036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8460588" y="2866644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110068" y="2687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Budget-vs-actual bridge (gap to target)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73908" y="3270504"/>
            <a:ext cx="80264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3197708" y="40927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76548" y="3270504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1" name="Shape 9"/>
          <p:cNvSpPr/>
          <p:nvPr/>
        </p:nvSpPr>
        <p:spPr>
          <a:xfrm>
            <a:off x="4477868" y="2971800"/>
            <a:ext cx="80264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401668" y="30259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0508" y="2971800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5681828" y="2779776"/>
            <a:ext cx="80264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628" y="2780538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84468" y="2779776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6885788" y="2779776"/>
            <a:ext cx="80264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6809588" y="281254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8428" y="3035808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0" name="Shape 18"/>
          <p:cNvSpPr/>
          <p:nvPr/>
        </p:nvSpPr>
        <p:spPr>
          <a:xfrm>
            <a:off x="8089748" y="3035808"/>
            <a:ext cx="802640" cy="2069592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1" name="Text 19"/>
          <p:cNvSpPr/>
          <p:nvPr/>
        </p:nvSpPr>
        <p:spPr>
          <a:xfrm>
            <a:off x="8013548" y="3975354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60868" y="275844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89748" y="2758440"/>
            <a:ext cx="802640" cy="277368"/>
          </a:xfrm>
          <a:prstGeom prst="rect">
            <a:avLst/>
          </a:prstGeom>
          <a:solidFill>
            <a:srgbClr val="898781"/>
          </a:solidFill>
          <a:ln w="9525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38948" y="2567940"/>
            <a:ext cx="9042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 +13</a:t>
            </a:r>
            <a:endParaRPr lang="en-US" sz="9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with marginal totals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77187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5139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3092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solidFill>
            <a:srgbClr val="AABDE7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solidFill>
            <a:srgbClr val="8CA7E1"/>
          </a:solidFill>
          <a:ln/>
        </p:spPr>
      </p:sp>
      <p:sp>
        <p:nvSpPr>
          <p:cNvPr id="11" name="Text 9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solidFill>
            <a:srgbClr val="799BDE"/>
          </a:solidFill>
          <a:ln/>
        </p:spPr>
      </p:sp>
      <p:sp>
        <p:nvSpPr>
          <p:cNvPr id="13" name="Text 11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899833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22" name="Text 20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solidFill>
            <a:srgbClr val="C3CFEE"/>
          </a:solidFill>
          <a:ln/>
        </p:spPr>
      </p:sp>
      <p:sp>
        <p:nvSpPr>
          <p:cNvPr id="24" name="Text 22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805767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29" name="Text 27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solidFill>
            <a:srgbClr val="DCE3F4"/>
          </a:solidFill>
          <a:ln/>
        </p:spPr>
      </p:sp>
      <p:sp>
        <p:nvSpPr>
          <p:cNvPr id="31" name="Text 29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solidFill>
            <a:srgbClr val="CED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35848" y="1993900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8635848" y="1993900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35848" y="2899833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8635848" y="2899833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635848" y="3805767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9" name="Text 37"/>
          <p:cNvSpPr/>
          <p:nvPr/>
        </p:nvSpPr>
        <p:spPr>
          <a:xfrm>
            <a:off x="8635848" y="3805767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109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1" name="Text 39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3" name="Text 41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5" name="Text 43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111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7" name="Text 45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127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9" name="Shape 47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50" name="Shape 48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52" name="Shape 50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54" name="Shape 52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6" name="Shape 54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7" name="Shape 55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8" name="Shape 56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9" name="Shape 57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60" name="Shape 58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61" name="Shape 59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62" name="Shape 60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63" name="Shape 61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64" name="Shape 62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5" name="Shape 63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6" name="Shape 64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7" name="Shape 65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9" name="Shape 67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70" name="Shape 68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71" name="Shape 69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Text 70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Slope chart — market share, before vs after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27212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1012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91956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5756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41648" y="32013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272128" y="2288540"/>
            <a:ext cx="3647440" cy="9432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89088" y="22580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136566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95768" y="219329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31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1648" y="2662321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2128" y="2692801"/>
            <a:ext cx="3647440" cy="269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9088" y="293182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7848" y="2597551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995768" y="286705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41648" y="387510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272128" y="3501323"/>
            <a:ext cx="3647440" cy="4042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89088" y="347084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3810334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19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995768" y="3406073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22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41648" y="481838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72128" y="4040338"/>
            <a:ext cx="3647440" cy="808522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89088" y="4009858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47848" y="475361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95768" y="394508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internal market model, 2026</a:t>
            </a:r>
            <a:endParaRPr lang="en-US" sz="8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order mix by channel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248" y="3295650"/>
            <a:ext cx="11430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794348" y="32448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 52%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6629248" y="3511550"/>
            <a:ext cx="114300" cy="1143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Text 104"/>
          <p:cNvSpPr/>
          <p:nvPr/>
        </p:nvSpPr>
        <p:spPr>
          <a:xfrm>
            <a:off x="6794348" y="34607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 33%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629248" y="3727450"/>
            <a:ext cx="114300" cy="1143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8" name="Text 106"/>
          <p:cNvSpPr/>
          <p:nvPr/>
        </p:nvSpPr>
        <p:spPr>
          <a:xfrm>
            <a:off x="6794348" y="36766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 15%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Bar-of-pie — revenue with the long tail detailed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2646664" y="2322993"/>
                </a:moveTo>
                <a:lnTo>
                  <a:pt x="2550291" y="2442005"/>
                </a:lnTo>
                <a:lnTo>
                  <a:pt x="2442005" y="2550291"/>
                </a:lnTo>
                <a:lnTo>
                  <a:pt x="2322993" y="2646664"/>
                </a:lnTo>
                <a:lnTo>
                  <a:pt x="2194560" y="2730070"/>
                </a:lnTo>
                <a:lnTo>
                  <a:pt x="2058112" y="2799594"/>
                </a:lnTo>
                <a:lnTo>
                  <a:pt x="1915144" y="2854474"/>
                </a:lnTo>
                <a:lnTo>
                  <a:pt x="1767223" y="2894109"/>
                </a:lnTo>
                <a:lnTo>
                  <a:pt x="1615969" y="2918065"/>
                </a:lnTo>
                <a:lnTo>
                  <a:pt x="1463040" y="2926080"/>
                </a:lnTo>
                <a:lnTo>
                  <a:pt x="1310111" y="2918065"/>
                </a:lnTo>
                <a:lnTo>
                  <a:pt x="1158857" y="2894109"/>
                </a:lnTo>
                <a:lnTo>
                  <a:pt x="1010936" y="2854474"/>
                </a:lnTo>
                <a:lnTo>
                  <a:pt x="867968" y="2799594"/>
                </a:lnTo>
                <a:lnTo>
                  <a:pt x="731520" y="2730070"/>
                </a:lnTo>
                <a:lnTo>
                  <a:pt x="603087" y="2646664"/>
                </a:lnTo>
                <a:lnTo>
                  <a:pt x="484075" y="2550291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71744" y="437556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27%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484075" y="2550291"/>
                </a:moveTo>
                <a:lnTo>
                  <a:pt x="375789" y="2442005"/>
                </a:lnTo>
                <a:lnTo>
                  <a:pt x="279416" y="2322993"/>
                </a:lnTo>
                <a:lnTo>
                  <a:pt x="196010" y="2194560"/>
                </a:lnTo>
                <a:lnTo>
                  <a:pt x="126486" y="2058112"/>
                </a:lnTo>
                <a:lnTo>
                  <a:pt x="71606" y="1915144"/>
                </a:lnTo>
                <a:lnTo>
                  <a:pt x="31971" y="1767223"/>
                </a:lnTo>
                <a:lnTo>
                  <a:pt x="8015" y="1615969"/>
                </a:lnTo>
                <a:lnTo>
                  <a:pt x="0" y="1463040"/>
                </a:lnTo>
                <a:lnTo>
                  <a:pt x="8015" y="1310111"/>
                </a:lnTo>
                <a:lnTo>
                  <a:pt x="31971" y="1158857"/>
                </a:lnTo>
                <a:lnTo>
                  <a:pt x="71606" y="1010936"/>
                </a:lnTo>
                <a:lnTo>
                  <a:pt x="126486" y="867968"/>
                </a:lnTo>
                <a:lnTo>
                  <a:pt x="196010" y="731520"/>
                </a:lnTo>
                <a:lnTo>
                  <a:pt x="279416" y="603087"/>
                </a:lnTo>
                <a:lnTo>
                  <a:pt x="375789" y="484075"/>
                </a:lnTo>
                <a:lnTo>
                  <a:pt x="484075" y="375789"/>
                </a:lnTo>
                <a:lnTo>
                  <a:pt x="603087" y="279416"/>
                </a:lnTo>
                <a:lnTo>
                  <a:pt x="731520" y="196010"/>
                </a:lnTo>
                <a:lnTo>
                  <a:pt x="867968" y="126486"/>
                </a:lnTo>
                <a:lnTo>
                  <a:pt x="1010936" y="71606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52505" y="328485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33%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1010936" y="71606"/>
                </a:moveTo>
                <a:lnTo>
                  <a:pt x="1158857" y="31971"/>
                </a:lnTo>
                <a:lnTo>
                  <a:pt x="1310111" y="8015"/>
                </a:lnTo>
                <a:lnTo>
                  <a:pt x="1463040" y="0"/>
                </a:lnTo>
                <a:lnTo>
                  <a:pt x="1615969" y="8015"/>
                </a:lnTo>
                <a:lnTo>
                  <a:pt x="1767223" y="31971"/>
                </a:lnTo>
                <a:lnTo>
                  <a:pt x="1915144" y="71606"/>
                </a:lnTo>
                <a:lnTo>
                  <a:pt x="2058112" y="126486"/>
                </a:lnTo>
                <a:lnTo>
                  <a:pt x="2194560" y="196010"/>
                </a:lnTo>
                <a:lnTo>
                  <a:pt x="2322993" y="279416"/>
                </a:lnTo>
                <a:lnTo>
                  <a:pt x="2442005" y="375789"/>
                </a:lnTo>
                <a:lnTo>
                  <a:pt x="2550291" y="484075"/>
                </a:lnTo>
                <a:lnTo>
                  <a:pt x="2646664" y="603087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57232" y="261076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2646664" y="603087"/>
                </a:moveTo>
                <a:lnTo>
                  <a:pt x="2730070" y="731520"/>
                </a:lnTo>
                <a:lnTo>
                  <a:pt x="2799594" y="867968"/>
                </a:lnTo>
                <a:lnTo>
                  <a:pt x="2854474" y="1010936"/>
                </a:lnTo>
                <a:lnTo>
                  <a:pt x="2894109" y="1158857"/>
                </a:lnTo>
                <a:lnTo>
                  <a:pt x="2918065" y="1310111"/>
                </a:lnTo>
                <a:lnTo>
                  <a:pt x="2926080" y="1463040"/>
                </a:lnTo>
                <a:lnTo>
                  <a:pt x="2918065" y="1615969"/>
                </a:lnTo>
                <a:lnTo>
                  <a:pt x="2894109" y="1767223"/>
                </a:lnTo>
                <a:lnTo>
                  <a:pt x="2854474" y="1915144"/>
                </a:lnTo>
                <a:lnTo>
                  <a:pt x="2799594" y="2058112"/>
                </a:lnTo>
                <a:lnTo>
                  <a:pt x="2730070" y="2194560"/>
                </a:lnTo>
                <a:lnTo>
                  <a:pt x="2646664" y="2322993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89878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9722" y="3473450"/>
            <a:ext cx="668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20%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60272" y="2178812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060272" y="4428653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949288" y="2178812"/>
            <a:ext cx="355600" cy="926592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8388" y="254685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Nordics 7%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288" y="3105404"/>
            <a:ext cx="355600" cy="694944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8388" y="3357626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Benelux 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288" y="3800348"/>
            <a:ext cx="355600" cy="115824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8388" y="428421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DACH 8%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multiples — one panel per brand, shared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79648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796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58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120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81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32259" y="330461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3662739" y="2981036"/>
            <a:ext cx="366183" cy="3540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98443" y="295055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028923" y="2671233"/>
            <a:ext cx="366183" cy="30980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64626" y="26407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395106" y="2184400"/>
            <a:ext cx="366183" cy="48683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30809" y="2153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2181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53981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3981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3981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2181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2181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22181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22181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539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01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863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525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706593" y="3747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5737073" y="3689158"/>
            <a:ext cx="366183" cy="8851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72776" y="365867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03256" y="3689158"/>
            <a:ext cx="366183" cy="442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38959" y="370293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6469439" y="3556385"/>
            <a:ext cx="366183" cy="17703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05143" y="352590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53981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96514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628314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28314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28314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96514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196514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196514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196514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6283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9944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606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7268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780926" y="454382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7811406" y="4308764"/>
            <a:ext cx="366183" cy="265545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147109" y="427828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8177589" y="3954703"/>
            <a:ext cx="366183" cy="3540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13293" y="392422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8543773" y="3290839"/>
            <a:ext cx="366183" cy="663864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879476" y="326035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628314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085975" cy="16256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19843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565623" y="1879600"/>
            <a:ext cx="3476625" cy="16256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5616423" y="1905000"/>
            <a:ext cx="337502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2085975" cy="16256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530600"/>
            <a:ext cx="19843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565623" y="3505200"/>
            <a:ext cx="3476625" cy="16256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5616423" y="3530600"/>
            <a:ext cx="337502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565623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047067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39581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2963333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28744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663665" y="1857925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60919" y="2701617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72607" y="3007613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716998" y="3850779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19380" y="4699599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74281" y="206798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809752" y="288078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251313" y="3151717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134973" y="3964517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665316" y="4777317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line (staircase)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8694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9424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0153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0883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51613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52816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83296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90593" y="29718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0113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90593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97889" y="24384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7409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7889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5186" y="24384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4706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5186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12483" y="19050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82003" y="1874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12483" y="19050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19779" y="1905000"/>
            <a:ext cx="0" cy="2667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89299" y="21412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79648" y="5105400"/>
            <a:ext cx="48437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74228" y="208597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rate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area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422648"/>
            <a:ext cx="100253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973930" y="4145280"/>
            <a:ext cx="100253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5970118" y="3825240"/>
            <a:ext cx="100253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6966306" y="3526536"/>
            <a:ext cx="100253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977742" y="3633216"/>
            <a:ext cx="100253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Shape 18"/>
          <p:cNvSpPr/>
          <p:nvPr/>
        </p:nvSpPr>
        <p:spPr>
          <a:xfrm>
            <a:off x="4973930" y="3377184"/>
            <a:ext cx="100253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" name="Shape 19"/>
          <p:cNvSpPr/>
          <p:nvPr/>
        </p:nvSpPr>
        <p:spPr>
          <a:xfrm>
            <a:off x="5970118" y="3099816"/>
            <a:ext cx="100253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Shape 20"/>
          <p:cNvSpPr/>
          <p:nvPr/>
        </p:nvSpPr>
        <p:spPr>
          <a:xfrm>
            <a:off x="6966306" y="2886456"/>
            <a:ext cx="100253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Shape 21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value ticks on both flanks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25606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3563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6392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2777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7178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1991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96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120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48198" y="224282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34023"/>
            <a:ext cx="124348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4282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34023"/>
            <a:ext cx="1125061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4282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48198" y="285496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042178" y="2746163"/>
            <a:ext cx="180601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4042178" y="285496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43498" y="2746163"/>
            <a:ext cx="1924447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6343498" y="285496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848198" y="34671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49426" y="3358303"/>
            <a:ext cx="1598771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249426" y="346710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43498" y="3358303"/>
            <a:ext cx="1776413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6343498" y="346710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848198" y="407924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00778" y="3970443"/>
            <a:ext cx="947420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4900778" y="407924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43498" y="3970443"/>
            <a:ext cx="1213882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6343498" y="407924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848198" y="469138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92915" y="4582583"/>
            <a:ext cx="355282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492915" y="469138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43498" y="4582583"/>
            <a:ext cx="473710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7" name="Text 35"/>
          <p:cNvSpPr/>
          <p:nvPr/>
        </p:nvSpPr>
        <p:spPr>
          <a:xfrm>
            <a:off x="6343498" y="469138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8481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34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322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1275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04016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71973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44802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31187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85588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90401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2637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4961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overlap (Excel-style, 45%)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588706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43416" y="3065145"/>
            <a:ext cx="588706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592616" y="399002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588706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41686" y="2905125"/>
            <a:ext cx="588706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4990886" y="391001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588706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39956" y="2785110"/>
            <a:ext cx="588706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389156" y="385000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588706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38226" y="2305050"/>
            <a:ext cx="588706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787426" y="360997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Narrow gap width (histogram look, gapWidth 0)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73248" y="4411641"/>
            <a:ext cx="12954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2448" y="4663271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73248" y="3962739"/>
            <a:ext cx="12954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22448" y="40919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73248" y="3595455"/>
            <a:ext cx="12954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22448" y="368384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68648" y="4289213"/>
            <a:ext cx="12954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7848" y="460205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68648" y="3758692"/>
            <a:ext cx="12954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7848" y="3928703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68648" y="3411813"/>
            <a:ext cx="12954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7848" y="349000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4048" y="4146381"/>
            <a:ext cx="12954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13248" y="45306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048" y="3513836"/>
            <a:ext cx="12954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13248" y="3734858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4048" y="3126147"/>
            <a:ext cx="12954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13248" y="322474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959448" y="3962739"/>
            <a:ext cx="12954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8648" y="4438819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59448" y="3248575"/>
            <a:ext cx="12954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8648" y="351040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59448" y="2799673"/>
            <a:ext cx="12954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08648" y="2928874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with negative values (net income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46532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755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13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672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631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589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77581" y="3081147"/>
            <a:ext cx="56092" cy="760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927323" y="3129153"/>
            <a:ext cx="56092" cy="744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77064" y="3177159"/>
            <a:ext cx="56092" cy="7280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026806" y="3225165"/>
            <a:ext cx="56092" cy="7120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76548" y="3273171"/>
            <a:ext cx="56092" cy="6960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126289" y="3321177"/>
            <a:ext cx="56092" cy="6800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76031" y="3369183"/>
            <a:ext cx="56092" cy="664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225773" y="3417189"/>
            <a:ext cx="56092" cy="648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275514" y="3465195"/>
            <a:ext cx="56092" cy="6320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325256" y="3513201"/>
            <a:ext cx="56092" cy="6160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374998" y="3561207"/>
            <a:ext cx="56092" cy="600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424739" y="3609213"/>
            <a:ext cx="56092" cy="584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474481" y="3657219"/>
            <a:ext cx="56092" cy="5680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524223" y="3705225"/>
            <a:ext cx="56092" cy="5520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573964" y="3753231"/>
            <a:ext cx="56092" cy="5360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623706" y="3801237"/>
            <a:ext cx="56092" cy="5200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673448" y="3825240"/>
            <a:ext cx="56092" cy="526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723189" y="3825240"/>
            <a:ext cx="56092" cy="5540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72931" y="3825240"/>
            <a:ext cx="56092" cy="582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822673" y="3825240"/>
            <a:ext cx="56092" cy="61007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872414" y="3825240"/>
            <a:ext cx="56092" cy="638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2156" y="3825240"/>
            <a:ext cx="56092" cy="666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71898" y="3825240"/>
            <a:ext cx="56092" cy="6940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021639" y="3825240"/>
            <a:ext cx="56092" cy="722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071381" y="3825240"/>
            <a:ext cx="56092" cy="750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121123" y="3825240"/>
            <a:ext cx="56092" cy="7780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170864" y="3825240"/>
            <a:ext cx="56092" cy="8061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220606" y="3825240"/>
            <a:ext cx="56092" cy="8341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270348" y="3825240"/>
            <a:ext cx="56092" cy="8621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20089" y="3825240"/>
            <a:ext cx="56092" cy="8901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369831" y="3825240"/>
            <a:ext cx="56092" cy="918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19573" y="3825240"/>
            <a:ext cx="56092" cy="9461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469314" y="3817239"/>
            <a:ext cx="56092" cy="9381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19056" y="3801237"/>
            <a:ext cx="56092" cy="8941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68798" y="3785235"/>
            <a:ext cx="56092" cy="8501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18539" y="3769233"/>
            <a:ext cx="56092" cy="8061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68281" y="3753231"/>
            <a:ext cx="56092" cy="762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18023" y="3737229"/>
            <a:ext cx="56092" cy="718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7764" y="3721227"/>
            <a:ext cx="56092" cy="6740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17506" y="3705225"/>
            <a:ext cx="56092" cy="6300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67248" y="3689223"/>
            <a:ext cx="56092" cy="586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916989" y="3673221"/>
            <a:ext cx="56092" cy="5420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66731" y="3657219"/>
            <a:ext cx="56092" cy="498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6016473" y="3641217"/>
            <a:ext cx="56092" cy="4540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66214" y="3625215"/>
            <a:ext cx="56092" cy="4100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115956" y="3609213"/>
            <a:ext cx="56092" cy="3660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165698" y="3593211"/>
            <a:ext cx="56092" cy="3220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215439" y="3577209"/>
            <a:ext cx="56092" cy="2780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265181" y="3541205"/>
            <a:ext cx="56092" cy="2840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314923" y="3485198"/>
            <a:ext cx="56092" cy="3400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364664" y="3429191"/>
            <a:ext cx="56092" cy="3960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414406" y="3373184"/>
            <a:ext cx="56092" cy="4520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464148" y="3317177"/>
            <a:ext cx="56092" cy="5080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513889" y="3261170"/>
            <a:ext cx="56092" cy="564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563631" y="3205163"/>
            <a:ext cx="56092" cy="6200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613373" y="3149156"/>
            <a:ext cx="56092" cy="6760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663114" y="3093149"/>
            <a:ext cx="56092" cy="7320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712856" y="3037142"/>
            <a:ext cx="56092" cy="7880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762598" y="2981135"/>
            <a:ext cx="56092" cy="8441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812339" y="2925128"/>
            <a:ext cx="56092" cy="900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862081" y="2869121"/>
            <a:ext cx="56092" cy="9561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911823" y="2813114"/>
            <a:ext cx="56092" cy="10121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961564" y="2757107"/>
            <a:ext cx="56092" cy="1068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7011306" y="2701100"/>
            <a:ext cx="56092" cy="11241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7061048" y="2657094"/>
            <a:ext cx="56092" cy="11681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7110789" y="2625090"/>
            <a:ext cx="56092" cy="12001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160531" y="2593086"/>
            <a:ext cx="56092" cy="12321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210273" y="2561082"/>
            <a:ext cx="56092" cy="1264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260014" y="2529078"/>
            <a:ext cx="56092" cy="12961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309756" y="2497074"/>
            <a:ext cx="56092" cy="13281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359498" y="2465070"/>
            <a:ext cx="56092" cy="13601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409239" y="2433066"/>
            <a:ext cx="56092" cy="13921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458981" y="2401062"/>
            <a:ext cx="56092" cy="1424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508723" y="2369058"/>
            <a:ext cx="56092" cy="1456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558464" y="2337054"/>
            <a:ext cx="56092" cy="1488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608206" y="2305050"/>
            <a:ext cx="56092" cy="15201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657948" y="2273046"/>
            <a:ext cx="56092" cy="15521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707689" y="2241042"/>
            <a:ext cx="56092" cy="15841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757431" y="2209038"/>
            <a:ext cx="56092" cy="16162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807173" y="2177034"/>
            <a:ext cx="56092" cy="16482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3479648" y="382524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305648" y="290741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income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Trajectory trail (one entity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4805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3916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8303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741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1800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091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5298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440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4480560"/>
            <a:ext cx="1112520" cy="260096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6180000">
            <a:off x="3935641" y="4548243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4" name="Shape 22"/>
          <p:cNvSpPr/>
          <p:nvPr/>
        </p:nvSpPr>
        <p:spPr>
          <a:xfrm flipV="1">
            <a:off x="4592168" y="3830320"/>
            <a:ext cx="695325" cy="910336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2220000">
            <a:off x="4858194" y="4275059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6" name="Shape 24"/>
          <p:cNvSpPr/>
          <p:nvPr/>
        </p:nvSpPr>
        <p:spPr>
          <a:xfrm>
            <a:off x="5287493" y="3830320"/>
            <a:ext cx="1668780" cy="130048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5640000">
            <a:off x="6020436" y="3840597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8" name="Shape 26"/>
          <p:cNvSpPr/>
          <p:nvPr/>
        </p:nvSpPr>
        <p:spPr>
          <a:xfrm flipV="1">
            <a:off x="6956273" y="2854960"/>
            <a:ext cx="973455" cy="1105408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2460000">
            <a:off x="7358627" y="3394988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0" name="Shape 28"/>
          <p:cNvSpPr/>
          <p:nvPr/>
        </p:nvSpPr>
        <p:spPr>
          <a:xfrm flipV="1">
            <a:off x="7929728" y="2009648"/>
            <a:ext cx="1112520" cy="845312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3180000">
            <a:off x="8394739" y="2412238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2" name="Shape 30"/>
          <p:cNvSpPr/>
          <p:nvPr/>
        </p:nvSpPr>
        <p:spPr>
          <a:xfrm>
            <a:off x="3441548" y="44424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4068" y="470255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249393" y="37922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18173" y="392226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891628" y="28168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004148" y="197154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43148" y="43980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55668" y="46581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350993" y="37477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19773" y="3877818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993228" y="27724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679028" y="1927098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with jittered raw-data dots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415214" y="2865120"/>
            <a:ext cx="0" cy="56007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15214" y="414528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3662" y="28651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83662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00653" y="3425190"/>
            <a:ext cx="1029123" cy="72009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93341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78869" y="41262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87696" y="41262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73224" y="41262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58752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67578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253106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61933" y="34861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47461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132989" y="28460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286348" y="1905000"/>
            <a:ext cx="0" cy="56007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86348" y="350520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54795" y="19050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54795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771786" y="2465070"/>
            <a:ext cx="1029123" cy="104013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771786" y="318516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364475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50003" y="34861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558829" y="34861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244357" y="34861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29885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38712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124240" y="28460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633066" y="25260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18594" y="22059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004122" y="18859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71786" y="299466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8157481" y="350520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157481" y="446532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925928" y="35052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925928" y="47853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642919" y="382524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642919" y="414528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235608" y="47663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921136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429963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115491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801018" y="41262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309845" y="41262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995373" y="41262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04199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189727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875255" y="34861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642919" y="395478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color scale (a Color row)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36750"/>
            <a:ext cx="53975" cy="88900"/>
          </a:xfrm>
          <a:prstGeom prst="rect">
            <a:avLst/>
          </a:prstGeom>
          <a:solidFill>
            <a:srgbClr val="EFF2FA"/>
          </a:solidFill>
          <a:ln/>
        </p:spPr>
      </p:sp>
      <p:sp>
        <p:nvSpPr>
          <p:cNvPr id="23" name="Shape 21"/>
          <p:cNvSpPr/>
          <p:nvPr/>
        </p:nvSpPr>
        <p:spPr>
          <a:xfrm>
            <a:off x="3527273" y="1936750"/>
            <a:ext cx="53975" cy="88900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24" name="Shape 22"/>
          <p:cNvSpPr/>
          <p:nvPr/>
        </p:nvSpPr>
        <p:spPr>
          <a:xfrm>
            <a:off x="3574898" y="1936750"/>
            <a:ext cx="53975" cy="88900"/>
          </a:xfrm>
          <a:prstGeom prst="rect">
            <a:avLst/>
          </a:prstGeom>
          <a:solidFill>
            <a:srgbClr val="E6EBF7"/>
          </a:solidFill>
          <a:ln/>
        </p:spPr>
      </p:sp>
      <p:sp>
        <p:nvSpPr>
          <p:cNvPr id="25" name="Shape 23"/>
          <p:cNvSpPr/>
          <p:nvPr/>
        </p:nvSpPr>
        <p:spPr>
          <a:xfrm>
            <a:off x="3622523" y="1936750"/>
            <a:ext cx="53975" cy="88900"/>
          </a:xfrm>
          <a:prstGeom prst="rect">
            <a:avLst/>
          </a:prstGeom>
          <a:solidFill>
            <a:srgbClr val="E1E7F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70148" y="1936750"/>
            <a:ext cx="53975" cy="88900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27" name="Shape 25"/>
          <p:cNvSpPr/>
          <p:nvPr/>
        </p:nvSpPr>
        <p:spPr>
          <a:xfrm>
            <a:off x="3717773" y="1936750"/>
            <a:ext cx="53975" cy="889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28" name="Shape 26"/>
          <p:cNvSpPr/>
          <p:nvPr/>
        </p:nvSpPr>
        <p:spPr>
          <a:xfrm>
            <a:off x="3765398" y="1936750"/>
            <a:ext cx="53975" cy="88900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29" name="Shape 27"/>
          <p:cNvSpPr/>
          <p:nvPr/>
        </p:nvSpPr>
        <p:spPr>
          <a:xfrm>
            <a:off x="3813023" y="1936750"/>
            <a:ext cx="53975" cy="88900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30" name="Shape 28"/>
          <p:cNvSpPr/>
          <p:nvPr/>
        </p:nvSpPr>
        <p:spPr>
          <a:xfrm>
            <a:off x="3860648" y="1936750"/>
            <a:ext cx="53975" cy="88900"/>
          </a:xfrm>
          <a:prstGeom prst="rect">
            <a:avLst/>
          </a:prstGeom>
          <a:solidFill>
            <a:srgbClr val="C8D3EF"/>
          </a:solidFill>
          <a:ln/>
        </p:spPr>
      </p:sp>
      <p:sp>
        <p:nvSpPr>
          <p:cNvPr id="31" name="Shape 29"/>
          <p:cNvSpPr/>
          <p:nvPr/>
        </p:nvSpPr>
        <p:spPr>
          <a:xfrm>
            <a:off x="3908273" y="1936750"/>
            <a:ext cx="53975" cy="88900"/>
          </a:xfrm>
          <a:prstGeom prst="rect">
            <a:avLst/>
          </a:prstGeom>
          <a:solidFill>
            <a:srgbClr val="C2CFED"/>
          </a:solidFill>
          <a:ln/>
        </p:spPr>
      </p:sp>
      <p:sp>
        <p:nvSpPr>
          <p:cNvPr id="32" name="Shape 30"/>
          <p:cNvSpPr/>
          <p:nvPr/>
        </p:nvSpPr>
        <p:spPr>
          <a:xfrm>
            <a:off x="3955898" y="1936750"/>
            <a:ext cx="53975" cy="88900"/>
          </a:xfrm>
          <a:prstGeom prst="rect">
            <a:avLst/>
          </a:prstGeom>
          <a:solidFill>
            <a:srgbClr val="BCCAEC"/>
          </a:solidFill>
          <a:ln/>
        </p:spPr>
      </p:sp>
      <p:sp>
        <p:nvSpPr>
          <p:cNvPr id="33" name="Shape 31"/>
          <p:cNvSpPr/>
          <p:nvPr/>
        </p:nvSpPr>
        <p:spPr>
          <a:xfrm>
            <a:off x="4003523" y="1936750"/>
            <a:ext cx="53975" cy="88900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34" name="Shape 32"/>
          <p:cNvSpPr/>
          <p:nvPr/>
        </p:nvSpPr>
        <p:spPr>
          <a:xfrm>
            <a:off x="4051148" y="1936750"/>
            <a:ext cx="53975" cy="889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35" name="Shape 33"/>
          <p:cNvSpPr/>
          <p:nvPr/>
        </p:nvSpPr>
        <p:spPr>
          <a:xfrm>
            <a:off x="4098773" y="1936750"/>
            <a:ext cx="53975" cy="88900"/>
          </a:xfrm>
          <a:prstGeom prst="rect">
            <a:avLst/>
          </a:prstGeom>
          <a:solidFill>
            <a:srgbClr val="A9BCE7"/>
          </a:solidFill>
          <a:ln/>
        </p:spPr>
      </p:sp>
      <p:sp>
        <p:nvSpPr>
          <p:cNvPr id="36" name="Shape 34"/>
          <p:cNvSpPr/>
          <p:nvPr/>
        </p:nvSpPr>
        <p:spPr>
          <a:xfrm>
            <a:off x="4146398" y="1936750"/>
            <a:ext cx="53975" cy="88900"/>
          </a:xfrm>
          <a:prstGeom prst="rect">
            <a:avLst/>
          </a:prstGeom>
          <a:solidFill>
            <a:srgbClr val="A2B7E6"/>
          </a:solidFill>
          <a:ln/>
        </p:spPr>
      </p:sp>
      <p:sp>
        <p:nvSpPr>
          <p:cNvPr id="37" name="Shape 35"/>
          <p:cNvSpPr/>
          <p:nvPr/>
        </p:nvSpPr>
        <p:spPr>
          <a:xfrm>
            <a:off x="4194023" y="1936750"/>
            <a:ext cx="53975" cy="88900"/>
          </a:xfrm>
          <a:prstGeom prst="rect">
            <a:avLst/>
          </a:prstGeom>
          <a:solidFill>
            <a:srgbClr val="9BB1E4"/>
          </a:solidFill>
          <a:ln/>
        </p:spPr>
      </p:sp>
      <p:sp>
        <p:nvSpPr>
          <p:cNvPr id="38" name="Shape 36"/>
          <p:cNvSpPr/>
          <p:nvPr/>
        </p:nvSpPr>
        <p:spPr>
          <a:xfrm>
            <a:off x="4241648" y="1936750"/>
            <a:ext cx="53975" cy="88900"/>
          </a:xfrm>
          <a:prstGeom prst="rect">
            <a:avLst/>
          </a:prstGeom>
          <a:solidFill>
            <a:srgbClr val="93ACE2"/>
          </a:solidFill>
          <a:ln/>
        </p:spPr>
      </p:sp>
      <p:sp>
        <p:nvSpPr>
          <p:cNvPr id="39" name="Shape 37"/>
          <p:cNvSpPr/>
          <p:nvPr/>
        </p:nvSpPr>
        <p:spPr>
          <a:xfrm>
            <a:off x="4289273" y="1936750"/>
            <a:ext cx="53975" cy="88900"/>
          </a:xfrm>
          <a:prstGeom prst="rect">
            <a:avLst/>
          </a:prstGeom>
          <a:solidFill>
            <a:srgbClr val="8AA6E1"/>
          </a:solidFill>
          <a:ln/>
        </p:spPr>
      </p:sp>
      <p:sp>
        <p:nvSpPr>
          <p:cNvPr id="40" name="Shape 38"/>
          <p:cNvSpPr/>
          <p:nvPr/>
        </p:nvSpPr>
        <p:spPr>
          <a:xfrm>
            <a:off x="4336898" y="1936750"/>
            <a:ext cx="53975" cy="889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41" name="Shape 39"/>
          <p:cNvSpPr/>
          <p:nvPr/>
        </p:nvSpPr>
        <p:spPr>
          <a:xfrm>
            <a:off x="4384523" y="1936750"/>
            <a:ext cx="53975" cy="88900"/>
          </a:xfrm>
          <a:prstGeom prst="rect">
            <a:avLst/>
          </a:prstGeom>
          <a:solidFill>
            <a:srgbClr val="779ADE"/>
          </a:solidFill>
          <a:ln/>
        </p:spPr>
      </p:sp>
      <p:sp>
        <p:nvSpPr>
          <p:cNvPr id="42" name="Shape 40"/>
          <p:cNvSpPr/>
          <p:nvPr/>
        </p:nvSpPr>
        <p:spPr>
          <a:xfrm>
            <a:off x="4432148" y="1936750"/>
            <a:ext cx="53975" cy="88900"/>
          </a:xfrm>
          <a:prstGeom prst="rect">
            <a:avLst/>
          </a:prstGeom>
          <a:solidFill>
            <a:srgbClr val="6B93DC"/>
          </a:solidFill>
          <a:ln/>
        </p:spPr>
      </p:sp>
      <p:sp>
        <p:nvSpPr>
          <p:cNvPr id="43" name="Shape 41"/>
          <p:cNvSpPr/>
          <p:nvPr/>
        </p:nvSpPr>
        <p:spPr>
          <a:xfrm>
            <a:off x="4479773" y="1936750"/>
            <a:ext cx="53975" cy="88900"/>
          </a:xfrm>
          <a:prstGeom prst="rect">
            <a:avLst/>
          </a:prstGeom>
          <a:solidFill>
            <a:srgbClr val="5E8CDA"/>
          </a:solidFill>
          <a:ln/>
        </p:spPr>
      </p:sp>
      <p:sp>
        <p:nvSpPr>
          <p:cNvPr id="44" name="Shape 42"/>
          <p:cNvSpPr/>
          <p:nvPr/>
        </p:nvSpPr>
        <p:spPr>
          <a:xfrm>
            <a:off x="4527398" y="1936750"/>
            <a:ext cx="53975" cy="88900"/>
          </a:xfrm>
          <a:prstGeom prst="rect">
            <a:avLst/>
          </a:prstGeom>
          <a:solidFill>
            <a:srgbClr val="4E84D9"/>
          </a:solidFill>
          <a:ln/>
        </p:spPr>
      </p:sp>
      <p:sp>
        <p:nvSpPr>
          <p:cNvPr id="45" name="Shape 43"/>
          <p:cNvSpPr/>
          <p:nvPr/>
        </p:nvSpPr>
        <p:spPr>
          <a:xfrm>
            <a:off x="4575023" y="1936750"/>
            <a:ext cx="53975" cy="88900"/>
          </a:xfrm>
          <a:prstGeom prst="rect">
            <a:avLst/>
          </a:prstGeom>
          <a:solidFill>
            <a:srgbClr val="397CD7"/>
          </a:solidFill>
          <a:ln/>
        </p:spPr>
      </p:sp>
      <p:sp>
        <p:nvSpPr>
          <p:cNvPr id="46" name="Text 44"/>
          <p:cNvSpPr/>
          <p:nvPr/>
        </p:nvSpPr>
        <p:spPr>
          <a:xfrm>
            <a:off x="2971648" y="1917700"/>
            <a:ext cx="4826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Color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4275938" y="4488180"/>
            <a:ext cx="76200" cy="76200"/>
          </a:xfrm>
          <a:prstGeom prst="ellipse">
            <a:avLst/>
          </a:pr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179860" y="2976880"/>
            <a:ext cx="76200" cy="76200"/>
          </a:xfrm>
          <a:prstGeom prst="ellipse">
            <a:avLst/>
          </a:prstGeom>
          <a:solidFill>
            <a:srgbClr val="D6DE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222848" y="3762756"/>
            <a:ext cx="76200" cy="76200"/>
          </a:xfrm>
          <a:prstGeom prst="ellipse">
            <a:avLst/>
          </a:prstGeom>
          <a:solidFill>
            <a:srgbClr val="BBC9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265835" y="2070100"/>
            <a:ext cx="76200" cy="76200"/>
          </a:xfrm>
          <a:prstGeom prst="ellipse">
            <a:avLst/>
          </a:prstGeom>
          <a:solidFill>
            <a:srgbClr val="A5B9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752563" y="4185920"/>
            <a:ext cx="76200" cy="76200"/>
          </a:xfrm>
          <a:prstGeom prst="ellipse">
            <a:avLst/>
          </a:prstGeom>
          <a:solidFill>
            <a:srgbClr val="7C9D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586953" y="26746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527523" y="4971796"/>
            <a:ext cx="76200" cy="76200"/>
          </a:xfrm>
          <a:prstGeom prst="ellipse">
            <a:avLst/>
          </a:prstGeom>
          <a:solidFill>
            <a:srgbClr val="E2E8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779108" y="3279140"/>
            <a:ext cx="76200" cy="76200"/>
          </a:xfrm>
          <a:prstGeom prst="ellipse">
            <a:avLst/>
          </a:prstGeom>
          <a:solidFill>
            <a:srgbClr val="C4D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77538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281460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6324448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7119785" y="21717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7854163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056093" y="26301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5629123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6880708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Smoothed line (Catmull-Rom)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49993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0339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790685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61030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31376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01722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864820" y="4267331"/>
            <a:ext cx="26988" cy="3796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891809" y="4217203"/>
            <a:ext cx="32443" cy="501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24251" y="4156820"/>
            <a:ext cx="37332" cy="6038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61584" y="4088085"/>
            <a:ext cx="41658" cy="6873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003242" y="4012905"/>
            <a:ext cx="45420" cy="751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048662" y="3933183"/>
            <a:ext cx="48617" cy="7972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097278" y="3850824"/>
            <a:ext cx="51250" cy="82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148528" y="3767733"/>
            <a:ext cx="53319" cy="830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4201847" y="3685813"/>
            <a:ext cx="54823" cy="8191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4256670" y="3606971"/>
            <a:ext cx="55764" cy="7884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4312433" y="3533109"/>
            <a:ext cx="56140" cy="7386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4368573" y="3466133"/>
            <a:ext cx="55952" cy="669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4424525" y="3407947"/>
            <a:ext cx="55199" cy="581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4479724" y="3360455"/>
            <a:ext cx="53883" cy="474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4533607" y="3325563"/>
            <a:ext cx="52002" cy="34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4585609" y="3305175"/>
            <a:ext cx="49557" cy="203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4635166" y="3301659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83313" y="3301659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31459" y="3314551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9606" y="3341508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27753" y="3380184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75899" y="3428237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924046" y="3483322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72192" y="3543095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0339" y="3605213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68486" y="3667330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16632" y="3727103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64779" y="3782188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212925" y="3830241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261072" y="3868917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09219" y="3895874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5357365" y="3905250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5405512" y="3883763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5453658" y="3845868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5501805" y="3793908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5549952" y="3730228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5598098" y="3657172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646245" y="3577084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5694392" y="3492308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5742538" y="3405188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5790685" y="3318067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5838831" y="3233291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5886978" y="3153203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5935125" y="3080147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5983271" y="3016467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6031418" y="2964507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6079564" y="2926612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6127711" y="2905125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6175858" y="2901389"/>
            <a:ext cx="48147" cy="373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224004" y="2901389"/>
            <a:ext cx="48147" cy="122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72151" y="2913681"/>
            <a:ext cx="48147" cy="2606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320297" y="2939744"/>
            <a:ext cx="48147" cy="375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368444" y="2977322"/>
            <a:ext cx="48147" cy="4683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416591" y="3024158"/>
            <a:ext cx="48147" cy="538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464737" y="3077998"/>
            <a:ext cx="48147" cy="585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512884" y="3136585"/>
            <a:ext cx="48147" cy="610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561030" y="3197662"/>
            <a:ext cx="48147" cy="613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609177" y="3258973"/>
            <a:ext cx="48147" cy="5929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57324" y="3318263"/>
            <a:ext cx="48147" cy="5501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705470" y="3373274"/>
            <a:ext cx="48147" cy="484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753617" y="3421752"/>
            <a:ext cx="48147" cy="396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801763" y="3461440"/>
            <a:ext cx="48147" cy="2864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49910" y="3490081"/>
            <a:ext cx="48147" cy="1533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6898057" y="3505200"/>
            <a:ext cx="48147" cy="2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6946203" y="3488211"/>
            <a:ext cx="48147" cy="169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V="1">
            <a:off x="6994350" y="3456170"/>
            <a:ext cx="48147" cy="32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V="1">
            <a:off x="7042497" y="3411219"/>
            <a:ext cx="48147" cy="4495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V="1">
            <a:off x="7090643" y="3355494"/>
            <a:ext cx="48147" cy="557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7138790" y="3291135"/>
            <a:ext cx="48147" cy="64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7186936" y="3220282"/>
            <a:ext cx="48147" cy="7085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7235083" y="3145072"/>
            <a:ext cx="48147" cy="7521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7283230" y="3067645"/>
            <a:ext cx="48147" cy="7742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V="1">
            <a:off x="7331376" y="2990141"/>
            <a:ext cx="48147" cy="7750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V="1">
            <a:off x="7379523" y="2914697"/>
            <a:ext cx="48147" cy="754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V="1">
            <a:off x="7427669" y="2843452"/>
            <a:ext cx="48147" cy="712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V="1">
            <a:off x="7475816" y="2778547"/>
            <a:ext cx="48147" cy="6490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V="1">
            <a:off x="7523963" y="2722119"/>
            <a:ext cx="48147" cy="564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V="1">
            <a:off x="7572109" y="2676307"/>
            <a:ext cx="48147" cy="458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 flipV="1">
            <a:off x="7620256" y="2643251"/>
            <a:ext cx="48147" cy="3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V="1">
            <a:off x="7668402" y="2625090"/>
            <a:ext cx="48147" cy="181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7716549" y="2621564"/>
            <a:ext cx="49557" cy="352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766106" y="2621564"/>
            <a:ext cx="52002" cy="844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818108" y="2630012"/>
            <a:ext cx="53883" cy="1895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871991" y="2648970"/>
            <a:ext cx="55199" cy="2800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927190" y="2676971"/>
            <a:ext cx="55952" cy="3558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983142" y="2712552"/>
            <a:ext cx="56140" cy="416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39282" y="2754247"/>
            <a:ext cx="55764" cy="463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95045" y="2800590"/>
            <a:ext cx="54823" cy="495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868" y="2850118"/>
            <a:ext cx="53319" cy="5124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203187" y="2901365"/>
            <a:ext cx="51250" cy="5150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254437" y="2952865"/>
            <a:ext cx="48617" cy="502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303054" y="3003155"/>
            <a:ext cx="45420" cy="4761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48473" y="3050768"/>
            <a:ext cx="41658" cy="4347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390131" y="3094240"/>
            <a:ext cx="37332" cy="3786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427464" y="3132106"/>
            <a:ext cx="32443" cy="307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459906" y="3162901"/>
            <a:ext cx="26988" cy="222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834340" y="42748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604686" y="327469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375032" y="387477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4537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915723" y="34747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686069" y="259461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456415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V="1">
            <a:off x="3864820" y="4495441"/>
            <a:ext cx="26988" cy="98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 flipV="1">
            <a:off x="3891809" y="4483447"/>
            <a:ext cx="32443" cy="1199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 flipV="1">
            <a:off x="3924251" y="4469578"/>
            <a:ext cx="37332" cy="138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 flipV="1">
            <a:off x="3961584" y="4454069"/>
            <a:ext cx="41658" cy="155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 flipV="1">
            <a:off x="4003242" y="4437152"/>
            <a:ext cx="45420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 flipV="1">
            <a:off x="4048662" y="4419064"/>
            <a:ext cx="48617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 flipV="1">
            <a:off x="4097278" y="4400038"/>
            <a:ext cx="51250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 flipV="1">
            <a:off x="4148528" y="4380309"/>
            <a:ext cx="5331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 flipV="1">
            <a:off x="4201847" y="4360112"/>
            <a:ext cx="54823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 flipV="1">
            <a:off x="4256670" y="4339679"/>
            <a:ext cx="55764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 flipV="1">
            <a:off x="4312433" y="4319247"/>
            <a:ext cx="56140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 flipV="1">
            <a:off x="4368573" y="4299049"/>
            <a:ext cx="55952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 flipV="1">
            <a:off x="4424525" y="4279320"/>
            <a:ext cx="5519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 flipV="1">
            <a:off x="4479724" y="4260294"/>
            <a:ext cx="53883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 flipV="1">
            <a:off x="4533607" y="4242206"/>
            <a:ext cx="52002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585609" y="4225290"/>
            <a:ext cx="49557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4635166" y="4208603"/>
            <a:ext cx="48147" cy="1668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4683313" y="4191184"/>
            <a:ext cx="48147" cy="174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 flipV="1">
            <a:off x="4731459" y="4173238"/>
            <a:ext cx="48147" cy="179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 flipV="1">
            <a:off x="4779606" y="4154969"/>
            <a:ext cx="48147" cy="182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 flipV="1">
            <a:off x="4827753" y="4136583"/>
            <a:ext cx="48147" cy="183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 flipV="1">
            <a:off x="4875899" y="4118284"/>
            <a:ext cx="48147" cy="182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 flipV="1">
            <a:off x="4924046" y="4100279"/>
            <a:ext cx="48147" cy="18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 flipV="1">
            <a:off x="4972192" y="4082772"/>
            <a:ext cx="48147" cy="17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 flipV="1">
            <a:off x="5020339" y="4065968"/>
            <a:ext cx="48147" cy="1680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 flipV="1">
            <a:off x="5068486" y="4050073"/>
            <a:ext cx="48147" cy="1589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 flipV="1">
            <a:off x="5116632" y="4035291"/>
            <a:ext cx="48147" cy="1478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flipV="1">
            <a:off x="5164779" y="4021827"/>
            <a:ext cx="48147" cy="1346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 flipV="1">
            <a:off x="5212925" y="4009887"/>
            <a:ext cx="48147" cy="119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 flipV="1">
            <a:off x="5261072" y="3999676"/>
            <a:ext cx="48147" cy="1021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 flipV="1">
            <a:off x="5309219" y="3991398"/>
            <a:ext cx="48147" cy="827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 flipV="1">
            <a:off x="5357365" y="3985260"/>
            <a:ext cx="48147" cy="61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5405512" y="3982276"/>
            <a:ext cx="48147" cy="29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453658" y="3982276"/>
            <a:ext cx="48147" cy="6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501805" y="3982955"/>
            <a:ext cx="48147" cy="37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5549952" y="3986740"/>
            <a:ext cx="48147" cy="633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598098" y="3993073"/>
            <a:ext cx="48147" cy="83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646245" y="4001400"/>
            <a:ext cx="48147" cy="97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694392" y="4011162"/>
            <a:ext cx="48147" cy="106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742538" y="4021803"/>
            <a:ext cx="48147" cy="109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790685" y="4032766"/>
            <a:ext cx="48147" cy="10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838831" y="4043495"/>
            <a:ext cx="48147" cy="99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86978" y="4053433"/>
            <a:ext cx="48147" cy="859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35125" y="4062023"/>
            <a:ext cx="48147" cy="66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83271" y="4068708"/>
            <a:ext cx="48147" cy="42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31418" y="4072932"/>
            <a:ext cx="48147" cy="12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6079564" y="4071770"/>
            <a:ext cx="48147" cy="236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6127711" y="4065270"/>
            <a:ext cx="48147" cy="65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6175858" y="4054561"/>
            <a:ext cx="48147" cy="107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6224004" y="4040228"/>
            <a:ext cx="48147" cy="143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6272151" y="4022711"/>
            <a:ext cx="48147" cy="1751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 flipV="1">
            <a:off x="6320297" y="4002450"/>
            <a:ext cx="48147" cy="2026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 flipV="1">
            <a:off x="6368444" y="3979883"/>
            <a:ext cx="48147" cy="225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 flipV="1">
            <a:off x="6416591" y="3955452"/>
            <a:ext cx="48147" cy="24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 flipV="1">
            <a:off x="6464737" y="3929594"/>
            <a:ext cx="48147" cy="258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 flipV="1">
            <a:off x="6512884" y="3902750"/>
            <a:ext cx="48147" cy="2684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 flipV="1">
            <a:off x="6561030" y="3875359"/>
            <a:ext cx="48147" cy="273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 flipV="1">
            <a:off x="6609177" y="3847860"/>
            <a:ext cx="48147" cy="2749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 flipV="1">
            <a:off x="6657324" y="3820694"/>
            <a:ext cx="48147" cy="271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 flipV="1">
            <a:off x="6705470" y="3794299"/>
            <a:ext cx="48147" cy="26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 flipV="1">
            <a:off x="6753617" y="3769115"/>
            <a:ext cx="48147" cy="251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 flipV="1">
            <a:off x="6801763" y="3745582"/>
            <a:ext cx="48147" cy="235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 flipV="1">
            <a:off x="6849910" y="3724138"/>
            <a:ext cx="48147" cy="2144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 flipV="1">
            <a:off x="6898057" y="3705225"/>
            <a:ext cx="48147" cy="189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 flipV="1">
            <a:off x="6946203" y="3688841"/>
            <a:ext cx="48147" cy="163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 flipV="1">
            <a:off x="6994350" y="3674479"/>
            <a:ext cx="48147" cy="143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 flipV="1">
            <a:off x="7042497" y="3661816"/>
            <a:ext cx="48147" cy="126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 flipV="1">
            <a:off x="7090643" y="3650531"/>
            <a:ext cx="48147" cy="112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 flipV="1">
            <a:off x="7138790" y="3640300"/>
            <a:ext cx="48147" cy="102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 flipV="1">
            <a:off x="7186936" y="3630802"/>
            <a:ext cx="48147" cy="94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 flipV="1">
            <a:off x="7235083" y="3621714"/>
            <a:ext cx="48147" cy="9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 flipV="1">
            <a:off x="7283230" y="3612713"/>
            <a:ext cx="48147" cy="90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 flipV="1">
            <a:off x="7331376" y="3603479"/>
            <a:ext cx="48147" cy="923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 flipV="1">
            <a:off x="7379523" y="3593688"/>
            <a:ext cx="48147" cy="97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 flipV="1">
            <a:off x="7427669" y="3583017"/>
            <a:ext cx="48147" cy="1067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 flipV="1">
            <a:off x="7475816" y="3571146"/>
            <a:ext cx="48147" cy="1187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 flipV="1">
            <a:off x="7523963" y="3557751"/>
            <a:ext cx="48147" cy="13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 flipV="1">
            <a:off x="7572109" y="3542509"/>
            <a:ext cx="48147" cy="152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 flipV="1">
            <a:off x="7620256" y="3525100"/>
            <a:ext cx="48147" cy="174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 flipV="1">
            <a:off x="7668402" y="3505200"/>
            <a:ext cx="48147" cy="199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 flipV="1">
            <a:off x="7716549" y="3482009"/>
            <a:ext cx="49557" cy="231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 flipV="1">
            <a:off x="7766106" y="3455311"/>
            <a:ext cx="52002" cy="266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 flipV="1">
            <a:off x="7818108" y="3425664"/>
            <a:ext cx="53883" cy="296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 flipV="1">
            <a:off x="7871991" y="3393624"/>
            <a:ext cx="55199" cy="32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 flipV="1">
            <a:off x="7927190" y="3359747"/>
            <a:ext cx="55952" cy="3387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 flipV="1">
            <a:off x="7983142" y="3324591"/>
            <a:ext cx="56140" cy="3515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 flipV="1">
            <a:off x="8039282" y="3288713"/>
            <a:ext cx="55764" cy="358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 flipV="1">
            <a:off x="8095045" y="3252668"/>
            <a:ext cx="54823" cy="3604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 flipV="1">
            <a:off x="8149868" y="3217015"/>
            <a:ext cx="53319" cy="3565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 flipV="1">
            <a:off x="8203187" y="3182308"/>
            <a:ext cx="51250" cy="347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 flipV="1">
            <a:off x="8254437" y="3149106"/>
            <a:ext cx="48617" cy="3320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 flipV="1">
            <a:off x="8303054" y="3117964"/>
            <a:ext cx="45420" cy="3114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 flipV="1">
            <a:off x="8348473" y="3089440"/>
            <a:ext cx="41658" cy="285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 flipV="1">
            <a:off x="8390131" y="3064090"/>
            <a:ext cx="37332" cy="2535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 flipV="1">
            <a:off x="8427464" y="3042471"/>
            <a:ext cx="32443" cy="216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 flipV="1">
            <a:off x="8459906" y="3025140"/>
            <a:ext cx="26988" cy="173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3834340" y="44748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4604686" y="41948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5375032" y="395478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145378" y="403479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915723" y="36747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686069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8456415" y="29946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3479648" y="5105400"/>
            <a:ext cx="53924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8922868" y="293941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27" name="Text 225"/>
          <p:cNvSpPr/>
          <p:nvPr/>
        </p:nvSpPr>
        <p:spPr>
          <a:xfrm>
            <a:off x="8922868" y="311086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with grouping spacers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257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81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3306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356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880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405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98660" y="3270504"/>
            <a:ext cx="50165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3122460" y="40927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00310" y="3270504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3951135" y="2971800"/>
            <a:ext cx="50165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874935" y="30259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52785" y="2971800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4703610" y="2779776"/>
            <a:ext cx="50165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7410" y="278053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205260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0" name="Shape 18"/>
          <p:cNvSpPr/>
          <p:nvPr/>
        </p:nvSpPr>
        <p:spPr>
          <a:xfrm>
            <a:off x="5456085" y="2779776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5957735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2" name="Shape 20"/>
          <p:cNvSpPr/>
          <p:nvPr/>
        </p:nvSpPr>
        <p:spPr>
          <a:xfrm>
            <a:off x="6208560" y="2779776"/>
            <a:ext cx="50165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32360" y="281254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10210" y="3035808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5" name="Shape 23"/>
          <p:cNvSpPr/>
          <p:nvPr/>
        </p:nvSpPr>
        <p:spPr>
          <a:xfrm>
            <a:off x="6961035" y="3035808"/>
            <a:ext cx="501650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6" name="Text 24"/>
          <p:cNvSpPr/>
          <p:nvPr/>
        </p:nvSpPr>
        <p:spPr>
          <a:xfrm>
            <a:off x="6884835" y="285165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62685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8" name="Shape 26"/>
          <p:cNvSpPr/>
          <p:nvPr/>
        </p:nvSpPr>
        <p:spPr>
          <a:xfrm>
            <a:off x="7713510" y="3121152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9" name="Shape 27"/>
          <p:cNvSpPr/>
          <p:nvPr/>
        </p:nvSpPr>
        <p:spPr>
          <a:xfrm>
            <a:off x="8215160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30" name="Shape 28"/>
          <p:cNvSpPr/>
          <p:nvPr/>
        </p:nvSpPr>
        <p:spPr>
          <a:xfrm>
            <a:off x="8465985" y="3121152"/>
            <a:ext cx="501650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1" name="Text 29"/>
          <p:cNvSpPr/>
          <p:nvPr/>
        </p:nvSpPr>
        <p:spPr>
          <a:xfrm>
            <a:off x="8389785" y="4018026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with auto-summary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0928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0448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6207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5727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51486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1006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47848" y="2019300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3047848" y="2143579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1: 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19845" y="2203269"/>
            <a:ext cx="124222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4719845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62074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74848" y="2608036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09288" y="2471057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9845" y="2614386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3072493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09288" y="2935514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30402" y="3078843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047848" y="3412671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3" name="Text 21"/>
          <p:cNvSpPr/>
          <p:nvPr/>
        </p:nvSpPr>
        <p:spPr>
          <a:xfrm>
            <a:off x="3047848" y="353695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2: Build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62074" y="3596640"/>
            <a:ext cx="248445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5" name="Shape 23"/>
          <p:cNvSpPr/>
          <p:nvPr/>
        </p:nvSpPr>
        <p:spPr>
          <a:xfrm>
            <a:off x="5962074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46533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74848" y="4001407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09288" y="3864429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62074" y="4007757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4465864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409288" y="4328886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189" y="4472214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3174848" y="4930321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09288" y="4793343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25418" y="4936671"/>
            <a:ext cx="621115" cy="177800"/>
          </a:xfrm>
          <a:prstGeom prst="rect">
            <a:avLst/>
          </a:prstGeom>
          <a:solidFill>
            <a:srgbClr val="2A78D6"/>
          </a:solidFill>
          <a:ln/>
        </p:spPr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Notched boxplots (median CI)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82524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812030"/>
            <a:ext cx="0" cy="29337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51054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4198620"/>
            <a:ext cx="1029123" cy="613410"/>
          </a:xfrm>
          <a:custGeom>
            <a:avLst/>
            <a:gdLst/>
            <a:ahLst/>
            <a:cxnLst/>
            <a:rect l="l" t="t" r="r" b="b"/>
            <a:pathLst>
              <a:path w="1029123" h="613410">
                <a:moveTo>
                  <a:pt x="0" y="0"/>
                </a:moveTo>
                <a:lnTo>
                  <a:pt x="1029123" y="0"/>
                </a:lnTo>
                <a:lnTo>
                  <a:pt x="1029123" y="15496"/>
                </a:lnTo>
                <a:lnTo>
                  <a:pt x="771843" y="320040"/>
                </a:lnTo>
                <a:lnTo>
                  <a:pt x="1029123" y="613410"/>
                </a:lnTo>
                <a:lnTo>
                  <a:pt x="1029123" y="613410"/>
                </a:lnTo>
                <a:lnTo>
                  <a:pt x="0" y="613410"/>
                </a:lnTo>
                <a:lnTo>
                  <a:pt x="0" y="613410"/>
                </a:lnTo>
                <a:lnTo>
                  <a:pt x="257281" y="320040"/>
                </a:lnTo>
                <a:lnTo>
                  <a:pt x="0" y="15496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57933" y="451866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00653" y="432816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86348" y="3291840"/>
            <a:ext cx="0" cy="4800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86348" y="4491990"/>
            <a:ext cx="0" cy="18669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54795" y="32918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46786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71786" y="3771900"/>
            <a:ext cx="1029123" cy="720090"/>
          </a:xfrm>
          <a:custGeom>
            <a:avLst/>
            <a:gdLst/>
            <a:ahLst/>
            <a:cxnLst/>
            <a:rect l="l" t="t" r="r" b="b"/>
            <a:pathLst>
              <a:path w="1029123" h="720090">
                <a:moveTo>
                  <a:pt x="0" y="0"/>
                </a:moveTo>
                <a:lnTo>
                  <a:pt x="1029123" y="0"/>
                </a:lnTo>
                <a:lnTo>
                  <a:pt x="1029123" y="69211"/>
                </a:lnTo>
                <a:lnTo>
                  <a:pt x="771843" y="426720"/>
                </a:lnTo>
                <a:lnTo>
                  <a:pt x="1029123" y="720090"/>
                </a:lnTo>
                <a:lnTo>
                  <a:pt x="1029123" y="720090"/>
                </a:lnTo>
                <a:lnTo>
                  <a:pt x="0" y="720090"/>
                </a:lnTo>
                <a:lnTo>
                  <a:pt x="0" y="720090"/>
                </a:lnTo>
                <a:lnTo>
                  <a:pt x="257281" y="426720"/>
                </a:lnTo>
                <a:lnTo>
                  <a:pt x="0" y="69211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29067" y="419862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71786" y="400812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157481" y="1905000"/>
            <a:ext cx="0" cy="66675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57481" y="3745230"/>
            <a:ext cx="0" cy="29337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25928" y="19050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40386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42919" y="2571750"/>
            <a:ext cx="1029123" cy="1173480"/>
          </a:xfrm>
          <a:custGeom>
            <a:avLst/>
            <a:gdLst/>
            <a:ahLst/>
            <a:cxnLst/>
            <a:rect l="l" t="t" r="r" b="b"/>
            <a:pathLst>
              <a:path w="1029123" h="1173480">
                <a:moveTo>
                  <a:pt x="0" y="0"/>
                </a:moveTo>
                <a:lnTo>
                  <a:pt x="1029123" y="0"/>
                </a:lnTo>
                <a:lnTo>
                  <a:pt x="1029123" y="137483"/>
                </a:lnTo>
                <a:lnTo>
                  <a:pt x="771842" y="720090"/>
                </a:lnTo>
                <a:lnTo>
                  <a:pt x="1029123" y="1173480"/>
                </a:lnTo>
                <a:lnTo>
                  <a:pt x="1029123" y="1173480"/>
                </a:lnTo>
                <a:lnTo>
                  <a:pt x="0" y="1173480"/>
                </a:lnTo>
                <a:lnTo>
                  <a:pt x="0" y="1173480"/>
                </a:lnTo>
                <a:lnTo>
                  <a:pt x="257281" y="720090"/>
                </a:lnTo>
                <a:lnTo>
                  <a:pt x="0" y="13748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00200" y="329184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42919" y="31013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peer range + us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95848" y="25323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0" y="568960"/>
                </a:moveTo>
                <a:lnTo>
                  <a:pt x="492734" y="853440"/>
                </a:lnTo>
                <a:lnTo>
                  <a:pt x="985468" y="568960"/>
                </a:lnTo>
                <a:lnTo>
                  <a:pt x="0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588581" y="3101340"/>
            <a:ext cx="492734" cy="1137920"/>
          </a:xfrm>
          <a:custGeom>
            <a:avLst/>
            <a:gdLst/>
            <a:ahLst/>
            <a:cxnLst/>
            <a:rect l="l" t="t" r="r" b="b"/>
            <a:pathLst>
              <a:path w="492734" h="1137920">
                <a:moveTo>
                  <a:pt x="0" y="284480"/>
                </a:moveTo>
                <a:lnTo>
                  <a:pt x="0" y="853440"/>
                </a:lnTo>
                <a:lnTo>
                  <a:pt x="492734" y="1137920"/>
                </a:lnTo>
                <a:lnTo>
                  <a:pt x="492734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095848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492734" y="0"/>
                </a:moveTo>
                <a:lnTo>
                  <a:pt x="0" y="568960"/>
                </a:lnTo>
                <a:lnTo>
                  <a:pt x="0" y="853440"/>
                </a:lnTo>
                <a:lnTo>
                  <a:pt x="985468" y="2844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110380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985468" y="568960"/>
                </a:moveTo>
                <a:lnTo>
                  <a:pt x="492734" y="0"/>
                </a:lnTo>
                <a:lnTo>
                  <a:pt x="0" y="284480"/>
                </a:lnTo>
                <a:lnTo>
                  <a:pt x="985468" y="85344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10380" y="3243580"/>
            <a:ext cx="492734" cy="995680"/>
          </a:xfrm>
          <a:custGeom>
            <a:avLst/>
            <a:gdLst/>
            <a:ahLst/>
            <a:cxnLst/>
            <a:rect l="l" t="t" r="r" b="b"/>
            <a:pathLst>
              <a:path w="492734" h="995680">
                <a:moveTo>
                  <a:pt x="492734" y="711200"/>
                </a:moveTo>
                <a:lnTo>
                  <a:pt x="492734" y="142240"/>
                </a:lnTo>
                <a:lnTo>
                  <a:pt x="246367" y="0"/>
                </a:lnTo>
                <a:lnTo>
                  <a:pt x="0" y="9956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356747" y="2532380"/>
            <a:ext cx="739101" cy="853440"/>
          </a:xfrm>
          <a:custGeom>
            <a:avLst/>
            <a:gdLst/>
            <a:ahLst/>
            <a:cxnLst/>
            <a:rect l="l" t="t" r="r" b="b"/>
            <a:pathLst>
              <a:path w="739101" h="853440">
                <a:moveTo>
                  <a:pt x="246367" y="853440"/>
                </a:moveTo>
                <a:lnTo>
                  <a:pt x="739101" y="568960"/>
                </a:lnTo>
                <a:lnTo>
                  <a:pt x="739101" y="0"/>
                </a:lnTo>
                <a:lnTo>
                  <a:pt x="0" y="71120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246367" y="71120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03114" y="3101340"/>
            <a:ext cx="985468" cy="1422400"/>
          </a:xfrm>
          <a:custGeom>
            <a:avLst/>
            <a:gdLst/>
            <a:ahLst/>
            <a:cxnLst/>
            <a:rect l="l" t="t" r="r" b="b"/>
            <a:pathLst>
              <a:path w="985468" h="142240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42240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64013" y="2816860"/>
            <a:ext cx="2217302" cy="1564640"/>
          </a:xfrm>
          <a:custGeom>
            <a:avLst/>
            <a:gdLst/>
            <a:ahLst/>
            <a:cxnLst/>
            <a:rect l="l" t="t" r="r" b="b"/>
            <a:pathLst>
              <a:path w="2217302" h="1564640">
                <a:moveTo>
                  <a:pt x="1231835" y="0"/>
                </a:moveTo>
                <a:lnTo>
                  <a:pt x="2217302" y="284480"/>
                </a:lnTo>
                <a:lnTo>
                  <a:pt x="2217302" y="1422400"/>
                </a:lnTo>
                <a:lnTo>
                  <a:pt x="1231835" y="1422400"/>
                </a:lnTo>
                <a:lnTo>
                  <a:pt x="0" y="1564640"/>
                </a:lnTo>
                <a:lnTo>
                  <a:pt x="246367" y="284480"/>
                </a:lnTo>
                <a:close/>
              </a:path>
            </a:pathLst>
          </a:custGeom>
          <a:solidFill>
            <a:srgbClr val="008300">
              <a:alpha val="18000"/>
            </a:srgbClr>
          </a:solidFill>
          <a:ln w="20320">
            <a:solidFill>
              <a:srgbClr val="0083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52514E"/>
          </a:solidFill>
          <a:ln/>
        </p:spPr>
      </p:sp>
      <p:sp>
        <p:nvSpPr>
          <p:cNvPr id="37" name="Text 35"/>
          <p:cNvSpPr/>
          <p:nvPr/>
        </p:nvSpPr>
        <p:spPr>
          <a:xfrm>
            <a:off x="3174848" y="18034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Peer range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01304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9" name="Text 37"/>
          <p:cNvSpPr/>
          <p:nvPr/>
        </p:nvSpPr>
        <p:spPr>
          <a:xfrm>
            <a:off x="4140048" y="180340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Long tail collapsed into Other (otherBucket)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004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5276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61114" y="4289213"/>
            <a:ext cx="11514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10314" y="4602057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61114" y="3840311"/>
            <a:ext cx="11514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10314" y="3969512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61114" y="3473027"/>
            <a:ext cx="11514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0314" y="356141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61114" y="3350599"/>
            <a:ext cx="1151467" cy="122428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61114" y="3166957"/>
            <a:ext cx="1151467" cy="183642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10314" y="316352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73248" y="2982807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88314" y="4166785"/>
            <a:ext cx="1151467" cy="93861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37514" y="4540843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88314" y="3636264"/>
            <a:ext cx="11514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37514" y="380627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88314" y="3289385"/>
            <a:ext cx="11514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37514" y="3367574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88314" y="3146552"/>
            <a:ext cx="1151467" cy="14283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88314" y="2922101"/>
            <a:ext cx="1151467" cy="224451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37514" y="2939076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00448" y="273795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15514" y="4044357"/>
            <a:ext cx="1151467" cy="106104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4714" y="447962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815514" y="3411813"/>
            <a:ext cx="11514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4714" y="363283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15514" y="3024124"/>
            <a:ext cx="11514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4714" y="312271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15514" y="2860887"/>
            <a:ext cx="1151467" cy="16323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4714" y="284725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15514" y="2616031"/>
            <a:ext cx="1151467" cy="244856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4714" y="264320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27648" y="243188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05648" y="265273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05648" y="285678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305648" y="313224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05648" y="364236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305648" y="448915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Calendar heatmap (daily commits)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06600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047848" y="2877457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047848" y="3748314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047848" y="4619171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327248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068962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27248" y="2006600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10" name="Shape 8"/>
          <p:cNvSpPr/>
          <p:nvPr/>
        </p:nvSpPr>
        <p:spPr>
          <a:xfrm>
            <a:off x="3327248" y="2442029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11" name="Shape 9"/>
          <p:cNvSpPr/>
          <p:nvPr/>
        </p:nvSpPr>
        <p:spPr>
          <a:xfrm>
            <a:off x="3327248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12" name="Shape 10"/>
          <p:cNvSpPr/>
          <p:nvPr/>
        </p:nvSpPr>
        <p:spPr>
          <a:xfrm>
            <a:off x="3327248" y="3312886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13" name="Shape 11"/>
          <p:cNvSpPr/>
          <p:nvPr/>
        </p:nvSpPr>
        <p:spPr>
          <a:xfrm>
            <a:off x="3327248" y="3748314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14" name="Shape 12"/>
          <p:cNvSpPr/>
          <p:nvPr/>
        </p:nvSpPr>
        <p:spPr>
          <a:xfrm>
            <a:off x="3327248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5" name="Shape 13"/>
          <p:cNvSpPr/>
          <p:nvPr/>
        </p:nvSpPr>
        <p:spPr>
          <a:xfrm>
            <a:off x="3327248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6" name="Shape 14"/>
          <p:cNvSpPr/>
          <p:nvPr/>
        </p:nvSpPr>
        <p:spPr>
          <a:xfrm>
            <a:off x="3762676" y="2006600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17" name="Shape 15"/>
          <p:cNvSpPr/>
          <p:nvPr/>
        </p:nvSpPr>
        <p:spPr>
          <a:xfrm>
            <a:off x="3762676" y="2442029"/>
            <a:ext cx="416379" cy="416379"/>
          </a:xfrm>
          <a:prstGeom prst="rect">
            <a:avLst/>
          </a:prstGeom>
          <a:solidFill>
            <a:srgbClr val="E6EBF8"/>
          </a:solidFill>
          <a:ln/>
        </p:spPr>
      </p:sp>
      <p:sp>
        <p:nvSpPr>
          <p:cNvPr id="18" name="Shape 16"/>
          <p:cNvSpPr/>
          <p:nvPr/>
        </p:nvSpPr>
        <p:spPr>
          <a:xfrm>
            <a:off x="3762676" y="2877457"/>
            <a:ext cx="416379" cy="416379"/>
          </a:xfrm>
          <a:prstGeom prst="rect">
            <a:avLst/>
          </a:prstGeom>
          <a:solidFill>
            <a:srgbClr val="5D8BDA"/>
          </a:solidFill>
          <a:ln/>
        </p:spPr>
      </p:sp>
      <p:sp>
        <p:nvSpPr>
          <p:cNvPr id="19" name="Shape 17"/>
          <p:cNvSpPr/>
          <p:nvPr/>
        </p:nvSpPr>
        <p:spPr>
          <a:xfrm>
            <a:off x="3762676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20" name="Shape 18"/>
          <p:cNvSpPr/>
          <p:nvPr/>
        </p:nvSpPr>
        <p:spPr>
          <a:xfrm>
            <a:off x="3762676" y="3748314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21" name="Shape 19"/>
          <p:cNvSpPr/>
          <p:nvPr/>
        </p:nvSpPr>
        <p:spPr>
          <a:xfrm>
            <a:off x="3762676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2" name="Shape 20"/>
          <p:cNvSpPr/>
          <p:nvPr/>
        </p:nvSpPr>
        <p:spPr>
          <a:xfrm>
            <a:off x="3762676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198105" y="2006600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24" name="Shape 22"/>
          <p:cNvSpPr/>
          <p:nvPr/>
        </p:nvSpPr>
        <p:spPr>
          <a:xfrm>
            <a:off x="4198105" y="2442029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25" name="Shape 23"/>
          <p:cNvSpPr/>
          <p:nvPr/>
        </p:nvSpPr>
        <p:spPr>
          <a:xfrm>
            <a:off x="4198105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26" name="Shape 24"/>
          <p:cNvSpPr/>
          <p:nvPr/>
        </p:nvSpPr>
        <p:spPr>
          <a:xfrm>
            <a:off x="4198105" y="3312886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27" name="Shape 25"/>
          <p:cNvSpPr/>
          <p:nvPr/>
        </p:nvSpPr>
        <p:spPr>
          <a:xfrm>
            <a:off x="4198105" y="3748314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98105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9" name="Shape 27"/>
          <p:cNvSpPr/>
          <p:nvPr/>
        </p:nvSpPr>
        <p:spPr>
          <a:xfrm>
            <a:off x="4198105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0" name="Shape 28"/>
          <p:cNvSpPr/>
          <p:nvPr/>
        </p:nvSpPr>
        <p:spPr>
          <a:xfrm>
            <a:off x="4633533" y="2006600"/>
            <a:ext cx="416379" cy="416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33533" y="2442029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32" name="Shape 30"/>
          <p:cNvSpPr/>
          <p:nvPr/>
        </p:nvSpPr>
        <p:spPr>
          <a:xfrm>
            <a:off x="4633533" y="2877457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633533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34" name="Shape 32"/>
          <p:cNvSpPr/>
          <p:nvPr/>
        </p:nvSpPr>
        <p:spPr>
          <a:xfrm>
            <a:off x="4633533" y="3748314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35" name="Shape 33"/>
          <p:cNvSpPr/>
          <p:nvPr/>
        </p:nvSpPr>
        <p:spPr>
          <a:xfrm>
            <a:off x="4633533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6" name="Shape 34"/>
          <p:cNvSpPr/>
          <p:nvPr/>
        </p:nvSpPr>
        <p:spPr>
          <a:xfrm>
            <a:off x="4633533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68962" y="2006600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38" name="Shape 36"/>
          <p:cNvSpPr/>
          <p:nvPr/>
        </p:nvSpPr>
        <p:spPr>
          <a:xfrm>
            <a:off x="5068962" y="2442029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39" name="Text 37"/>
          <p:cNvSpPr/>
          <p:nvPr/>
        </p:nvSpPr>
        <p:spPr>
          <a:xfrm>
            <a:off x="2946248" y="5118100"/>
            <a:ext cx="3302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327248" y="5118100"/>
            <a:ext cx="203200" cy="2032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1" name="Shape 39"/>
          <p:cNvSpPr/>
          <p:nvPr/>
        </p:nvSpPr>
        <p:spPr>
          <a:xfrm>
            <a:off x="3543148" y="5118100"/>
            <a:ext cx="203200" cy="203200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42" name="Shape 40"/>
          <p:cNvSpPr/>
          <p:nvPr/>
        </p:nvSpPr>
        <p:spPr>
          <a:xfrm>
            <a:off x="3759048" y="5118100"/>
            <a:ext cx="203200" cy="203200"/>
          </a:xfrm>
          <a:prstGeom prst="rect">
            <a:avLst/>
          </a:prstGeom>
          <a:solidFill>
            <a:srgbClr val="DDE4F5"/>
          </a:solidFill>
          <a:ln/>
        </p:spPr>
      </p:sp>
      <p:sp>
        <p:nvSpPr>
          <p:cNvPr id="43" name="Shape 41"/>
          <p:cNvSpPr/>
          <p:nvPr/>
        </p:nvSpPr>
        <p:spPr>
          <a:xfrm>
            <a:off x="3974948" y="5118100"/>
            <a:ext cx="203200" cy="203200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44" name="Shape 42"/>
          <p:cNvSpPr/>
          <p:nvPr/>
        </p:nvSpPr>
        <p:spPr>
          <a:xfrm>
            <a:off x="4190848" y="5118100"/>
            <a:ext cx="203200" cy="203200"/>
          </a:xfrm>
          <a:prstGeom prst="rect">
            <a:avLst/>
          </a:prstGeom>
          <a:solidFill>
            <a:srgbClr val="C7D2EE"/>
          </a:solidFill>
          <a:ln/>
        </p:spPr>
      </p:sp>
      <p:sp>
        <p:nvSpPr>
          <p:cNvPr id="45" name="Shape 43"/>
          <p:cNvSpPr/>
          <p:nvPr/>
        </p:nvSpPr>
        <p:spPr>
          <a:xfrm>
            <a:off x="4406748" y="5118100"/>
            <a:ext cx="203200" cy="203200"/>
          </a:xfrm>
          <a:prstGeom prst="rect">
            <a:avLst/>
          </a:prstGeom>
          <a:solidFill>
            <a:srgbClr val="BAC8EB"/>
          </a:solidFill>
          <a:ln/>
        </p:spPr>
      </p:sp>
      <p:sp>
        <p:nvSpPr>
          <p:cNvPr id="46" name="Shape 44"/>
          <p:cNvSpPr/>
          <p:nvPr/>
        </p:nvSpPr>
        <p:spPr>
          <a:xfrm>
            <a:off x="4622648" y="5118100"/>
            <a:ext cx="203200" cy="203200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47" name="Shape 45"/>
          <p:cNvSpPr/>
          <p:nvPr/>
        </p:nvSpPr>
        <p:spPr>
          <a:xfrm>
            <a:off x="4838548" y="5118100"/>
            <a:ext cx="203200" cy="203200"/>
          </a:xfrm>
          <a:prstGeom prst="rect">
            <a:avLst/>
          </a:prstGeom>
          <a:solidFill>
            <a:srgbClr val="9CB3E4"/>
          </a:solidFill>
          <a:ln/>
        </p:spPr>
      </p:sp>
      <p:sp>
        <p:nvSpPr>
          <p:cNvPr id="48" name="Shape 46"/>
          <p:cNvSpPr/>
          <p:nvPr/>
        </p:nvSpPr>
        <p:spPr>
          <a:xfrm>
            <a:off x="5054448" y="5118100"/>
            <a:ext cx="203200" cy="203200"/>
          </a:xfrm>
          <a:prstGeom prst="rect">
            <a:avLst/>
          </a:prstGeom>
          <a:solidFill>
            <a:srgbClr val="8BA6E1"/>
          </a:solidFill>
          <a:ln/>
        </p:spPr>
      </p:sp>
      <p:sp>
        <p:nvSpPr>
          <p:cNvPr id="49" name="Shape 47"/>
          <p:cNvSpPr/>
          <p:nvPr/>
        </p:nvSpPr>
        <p:spPr>
          <a:xfrm>
            <a:off x="5270348" y="5118100"/>
            <a:ext cx="203200" cy="203200"/>
          </a:xfrm>
          <a:prstGeom prst="rect">
            <a:avLst/>
          </a:prstGeom>
          <a:solidFill>
            <a:srgbClr val="7599DD"/>
          </a:solidFill>
          <a:ln/>
        </p:spPr>
      </p:sp>
      <p:sp>
        <p:nvSpPr>
          <p:cNvPr id="50" name="Shape 48"/>
          <p:cNvSpPr/>
          <p:nvPr/>
        </p:nvSpPr>
        <p:spPr>
          <a:xfrm>
            <a:off x="5486248" y="5118100"/>
            <a:ext cx="203200" cy="203200"/>
          </a:xfrm>
          <a:prstGeom prst="rect">
            <a:avLst/>
          </a:prstGeom>
          <a:solidFill>
            <a:srgbClr val="598ADA"/>
          </a:solidFill>
          <a:ln/>
        </p:spPr>
      </p:sp>
      <p:sp>
        <p:nvSpPr>
          <p:cNvPr id="51" name="Shape 49"/>
          <p:cNvSpPr/>
          <p:nvPr/>
        </p:nvSpPr>
        <p:spPr>
          <a:xfrm>
            <a:off x="5702148" y="5118100"/>
            <a:ext cx="203200" cy="2032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Text 50"/>
          <p:cNvSpPr/>
          <p:nvPr/>
        </p:nvSpPr>
        <p:spPr>
          <a:xfrm>
            <a:off x="5943448" y="5118100"/>
            <a:ext cx="381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</a:t>
            </a:r>
            <a:endParaRPr lang="en-US" sz="8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stacked flanks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60664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FT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30768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" name="Text 4"/>
          <p:cNvSpPr/>
          <p:nvPr/>
        </p:nvSpPr>
        <p:spPr>
          <a:xfrm>
            <a:off x="443468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PT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135728" y="1847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" name="Text 6"/>
          <p:cNvSpPr/>
          <p:nvPr/>
        </p:nvSpPr>
        <p:spPr>
          <a:xfrm>
            <a:off x="526272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FT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2660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0" name="Text 8"/>
          <p:cNvSpPr/>
          <p:nvPr/>
        </p:nvSpPr>
        <p:spPr>
          <a:xfrm>
            <a:off x="595360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PT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96846" y="2140373"/>
            <a:ext cx="65135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196846" y="2261870"/>
            <a:ext cx="65135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40373"/>
            <a:ext cx="592138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6187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40373"/>
            <a:ext cx="71056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6187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054063" y="2140373"/>
            <a:ext cx="414496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9" name="Text 17"/>
          <p:cNvSpPr/>
          <p:nvPr/>
        </p:nvSpPr>
        <p:spPr>
          <a:xfrm>
            <a:off x="7054063" y="226187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1564" y="2790613"/>
            <a:ext cx="100663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841564" y="2912110"/>
            <a:ext cx="100663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042178" y="2790613"/>
            <a:ext cx="79938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042178" y="2912110"/>
            <a:ext cx="79938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3498" y="2790613"/>
            <a:ext cx="1243489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" name="Text 24"/>
          <p:cNvSpPr/>
          <p:nvPr/>
        </p:nvSpPr>
        <p:spPr>
          <a:xfrm>
            <a:off x="6343498" y="291211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586986" y="2790613"/>
            <a:ext cx="68095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8" name="Text 26"/>
          <p:cNvSpPr/>
          <p:nvPr/>
        </p:nvSpPr>
        <p:spPr>
          <a:xfrm>
            <a:off x="7586986" y="2912110"/>
            <a:ext cx="68095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959991" y="3440853"/>
            <a:ext cx="888206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959991" y="3562350"/>
            <a:ext cx="8882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49426" y="3440853"/>
            <a:ext cx="710565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3" name="Text 31"/>
          <p:cNvSpPr/>
          <p:nvPr/>
        </p:nvSpPr>
        <p:spPr>
          <a:xfrm>
            <a:off x="4249426" y="356235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43498" y="3440853"/>
            <a:ext cx="118427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Text 33"/>
          <p:cNvSpPr/>
          <p:nvPr/>
        </p:nvSpPr>
        <p:spPr>
          <a:xfrm>
            <a:off x="6343498" y="3562350"/>
            <a:ext cx="118427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27773" y="3440853"/>
            <a:ext cx="59213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7" name="Text 35"/>
          <p:cNvSpPr/>
          <p:nvPr/>
        </p:nvSpPr>
        <p:spPr>
          <a:xfrm>
            <a:off x="7527773" y="356235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15274" y="4091093"/>
            <a:ext cx="53292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5315274" y="4212590"/>
            <a:ext cx="5329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00778" y="4091093"/>
            <a:ext cx="41449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42" name="Text 40"/>
          <p:cNvSpPr/>
          <p:nvPr/>
        </p:nvSpPr>
        <p:spPr>
          <a:xfrm>
            <a:off x="4900778" y="421259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343498" y="4091093"/>
            <a:ext cx="828992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44" name="Text 42"/>
          <p:cNvSpPr/>
          <p:nvPr/>
        </p:nvSpPr>
        <p:spPr>
          <a:xfrm>
            <a:off x="6343498" y="4212590"/>
            <a:ext cx="8289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280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172490" y="4091093"/>
            <a:ext cx="384889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46" name="Text 44"/>
          <p:cNvSpPr/>
          <p:nvPr/>
        </p:nvSpPr>
        <p:spPr>
          <a:xfrm>
            <a:off x="7172490" y="4212590"/>
            <a:ext cx="3848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130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70556" y="4741333"/>
            <a:ext cx="17764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492915" y="4741333"/>
            <a:ext cx="17764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0" name="Shape 48"/>
          <p:cNvSpPr/>
          <p:nvPr/>
        </p:nvSpPr>
        <p:spPr>
          <a:xfrm>
            <a:off x="6343498" y="4741333"/>
            <a:ext cx="325676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1" name="Text 49"/>
          <p:cNvSpPr/>
          <p:nvPr/>
        </p:nvSpPr>
        <p:spPr>
          <a:xfrm>
            <a:off x="6343498" y="4862830"/>
            <a:ext cx="3256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669173" y="4741333"/>
            <a:ext cx="148034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3" name="Shape 51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with per-spoke scales (mixed KPIs)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757652" y="3314700"/>
            <a:ext cx="676391" cy="643286"/>
          </a:xfrm>
          <a:custGeom>
            <a:avLst/>
            <a:gdLst/>
            <a:ahLst/>
            <a:cxnLst/>
            <a:rect l="l" t="t" r="r" b="b"/>
            <a:pathLst>
              <a:path w="676391" h="643286">
                <a:moveTo>
                  <a:pt x="338196" y="0"/>
                </a:moveTo>
                <a:lnTo>
                  <a:pt x="676391" y="245714"/>
                </a:lnTo>
                <a:lnTo>
                  <a:pt x="547212" y="643286"/>
                </a:lnTo>
                <a:lnTo>
                  <a:pt x="129179" y="643286"/>
                </a:lnTo>
                <a:lnTo>
                  <a:pt x="0" y="24571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19456" y="2959100"/>
            <a:ext cx="1352783" cy="1286573"/>
          </a:xfrm>
          <a:custGeom>
            <a:avLst/>
            <a:gdLst/>
            <a:ahLst/>
            <a:cxnLst/>
            <a:rect l="l" t="t" r="r" b="b"/>
            <a:pathLst>
              <a:path w="1352783" h="1286573">
                <a:moveTo>
                  <a:pt x="676391" y="0"/>
                </a:moveTo>
                <a:lnTo>
                  <a:pt x="1352783" y="491427"/>
                </a:lnTo>
                <a:lnTo>
                  <a:pt x="1094424" y="1286573"/>
                </a:lnTo>
                <a:lnTo>
                  <a:pt x="258359" y="1286573"/>
                </a:lnTo>
                <a:lnTo>
                  <a:pt x="0" y="49142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81261" y="2603500"/>
            <a:ext cx="2029174" cy="1929859"/>
          </a:xfrm>
          <a:custGeom>
            <a:avLst/>
            <a:gdLst/>
            <a:ahLst/>
            <a:cxnLst/>
            <a:rect l="l" t="t" r="r" b="b"/>
            <a:pathLst>
              <a:path w="2029174" h="1929859">
                <a:moveTo>
                  <a:pt x="1014587" y="0"/>
                </a:moveTo>
                <a:lnTo>
                  <a:pt x="2029174" y="737141"/>
                </a:lnTo>
                <a:lnTo>
                  <a:pt x="1641636" y="1929859"/>
                </a:lnTo>
                <a:lnTo>
                  <a:pt x="387538" y="1929859"/>
                </a:lnTo>
                <a:lnTo>
                  <a:pt x="0" y="737141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2188849" y="257314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27548" y="1993900"/>
            <a:ext cx="73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$m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6095848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21101" y="3118307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95848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76703" y="4793793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5259782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46973" y="4793793"/>
            <a:ext cx="6680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Headcount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43065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71154" y="3118307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Uptime 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49849" y="2569087"/>
            <a:ext cx="2379033" cy="2251959"/>
          </a:xfrm>
          <a:custGeom>
            <a:avLst/>
            <a:gdLst/>
            <a:ahLst/>
            <a:cxnLst/>
            <a:rect l="l" t="t" r="r" b="b"/>
            <a:pathLst>
              <a:path w="2379033" h="2251959">
                <a:moveTo>
                  <a:pt x="1345999" y="0"/>
                </a:moveTo>
                <a:lnTo>
                  <a:pt x="2379033" y="765560"/>
                </a:lnTo>
                <a:lnTo>
                  <a:pt x="2182064" y="2251959"/>
                </a:lnTo>
                <a:lnTo>
                  <a:pt x="652676" y="2055490"/>
                </a:lnTo>
                <a:lnTo>
                  <a:pt x="0" y="663871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65368" y="253860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98402" y="330416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01433" y="4790566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2045" y="459409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9369" y="3202479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1875324" y="214161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65368" y="22174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18150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7909" y="435903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29302" y="479056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12585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015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37285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Missing-data bridge (bridgeGaps)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4653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8252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0980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3996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7011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0027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3043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4246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894726" y="2865120"/>
            <a:ext cx="1660313" cy="960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4559" y="283464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55039" y="2865120"/>
            <a:ext cx="1660313" cy="320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84873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7215353" y="2033016"/>
            <a:ext cx="830157" cy="11521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15029" y="20025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11388" y="194729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Floating range columns (transparent base)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5437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3549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1662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3435" y="2705100"/>
            <a:ext cx="920750" cy="16002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2635" y="340995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4560" y="2545080"/>
            <a:ext cx="920750" cy="14401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33760" y="316992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65685" y="2225040"/>
            <a:ext cx="920750" cy="19202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14885" y="308991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46810" y="2385060"/>
            <a:ext cx="920750" cy="128016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6010" y="292989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73248" y="5105400"/>
            <a:ext cx="55245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48548" y="2939415"/>
            <a:ext cx="4953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Range</a:t>
            </a:r>
            <a:endParaRPr lang="en-US" sz="10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waterfall bridge + %-of-total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2971800"/>
            <a:ext cx="668867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39433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2" name="Shape 10"/>
          <p:cNvSpPr/>
          <p:nvPr/>
        </p:nvSpPr>
        <p:spPr>
          <a:xfrm>
            <a:off x="4243764" y="2545080"/>
            <a:ext cx="668867" cy="42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26631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5" name="Shape 13"/>
          <p:cNvSpPr/>
          <p:nvPr/>
        </p:nvSpPr>
        <p:spPr>
          <a:xfrm>
            <a:off x="5247064" y="2545080"/>
            <a:ext cx="668867" cy="32004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6098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8651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8" name="Shape 16"/>
          <p:cNvSpPr/>
          <p:nvPr/>
        </p:nvSpPr>
        <p:spPr>
          <a:xfrm>
            <a:off x="6250364" y="2331720"/>
            <a:ext cx="668867" cy="5334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50317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23317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7253664" y="2331720"/>
            <a:ext cx="668867" cy="21336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3431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8256964" y="2545080"/>
            <a:ext cx="668867" cy="256032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37299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1844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118448" y="43764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118448" y="37363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118448" y="30962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118448" y="24561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11844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544418" y="251460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93898" y="23355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3574898" y="2417064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47718" y="2386584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7198" y="220751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8198" y="2417064"/>
            <a:ext cx="1003300" cy="2560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51018" y="264261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00498" y="246354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581498" y="2289048"/>
            <a:ext cx="1003300" cy="38404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54318" y="225856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03798" y="207949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584798" y="2289048"/>
            <a:ext cx="1003300" cy="1920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57618" y="2450592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07098" y="227152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 flipV="1">
            <a:off x="7588098" y="2353056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560918" y="232257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10398" y="21435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3848" y="2149856"/>
            <a:ext cx="457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268980"/>
            <a:ext cx="1589741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09194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044700"/>
            <a:ext cx="1589741" cy="12242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56159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22448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88389" y="3137807"/>
            <a:ext cx="2225638" cy="196759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2989" y="402635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8389" y="2044700"/>
            <a:ext cx="2225638" cy="109310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2989" y="249600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37589" y="186055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939426" y="3881120"/>
            <a:ext cx="1589741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14026" y="439801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39426" y="2044700"/>
            <a:ext cx="1589741" cy="18364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14026" y="286766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88626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Mekko base + overlaid line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22448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(29%)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37589" y="514350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(41%)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88626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(29%)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79968" y="287718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B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579968" y="440753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425132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54568" y="348615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554568" y="272097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55456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837638" y="270287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87118" y="252380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3868118" y="2427288"/>
            <a:ext cx="1933089" cy="30607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0728" y="239680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20208" y="221773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801208" y="2427288"/>
            <a:ext cx="1933089" cy="95646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03817" y="335327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53297" y="31742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79968" y="3180556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%</a:t>
            </a:r>
            <a:endParaRPr lang="en-US" sz="10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independent line axes (mixed KPIs)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2008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691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1375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7720" y="5041392"/>
            <a:ext cx="897890" cy="640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44555" y="5028590"/>
            <a:ext cx="897890" cy="7681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91390" y="5033391"/>
            <a:ext cx="897890" cy="7200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38225" y="5009388"/>
            <a:ext cx="897890" cy="9601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11388" y="493395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3746665" y="3505200"/>
            <a:ext cx="1346835" cy="16002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63020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2500" y="32956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93500" y="3505200"/>
            <a:ext cx="1346835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9855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9335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V="1">
            <a:off x="6440335" y="2438400"/>
            <a:ext cx="1346835" cy="13868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56690" y="2407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170" y="2228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11388" y="22352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 flipV="1">
            <a:off x="3746665" y="3905250"/>
            <a:ext cx="1346835" cy="12001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63020" y="38747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12500" y="36957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1,500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93500" y="3905250"/>
            <a:ext cx="1346835" cy="4000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9855" y="42748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59335" y="40957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1,400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V="1">
            <a:off x="6440335" y="2305050"/>
            <a:ext cx="1346835" cy="20002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6690" y="22745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06170" y="20955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11388" y="20320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Orders k</a:t>
            </a:r>
            <a:endParaRPr lang="en-US" sz="10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Hexagonal tile map (US)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52384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22386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27586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97588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08240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78243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187804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57806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667368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FE6F5"/>
          </a:solidFill>
          <a:ln w="12700">
            <a:solidFill>
              <a:srgbClr val="DFE6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37370" y="228355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37370" y="244230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3194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8E0F3"/>
          </a:solidFill>
          <a:ln w="12700">
            <a:solidFill>
              <a:srgbClr val="D8E0F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01950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01950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151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8151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9107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6107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70639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40641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50203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20205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29767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99769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09331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E5EAF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79333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79333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6845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96AEE3"/>
          </a:solidFill>
          <a:ln w="12700">
            <a:solidFill>
              <a:srgbClr val="96AEE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38461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38461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94802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1802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42758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9758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87173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1732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35129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2129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3085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860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310421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80423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789985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987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269549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FD9F1"/>
          </a:solidFill>
          <a:ln w="12700">
            <a:solidFill>
              <a:srgbClr val="CFD9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39551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39551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749113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719115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722867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DE4F5"/>
          </a:solidFill>
          <a:ln w="12700">
            <a:solidFill>
              <a:srgbClr val="DDE4F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98679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198679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70824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AD5EF"/>
          </a:solidFill>
          <a:ln w="12700">
            <a:solidFill>
              <a:srgbClr val="CAD5E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8243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678243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818780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15780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152384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122386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122386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363194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01950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11151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08151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91076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9EEF9"/>
          </a:solidFill>
          <a:ln w="12700">
            <a:solidFill>
              <a:srgbClr val="E9EEF9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61078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61078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5070639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4064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5550203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520205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029767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999769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6509331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79333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6988895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958897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746845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43846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794802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91802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351294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EF1FA"/>
          </a:solidFill>
          <a:ln w="12700">
            <a:solidFill>
              <a:srgbClr val="EEF1FA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21296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4321296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83085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00860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10421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280423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789985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759987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269549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239551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749113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8EDF8"/>
          </a:solidFill>
          <a:ln w="12700">
            <a:solidFill>
              <a:srgbClr val="E8EDF8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719115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6719115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722867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F1F4FB"/>
          </a:solidFill>
          <a:ln w="12700">
            <a:solidFill>
              <a:srgbClr val="F1F4FB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7198679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7198679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4591076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87A4E0"/>
          </a:solidFill>
          <a:ln w="12700">
            <a:solidFill>
              <a:srgbClr val="87A4E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561078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561078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5070639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040641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5550203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520205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6029767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5999769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6509331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CF0F9"/>
          </a:solidFill>
          <a:ln w="12700">
            <a:solidFill>
              <a:srgbClr val="ECF0F9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479333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479333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6988895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958897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3392166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362168" y="455598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6749113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AEC0E8"/>
          </a:solidFill>
          <a:ln w="12700">
            <a:solidFill>
              <a:srgbClr val="AEC0E8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719115" y="462114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6719115" y="477989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3122386" y="506730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185886" y="506730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249386" y="506730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312886" y="506730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76386" y="506730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439886" y="506730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3503386" y="506730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566886" y="506730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630386" y="506730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693886" y="506730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757386" y="506730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820886" y="506730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884386" y="506730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947886" y="506730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011386" y="506730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074886" y="506730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138386" y="506730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201886" y="506730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265386" y="506730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328886" y="506730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392386" y="506730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455886" y="506730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519386" y="506730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582886" y="506730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4" name="Text 142"/>
          <p:cNvSpPr/>
          <p:nvPr/>
        </p:nvSpPr>
        <p:spPr>
          <a:xfrm>
            <a:off x="3122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5" name="Text 143"/>
          <p:cNvSpPr/>
          <p:nvPr/>
        </p:nvSpPr>
        <p:spPr>
          <a:xfrm>
            <a:off x="3884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6" name="Shape 144"/>
          <p:cNvSpPr/>
          <p:nvPr/>
        </p:nvSpPr>
        <p:spPr>
          <a:xfrm>
            <a:off x="4773386" y="506730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7" name="Text 145"/>
          <p:cNvSpPr/>
          <p:nvPr/>
        </p:nvSpPr>
        <p:spPr>
          <a:xfrm>
            <a:off x="4913086" y="504190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with per-region mini-bars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4" name="Shape 12"/>
          <p:cNvSpPr/>
          <p:nvPr/>
        </p:nvSpPr>
        <p:spPr>
          <a:xfrm>
            <a:off x="4148104" y="2909461"/>
            <a:ext cx="65623" cy="38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4220077" y="2901771"/>
            <a:ext cx="65623" cy="461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" name="Shape 14"/>
          <p:cNvSpPr/>
          <p:nvPr/>
        </p:nvSpPr>
        <p:spPr>
          <a:xfrm>
            <a:off x="4292051" y="2897927"/>
            <a:ext cx="65623" cy="499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Shape 15"/>
          <p:cNvSpPr/>
          <p:nvPr/>
        </p:nvSpPr>
        <p:spPr>
          <a:xfrm>
            <a:off x="4364024" y="2886393"/>
            <a:ext cx="65623" cy="61516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8" name="Text 16"/>
          <p:cNvSpPr/>
          <p:nvPr/>
        </p:nvSpPr>
        <p:spPr>
          <a:xfrm>
            <a:off x="410750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0" name="Text 18"/>
          <p:cNvSpPr/>
          <p:nvPr/>
        </p:nvSpPr>
        <p:spPr>
          <a:xfrm>
            <a:off x="450834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2" name="Text 20"/>
          <p:cNvSpPr/>
          <p:nvPr/>
        </p:nvSpPr>
        <p:spPr>
          <a:xfrm>
            <a:off x="490919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4" name="Text 22"/>
          <p:cNvSpPr/>
          <p:nvPr/>
        </p:nvSpPr>
        <p:spPr>
          <a:xfrm>
            <a:off x="5310035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6" name="Text 24"/>
          <p:cNvSpPr/>
          <p:nvPr/>
        </p:nvSpPr>
        <p:spPr>
          <a:xfrm>
            <a:off x="5710879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8" name="Text 26"/>
          <p:cNvSpPr/>
          <p:nvPr/>
        </p:nvSpPr>
        <p:spPr>
          <a:xfrm>
            <a:off x="6111723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0" name="Text 28"/>
          <p:cNvSpPr/>
          <p:nvPr/>
        </p:nvSpPr>
        <p:spPr>
          <a:xfrm>
            <a:off x="6512566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2" name="Shape 30"/>
          <p:cNvSpPr/>
          <p:nvPr/>
        </p:nvSpPr>
        <p:spPr>
          <a:xfrm>
            <a:off x="7354854" y="2878703"/>
            <a:ext cx="65623" cy="692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7426827" y="2871014"/>
            <a:ext cx="65623" cy="768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4" name="Shape 32"/>
          <p:cNvSpPr/>
          <p:nvPr/>
        </p:nvSpPr>
        <p:spPr>
          <a:xfrm>
            <a:off x="7498801" y="2863324"/>
            <a:ext cx="65623" cy="845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Shape 33"/>
          <p:cNvSpPr/>
          <p:nvPr/>
        </p:nvSpPr>
        <p:spPr>
          <a:xfrm>
            <a:off x="7570774" y="2847945"/>
            <a:ext cx="65623" cy="9996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6" name="Text 34"/>
          <p:cNvSpPr/>
          <p:nvPr/>
        </p:nvSpPr>
        <p:spPr>
          <a:xfrm>
            <a:off x="731425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8" name="Text 36"/>
          <p:cNvSpPr/>
          <p:nvPr/>
        </p:nvSpPr>
        <p:spPr>
          <a:xfrm>
            <a:off x="771509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0" name="Text 38"/>
          <p:cNvSpPr/>
          <p:nvPr/>
        </p:nvSpPr>
        <p:spPr>
          <a:xfrm>
            <a:off x="811594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2" name="Text 40"/>
          <p:cNvSpPr/>
          <p:nvPr/>
        </p:nvSpPr>
        <p:spPr>
          <a:xfrm>
            <a:off x="410750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4" name="Text 42"/>
          <p:cNvSpPr/>
          <p:nvPr/>
        </p:nvSpPr>
        <p:spPr>
          <a:xfrm>
            <a:off x="450834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8" name="Text 46"/>
          <p:cNvSpPr/>
          <p:nvPr/>
        </p:nvSpPr>
        <p:spPr>
          <a:xfrm>
            <a:off x="5310035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0" name="Text 48"/>
          <p:cNvSpPr/>
          <p:nvPr/>
        </p:nvSpPr>
        <p:spPr>
          <a:xfrm>
            <a:off x="5710879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2323" y="3302615"/>
            <a:ext cx="65623" cy="4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6224296" y="3294926"/>
            <a:ext cx="65623" cy="538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4" name="Shape 52"/>
          <p:cNvSpPr/>
          <p:nvPr/>
        </p:nvSpPr>
        <p:spPr>
          <a:xfrm>
            <a:off x="6296269" y="3291081"/>
            <a:ext cx="65623" cy="576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5" name="Shape 53"/>
          <p:cNvSpPr/>
          <p:nvPr/>
        </p:nvSpPr>
        <p:spPr>
          <a:xfrm>
            <a:off x="6368243" y="3279547"/>
            <a:ext cx="65623" cy="69205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6" name="Text 54"/>
          <p:cNvSpPr/>
          <p:nvPr/>
        </p:nvSpPr>
        <p:spPr>
          <a:xfrm>
            <a:off x="6111723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8" name="Text 56"/>
          <p:cNvSpPr/>
          <p:nvPr/>
        </p:nvSpPr>
        <p:spPr>
          <a:xfrm>
            <a:off x="6512566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0" name="Text 58"/>
          <p:cNvSpPr/>
          <p:nvPr/>
        </p:nvSpPr>
        <p:spPr>
          <a:xfrm>
            <a:off x="6913410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2" name="Text 60"/>
          <p:cNvSpPr/>
          <p:nvPr/>
        </p:nvSpPr>
        <p:spPr>
          <a:xfrm>
            <a:off x="731425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4" name="Text 62"/>
          <p:cNvSpPr/>
          <p:nvPr/>
        </p:nvSpPr>
        <p:spPr>
          <a:xfrm>
            <a:off x="771509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6" name="Shape 64"/>
          <p:cNvSpPr/>
          <p:nvPr/>
        </p:nvSpPr>
        <p:spPr>
          <a:xfrm>
            <a:off x="3747260" y="3634254"/>
            <a:ext cx="65623" cy="1153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819234" y="3615030"/>
            <a:ext cx="65623" cy="134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3891207" y="3595807"/>
            <a:ext cx="65623" cy="1537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69" name="Shape 67"/>
          <p:cNvSpPr/>
          <p:nvPr/>
        </p:nvSpPr>
        <p:spPr>
          <a:xfrm>
            <a:off x="3963180" y="3565049"/>
            <a:ext cx="65623" cy="184547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70" name="Text 68"/>
          <p:cNvSpPr/>
          <p:nvPr/>
        </p:nvSpPr>
        <p:spPr>
          <a:xfrm>
            <a:off x="370666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2" name="Text 70"/>
          <p:cNvSpPr/>
          <p:nvPr/>
        </p:nvSpPr>
        <p:spPr>
          <a:xfrm>
            <a:off x="410750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4" name="Text 72"/>
          <p:cNvSpPr/>
          <p:nvPr/>
        </p:nvSpPr>
        <p:spPr>
          <a:xfrm>
            <a:off x="450834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6" name="Text 74"/>
          <p:cNvSpPr/>
          <p:nvPr/>
        </p:nvSpPr>
        <p:spPr>
          <a:xfrm>
            <a:off x="4909191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0" name="Text 78"/>
          <p:cNvSpPr/>
          <p:nvPr/>
        </p:nvSpPr>
        <p:spPr>
          <a:xfrm>
            <a:off x="5710879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2" name="Text 80"/>
          <p:cNvSpPr/>
          <p:nvPr/>
        </p:nvSpPr>
        <p:spPr>
          <a:xfrm>
            <a:off x="6111723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4" name="Text 82"/>
          <p:cNvSpPr/>
          <p:nvPr/>
        </p:nvSpPr>
        <p:spPr>
          <a:xfrm>
            <a:off x="6512566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6" name="Text 84"/>
          <p:cNvSpPr/>
          <p:nvPr/>
        </p:nvSpPr>
        <p:spPr>
          <a:xfrm>
            <a:off x="691341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8" name="Text 86"/>
          <p:cNvSpPr/>
          <p:nvPr/>
        </p:nvSpPr>
        <p:spPr>
          <a:xfrm>
            <a:off x="731425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0" name="Text 88"/>
          <p:cNvSpPr/>
          <p:nvPr/>
        </p:nvSpPr>
        <p:spPr>
          <a:xfrm>
            <a:off x="771509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2" name="Text 90"/>
          <p:cNvSpPr/>
          <p:nvPr/>
        </p:nvSpPr>
        <p:spPr>
          <a:xfrm>
            <a:off x="4508348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4" name="Text 92"/>
          <p:cNvSpPr/>
          <p:nvPr/>
        </p:nvSpPr>
        <p:spPr>
          <a:xfrm>
            <a:off x="4909191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6" name="Text 94"/>
          <p:cNvSpPr/>
          <p:nvPr/>
        </p:nvSpPr>
        <p:spPr>
          <a:xfrm>
            <a:off x="5310035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8" name="Text 96"/>
          <p:cNvSpPr/>
          <p:nvPr/>
        </p:nvSpPr>
        <p:spPr>
          <a:xfrm>
            <a:off x="5710879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0" name="Text 98"/>
          <p:cNvSpPr/>
          <p:nvPr/>
        </p:nvSpPr>
        <p:spPr>
          <a:xfrm>
            <a:off x="6111723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2" name="Text 100"/>
          <p:cNvSpPr/>
          <p:nvPr/>
        </p:nvSpPr>
        <p:spPr>
          <a:xfrm>
            <a:off x="6512566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4" name="Text 102"/>
          <p:cNvSpPr/>
          <p:nvPr/>
        </p:nvSpPr>
        <p:spPr>
          <a:xfrm>
            <a:off x="6913410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949792" y="4474389"/>
            <a:ext cx="65623" cy="768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021765" y="4455165"/>
            <a:ext cx="65623" cy="961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5093738" y="4443631"/>
            <a:ext cx="65623" cy="1076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5165712" y="4428252"/>
            <a:ext cx="65623" cy="123031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10" name="Text 108"/>
          <p:cNvSpPr/>
          <p:nvPr/>
        </p:nvSpPr>
        <p:spPr>
          <a:xfrm>
            <a:off x="4909191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2" name="Text 110"/>
          <p:cNvSpPr/>
          <p:nvPr/>
        </p:nvSpPr>
        <p:spPr>
          <a:xfrm>
            <a:off x="5310035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4" name="Text 112"/>
          <p:cNvSpPr/>
          <p:nvPr/>
        </p:nvSpPr>
        <p:spPr>
          <a:xfrm>
            <a:off x="5710879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6" name="Text 114"/>
          <p:cNvSpPr/>
          <p:nvPr/>
        </p:nvSpPr>
        <p:spPr>
          <a:xfrm>
            <a:off x="6111723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8" name="Text 116"/>
          <p:cNvSpPr/>
          <p:nvPr/>
        </p:nvSpPr>
        <p:spPr>
          <a:xfrm>
            <a:off x="6512566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0" name="Text 118"/>
          <p:cNvSpPr/>
          <p:nvPr/>
        </p:nvSpPr>
        <p:spPr>
          <a:xfrm>
            <a:off x="6913410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2" name="Text 120"/>
          <p:cNvSpPr/>
          <p:nvPr/>
        </p:nvSpPr>
        <p:spPr>
          <a:xfrm>
            <a:off x="3706660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553167" y="4894456"/>
            <a:ext cx="65623" cy="576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625140" y="4886767"/>
            <a:ext cx="65623" cy="653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697113" y="4879077"/>
            <a:ext cx="65623" cy="730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769087" y="4867543"/>
            <a:ext cx="65623" cy="84584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28" name="Text 126"/>
          <p:cNvSpPr/>
          <p:nvPr/>
        </p:nvSpPr>
        <p:spPr>
          <a:xfrm>
            <a:off x="6512566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3706660" y="51117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Text 128"/>
          <p:cNvSpPr/>
          <p:nvPr/>
        </p:nvSpPr>
        <p:spPr>
          <a:xfrm>
            <a:off x="383366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4123220" y="51117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Text 130"/>
          <p:cNvSpPr/>
          <p:nvPr/>
        </p:nvSpPr>
        <p:spPr>
          <a:xfrm>
            <a:off x="425022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850" dirty="0"/>
          </a:p>
        </p:txBody>
      </p:sp>
      <p:sp>
        <p:nvSpPr>
          <p:cNvPr id="133" name="Shape 131"/>
          <p:cNvSpPr/>
          <p:nvPr/>
        </p:nvSpPr>
        <p:spPr>
          <a:xfrm>
            <a:off x="4539780" y="51117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34" name="Text 132"/>
          <p:cNvSpPr/>
          <p:nvPr/>
        </p:nvSpPr>
        <p:spPr>
          <a:xfrm>
            <a:off x="466678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4956340" y="51117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36" name="Text 134"/>
          <p:cNvSpPr/>
          <p:nvPr/>
        </p:nvSpPr>
        <p:spPr>
          <a:xfrm>
            <a:off x="508334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85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chart with negative segments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60655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2918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9766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45897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3202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139961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00274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56366" y="3014472"/>
            <a:ext cx="1106876" cy="16642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05566" y="375132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56366" y="1905000"/>
            <a:ext cx="1106876" cy="110947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5566" y="236448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56366" y="4678680"/>
            <a:ext cx="1106876" cy="41605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5566" y="479145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16680" y="2990353"/>
            <a:ext cx="1106876" cy="168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65880" y="373926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16680" y="1905000"/>
            <a:ext cx="1106876" cy="108535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65880" y="235242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39%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16680" y="4678680"/>
            <a:ext cx="1106876" cy="24119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65880" y="4704025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-9%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076993" y="2971800"/>
            <a:ext cx="1106876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26193" y="37299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76993" y="1905000"/>
            <a:ext cx="1106876" cy="10668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26193" y="234315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76993" y="4678680"/>
            <a:ext cx="1106876" cy="42672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6193" y="47967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479648" y="467868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11388" y="235267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Renewal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511388" y="37395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11388" y="48063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Returns</a:t>
            </a:r>
            <a:endParaRPr lang="en-US" sz="10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Semi-circle gauge (market share)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0" y="2667000"/>
                </a:moveTo>
                <a:lnTo>
                  <a:pt x="13726" y="2396770"/>
                </a:lnTo>
                <a:lnTo>
                  <a:pt x="54761" y="2129322"/>
                </a:lnTo>
                <a:lnTo>
                  <a:pt x="122684" y="1867408"/>
                </a:lnTo>
                <a:lnTo>
                  <a:pt x="216796" y="1613725"/>
                </a:lnTo>
                <a:lnTo>
                  <a:pt x="336127" y="1370882"/>
                </a:lnTo>
                <a:lnTo>
                  <a:pt x="479450" y="1141381"/>
                </a:lnTo>
                <a:lnTo>
                  <a:pt x="645289" y="927582"/>
                </a:lnTo>
                <a:lnTo>
                  <a:pt x="831938" y="731687"/>
                </a:lnTo>
                <a:lnTo>
                  <a:pt x="1037474" y="555712"/>
                </a:lnTo>
                <a:lnTo>
                  <a:pt x="1259783" y="401469"/>
                </a:lnTo>
                <a:lnTo>
                  <a:pt x="1496577" y="270544"/>
                </a:lnTo>
                <a:lnTo>
                  <a:pt x="1745418" y="164286"/>
                </a:lnTo>
                <a:lnTo>
                  <a:pt x="2003744" y="83789"/>
                </a:lnTo>
                <a:lnTo>
                  <a:pt x="2282312" y="1168737"/>
                </a:lnTo>
                <a:lnTo>
                  <a:pt x="2132482" y="1215426"/>
                </a:lnTo>
                <a:lnTo>
                  <a:pt x="1988155" y="1277056"/>
                </a:lnTo>
                <a:lnTo>
                  <a:pt x="1850814" y="1352992"/>
                </a:lnTo>
                <a:lnTo>
                  <a:pt x="1721875" y="1442453"/>
                </a:lnTo>
                <a:lnTo>
                  <a:pt x="1602664" y="1544519"/>
                </a:lnTo>
                <a:lnTo>
                  <a:pt x="1494408" y="1658138"/>
                </a:lnTo>
                <a:lnTo>
                  <a:pt x="1398221" y="1782141"/>
                </a:lnTo>
                <a:lnTo>
                  <a:pt x="1315094" y="1915252"/>
                </a:lnTo>
                <a:lnTo>
                  <a:pt x="1245882" y="2056100"/>
                </a:lnTo>
                <a:lnTo>
                  <a:pt x="1191297" y="2203237"/>
                </a:lnTo>
                <a:lnTo>
                  <a:pt x="1151901" y="2355147"/>
                </a:lnTo>
                <a:lnTo>
                  <a:pt x="1128101" y="2510267"/>
                </a:lnTo>
                <a:lnTo>
                  <a:pt x="1120140" y="26670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23277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45944" y="2716356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42%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2003744" y="83789"/>
                </a:moveTo>
                <a:lnTo>
                  <a:pt x="2258987" y="31395"/>
                </a:lnTo>
                <a:lnTo>
                  <a:pt x="2518124" y="4158"/>
                </a:lnTo>
                <a:lnTo>
                  <a:pt x="2778682" y="2339"/>
                </a:lnTo>
                <a:lnTo>
                  <a:pt x="3038175" y="25955"/>
                </a:lnTo>
                <a:lnTo>
                  <a:pt x="3294124" y="74780"/>
                </a:lnTo>
                <a:lnTo>
                  <a:pt x="3544087" y="148348"/>
                </a:lnTo>
                <a:lnTo>
                  <a:pt x="3785679" y="245957"/>
                </a:lnTo>
                <a:lnTo>
                  <a:pt x="4016592" y="366676"/>
                </a:lnTo>
                <a:lnTo>
                  <a:pt x="4234623" y="509352"/>
                </a:lnTo>
                <a:lnTo>
                  <a:pt x="3576221" y="1415564"/>
                </a:lnTo>
                <a:lnTo>
                  <a:pt x="3449763" y="1332812"/>
                </a:lnTo>
                <a:lnTo>
                  <a:pt x="3315834" y="1262795"/>
                </a:lnTo>
                <a:lnTo>
                  <a:pt x="3175711" y="1206182"/>
                </a:lnTo>
                <a:lnTo>
                  <a:pt x="3030732" y="1163512"/>
                </a:lnTo>
                <a:lnTo>
                  <a:pt x="2882281" y="1135194"/>
                </a:lnTo>
                <a:lnTo>
                  <a:pt x="2731776" y="1121497"/>
                </a:lnTo>
                <a:lnTo>
                  <a:pt x="2580652" y="1122552"/>
                </a:lnTo>
                <a:lnTo>
                  <a:pt x="2430352" y="1138349"/>
                </a:lnTo>
                <a:lnTo>
                  <a:pt x="2282312" y="1168737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6597973" y="1807652"/>
            <a:ext cx="13089" cy="68613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14632" y="169369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A 28%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4234623" y="509352"/>
                </a:moveTo>
                <a:lnTo>
                  <a:pt x="4430719" y="666454"/>
                </a:lnTo>
                <a:lnTo>
                  <a:pt x="4611159" y="841313"/>
                </a:lnTo>
                <a:lnTo>
                  <a:pt x="4774343" y="1032377"/>
                </a:lnTo>
                <a:lnTo>
                  <a:pt x="4918823" y="1237950"/>
                </a:lnTo>
                <a:lnTo>
                  <a:pt x="5043314" y="1456207"/>
                </a:lnTo>
                <a:lnTo>
                  <a:pt x="5146714" y="1685212"/>
                </a:lnTo>
                <a:lnTo>
                  <a:pt x="4105234" y="2097563"/>
                </a:lnTo>
                <a:lnTo>
                  <a:pt x="4045262" y="1964740"/>
                </a:lnTo>
                <a:lnTo>
                  <a:pt x="3973057" y="1838151"/>
                </a:lnTo>
                <a:lnTo>
                  <a:pt x="3889259" y="1718919"/>
                </a:lnTo>
                <a:lnTo>
                  <a:pt x="3794612" y="1608101"/>
                </a:lnTo>
                <a:lnTo>
                  <a:pt x="3689957" y="1506683"/>
                </a:lnTo>
                <a:lnTo>
                  <a:pt x="3576221" y="1415564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213226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3471" y="2716356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B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5146714" y="1685212"/>
                </a:moveTo>
                <a:lnTo>
                  <a:pt x="5228103" y="1922931"/>
                </a:lnTo>
                <a:lnTo>
                  <a:pt x="5286760" y="2167254"/>
                </a:lnTo>
                <a:lnTo>
                  <a:pt x="5322164" y="2416013"/>
                </a:lnTo>
                <a:lnTo>
                  <a:pt x="5334000" y="2667000"/>
                </a:lnTo>
                <a:lnTo>
                  <a:pt x="4213860" y="2667000"/>
                </a:lnTo>
                <a:lnTo>
                  <a:pt x="4206995" y="2521428"/>
                </a:lnTo>
                <a:lnTo>
                  <a:pt x="4186461" y="2377147"/>
                </a:lnTo>
                <a:lnTo>
                  <a:pt x="4152440" y="2235440"/>
                </a:lnTo>
                <a:lnTo>
                  <a:pt x="4105234" y="2097563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728083" y="3993286"/>
            <a:ext cx="68613" cy="13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15408" y="3894466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Others 12%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28848" y="4292600"/>
            <a:ext cx="533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7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Pareto chart (defect causes)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Scratches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97113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86902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Misalign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6691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Cracks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66480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Paint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6269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22896" y="2545080"/>
            <a:ext cx="598593" cy="25603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72096" y="37299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20786" y="3398520"/>
            <a:ext cx="598593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69986" y="41567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18676" y="4145280"/>
            <a:ext cx="598593" cy="9601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67876" y="45300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16566" y="4465320"/>
            <a:ext cx="598593" cy="6400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65766" y="46901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14456" y="4785360"/>
            <a:ext cx="598593" cy="32004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3656" y="485013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12346" y="4892040"/>
            <a:ext cx="598593" cy="2133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61546" y="490347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11388" y="48431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Defects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8598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8598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48598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91713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41193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522193" y="2970733"/>
            <a:ext cx="897890" cy="854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89603" y="29402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39083" y="2761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4420083" y="2490673"/>
            <a:ext cx="897890" cy="48006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287493" y="2460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36973" y="22811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5317973" y="2170633"/>
            <a:ext cx="897890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85383" y="21401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34863" y="19610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V="1">
            <a:off x="6215863" y="2010613"/>
            <a:ext cx="897890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3273" y="198013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32753" y="180106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 flipV="1">
            <a:off x="7113753" y="1905000"/>
            <a:ext cx="897890" cy="1056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981163" y="18745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30643" y="1695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511388" y="163195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Cumulative %</a:t>
            </a:r>
            <a:endParaRPr lang="en-US" sz="10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Bump chart (brand rank by year)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21548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166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58784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77402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6020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9668" y="278765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09584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82028" y="200660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68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5886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4504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3122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740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4784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53170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09668" y="2006600"/>
            <a:ext cx="1186180" cy="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95848" y="2006600"/>
            <a:ext cx="1186180" cy="156210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7268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5886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4504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31228" y="35179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1740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4784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3170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3488" y="3568700"/>
            <a:ext cx="1186180" cy="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6095848" y="2787650"/>
            <a:ext cx="1186180" cy="156210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7268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5886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45048" y="42989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31228" y="27368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740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4784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53170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723488" y="4349750"/>
            <a:ext cx="1186180" cy="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9584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7268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5886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045048" y="35179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23122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417408" y="50800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84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53170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72348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90966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09584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67268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5886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4504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23122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417408" y="429895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04784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53170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(line)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87156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0788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420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8052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01684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0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667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6030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639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6757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0552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25971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31390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36808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047848" y="42227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47646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535520" y="21200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16800" y="20552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V="1">
            <a:off x="6840576" y="2150533"/>
            <a:ext cx="725424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10096" y="2661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91376" y="25971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40576" y="2692400"/>
            <a:ext cx="113995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50048" y="32037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31328" y="31390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7203288" y="3234267"/>
            <a:ext cx="77724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72808" y="37456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54088" y="36808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203288" y="3776133"/>
            <a:ext cx="129540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468208" y="4287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49488" y="42227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6322416" y="4318000"/>
            <a:ext cx="217627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91936" y="48293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73216" y="47646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(stacked area)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7634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2317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7001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1684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247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67154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1837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6521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2694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47848" y="28841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47848" y="34988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41135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47282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2950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75650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203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/>
          <p:nvPr/>
        </p:nvSpPr>
        <p:spPr>
          <a:xfrm>
            <a:off x="444738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2950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375650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2038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44738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29508" y="2364740"/>
            <a:ext cx="273252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29508" y="2412023"/>
            <a:ext cx="281022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3629508" y="2459306"/>
            <a:ext cx="288792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3629508" y="2506589"/>
            <a:ext cx="296562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3629508" y="2553872"/>
            <a:ext cx="304332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3629508" y="2601155"/>
            <a:ext cx="312103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3629508" y="2648438"/>
            <a:ext cx="319873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3629508" y="2695722"/>
            <a:ext cx="327643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629508" y="2743005"/>
            <a:ext cx="335413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629508" y="2790288"/>
            <a:ext cx="343183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629508" y="2837571"/>
            <a:ext cx="35095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3629508" y="2884854"/>
            <a:ext cx="358724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3629508" y="2932137"/>
            <a:ext cx="366494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629508" y="2979420"/>
            <a:ext cx="363904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3629508" y="3026703"/>
            <a:ext cx="35095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3629508" y="3073986"/>
            <a:ext cx="338003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3629508" y="3121269"/>
            <a:ext cx="325053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3629508" y="3168552"/>
            <a:ext cx="312103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629508" y="3215835"/>
            <a:ext cx="299152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629508" y="3263118"/>
            <a:ext cx="286202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629508" y="3310402"/>
            <a:ext cx="273252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3629508" y="3357685"/>
            <a:ext cx="260301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3629508" y="3404968"/>
            <a:ext cx="247351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3629508" y="3452251"/>
            <a:ext cx="234401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3629508" y="3499534"/>
            <a:ext cx="221450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3629508" y="3546817"/>
            <a:ext cx="208500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3629508" y="3594100"/>
            <a:ext cx="206687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3629508" y="3641383"/>
            <a:ext cx="216011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629508" y="3688666"/>
            <a:ext cx="225335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629508" y="3735949"/>
            <a:ext cx="234660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629508" y="3783232"/>
            <a:ext cx="243984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3629508" y="3830515"/>
            <a:ext cx="253308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3629508" y="3877798"/>
            <a:ext cx="262632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3629508" y="3925082"/>
            <a:ext cx="271957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3629508" y="3972365"/>
            <a:ext cx="281281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3629508" y="4019648"/>
            <a:ext cx="290605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3629508" y="4066931"/>
            <a:ext cx="299929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3629508" y="4114214"/>
            <a:ext cx="3092540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629508" y="4161497"/>
            <a:ext cx="318578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629508" y="4208780"/>
            <a:ext cx="319873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629508" y="4256063"/>
            <a:ext cx="313139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3629508" y="4303346"/>
            <a:ext cx="3064050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629508" y="4350629"/>
            <a:ext cx="299670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3629508" y="4397912"/>
            <a:ext cx="292936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3629508" y="4445195"/>
            <a:ext cx="286202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3629508" y="4492478"/>
            <a:ext cx="279468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3629508" y="4539762"/>
            <a:ext cx="27273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3629508" y="4587045"/>
            <a:ext cx="265999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3629508" y="4634328"/>
            <a:ext cx="259265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3629508" y="4681611"/>
            <a:ext cx="252531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3629508" y="4728894"/>
            <a:ext cx="245797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3629508" y="4776177"/>
            <a:ext cx="2390632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362029" y="2364740"/>
            <a:ext cx="167059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6439731" y="2412023"/>
            <a:ext cx="164469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6517433" y="2459306"/>
            <a:ext cx="161879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6595135" y="2506589"/>
            <a:ext cx="15928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6672837" y="2553872"/>
            <a:ext cx="15669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0539" y="2601155"/>
            <a:ext cx="15410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6828241" y="2648438"/>
            <a:ext cx="15151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6905943" y="2695722"/>
            <a:ext cx="14892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6983645" y="2743005"/>
            <a:ext cx="146338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7061347" y="2790288"/>
            <a:ext cx="143748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7139049" y="2837571"/>
            <a:ext cx="141158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7216751" y="2884854"/>
            <a:ext cx="13856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9" name="Shape 87"/>
          <p:cNvSpPr/>
          <p:nvPr/>
        </p:nvSpPr>
        <p:spPr>
          <a:xfrm>
            <a:off x="7294453" y="2932137"/>
            <a:ext cx="135978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0" name="Shape 88"/>
          <p:cNvSpPr/>
          <p:nvPr/>
        </p:nvSpPr>
        <p:spPr>
          <a:xfrm>
            <a:off x="7268552" y="2979420"/>
            <a:ext cx="13856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9049" y="3026703"/>
            <a:ext cx="146338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2" name="Shape 90"/>
          <p:cNvSpPr/>
          <p:nvPr/>
        </p:nvSpPr>
        <p:spPr>
          <a:xfrm>
            <a:off x="7009545" y="3073986"/>
            <a:ext cx="15410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3" name="Shape 91"/>
          <p:cNvSpPr/>
          <p:nvPr/>
        </p:nvSpPr>
        <p:spPr>
          <a:xfrm>
            <a:off x="6880042" y="3121269"/>
            <a:ext cx="161879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4" name="Shape 92"/>
          <p:cNvSpPr/>
          <p:nvPr/>
        </p:nvSpPr>
        <p:spPr>
          <a:xfrm>
            <a:off x="6750539" y="3168552"/>
            <a:ext cx="169649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5" name="Shape 93"/>
          <p:cNvSpPr/>
          <p:nvPr/>
        </p:nvSpPr>
        <p:spPr>
          <a:xfrm>
            <a:off x="6621035" y="3215835"/>
            <a:ext cx="177419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6" name="Shape 94"/>
          <p:cNvSpPr/>
          <p:nvPr/>
        </p:nvSpPr>
        <p:spPr>
          <a:xfrm>
            <a:off x="6491532" y="3263118"/>
            <a:ext cx="185189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7" name="Shape 95"/>
          <p:cNvSpPr/>
          <p:nvPr/>
        </p:nvSpPr>
        <p:spPr>
          <a:xfrm>
            <a:off x="6362029" y="3310402"/>
            <a:ext cx="192960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8" name="Shape 96"/>
          <p:cNvSpPr/>
          <p:nvPr/>
        </p:nvSpPr>
        <p:spPr>
          <a:xfrm>
            <a:off x="6232525" y="3357685"/>
            <a:ext cx="200730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9" name="Shape 97"/>
          <p:cNvSpPr/>
          <p:nvPr/>
        </p:nvSpPr>
        <p:spPr>
          <a:xfrm>
            <a:off x="6103022" y="3404968"/>
            <a:ext cx="208500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0" name="Shape 98"/>
          <p:cNvSpPr/>
          <p:nvPr/>
        </p:nvSpPr>
        <p:spPr>
          <a:xfrm>
            <a:off x="5973519" y="3452251"/>
            <a:ext cx="216270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44015" y="3499534"/>
            <a:ext cx="224040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2" name="Shape 100"/>
          <p:cNvSpPr/>
          <p:nvPr/>
        </p:nvSpPr>
        <p:spPr>
          <a:xfrm>
            <a:off x="5714512" y="3546817"/>
            <a:ext cx="231811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5696381" y="3594100"/>
            <a:ext cx="23232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4" name="Shape 102"/>
          <p:cNvSpPr/>
          <p:nvPr/>
        </p:nvSpPr>
        <p:spPr>
          <a:xfrm>
            <a:off x="5789624" y="3641383"/>
            <a:ext cx="225594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5" name="Shape 103"/>
          <p:cNvSpPr/>
          <p:nvPr/>
        </p:nvSpPr>
        <p:spPr>
          <a:xfrm>
            <a:off x="5882866" y="3688666"/>
            <a:ext cx="218860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Shape 104"/>
          <p:cNvSpPr/>
          <p:nvPr/>
        </p:nvSpPr>
        <p:spPr>
          <a:xfrm>
            <a:off x="5976109" y="3735949"/>
            <a:ext cx="212126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069351" y="3783232"/>
            <a:ext cx="205392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162593" y="3830515"/>
            <a:ext cx="198658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255836" y="3877798"/>
            <a:ext cx="191924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349078" y="3925082"/>
            <a:ext cx="185189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442321" y="3972365"/>
            <a:ext cx="178455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535563" y="4019648"/>
            <a:ext cx="171721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628806" y="4066931"/>
            <a:ext cx="164987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722048" y="4114214"/>
            <a:ext cx="158253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6815290" y="4161497"/>
            <a:ext cx="15151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6828241" y="4208780"/>
            <a:ext cx="150223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760899" y="4256063"/>
            <a:ext cx="154368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6693557" y="4303346"/>
            <a:ext cx="158512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6626215" y="4350629"/>
            <a:ext cx="162656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6558874" y="4397912"/>
            <a:ext cx="166800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6491532" y="4445195"/>
            <a:ext cx="170944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424190" y="4492478"/>
            <a:ext cx="17508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356848" y="4539762"/>
            <a:ext cx="179232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289507" y="4587045"/>
            <a:ext cx="183376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222165" y="4634328"/>
            <a:ext cx="187520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154823" y="4681611"/>
            <a:ext cx="191665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087481" y="4728894"/>
            <a:ext cx="19580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020140" y="4776177"/>
            <a:ext cx="1999532" cy="53633"/>
          </a:xfrm>
          <a:prstGeom prst="rect">
            <a:avLst/>
          </a:prstGeom>
          <a:solidFill>
            <a:srgbClr val="1BAF7A"/>
          </a:solidFill>
          <a:ln/>
        </p:spPr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Two-level treemap (region |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46300" cy="3467100"/>
          </a:xfrm>
          <a:prstGeom prst="rect">
            <a:avLst/>
          </a:prstGeom>
          <a:solidFill>
            <a:srgbClr val="EFF2FA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41500"/>
            <a:ext cx="2082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098648" y="2019300"/>
            <a:ext cx="2095500" cy="1553972"/>
          </a:xfrm>
          <a:prstGeom prst="rect">
            <a:avLst/>
          </a:prstGeom>
          <a:solidFill>
            <a:srgbClr val="7297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136748" y="20447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136748" y="21971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098648" y="3585972"/>
            <a:ext cx="1284654" cy="1684528"/>
          </a:xfrm>
          <a:prstGeom prst="rect">
            <a:avLst/>
          </a:prstGeom>
          <a:solidFill>
            <a:srgbClr val="92AB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36748" y="36113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136748" y="37637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396001" y="3585972"/>
            <a:ext cx="798146" cy="1684528"/>
          </a:xfrm>
          <a:prstGeom prst="rect">
            <a:avLst/>
          </a:prstGeom>
          <a:solidFill>
            <a:srgbClr val="AABCE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101" y="36113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434101" y="37637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232248" y="1828800"/>
            <a:ext cx="2232660" cy="3467100"/>
          </a:xfrm>
          <a:prstGeom prst="rect">
            <a:avLst/>
          </a:prstGeom>
          <a:solidFill>
            <a:srgbClr val="EFF6F2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70348" y="1841500"/>
            <a:ext cx="21691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257648" y="2019300"/>
            <a:ext cx="2181860" cy="1995854"/>
          </a:xfrm>
          <a:prstGeom prst="rect">
            <a:avLst/>
          </a:prstGeom>
          <a:solidFill>
            <a:srgbClr val="6FBE9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95748" y="20447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295748" y="21971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257648" y="4027854"/>
            <a:ext cx="2181860" cy="1242646"/>
          </a:xfrm>
          <a:prstGeom prst="rect">
            <a:avLst/>
          </a:prstGeom>
          <a:solidFill>
            <a:srgbClr val="90C9A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95748" y="40532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295748" y="42056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477608" y="1828800"/>
            <a:ext cx="1628140" cy="3467100"/>
          </a:xfrm>
          <a:prstGeom prst="rect">
            <a:avLst/>
          </a:prstGeom>
          <a:solidFill>
            <a:srgbClr val="FDF5EF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15708" y="1841500"/>
            <a:ext cx="15646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503008" y="2019300"/>
            <a:ext cx="1577340" cy="1533358"/>
          </a:xfrm>
          <a:prstGeom prst="rect">
            <a:avLst/>
          </a:prstGeom>
          <a:solidFill>
            <a:srgbClr val="F0B36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41108" y="20447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541108" y="21971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503008" y="3565358"/>
            <a:ext cx="1577340" cy="1018005"/>
          </a:xfrm>
          <a:prstGeom prst="rect">
            <a:avLst/>
          </a:prstGeom>
          <a:solidFill>
            <a:srgbClr val="F2C08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41108" y="35907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541108" y="37431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503008" y="4596063"/>
            <a:ext cx="1577340" cy="674437"/>
          </a:xfrm>
          <a:prstGeom prst="rect">
            <a:avLst/>
          </a:prstGeom>
          <a:solidFill>
            <a:srgbClr val="F4CD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41108" y="46214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541108" y="47738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(region →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Response-time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29338" y="4245559"/>
            <a:ext cx="1571752" cy="337109"/>
          </a:xfrm>
          <a:custGeom>
            <a:avLst/>
            <a:gdLst/>
            <a:ahLst/>
            <a:cxnLst/>
            <a:rect l="l" t="t" r="r" b="b"/>
            <a:pathLst>
              <a:path w="1571752" h="337109">
                <a:moveTo>
                  <a:pt x="962595" y="337109"/>
                </a:moveTo>
                <a:lnTo>
                  <a:pt x="1002677" y="328681"/>
                </a:lnTo>
                <a:lnTo>
                  <a:pt x="1046833" y="320253"/>
                </a:lnTo>
                <a:lnTo>
                  <a:pt x="1094256" y="311826"/>
                </a:lnTo>
                <a:lnTo>
                  <a:pt x="1143910" y="303398"/>
                </a:lnTo>
                <a:lnTo>
                  <a:pt x="1194597" y="294970"/>
                </a:lnTo>
                <a:lnTo>
                  <a:pt x="1245039" y="286542"/>
                </a:lnTo>
                <a:lnTo>
                  <a:pt x="1293979" y="278115"/>
                </a:lnTo>
                <a:lnTo>
                  <a:pt x="1340269" y="269687"/>
                </a:lnTo>
                <a:lnTo>
                  <a:pt x="1382953" y="261259"/>
                </a:lnTo>
                <a:lnTo>
                  <a:pt x="1421320" y="252832"/>
                </a:lnTo>
                <a:lnTo>
                  <a:pt x="1454936" y="244404"/>
                </a:lnTo>
                <a:lnTo>
                  <a:pt x="1483640" y="235976"/>
                </a:lnTo>
                <a:lnTo>
                  <a:pt x="1507512" y="227548"/>
                </a:lnTo>
                <a:lnTo>
                  <a:pt x="1526831" y="219121"/>
                </a:lnTo>
                <a:lnTo>
                  <a:pt x="1542009" y="210693"/>
                </a:lnTo>
                <a:lnTo>
                  <a:pt x="1553528" y="202265"/>
                </a:lnTo>
                <a:lnTo>
                  <a:pt x="1561873" y="193838"/>
                </a:lnTo>
                <a:lnTo>
                  <a:pt x="1567484" y="185410"/>
                </a:lnTo>
                <a:lnTo>
                  <a:pt x="1570704" y="176982"/>
                </a:lnTo>
                <a:lnTo>
                  <a:pt x="1571752" y="168554"/>
                </a:lnTo>
                <a:lnTo>
                  <a:pt x="1570704" y="160127"/>
                </a:lnTo>
                <a:lnTo>
                  <a:pt x="1567484" y="151699"/>
                </a:lnTo>
                <a:lnTo>
                  <a:pt x="1561873" y="143271"/>
                </a:lnTo>
                <a:lnTo>
                  <a:pt x="1553528" y="134844"/>
                </a:lnTo>
                <a:lnTo>
                  <a:pt x="1542009" y="126416"/>
                </a:lnTo>
                <a:lnTo>
                  <a:pt x="1526831" y="117988"/>
                </a:lnTo>
                <a:lnTo>
                  <a:pt x="1507512" y="109560"/>
                </a:lnTo>
                <a:lnTo>
                  <a:pt x="1483640" y="101133"/>
                </a:lnTo>
                <a:lnTo>
                  <a:pt x="1454936" y="92705"/>
                </a:lnTo>
                <a:lnTo>
                  <a:pt x="1421320" y="84277"/>
                </a:lnTo>
                <a:lnTo>
                  <a:pt x="1382953" y="75849"/>
                </a:lnTo>
                <a:lnTo>
                  <a:pt x="1340269" y="67422"/>
                </a:lnTo>
                <a:lnTo>
                  <a:pt x="1293979" y="58994"/>
                </a:lnTo>
                <a:lnTo>
                  <a:pt x="1245039" y="50566"/>
                </a:lnTo>
                <a:lnTo>
                  <a:pt x="1194597" y="42139"/>
                </a:lnTo>
                <a:lnTo>
                  <a:pt x="1143910" y="33711"/>
                </a:lnTo>
                <a:lnTo>
                  <a:pt x="1094256" y="25283"/>
                </a:lnTo>
                <a:lnTo>
                  <a:pt x="1046833" y="16855"/>
                </a:lnTo>
                <a:lnTo>
                  <a:pt x="1002677" y="8428"/>
                </a:lnTo>
                <a:lnTo>
                  <a:pt x="962595" y="0"/>
                </a:lnTo>
                <a:lnTo>
                  <a:pt x="609157" y="0"/>
                </a:lnTo>
                <a:lnTo>
                  <a:pt x="569075" y="8428"/>
                </a:lnTo>
                <a:lnTo>
                  <a:pt x="524919" y="16855"/>
                </a:lnTo>
                <a:lnTo>
                  <a:pt x="477496" y="25283"/>
                </a:lnTo>
                <a:lnTo>
                  <a:pt x="427842" y="33711"/>
                </a:lnTo>
                <a:lnTo>
                  <a:pt x="377155" y="42139"/>
                </a:lnTo>
                <a:lnTo>
                  <a:pt x="326713" y="50566"/>
                </a:lnTo>
                <a:lnTo>
                  <a:pt x="277773" y="58994"/>
                </a:lnTo>
                <a:lnTo>
                  <a:pt x="231483" y="67422"/>
                </a:lnTo>
                <a:lnTo>
                  <a:pt x="188799" y="75849"/>
                </a:lnTo>
                <a:lnTo>
                  <a:pt x="150432" y="84277"/>
                </a:lnTo>
                <a:lnTo>
                  <a:pt x="116816" y="92705"/>
                </a:lnTo>
                <a:lnTo>
                  <a:pt x="88112" y="101133"/>
                </a:lnTo>
                <a:lnTo>
                  <a:pt x="64240" y="109560"/>
                </a:lnTo>
                <a:lnTo>
                  <a:pt x="44921" y="117988"/>
                </a:lnTo>
                <a:lnTo>
                  <a:pt x="29743" y="126416"/>
                </a:lnTo>
                <a:lnTo>
                  <a:pt x="18224" y="134844"/>
                </a:lnTo>
                <a:lnTo>
                  <a:pt x="9879" y="143271"/>
                </a:lnTo>
                <a:lnTo>
                  <a:pt x="4268" y="151699"/>
                </a:lnTo>
                <a:lnTo>
                  <a:pt x="1048" y="160127"/>
                </a:lnTo>
                <a:lnTo>
                  <a:pt x="0" y="168554"/>
                </a:lnTo>
                <a:lnTo>
                  <a:pt x="1048" y="176982"/>
                </a:lnTo>
                <a:lnTo>
                  <a:pt x="4268" y="185410"/>
                </a:lnTo>
                <a:lnTo>
                  <a:pt x="9879" y="193838"/>
                </a:lnTo>
                <a:lnTo>
                  <a:pt x="18224" y="202265"/>
                </a:lnTo>
                <a:lnTo>
                  <a:pt x="29743" y="210693"/>
                </a:lnTo>
                <a:lnTo>
                  <a:pt x="44921" y="219121"/>
                </a:lnTo>
                <a:lnTo>
                  <a:pt x="64240" y="227548"/>
                </a:lnTo>
                <a:lnTo>
                  <a:pt x="88112" y="235976"/>
                </a:lnTo>
                <a:lnTo>
                  <a:pt x="116816" y="244404"/>
                </a:lnTo>
                <a:lnTo>
                  <a:pt x="150432" y="252832"/>
                </a:lnTo>
                <a:lnTo>
                  <a:pt x="188799" y="261259"/>
                </a:lnTo>
                <a:lnTo>
                  <a:pt x="231483" y="269687"/>
                </a:lnTo>
                <a:lnTo>
                  <a:pt x="277773" y="278115"/>
                </a:lnTo>
                <a:lnTo>
                  <a:pt x="326713" y="286542"/>
                </a:lnTo>
                <a:lnTo>
                  <a:pt x="377155" y="294970"/>
                </a:lnTo>
                <a:lnTo>
                  <a:pt x="427842" y="303398"/>
                </a:lnTo>
                <a:lnTo>
                  <a:pt x="477496" y="311826"/>
                </a:lnTo>
                <a:lnTo>
                  <a:pt x="524919" y="320253"/>
                </a:lnTo>
                <a:lnTo>
                  <a:pt x="569075" y="328681"/>
                </a:lnTo>
                <a:lnTo>
                  <a:pt x="609157" y="337109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40158" y="4414114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00472" y="3580158"/>
            <a:ext cx="1571752" cy="739794"/>
          </a:xfrm>
          <a:custGeom>
            <a:avLst/>
            <a:gdLst/>
            <a:ahLst/>
            <a:cxnLst/>
            <a:rect l="l" t="t" r="r" b="b"/>
            <a:pathLst>
              <a:path w="1571752" h="739794">
                <a:moveTo>
                  <a:pt x="965914" y="739794"/>
                </a:moveTo>
                <a:lnTo>
                  <a:pt x="1008771" y="721300"/>
                </a:lnTo>
                <a:lnTo>
                  <a:pt x="1056028" y="702805"/>
                </a:lnTo>
                <a:lnTo>
                  <a:pt x="1106669" y="684310"/>
                </a:lnTo>
                <a:lnTo>
                  <a:pt x="1159413" y="665815"/>
                </a:lnTo>
                <a:lnTo>
                  <a:pt x="1212801" y="647320"/>
                </a:lnTo>
                <a:lnTo>
                  <a:pt x="1265323" y="628825"/>
                </a:lnTo>
                <a:lnTo>
                  <a:pt x="1315540" y="610330"/>
                </a:lnTo>
                <a:lnTo>
                  <a:pt x="1362202" y="591836"/>
                </a:lnTo>
                <a:lnTo>
                  <a:pt x="1404342" y="573341"/>
                </a:lnTo>
                <a:lnTo>
                  <a:pt x="1441327" y="554846"/>
                </a:lnTo>
                <a:lnTo>
                  <a:pt x="1472874" y="536351"/>
                </a:lnTo>
                <a:lnTo>
                  <a:pt x="1499020" y="517856"/>
                </a:lnTo>
                <a:lnTo>
                  <a:pt x="1520072" y="499361"/>
                </a:lnTo>
                <a:lnTo>
                  <a:pt x="1536529" y="480866"/>
                </a:lnTo>
                <a:lnTo>
                  <a:pt x="1548998" y="462372"/>
                </a:lnTo>
                <a:lnTo>
                  <a:pt x="1558122" y="443877"/>
                </a:lnTo>
                <a:lnTo>
                  <a:pt x="1564505" y="425382"/>
                </a:lnTo>
                <a:lnTo>
                  <a:pt x="1568668" y="406887"/>
                </a:lnTo>
                <a:lnTo>
                  <a:pt x="1571002" y="388392"/>
                </a:lnTo>
                <a:lnTo>
                  <a:pt x="1571752" y="369897"/>
                </a:lnTo>
                <a:lnTo>
                  <a:pt x="1571002" y="351402"/>
                </a:lnTo>
                <a:lnTo>
                  <a:pt x="1568668" y="332908"/>
                </a:lnTo>
                <a:lnTo>
                  <a:pt x="1564505" y="314413"/>
                </a:lnTo>
                <a:lnTo>
                  <a:pt x="1558122" y="295918"/>
                </a:lnTo>
                <a:lnTo>
                  <a:pt x="1548998" y="277423"/>
                </a:lnTo>
                <a:lnTo>
                  <a:pt x="1536529" y="258928"/>
                </a:lnTo>
                <a:lnTo>
                  <a:pt x="1520072" y="240433"/>
                </a:lnTo>
                <a:lnTo>
                  <a:pt x="1499020" y="221938"/>
                </a:lnTo>
                <a:lnTo>
                  <a:pt x="1472874" y="203443"/>
                </a:lnTo>
                <a:lnTo>
                  <a:pt x="1441327" y="184949"/>
                </a:lnTo>
                <a:lnTo>
                  <a:pt x="1404342" y="166454"/>
                </a:lnTo>
                <a:lnTo>
                  <a:pt x="1362202" y="147959"/>
                </a:lnTo>
                <a:lnTo>
                  <a:pt x="1315540" y="129464"/>
                </a:lnTo>
                <a:lnTo>
                  <a:pt x="1265323" y="110969"/>
                </a:lnTo>
                <a:lnTo>
                  <a:pt x="1212801" y="92474"/>
                </a:lnTo>
                <a:lnTo>
                  <a:pt x="1159413" y="73979"/>
                </a:lnTo>
                <a:lnTo>
                  <a:pt x="1106669" y="55485"/>
                </a:lnTo>
                <a:lnTo>
                  <a:pt x="1056028" y="36990"/>
                </a:lnTo>
                <a:lnTo>
                  <a:pt x="1008771" y="18495"/>
                </a:lnTo>
                <a:lnTo>
                  <a:pt x="965914" y="0"/>
                </a:lnTo>
                <a:lnTo>
                  <a:pt x="605838" y="0"/>
                </a:lnTo>
                <a:lnTo>
                  <a:pt x="562981" y="18495"/>
                </a:lnTo>
                <a:lnTo>
                  <a:pt x="515724" y="36990"/>
                </a:lnTo>
                <a:lnTo>
                  <a:pt x="465083" y="55485"/>
                </a:lnTo>
                <a:lnTo>
                  <a:pt x="412339" y="73979"/>
                </a:lnTo>
                <a:lnTo>
                  <a:pt x="358951" y="92474"/>
                </a:lnTo>
                <a:lnTo>
                  <a:pt x="306429" y="110969"/>
                </a:lnTo>
                <a:lnTo>
                  <a:pt x="256212" y="129464"/>
                </a:lnTo>
                <a:lnTo>
                  <a:pt x="209550" y="147959"/>
                </a:lnTo>
                <a:lnTo>
                  <a:pt x="167410" y="166454"/>
                </a:lnTo>
                <a:lnTo>
                  <a:pt x="130425" y="184949"/>
                </a:lnTo>
                <a:lnTo>
                  <a:pt x="98878" y="203443"/>
                </a:lnTo>
                <a:lnTo>
                  <a:pt x="72732" y="221938"/>
                </a:lnTo>
                <a:lnTo>
                  <a:pt x="51680" y="240433"/>
                </a:lnTo>
                <a:lnTo>
                  <a:pt x="35223" y="258928"/>
                </a:lnTo>
                <a:lnTo>
                  <a:pt x="22754" y="277423"/>
                </a:lnTo>
                <a:lnTo>
                  <a:pt x="13630" y="295918"/>
                </a:lnTo>
                <a:lnTo>
                  <a:pt x="7247" y="314413"/>
                </a:lnTo>
                <a:lnTo>
                  <a:pt x="3084" y="332908"/>
                </a:lnTo>
                <a:lnTo>
                  <a:pt x="750" y="351402"/>
                </a:lnTo>
                <a:lnTo>
                  <a:pt x="0" y="369897"/>
                </a:lnTo>
                <a:lnTo>
                  <a:pt x="750" y="388392"/>
                </a:lnTo>
                <a:lnTo>
                  <a:pt x="3084" y="406887"/>
                </a:lnTo>
                <a:lnTo>
                  <a:pt x="7247" y="425382"/>
                </a:lnTo>
                <a:lnTo>
                  <a:pt x="13630" y="443877"/>
                </a:lnTo>
                <a:lnTo>
                  <a:pt x="22754" y="462372"/>
                </a:lnTo>
                <a:lnTo>
                  <a:pt x="35223" y="480866"/>
                </a:lnTo>
                <a:lnTo>
                  <a:pt x="51680" y="499361"/>
                </a:lnTo>
                <a:lnTo>
                  <a:pt x="72732" y="517856"/>
                </a:lnTo>
                <a:lnTo>
                  <a:pt x="98878" y="536351"/>
                </a:lnTo>
                <a:lnTo>
                  <a:pt x="130425" y="554846"/>
                </a:lnTo>
                <a:lnTo>
                  <a:pt x="167410" y="573341"/>
                </a:lnTo>
                <a:lnTo>
                  <a:pt x="209550" y="591836"/>
                </a:lnTo>
                <a:lnTo>
                  <a:pt x="256212" y="610330"/>
                </a:lnTo>
                <a:lnTo>
                  <a:pt x="306429" y="628825"/>
                </a:lnTo>
                <a:lnTo>
                  <a:pt x="358951" y="647320"/>
                </a:lnTo>
                <a:lnTo>
                  <a:pt x="412339" y="665815"/>
                </a:lnTo>
                <a:lnTo>
                  <a:pt x="465083" y="684310"/>
                </a:lnTo>
                <a:lnTo>
                  <a:pt x="515724" y="702805"/>
                </a:lnTo>
                <a:lnTo>
                  <a:pt x="562981" y="721300"/>
                </a:lnTo>
                <a:lnTo>
                  <a:pt x="605838" y="739794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11291" y="3950056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71605" y="1905000"/>
            <a:ext cx="1571752" cy="1550674"/>
          </a:xfrm>
          <a:custGeom>
            <a:avLst/>
            <a:gdLst/>
            <a:ahLst/>
            <a:cxnLst/>
            <a:rect l="l" t="t" r="r" b="b"/>
            <a:pathLst>
              <a:path w="1571752" h="1550674">
                <a:moveTo>
                  <a:pt x="965927" y="1550674"/>
                </a:moveTo>
                <a:lnTo>
                  <a:pt x="1002391" y="1511907"/>
                </a:lnTo>
                <a:lnTo>
                  <a:pt x="1042182" y="1473140"/>
                </a:lnTo>
                <a:lnTo>
                  <a:pt x="1084703" y="1434373"/>
                </a:lnTo>
                <a:lnTo>
                  <a:pt x="1129197" y="1395607"/>
                </a:lnTo>
                <a:lnTo>
                  <a:pt x="1174788" y="1356840"/>
                </a:lnTo>
                <a:lnTo>
                  <a:pt x="1220535" y="1318073"/>
                </a:lnTo>
                <a:lnTo>
                  <a:pt x="1265484" y="1279306"/>
                </a:lnTo>
                <a:lnTo>
                  <a:pt x="1308732" y="1240539"/>
                </a:lnTo>
                <a:lnTo>
                  <a:pt x="1349479" y="1201772"/>
                </a:lnTo>
                <a:lnTo>
                  <a:pt x="1387073" y="1163006"/>
                </a:lnTo>
                <a:lnTo>
                  <a:pt x="1421038" y="1124239"/>
                </a:lnTo>
                <a:lnTo>
                  <a:pt x="1451085" y="1085472"/>
                </a:lnTo>
                <a:lnTo>
                  <a:pt x="1477112" y="1046705"/>
                </a:lnTo>
                <a:lnTo>
                  <a:pt x="1499187" y="1007938"/>
                </a:lnTo>
                <a:lnTo>
                  <a:pt x="1517513" y="969171"/>
                </a:lnTo>
                <a:lnTo>
                  <a:pt x="1532402" y="930404"/>
                </a:lnTo>
                <a:lnTo>
                  <a:pt x="1544228" y="891638"/>
                </a:lnTo>
                <a:lnTo>
                  <a:pt x="1553395" y="852871"/>
                </a:lnTo>
                <a:lnTo>
                  <a:pt x="1560302" y="814104"/>
                </a:lnTo>
                <a:lnTo>
                  <a:pt x="1565316" y="775337"/>
                </a:lnTo>
                <a:lnTo>
                  <a:pt x="1568748" y="736570"/>
                </a:lnTo>
                <a:lnTo>
                  <a:pt x="1570840" y="697803"/>
                </a:lnTo>
                <a:lnTo>
                  <a:pt x="1571752" y="659036"/>
                </a:lnTo>
                <a:lnTo>
                  <a:pt x="1571559" y="620270"/>
                </a:lnTo>
                <a:lnTo>
                  <a:pt x="1570244" y="581503"/>
                </a:lnTo>
                <a:lnTo>
                  <a:pt x="1567703" y="542736"/>
                </a:lnTo>
                <a:lnTo>
                  <a:pt x="1563745" y="503969"/>
                </a:lnTo>
                <a:lnTo>
                  <a:pt x="1558103" y="465202"/>
                </a:lnTo>
                <a:lnTo>
                  <a:pt x="1550444" y="426435"/>
                </a:lnTo>
                <a:lnTo>
                  <a:pt x="1540387" y="387669"/>
                </a:lnTo>
                <a:lnTo>
                  <a:pt x="1527527" y="348902"/>
                </a:lnTo>
                <a:lnTo>
                  <a:pt x="1511468" y="310135"/>
                </a:lnTo>
                <a:lnTo>
                  <a:pt x="1491852" y="271368"/>
                </a:lnTo>
                <a:lnTo>
                  <a:pt x="1468402" y="232601"/>
                </a:lnTo>
                <a:lnTo>
                  <a:pt x="1440958" y="193834"/>
                </a:lnTo>
                <a:lnTo>
                  <a:pt x="1409510" y="155067"/>
                </a:lnTo>
                <a:lnTo>
                  <a:pt x="1374225" y="116301"/>
                </a:lnTo>
                <a:lnTo>
                  <a:pt x="1335456" y="77534"/>
                </a:lnTo>
                <a:lnTo>
                  <a:pt x="1293744" y="38767"/>
                </a:lnTo>
                <a:lnTo>
                  <a:pt x="1249800" y="0"/>
                </a:lnTo>
                <a:lnTo>
                  <a:pt x="321952" y="0"/>
                </a:lnTo>
                <a:lnTo>
                  <a:pt x="278008" y="38767"/>
                </a:lnTo>
                <a:lnTo>
                  <a:pt x="236296" y="77534"/>
                </a:lnTo>
                <a:lnTo>
                  <a:pt x="197527" y="116301"/>
                </a:lnTo>
                <a:lnTo>
                  <a:pt x="162242" y="155067"/>
                </a:lnTo>
                <a:lnTo>
                  <a:pt x="130794" y="193834"/>
                </a:lnTo>
                <a:lnTo>
                  <a:pt x="103350" y="232601"/>
                </a:lnTo>
                <a:lnTo>
                  <a:pt x="79900" y="271368"/>
                </a:lnTo>
                <a:lnTo>
                  <a:pt x="60284" y="310135"/>
                </a:lnTo>
                <a:lnTo>
                  <a:pt x="44225" y="348902"/>
                </a:lnTo>
                <a:lnTo>
                  <a:pt x="31365" y="387669"/>
                </a:lnTo>
                <a:lnTo>
                  <a:pt x="21308" y="426435"/>
                </a:lnTo>
                <a:lnTo>
                  <a:pt x="13649" y="465202"/>
                </a:lnTo>
                <a:lnTo>
                  <a:pt x="8007" y="503969"/>
                </a:lnTo>
                <a:lnTo>
                  <a:pt x="4049" y="542736"/>
                </a:lnTo>
                <a:lnTo>
                  <a:pt x="1508" y="581503"/>
                </a:lnTo>
                <a:lnTo>
                  <a:pt x="193" y="620270"/>
                </a:lnTo>
                <a:lnTo>
                  <a:pt x="0" y="659036"/>
                </a:lnTo>
                <a:lnTo>
                  <a:pt x="912" y="697803"/>
                </a:lnTo>
                <a:lnTo>
                  <a:pt x="3004" y="736570"/>
                </a:lnTo>
                <a:lnTo>
                  <a:pt x="6436" y="775337"/>
                </a:lnTo>
                <a:lnTo>
                  <a:pt x="11450" y="814104"/>
                </a:lnTo>
                <a:lnTo>
                  <a:pt x="18357" y="852871"/>
                </a:lnTo>
                <a:lnTo>
                  <a:pt x="27524" y="891638"/>
                </a:lnTo>
                <a:lnTo>
                  <a:pt x="39350" y="930404"/>
                </a:lnTo>
                <a:lnTo>
                  <a:pt x="54239" y="969171"/>
                </a:lnTo>
                <a:lnTo>
                  <a:pt x="72565" y="1007938"/>
                </a:lnTo>
                <a:lnTo>
                  <a:pt x="94640" y="1046705"/>
                </a:lnTo>
                <a:lnTo>
                  <a:pt x="120667" y="1085472"/>
                </a:lnTo>
                <a:lnTo>
                  <a:pt x="150714" y="1124239"/>
                </a:lnTo>
                <a:lnTo>
                  <a:pt x="184679" y="1163006"/>
                </a:lnTo>
                <a:lnTo>
                  <a:pt x="222273" y="1201772"/>
                </a:lnTo>
                <a:lnTo>
                  <a:pt x="263020" y="1240539"/>
                </a:lnTo>
                <a:lnTo>
                  <a:pt x="306268" y="1279306"/>
                </a:lnTo>
                <a:lnTo>
                  <a:pt x="351217" y="1318073"/>
                </a:lnTo>
                <a:lnTo>
                  <a:pt x="396964" y="1356840"/>
                </a:lnTo>
                <a:lnTo>
                  <a:pt x="442555" y="1395607"/>
                </a:lnTo>
                <a:lnTo>
                  <a:pt x="487049" y="1434373"/>
                </a:lnTo>
                <a:lnTo>
                  <a:pt x="529570" y="1473140"/>
                </a:lnTo>
                <a:lnTo>
                  <a:pt x="569361" y="1511907"/>
                </a:lnTo>
                <a:lnTo>
                  <a:pt x="605825" y="155067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82424" y="2551481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0409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6023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1636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250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D5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863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D6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476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D7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090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D8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9703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D9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5317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60318" y="339852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19983" y="3611880"/>
            <a:ext cx="280670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21658" y="2758440"/>
            <a:ext cx="0" cy="10668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81323" y="2971800"/>
            <a:ext cx="28067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82998" y="254508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42663" y="2971800"/>
            <a:ext cx="28067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44338" y="2331720"/>
            <a:ext cx="0" cy="10668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4003" y="2545080"/>
            <a:ext cx="28067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05678" y="211836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65343" y="2545080"/>
            <a:ext cx="28067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67018" y="2545080"/>
            <a:ext cx="0" cy="10668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26683" y="2758440"/>
            <a:ext cx="280670" cy="64008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28358" y="275844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88023" y="2971800"/>
            <a:ext cx="280670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9698" y="2118360"/>
            <a:ext cx="0" cy="10668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49363" y="2331720"/>
            <a:ext cx="28067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51038" y="190500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10703" y="2331720"/>
            <a:ext cx="28067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12378" y="211836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72043" y="2545080"/>
            <a:ext cx="28067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 plan — critical path highlighted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122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642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95983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5503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843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63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03704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3224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1822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27241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21228" y="25484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3–8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2660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21228" y="30903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8–14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38078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Copywriting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421228" y="3632200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539848" y="43497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21228" y="41740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14–18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539848" y="48916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421228" y="47159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18–20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344391" y="2277533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18991" y="28194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5400000">
            <a:off x="4225011" y="27660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39" name="Shape 37"/>
          <p:cNvSpPr/>
          <p:nvPr/>
        </p:nvSpPr>
        <p:spPr>
          <a:xfrm>
            <a:off x="5882996" y="28194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857596" y="33612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5400000">
            <a:off x="5763616" y="33079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2" name="Shape 40"/>
          <p:cNvSpPr/>
          <p:nvPr/>
        </p:nvSpPr>
        <p:spPr>
          <a:xfrm>
            <a:off x="4344391" y="2277533"/>
            <a:ext cx="0" cy="1625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318991" y="390313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5400000">
            <a:off x="4242791" y="385868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45" name="Shape 43"/>
          <p:cNvSpPr/>
          <p:nvPr/>
        </p:nvSpPr>
        <p:spPr>
          <a:xfrm>
            <a:off x="7729322" y="3361267"/>
            <a:ext cx="0" cy="1083733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703922" y="44450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5400000">
            <a:off x="7609942" y="43916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8960206" y="44450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934806" y="49868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5400000">
            <a:off x="8840826" y="49335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Assay reproducibility (mean ± SD)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A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C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415214" y="2407290"/>
            <a:ext cx="0" cy="144904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15214" y="2842003"/>
            <a:ext cx="0" cy="144904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3662" y="240729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83662" y="2986908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00653" y="2552195"/>
            <a:ext cx="1029123" cy="289809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00653" y="2697099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900653" y="2506599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696642"/>
            <a:ext cx="0" cy="16024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177387"/>
            <a:ext cx="0" cy="16024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696642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337636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856891"/>
            <a:ext cx="1029123" cy="320497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3017139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71786" y="2826639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157481" y="2596482"/>
            <a:ext cx="0" cy="47036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57481" y="4007565"/>
            <a:ext cx="0" cy="47036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25928" y="2596482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4477926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42919" y="3066843"/>
            <a:ext cx="1029123" cy="940722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537204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42919" y="3346704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778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sparklines — last 12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2923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 flipV="1">
            <a:off x="3629508" y="2577592"/>
            <a:ext cx="474980" cy="3454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4488" y="2577592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4579468" y="2525776"/>
            <a:ext cx="474980" cy="69088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54448" y="252577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5529428" y="2439416"/>
            <a:ext cx="474980" cy="10363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04408" y="243941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479388" y="233578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54368" y="2335784"/>
            <a:ext cx="474980" cy="51816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7429348" y="2266696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04328" y="226669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8379308" y="216306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05378" y="25880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16" name="Shape 14"/>
          <p:cNvSpPr/>
          <p:nvPr/>
        </p:nvSpPr>
        <p:spPr>
          <a:xfrm>
            <a:off x="8830158" y="21389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17" name="Shape 15"/>
          <p:cNvSpPr/>
          <p:nvPr/>
        </p:nvSpPr>
        <p:spPr>
          <a:xfrm>
            <a:off x="8827618" y="2136394"/>
            <a:ext cx="53340" cy="5334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8905088" y="20678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30797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flipV="1">
            <a:off x="3629508" y="337912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4104488" y="3338299"/>
            <a:ext cx="474980" cy="40825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9468" y="3338299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5054448" y="3277062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529428" y="3277062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6004408" y="3195412"/>
            <a:ext cx="474980" cy="10206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6479388" y="3134175"/>
            <a:ext cx="474980" cy="61237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54368" y="3134175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7429348" y="3032113"/>
            <a:ext cx="474980" cy="122474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7904328" y="2950464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79308" y="295046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05378" y="33754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32" name="Shape 30"/>
          <p:cNvSpPr/>
          <p:nvPr/>
        </p:nvSpPr>
        <p:spPr>
          <a:xfrm>
            <a:off x="8355178" y="29263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33" name="Shape 31"/>
          <p:cNvSpPr/>
          <p:nvPr/>
        </p:nvSpPr>
        <p:spPr>
          <a:xfrm>
            <a:off x="8827618" y="2944206"/>
            <a:ext cx="53340" cy="53340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34" name="Text 32"/>
          <p:cNvSpPr/>
          <p:nvPr/>
        </p:nvSpPr>
        <p:spPr>
          <a:xfrm>
            <a:off x="8905088" y="2875626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047848" y="38671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29508" y="3737864"/>
            <a:ext cx="468745" cy="56134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098253" y="3775287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66999" y="3775287"/>
            <a:ext cx="468745" cy="93557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035744" y="383142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504489" y="3831421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73235" y="3943689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441980" y="3962400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910726" y="3962400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379471" y="4074668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848217" y="411209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16962" y="4149513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761578" y="41628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3605378" y="37137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49" name="Shape 47"/>
          <p:cNvSpPr/>
          <p:nvPr/>
        </p:nvSpPr>
        <p:spPr>
          <a:xfrm>
            <a:off x="8759038" y="4160266"/>
            <a:ext cx="53340" cy="53340"/>
          </a:xfrm>
          <a:prstGeom prst="ellipse">
            <a:avLst/>
          </a:prstGeom>
          <a:solidFill>
            <a:srgbClr val="EDA100"/>
          </a:solidFill>
          <a:ln/>
        </p:spPr>
      </p:sp>
      <p:sp>
        <p:nvSpPr>
          <p:cNvPr id="50" name="Text 48"/>
          <p:cNvSpPr/>
          <p:nvPr/>
        </p:nvSpPr>
        <p:spPr>
          <a:xfrm>
            <a:off x="8836508" y="4091686"/>
            <a:ext cx="307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2.7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047848" y="4654550"/>
            <a:ext cx="231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 flipV="1">
            <a:off x="3355188" y="4938410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855106" y="4938410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4355024" y="4884522"/>
            <a:ext cx="499918" cy="71852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4854942" y="4830633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354860" y="4794707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54779" y="479470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6354697" y="4722856"/>
            <a:ext cx="499918" cy="89814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6854615" y="4668967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54533" y="466896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4451" y="4579153"/>
            <a:ext cx="499918" cy="107777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8354369" y="4525264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331058" y="49502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64" name="Shape 62"/>
          <p:cNvSpPr/>
          <p:nvPr/>
        </p:nvSpPr>
        <p:spPr>
          <a:xfrm>
            <a:off x="8830158" y="45011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65" name="Shape 63"/>
          <p:cNvSpPr/>
          <p:nvPr/>
        </p:nvSpPr>
        <p:spPr>
          <a:xfrm>
            <a:off x="8827618" y="4498594"/>
            <a:ext cx="53340" cy="53340"/>
          </a:xfrm>
          <a:prstGeom prst="ellipse">
            <a:avLst/>
          </a:prstGeom>
          <a:solidFill>
            <a:srgbClr val="008300"/>
          </a:solidFill>
          <a:ln/>
        </p:spPr>
      </p:sp>
      <p:sp>
        <p:nvSpPr>
          <p:cNvPr id="66" name="Text 64"/>
          <p:cNvSpPr/>
          <p:nvPr/>
        </p:nvSpPr>
        <p:spPr>
          <a:xfrm>
            <a:off x="8905088" y="44300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28848" y="1397000"/>
            <a:ext cx="533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sales (radial bars)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121758" y="2594610"/>
            <a:ext cx="1948180" cy="194818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251841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444848" y="1917700"/>
            <a:ext cx="3302000" cy="330200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18415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257140" y="2729992"/>
            <a:ext cx="1677416" cy="1677416"/>
          </a:xfrm>
          <a:custGeom>
            <a:avLst/>
            <a:gdLst/>
            <a:ahLst/>
            <a:cxnLst/>
            <a:rect l="l" t="t" r="r" b="b"/>
            <a:pathLst>
              <a:path w="1677416" h="1677416">
                <a:moveTo>
                  <a:pt x="878217" y="931"/>
                </a:moveTo>
                <a:lnTo>
                  <a:pt x="960608" y="8906"/>
                </a:lnTo>
                <a:lnTo>
                  <a:pt x="1041813" y="24964"/>
                </a:lnTo>
                <a:lnTo>
                  <a:pt x="1121039" y="48948"/>
                </a:lnTo>
                <a:lnTo>
                  <a:pt x="1197515" y="80626"/>
                </a:lnTo>
                <a:lnTo>
                  <a:pt x="1270495" y="119687"/>
                </a:lnTo>
                <a:lnTo>
                  <a:pt x="1339270" y="165753"/>
                </a:lnTo>
                <a:lnTo>
                  <a:pt x="1403169" y="218373"/>
                </a:lnTo>
                <a:lnTo>
                  <a:pt x="1038714" y="618904"/>
                </a:lnTo>
                <a:lnTo>
                  <a:pt x="1016073" y="600259"/>
                </a:lnTo>
                <a:lnTo>
                  <a:pt x="991703" y="583937"/>
                </a:lnTo>
                <a:lnTo>
                  <a:pt x="965844" y="570096"/>
                </a:lnTo>
                <a:lnTo>
                  <a:pt x="938746" y="558872"/>
                </a:lnTo>
                <a:lnTo>
                  <a:pt x="910674" y="550373"/>
                </a:lnTo>
                <a:lnTo>
                  <a:pt x="881901" y="544684"/>
                </a:lnTo>
                <a:lnTo>
                  <a:pt x="852707" y="541858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56818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54067" y="2526919"/>
            <a:ext cx="2083562" cy="2083562"/>
          </a:xfrm>
          <a:custGeom>
            <a:avLst/>
            <a:gdLst/>
            <a:ahLst/>
            <a:cxnLst/>
            <a:rect l="l" t="t" r="r" b="b"/>
            <a:pathLst>
              <a:path w="2083562" h="2083562">
                <a:moveTo>
                  <a:pt x="1812315" y="340649"/>
                </a:moveTo>
                <a:lnTo>
                  <a:pt x="1877676" y="420020"/>
                </a:lnTo>
                <a:lnTo>
                  <a:pt x="1934895" y="505447"/>
                </a:lnTo>
                <a:lnTo>
                  <a:pt x="1983415" y="596098"/>
                </a:lnTo>
                <a:lnTo>
                  <a:pt x="2022762" y="691091"/>
                </a:lnTo>
                <a:lnTo>
                  <a:pt x="2052554" y="789499"/>
                </a:lnTo>
                <a:lnTo>
                  <a:pt x="2072500" y="890365"/>
                </a:lnTo>
                <a:lnTo>
                  <a:pt x="2082405" y="992706"/>
                </a:lnTo>
                <a:lnTo>
                  <a:pt x="1338631" y="1027782"/>
                </a:lnTo>
                <a:lnTo>
                  <a:pt x="1335805" y="998588"/>
                </a:lnTo>
                <a:lnTo>
                  <a:pt x="1330116" y="969815"/>
                </a:lnTo>
                <a:lnTo>
                  <a:pt x="1321617" y="941743"/>
                </a:lnTo>
                <a:lnTo>
                  <a:pt x="1310393" y="914645"/>
                </a:lnTo>
                <a:lnTo>
                  <a:pt x="1296552" y="888786"/>
                </a:lnTo>
                <a:lnTo>
                  <a:pt x="1280230" y="864416"/>
                </a:lnTo>
                <a:lnTo>
                  <a:pt x="1261585" y="841775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91572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92522" y="2865374"/>
            <a:ext cx="1406652" cy="1406652"/>
          </a:xfrm>
          <a:custGeom>
            <a:avLst/>
            <a:gdLst/>
            <a:ahLst/>
            <a:cxnLst/>
            <a:rect l="l" t="t" r="r" b="b"/>
            <a:pathLst>
              <a:path w="1406652" h="1406652">
                <a:moveTo>
                  <a:pt x="1405871" y="736457"/>
                </a:moveTo>
                <a:lnTo>
                  <a:pt x="1399184" y="805550"/>
                </a:lnTo>
                <a:lnTo>
                  <a:pt x="1385718" y="873646"/>
                </a:lnTo>
                <a:lnTo>
                  <a:pt x="1365605" y="940084"/>
                </a:lnTo>
                <a:lnTo>
                  <a:pt x="1339041" y="1004215"/>
                </a:lnTo>
                <a:lnTo>
                  <a:pt x="1306284" y="1065415"/>
                </a:lnTo>
                <a:lnTo>
                  <a:pt x="1267655" y="1123089"/>
                </a:lnTo>
                <a:lnTo>
                  <a:pt x="1223528" y="1176673"/>
                </a:lnTo>
                <a:lnTo>
                  <a:pt x="923130" y="903332"/>
                </a:lnTo>
                <a:lnTo>
                  <a:pt x="941775" y="880691"/>
                </a:lnTo>
                <a:lnTo>
                  <a:pt x="958097" y="856321"/>
                </a:lnTo>
                <a:lnTo>
                  <a:pt x="971938" y="830462"/>
                </a:lnTo>
                <a:lnTo>
                  <a:pt x="983162" y="803364"/>
                </a:lnTo>
                <a:lnTo>
                  <a:pt x="991661" y="775292"/>
                </a:lnTo>
                <a:lnTo>
                  <a:pt x="997350" y="746519"/>
                </a:lnTo>
                <a:lnTo>
                  <a:pt x="1000176" y="717325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91572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50994" y="2323846"/>
            <a:ext cx="2489708" cy="2489708"/>
          </a:xfrm>
          <a:custGeom>
            <a:avLst/>
            <a:gdLst/>
            <a:ahLst/>
            <a:cxnLst/>
            <a:rect l="l" t="t" r="r" b="b"/>
            <a:pathLst>
              <a:path w="2489708" h="2489708">
                <a:moveTo>
                  <a:pt x="2082656" y="2165587"/>
                </a:moveTo>
                <a:lnTo>
                  <a:pt x="1987814" y="2243689"/>
                </a:lnTo>
                <a:lnTo>
                  <a:pt x="1885735" y="2312062"/>
                </a:lnTo>
                <a:lnTo>
                  <a:pt x="1777413" y="2370039"/>
                </a:lnTo>
                <a:lnTo>
                  <a:pt x="1663904" y="2417056"/>
                </a:lnTo>
                <a:lnTo>
                  <a:pt x="1546313" y="2452655"/>
                </a:lnTo>
                <a:lnTo>
                  <a:pt x="1425785" y="2476489"/>
                </a:lnTo>
                <a:lnTo>
                  <a:pt x="1303495" y="2488326"/>
                </a:lnTo>
                <a:lnTo>
                  <a:pt x="1258853" y="1541704"/>
                </a:lnTo>
                <a:lnTo>
                  <a:pt x="1288047" y="1538878"/>
                </a:lnTo>
                <a:lnTo>
                  <a:pt x="1316820" y="1533189"/>
                </a:lnTo>
                <a:lnTo>
                  <a:pt x="1344892" y="1524690"/>
                </a:lnTo>
                <a:lnTo>
                  <a:pt x="1371990" y="1513466"/>
                </a:lnTo>
                <a:lnTo>
                  <a:pt x="1397849" y="1499625"/>
                </a:lnTo>
                <a:lnTo>
                  <a:pt x="1422219" y="1483303"/>
                </a:lnTo>
                <a:lnTo>
                  <a:pt x="1444860" y="1464658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56818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59299" y="2432152"/>
            <a:ext cx="2273097" cy="2273097"/>
          </a:xfrm>
          <a:custGeom>
            <a:avLst/>
            <a:gdLst/>
            <a:ahLst/>
            <a:cxnLst/>
            <a:rect l="l" t="t" r="r" b="b"/>
            <a:pathLst>
              <a:path w="2273097" h="2273097">
                <a:moveTo>
                  <a:pt x="1083010" y="2271835"/>
                </a:moveTo>
                <a:lnTo>
                  <a:pt x="971359" y="2261028"/>
                </a:lnTo>
                <a:lnTo>
                  <a:pt x="861318" y="2239268"/>
                </a:lnTo>
                <a:lnTo>
                  <a:pt x="753957" y="2206766"/>
                </a:lnTo>
                <a:lnTo>
                  <a:pt x="650323" y="2163840"/>
                </a:lnTo>
                <a:lnTo>
                  <a:pt x="551426" y="2110906"/>
                </a:lnTo>
                <a:lnTo>
                  <a:pt x="458228" y="2048482"/>
                </a:lnTo>
                <a:lnTo>
                  <a:pt x="371637" y="1977175"/>
                </a:lnTo>
                <a:lnTo>
                  <a:pt x="936543" y="1356352"/>
                </a:lnTo>
                <a:lnTo>
                  <a:pt x="959184" y="1374997"/>
                </a:lnTo>
                <a:lnTo>
                  <a:pt x="983553" y="1391320"/>
                </a:lnTo>
                <a:lnTo>
                  <a:pt x="1009412" y="1405160"/>
                </a:lnTo>
                <a:lnTo>
                  <a:pt x="1036510" y="1416385"/>
                </a:lnTo>
                <a:lnTo>
                  <a:pt x="1064582" y="1424883"/>
                </a:lnTo>
                <a:lnTo>
                  <a:pt x="1093355" y="1430573"/>
                </a:lnTo>
                <a:lnTo>
                  <a:pt x="1122549" y="1433398"/>
                </a:lnTo>
                <a:close/>
              </a:path>
            </a:pathLst>
          </a:cu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78337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148834" y="2621686"/>
            <a:ext cx="1894027" cy="1894027"/>
          </a:xfrm>
          <a:custGeom>
            <a:avLst/>
            <a:gdLst/>
            <a:ahLst/>
            <a:cxnLst/>
            <a:rect l="l" t="t" r="r" b="b"/>
            <a:pathLst>
              <a:path w="1894027" h="1894027">
                <a:moveTo>
                  <a:pt x="246573" y="1584366"/>
                </a:moveTo>
                <a:lnTo>
                  <a:pt x="187157" y="1512215"/>
                </a:lnTo>
                <a:lnTo>
                  <a:pt x="135143" y="1434559"/>
                </a:lnTo>
                <a:lnTo>
                  <a:pt x="91037" y="1352154"/>
                </a:lnTo>
                <a:lnTo>
                  <a:pt x="55269" y="1265803"/>
                </a:lnTo>
                <a:lnTo>
                  <a:pt x="28188" y="1176346"/>
                </a:lnTo>
                <a:lnTo>
                  <a:pt x="10056" y="1084655"/>
                </a:lnTo>
                <a:lnTo>
                  <a:pt x="1051" y="991624"/>
                </a:lnTo>
                <a:lnTo>
                  <a:pt x="650164" y="961013"/>
                </a:lnTo>
                <a:lnTo>
                  <a:pt x="652989" y="990207"/>
                </a:lnTo>
                <a:lnTo>
                  <a:pt x="658679" y="1018980"/>
                </a:lnTo>
                <a:lnTo>
                  <a:pt x="667177" y="1047052"/>
                </a:lnTo>
                <a:lnTo>
                  <a:pt x="678402" y="1074150"/>
                </a:lnTo>
                <a:lnTo>
                  <a:pt x="692242" y="1100009"/>
                </a:lnTo>
                <a:lnTo>
                  <a:pt x="708565" y="1124378"/>
                </a:lnTo>
                <a:lnTo>
                  <a:pt x="727210" y="1147019"/>
                </a:lnTo>
                <a:close/>
              </a:path>
            </a:pathLst>
          </a:cu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43583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15612" y="2188464"/>
            <a:ext cx="2760472" cy="2760472"/>
          </a:xfrm>
          <a:custGeom>
            <a:avLst/>
            <a:gdLst/>
            <a:ahLst/>
            <a:cxnLst/>
            <a:rect l="l" t="t" r="r" b="b"/>
            <a:pathLst>
              <a:path w="2760472" h="2760472">
                <a:moveTo>
                  <a:pt x="1532" y="1315218"/>
                </a:moveTo>
                <a:lnTo>
                  <a:pt x="14656" y="1179628"/>
                </a:lnTo>
                <a:lnTo>
                  <a:pt x="41082" y="1045993"/>
                </a:lnTo>
                <a:lnTo>
                  <a:pt x="80553" y="915613"/>
                </a:lnTo>
                <a:lnTo>
                  <a:pt x="132683" y="789759"/>
                </a:lnTo>
                <a:lnTo>
                  <a:pt x="196966" y="669657"/>
                </a:lnTo>
                <a:lnTo>
                  <a:pt x="272774" y="556476"/>
                </a:lnTo>
                <a:lnTo>
                  <a:pt x="359371" y="451320"/>
                </a:lnTo>
                <a:lnTo>
                  <a:pt x="1160432" y="1180230"/>
                </a:lnTo>
                <a:lnTo>
                  <a:pt x="1141787" y="1202871"/>
                </a:lnTo>
                <a:lnTo>
                  <a:pt x="1125465" y="1227241"/>
                </a:lnTo>
                <a:lnTo>
                  <a:pt x="1111624" y="1253100"/>
                </a:lnTo>
                <a:lnTo>
                  <a:pt x="1100400" y="1280198"/>
                </a:lnTo>
                <a:lnTo>
                  <a:pt x="1091901" y="1308270"/>
                </a:lnTo>
                <a:lnTo>
                  <a:pt x="1086212" y="1337043"/>
                </a:lnTo>
                <a:lnTo>
                  <a:pt x="1083386" y="1366237"/>
                </a:lnTo>
                <a:close/>
              </a:path>
            </a:pathLst>
          </a:custGeom>
          <a:solidFill>
            <a:srgbClr val="E87BA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3583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24831" y="2797683"/>
            <a:ext cx="1542034" cy="1542034"/>
          </a:xfrm>
          <a:custGeom>
            <a:avLst/>
            <a:gdLst/>
            <a:ahLst/>
            <a:cxnLst/>
            <a:rect l="l" t="t" r="r" b="b"/>
            <a:pathLst>
              <a:path w="1542034" h="1542034">
                <a:moveTo>
                  <a:pt x="252113" y="200749"/>
                </a:moveTo>
                <a:lnTo>
                  <a:pt x="310855" y="152375"/>
                </a:lnTo>
                <a:lnTo>
                  <a:pt x="374079" y="110027"/>
                </a:lnTo>
                <a:lnTo>
                  <a:pt x="441169" y="74118"/>
                </a:lnTo>
                <a:lnTo>
                  <a:pt x="511473" y="44998"/>
                </a:lnTo>
                <a:lnTo>
                  <a:pt x="584305" y="22949"/>
                </a:lnTo>
                <a:lnTo>
                  <a:pt x="658955" y="8187"/>
                </a:lnTo>
                <a:lnTo>
                  <a:pt x="734697" y="856"/>
                </a:lnTo>
                <a:lnTo>
                  <a:pt x="757018" y="474167"/>
                </a:lnTo>
                <a:lnTo>
                  <a:pt x="727824" y="476993"/>
                </a:lnTo>
                <a:lnTo>
                  <a:pt x="699051" y="482682"/>
                </a:lnTo>
                <a:lnTo>
                  <a:pt x="670979" y="491181"/>
                </a:lnTo>
                <a:lnTo>
                  <a:pt x="643881" y="502405"/>
                </a:lnTo>
                <a:lnTo>
                  <a:pt x="618022" y="516246"/>
                </a:lnTo>
                <a:lnTo>
                  <a:pt x="593652" y="532568"/>
                </a:lnTo>
                <a:lnTo>
                  <a:pt x="571011" y="551213"/>
                </a:lnTo>
                <a:close/>
              </a:path>
            </a:pathLst>
          </a:cu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78337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Aug</a:t>
            </a:r>
            <a:endParaRPr lang="en-US" sz="10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capability (stacked radar)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48574" y="3153833"/>
            <a:ext cx="894547" cy="1032933"/>
          </a:xfrm>
          <a:custGeom>
            <a:avLst/>
            <a:gdLst/>
            <a:ahLst/>
            <a:cxnLst/>
            <a:rect l="l" t="t" r="r" b="b"/>
            <a:pathLst>
              <a:path w="894547" h="1032933">
                <a:moveTo>
                  <a:pt x="447273" y="0"/>
                </a:moveTo>
                <a:lnTo>
                  <a:pt x="894547" y="258233"/>
                </a:lnTo>
                <a:lnTo>
                  <a:pt x="894547" y="774700"/>
                </a:lnTo>
                <a:lnTo>
                  <a:pt x="447273" y="1032933"/>
                </a:lnTo>
                <a:lnTo>
                  <a:pt x="0" y="774700"/>
                </a:lnTo>
                <a:lnTo>
                  <a:pt x="0" y="258233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77633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201301" y="2637367"/>
            <a:ext cx="1789093" cy="2065867"/>
          </a:xfrm>
          <a:custGeom>
            <a:avLst/>
            <a:gdLst/>
            <a:ahLst/>
            <a:cxnLst/>
            <a:rect l="l" t="t" r="r" b="b"/>
            <a:pathLst>
              <a:path w="1789093" h="2065867">
                <a:moveTo>
                  <a:pt x="894547" y="0"/>
                </a:moveTo>
                <a:lnTo>
                  <a:pt x="1789093" y="516467"/>
                </a:lnTo>
                <a:lnTo>
                  <a:pt x="1789093" y="1549400"/>
                </a:lnTo>
                <a:lnTo>
                  <a:pt x="894547" y="2065867"/>
                </a:lnTo>
                <a:lnTo>
                  <a:pt x="0" y="1549400"/>
                </a:lnTo>
                <a:lnTo>
                  <a:pt x="0" y="51646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561167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754028" y="2120900"/>
            <a:ext cx="2683640" cy="3098800"/>
          </a:xfrm>
          <a:custGeom>
            <a:avLst/>
            <a:gdLst/>
            <a:ahLst/>
            <a:cxnLst/>
            <a:rect l="l" t="t" r="r" b="b"/>
            <a:pathLst>
              <a:path w="2683640" h="3098800">
                <a:moveTo>
                  <a:pt x="1341820" y="0"/>
                </a:moveTo>
                <a:lnTo>
                  <a:pt x="2683640" y="774700"/>
                </a:lnTo>
                <a:lnTo>
                  <a:pt x="2683640" y="2324100"/>
                </a:lnTo>
                <a:lnTo>
                  <a:pt x="1341820" y="3098800"/>
                </a:lnTo>
                <a:lnTo>
                  <a:pt x="0" y="2324100"/>
                </a:lnTo>
                <a:lnTo>
                  <a:pt x="0" y="77470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20447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1209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866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03658" y="27686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03658" y="43942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33288" y="52959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75402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4337" y="4394200"/>
            <a:ext cx="3937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02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1497" y="2768600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738029" y="3257127"/>
            <a:ext cx="805092" cy="671407"/>
          </a:xfrm>
          <a:custGeom>
            <a:avLst/>
            <a:gdLst/>
            <a:ahLst/>
            <a:cxnLst/>
            <a:rect l="l" t="t" r="r" b="b"/>
            <a:pathLst>
              <a:path w="805092" h="671407">
                <a:moveTo>
                  <a:pt x="357819" y="0"/>
                </a:moveTo>
                <a:lnTo>
                  <a:pt x="626183" y="258233"/>
                </a:lnTo>
                <a:lnTo>
                  <a:pt x="805092" y="671407"/>
                </a:lnTo>
                <a:lnTo>
                  <a:pt x="357819" y="619760"/>
                </a:lnTo>
                <a:lnTo>
                  <a:pt x="0" y="619760"/>
                </a:lnTo>
                <a:lnTo>
                  <a:pt x="89455" y="25823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close/>
              </a:path>
            </a:pathLst>
          </a:custGeom>
          <a:solidFill>
            <a:srgbClr val="2A78D6">
              <a:alpha val="55000"/>
            </a:srgbClr>
          </a:solidFill>
          <a:ln w="1524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9665" y="2947247"/>
            <a:ext cx="1252365" cy="1446107"/>
          </a:xfrm>
          <a:custGeom>
            <a:avLst/>
            <a:gdLst/>
            <a:ahLst/>
            <a:cxnLst/>
            <a:rect l="l" t="t" r="r" b="b"/>
            <a:pathLst>
              <a:path w="1252365" h="1446107">
                <a:moveTo>
                  <a:pt x="626183" y="0"/>
                </a:moveTo>
                <a:lnTo>
                  <a:pt x="1252365" y="361527"/>
                </a:lnTo>
                <a:lnTo>
                  <a:pt x="1252365" y="1084580"/>
                </a:lnTo>
                <a:lnTo>
                  <a:pt x="626183" y="1446107"/>
                </a:lnTo>
                <a:lnTo>
                  <a:pt x="0" y="1084580"/>
                </a:lnTo>
                <a:lnTo>
                  <a:pt x="0" y="361527"/>
                </a:lnTo>
                <a:lnTo>
                  <a:pt x="357819" y="568113"/>
                </a:lnTo>
                <a:lnTo>
                  <a:pt x="268364" y="929640"/>
                </a:lnTo>
                <a:lnTo>
                  <a:pt x="626183" y="929640"/>
                </a:lnTo>
                <a:lnTo>
                  <a:pt x="1073456" y="981287"/>
                </a:lnTo>
                <a:lnTo>
                  <a:pt x="894547" y="568113"/>
                </a:lnTo>
                <a:lnTo>
                  <a:pt x="626183" y="309880"/>
                </a:lnTo>
                <a:close/>
              </a:path>
            </a:pathLst>
          </a:custGeom>
          <a:solidFill>
            <a:srgbClr val="1BAF7A">
              <a:alpha val="55000"/>
            </a:srgbClr>
          </a:solidFill>
          <a:ln w="1524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2392" y="2740660"/>
            <a:ext cx="1968002" cy="1962573"/>
          </a:xfrm>
          <a:custGeom>
            <a:avLst/>
            <a:gdLst/>
            <a:ahLst/>
            <a:cxnLst/>
            <a:rect l="l" t="t" r="r" b="b"/>
            <a:pathLst>
              <a:path w="1968002" h="1962573">
                <a:moveTo>
                  <a:pt x="1073456" y="0"/>
                </a:moveTo>
                <a:lnTo>
                  <a:pt x="1968002" y="413173"/>
                </a:lnTo>
                <a:lnTo>
                  <a:pt x="1968002" y="1446107"/>
                </a:lnTo>
                <a:lnTo>
                  <a:pt x="1073456" y="1962573"/>
                </a:lnTo>
                <a:lnTo>
                  <a:pt x="0" y="1549400"/>
                </a:lnTo>
                <a:lnTo>
                  <a:pt x="268364" y="464820"/>
                </a:lnTo>
                <a:lnTo>
                  <a:pt x="447273" y="568113"/>
                </a:lnTo>
                <a:lnTo>
                  <a:pt x="447273" y="1291167"/>
                </a:lnTo>
                <a:lnTo>
                  <a:pt x="1073456" y="1652693"/>
                </a:lnTo>
                <a:lnTo>
                  <a:pt x="1699638" y="1291167"/>
                </a:lnTo>
                <a:lnTo>
                  <a:pt x="1699638" y="568113"/>
                </a:lnTo>
                <a:lnTo>
                  <a:pt x="1073456" y="206587"/>
                </a:lnTo>
                <a:close/>
              </a:path>
            </a:pathLst>
          </a:custGeom>
          <a:solidFill>
            <a:srgbClr val="EDA100">
              <a:alpha val="55000"/>
            </a:srgbClr>
          </a:solidFill>
          <a:ln w="15240">
            <a:solidFill>
              <a:srgbClr val="EDA1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74848" y="1720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301848" y="1676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797148" y="1720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3924148" y="16764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Bob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82288" y="1720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4409288" y="1676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share (angle = revenue, radius = margin)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82948" y="1955800"/>
            <a:ext cx="3225800" cy="3225800"/>
          </a:xfrm>
          <a:custGeom>
            <a:avLst/>
            <a:gdLst/>
            <a:ahLst/>
            <a:cxnLst/>
            <a:rect l="l" t="t" r="r" b="b"/>
            <a:pathLst>
              <a:path w="3225800" h="3225800">
                <a:moveTo>
                  <a:pt x="1612900" y="0"/>
                </a:moveTo>
                <a:lnTo>
                  <a:pt x="1781494" y="8836"/>
                </a:lnTo>
                <a:lnTo>
                  <a:pt x="1948241" y="35246"/>
                </a:lnTo>
                <a:lnTo>
                  <a:pt x="2111314" y="78941"/>
                </a:lnTo>
                <a:lnTo>
                  <a:pt x="2268926" y="139443"/>
                </a:lnTo>
                <a:lnTo>
                  <a:pt x="2419350" y="216088"/>
                </a:lnTo>
                <a:lnTo>
                  <a:pt x="2560939" y="308036"/>
                </a:lnTo>
                <a:lnTo>
                  <a:pt x="2692141" y="414282"/>
                </a:lnTo>
                <a:lnTo>
                  <a:pt x="2811518" y="533659"/>
                </a:lnTo>
                <a:lnTo>
                  <a:pt x="2917764" y="664861"/>
                </a:lnTo>
                <a:lnTo>
                  <a:pt x="3009712" y="806450"/>
                </a:lnTo>
                <a:lnTo>
                  <a:pt x="3086357" y="956874"/>
                </a:lnTo>
                <a:lnTo>
                  <a:pt x="3146859" y="1114486"/>
                </a:lnTo>
                <a:lnTo>
                  <a:pt x="3190554" y="1277559"/>
                </a:lnTo>
                <a:lnTo>
                  <a:pt x="3216964" y="1444306"/>
                </a:lnTo>
                <a:lnTo>
                  <a:pt x="3225800" y="1612900"/>
                </a:lnTo>
                <a:lnTo>
                  <a:pt x="3216964" y="1781494"/>
                </a:lnTo>
                <a:lnTo>
                  <a:pt x="3190554" y="1948241"/>
                </a:lnTo>
                <a:lnTo>
                  <a:pt x="3146859" y="2111314"/>
                </a:lnTo>
                <a:lnTo>
                  <a:pt x="3086357" y="2268926"/>
                </a:lnTo>
                <a:lnTo>
                  <a:pt x="3009712" y="2419350"/>
                </a:lnTo>
                <a:lnTo>
                  <a:pt x="2917764" y="2560939"/>
                </a:lnTo>
                <a:lnTo>
                  <a:pt x="2811518" y="2692141"/>
                </a:lnTo>
                <a:lnTo>
                  <a:pt x="2692141" y="2811518"/>
                </a:lnTo>
                <a:lnTo>
                  <a:pt x="2560939" y="2917764"/>
                </a:lnTo>
                <a:lnTo>
                  <a:pt x="2419350" y="3009712"/>
                </a:lnTo>
                <a:lnTo>
                  <a:pt x="2268926" y="3086357"/>
                </a:lnTo>
                <a:lnTo>
                  <a:pt x="2111314" y="3146859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701434" y="3303473"/>
            <a:ext cx="68990" cy="1092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89239" y="3205243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45%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796567" y="2269419"/>
            <a:ext cx="2598561" cy="2598561"/>
          </a:xfrm>
          <a:custGeom>
            <a:avLst/>
            <a:gdLst/>
            <a:ahLst/>
            <a:cxnLst/>
            <a:rect l="l" t="t" r="r" b="b"/>
            <a:pathLst>
              <a:path w="2598561" h="2598561">
                <a:moveTo>
                  <a:pt x="1700780" y="2534970"/>
                </a:moveTo>
                <a:lnTo>
                  <a:pt x="1569416" y="2570169"/>
                </a:lnTo>
                <a:lnTo>
                  <a:pt x="1435092" y="2591444"/>
                </a:lnTo>
                <a:lnTo>
                  <a:pt x="1299281" y="2598561"/>
                </a:lnTo>
                <a:lnTo>
                  <a:pt x="1163469" y="2591444"/>
                </a:lnTo>
                <a:lnTo>
                  <a:pt x="1029145" y="2570169"/>
                </a:lnTo>
                <a:lnTo>
                  <a:pt x="897781" y="2534970"/>
                </a:lnTo>
                <a:lnTo>
                  <a:pt x="770816" y="2486232"/>
                </a:lnTo>
                <a:lnTo>
                  <a:pt x="649640" y="2424491"/>
                </a:lnTo>
                <a:lnTo>
                  <a:pt x="535583" y="2350421"/>
                </a:lnTo>
                <a:lnTo>
                  <a:pt x="429892" y="2264834"/>
                </a:lnTo>
                <a:lnTo>
                  <a:pt x="333727" y="2168669"/>
                </a:lnTo>
                <a:lnTo>
                  <a:pt x="248141" y="2062979"/>
                </a:lnTo>
                <a:lnTo>
                  <a:pt x="174071" y="1948921"/>
                </a:lnTo>
                <a:lnTo>
                  <a:pt x="112329" y="1827746"/>
                </a:lnTo>
                <a:lnTo>
                  <a:pt x="63591" y="1700780"/>
                </a:lnTo>
                <a:lnTo>
                  <a:pt x="28392" y="1569416"/>
                </a:lnTo>
                <a:lnTo>
                  <a:pt x="7118" y="1435092"/>
                </a:lnTo>
                <a:lnTo>
                  <a:pt x="0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5283628" y="4630115"/>
            <a:ext cx="41057" cy="565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98671" y="460678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62159" y="2135011"/>
            <a:ext cx="2867378" cy="2867378"/>
          </a:xfrm>
          <a:custGeom>
            <a:avLst/>
            <a:gdLst/>
            <a:ahLst/>
            <a:cxnLst/>
            <a:rect l="l" t="t" r="r" b="b"/>
            <a:pathLst>
              <a:path w="2867378" h="2867378">
                <a:moveTo>
                  <a:pt x="0" y="1433689"/>
                </a:moveTo>
                <a:lnTo>
                  <a:pt x="7571" y="1286543"/>
                </a:lnTo>
                <a:lnTo>
                  <a:pt x="30205" y="1140951"/>
                </a:lnTo>
                <a:lnTo>
                  <a:pt x="67661" y="998450"/>
                </a:lnTo>
                <a:lnTo>
                  <a:pt x="119546" y="860547"/>
                </a:lnTo>
                <a:lnTo>
                  <a:pt x="185310" y="728697"/>
                </a:lnTo>
                <a:lnTo>
                  <a:pt x="264259" y="604293"/>
                </a:lnTo>
                <a:lnTo>
                  <a:pt x="355560" y="488649"/>
                </a:lnTo>
                <a:lnTo>
                  <a:pt x="458247" y="382986"/>
                </a:lnTo>
                <a:lnTo>
                  <a:pt x="571237" y="288420"/>
                </a:lnTo>
                <a:lnTo>
                  <a:pt x="693336" y="205951"/>
                </a:lnTo>
                <a:lnTo>
                  <a:pt x="823254" y="136448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15645" y="2756259"/>
            <a:ext cx="58976" cy="374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0120" y="265080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0975" y="2403828"/>
            <a:ext cx="2329744" cy="2329744"/>
          </a:xfrm>
          <a:custGeom>
            <a:avLst/>
            <a:gdLst/>
            <a:ahLst/>
            <a:cxnLst/>
            <a:rect l="l" t="t" r="r" b="b"/>
            <a:pathLst>
              <a:path w="2329744" h="2329744">
                <a:moveTo>
                  <a:pt x="668894" y="110864"/>
                </a:moveTo>
                <a:lnTo>
                  <a:pt x="763407" y="71367"/>
                </a:lnTo>
                <a:lnTo>
                  <a:pt x="861025" y="40326"/>
                </a:lnTo>
                <a:lnTo>
                  <a:pt x="960993" y="17981"/>
                </a:lnTo>
                <a:lnTo>
                  <a:pt x="1062537" y="4504"/>
                </a:lnTo>
                <a:lnTo>
                  <a:pt x="1164872" y="0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23731" y="2351320"/>
            <a:ext cx="15237" cy="6816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20135" y="223747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LatAm 7%</a:t>
            </a:r>
            <a:endParaRPr lang="en-US" sz="10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Correlation matrix — size = magnitude, +/− marks the direction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61934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69376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818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4260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1702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174848" y="186690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35248" y="186690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961232" y="199288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942919" y="190015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12" name="Shape 10"/>
          <p:cNvSpPr/>
          <p:nvPr/>
        </p:nvSpPr>
        <p:spPr>
          <a:xfrm>
            <a:off x="5055602" y="2012835"/>
            <a:ext cx="338051" cy="338051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3" name="Shape 11"/>
          <p:cNvSpPr/>
          <p:nvPr/>
        </p:nvSpPr>
        <p:spPr>
          <a:xfrm>
            <a:off x="6055081" y="193789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14" name="Shape 12"/>
          <p:cNvSpPr/>
          <p:nvPr/>
        </p:nvSpPr>
        <p:spPr>
          <a:xfrm>
            <a:off x="6152667" y="2035480"/>
            <a:ext cx="292760" cy="292760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5" name="Shape 13"/>
          <p:cNvSpPr/>
          <p:nvPr/>
        </p:nvSpPr>
        <p:spPr>
          <a:xfrm>
            <a:off x="7150757" y="195915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16" name="Shape 14"/>
          <p:cNvSpPr/>
          <p:nvPr/>
        </p:nvSpPr>
        <p:spPr>
          <a:xfrm>
            <a:off x="7239841" y="2048234"/>
            <a:ext cx="267252" cy="267252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7" name="Shape 15"/>
          <p:cNvSpPr/>
          <p:nvPr/>
        </p:nvSpPr>
        <p:spPr>
          <a:xfrm>
            <a:off x="8184373" y="191834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18" name="Shape 16"/>
          <p:cNvSpPr/>
          <p:nvPr/>
        </p:nvSpPr>
        <p:spPr>
          <a:xfrm>
            <a:off x="8289779" y="2102806"/>
            <a:ext cx="316217" cy="158109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250952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8499" y="254277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21" name="Shape 19"/>
          <p:cNvSpPr/>
          <p:nvPr/>
        </p:nvSpPr>
        <p:spPr>
          <a:xfrm>
            <a:off x="3981182" y="2655455"/>
            <a:ext cx="338051" cy="338051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2" name="Shape 20"/>
          <p:cNvSpPr/>
          <p:nvPr/>
        </p:nvSpPr>
        <p:spPr>
          <a:xfrm>
            <a:off x="4909668" y="250952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5035652" y="263550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6035533" y="256096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25" name="Shape 23"/>
          <p:cNvSpPr/>
          <p:nvPr/>
        </p:nvSpPr>
        <p:spPr>
          <a:xfrm>
            <a:off x="6140939" y="2666371"/>
            <a:ext cx="316217" cy="316217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6" name="Shape 24"/>
          <p:cNvSpPr/>
          <p:nvPr/>
        </p:nvSpPr>
        <p:spPr>
          <a:xfrm>
            <a:off x="7273869" y="272488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7" name="Shape 25"/>
          <p:cNvSpPr/>
          <p:nvPr/>
        </p:nvSpPr>
        <p:spPr>
          <a:xfrm>
            <a:off x="7313708" y="2764721"/>
            <a:ext cx="119519" cy="119519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8" name="Shape 26"/>
          <p:cNvSpPr/>
          <p:nvPr/>
        </p:nvSpPr>
        <p:spPr>
          <a:xfrm>
            <a:off x="8275377" y="265196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29" name="Shape 27"/>
          <p:cNvSpPr/>
          <p:nvPr/>
        </p:nvSpPr>
        <p:spPr>
          <a:xfrm>
            <a:off x="8344381" y="2772727"/>
            <a:ext cx="207013" cy="103506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315214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906241" y="322313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32" name="Shape 30"/>
          <p:cNvSpPr/>
          <p:nvPr/>
        </p:nvSpPr>
        <p:spPr>
          <a:xfrm>
            <a:off x="4003827" y="3320720"/>
            <a:ext cx="292760" cy="292760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3" name="Shape 31"/>
          <p:cNvSpPr/>
          <p:nvPr/>
        </p:nvSpPr>
        <p:spPr>
          <a:xfrm>
            <a:off x="4961113" y="320358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34" name="Shape 32"/>
          <p:cNvSpPr/>
          <p:nvPr/>
        </p:nvSpPr>
        <p:spPr>
          <a:xfrm>
            <a:off x="5066519" y="3308991"/>
            <a:ext cx="316217" cy="316217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5" name="Shape 33"/>
          <p:cNvSpPr/>
          <p:nvPr/>
        </p:nvSpPr>
        <p:spPr>
          <a:xfrm>
            <a:off x="5984088" y="315214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6110072" y="327812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37" name="Shape 35"/>
          <p:cNvSpPr/>
          <p:nvPr/>
        </p:nvSpPr>
        <p:spPr>
          <a:xfrm>
            <a:off x="7232613" y="332624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288955" y="3382587"/>
            <a:ext cx="169025" cy="169025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9" name="Shape 37"/>
          <p:cNvSpPr/>
          <p:nvPr/>
        </p:nvSpPr>
        <p:spPr>
          <a:xfrm>
            <a:off x="8307033" y="332624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40" name="Shape 38"/>
          <p:cNvSpPr/>
          <p:nvPr/>
        </p:nvSpPr>
        <p:spPr>
          <a:xfrm>
            <a:off x="8363375" y="3424844"/>
            <a:ext cx="169025" cy="84513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3174848" y="379476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927497" y="388701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43" name="Shape 41"/>
          <p:cNvSpPr/>
          <p:nvPr/>
        </p:nvSpPr>
        <p:spPr>
          <a:xfrm>
            <a:off x="4016581" y="3976094"/>
            <a:ext cx="267252" cy="267252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4" name="Shape 42"/>
          <p:cNvSpPr/>
          <p:nvPr/>
        </p:nvSpPr>
        <p:spPr>
          <a:xfrm>
            <a:off x="5125029" y="401012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5" name="Shape 43"/>
          <p:cNvSpPr/>
          <p:nvPr/>
        </p:nvSpPr>
        <p:spPr>
          <a:xfrm>
            <a:off x="5164868" y="4049961"/>
            <a:ext cx="119519" cy="119519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6" name="Shape 44"/>
          <p:cNvSpPr/>
          <p:nvPr/>
        </p:nvSpPr>
        <p:spPr>
          <a:xfrm>
            <a:off x="6158193" y="396886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7" name="Shape 45"/>
          <p:cNvSpPr/>
          <p:nvPr/>
        </p:nvSpPr>
        <p:spPr>
          <a:xfrm>
            <a:off x="6214535" y="4025207"/>
            <a:ext cx="169025" cy="169025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8" name="Shape 46"/>
          <p:cNvSpPr/>
          <p:nvPr/>
        </p:nvSpPr>
        <p:spPr>
          <a:xfrm>
            <a:off x="7058508" y="379476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7184492" y="392074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50" name="Shape 48"/>
          <p:cNvSpPr/>
          <p:nvPr/>
        </p:nvSpPr>
        <p:spPr>
          <a:xfrm>
            <a:off x="8149090" y="381092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51" name="Shape 49"/>
          <p:cNvSpPr/>
          <p:nvPr/>
        </p:nvSpPr>
        <p:spPr>
          <a:xfrm>
            <a:off x="8268609" y="4020081"/>
            <a:ext cx="358557" cy="1792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3174848" y="443738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886693" y="448882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54" name="Shape 52"/>
          <p:cNvSpPr/>
          <p:nvPr/>
        </p:nvSpPr>
        <p:spPr>
          <a:xfrm>
            <a:off x="3992099" y="4673286"/>
            <a:ext cx="316217" cy="158109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5" name="Shape 53"/>
          <p:cNvSpPr/>
          <p:nvPr/>
        </p:nvSpPr>
        <p:spPr>
          <a:xfrm>
            <a:off x="5052117" y="457982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1121" y="4700587"/>
            <a:ext cx="207013" cy="103506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7" name="Shape 55"/>
          <p:cNvSpPr/>
          <p:nvPr/>
        </p:nvSpPr>
        <p:spPr>
          <a:xfrm>
            <a:off x="6158193" y="461148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58" name="Shape 56"/>
          <p:cNvSpPr/>
          <p:nvPr/>
        </p:nvSpPr>
        <p:spPr>
          <a:xfrm>
            <a:off x="6214535" y="4710084"/>
            <a:ext cx="169025" cy="84513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9" name="Shape 57"/>
          <p:cNvSpPr/>
          <p:nvPr/>
        </p:nvSpPr>
        <p:spPr>
          <a:xfrm>
            <a:off x="7074670" y="445354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60" name="Shape 58"/>
          <p:cNvSpPr/>
          <p:nvPr/>
        </p:nvSpPr>
        <p:spPr>
          <a:xfrm>
            <a:off x="7194189" y="4662701"/>
            <a:ext cx="358557" cy="1792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Shape 59"/>
          <p:cNvSpPr/>
          <p:nvPr/>
        </p:nvSpPr>
        <p:spPr>
          <a:xfrm>
            <a:off x="8132928" y="443738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8258912" y="456336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63" name="Shape 61"/>
          <p:cNvSpPr/>
          <p:nvPr/>
        </p:nvSpPr>
        <p:spPr>
          <a:xfrm>
            <a:off x="3619348" y="5156200"/>
            <a:ext cx="80433" cy="114300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64" name="Shape 62"/>
          <p:cNvSpPr/>
          <p:nvPr/>
        </p:nvSpPr>
        <p:spPr>
          <a:xfrm>
            <a:off x="3693431" y="5156200"/>
            <a:ext cx="80433" cy="114300"/>
          </a:xfrm>
          <a:prstGeom prst="rect">
            <a:avLst/>
          </a:prstGeom>
          <a:solidFill>
            <a:srgbClr val="E88685"/>
          </a:solidFill>
          <a:ln/>
        </p:spPr>
      </p:sp>
      <p:sp>
        <p:nvSpPr>
          <p:cNvPr id="65" name="Shape 63"/>
          <p:cNvSpPr/>
          <p:nvPr/>
        </p:nvSpPr>
        <p:spPr>
          <a:xfrm>
            <a:off x="3767514" y="5156200"/>
            <a:ext cx="80433" cy="114300"/>
          </a:xfrm>
          <a:prstGeom prst="rect">
            <a:avLst/>
          </a:prstGeom>
          <a:solidFill>
            <a:srgbClr val="EB9898"/>
          </a:solidFill>
          <a:ln/>
        </p:spPr>
      </p:sp>
      <p:sp>
        <p:nvSpPr>
          <p:cNvPr id="66" name="Shape 64"/>
          <p:cNvSpPr/>
          <p:nvPr/>
        </p:nvSpPr>
        <p:spPr>
          <a:xfrm>
            <a:off x="3841598" y="5156200"/>
            <a:ext cx="80433" cy="114300"/>
          </a:xfrm>
          <a:prstGeom prst="rect">
            <a:avLst/>
          </a:prstGeom>
          <a:solidFill>
            <a:srgbClr val="EDA8A8"/>
          </a:solidFill>
          <a:ln/>
        </p:spPr>
      </p:sp>
      <p:sp>
        <p:nvSpPr>
          <p:cNvPr id="67" name="Shape 65"/>
          <p:cNvSpPr/>
          <p:nvPr/>
        </p:nvSpPr>
        <p:spPr>
          <a:xfrm>
            <a:off x="3915681" y="5156200"/>
            <a:ext cx="80433" cy="114300"/>
          </a:xfrm>
          <a:prstGeom prst="rect">
            <a:avLst/>
          </a:prstGeom>
          <a:solidFill>
            <a:srgbClr val="F0B6B6"/>
          </a:solidFill>
          <a:ln/>
        </p:spPr>
      </p:sp>
      <p:sp>
        <p:nvSpPr>
          <p:cNvPr id="68" name="Shape 66"/>
          <p:cNvSpPr/>
          <p:nvPr/>
        </p:nvSpPr>
        <p:spPr>
          <a:xfrm>
            <a:off x="3989764" y="5156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69" name="Shape 67"/>
          <p:cNvSpPr/>
          <p:nvPr/>
        </p:nvSpPr>
        <p:spPr>
          <a:xfrm>
            <a:off x="4063848" y="5156200"/>
            <a:ext cx="80433" cy="114300"/>
          </a:xfrm>
          <a:prstGeom prst="rect">
            <a:avLst/>
          </a:prstGeom>
          <a:solidFill>
            <a:srgbClr val="F4CFCF"/>
          </a:solidFill>
          <a:ln/>
        </p:spPr>
      </p:sp>
      <p:sp>
        <p:nvSpPr>
          <p:cNvPr id="70" name="Shape 68"/>
          <p:cNvSpPr/>
          <p:nvPr/>
        </p:nvSpPr>
        <p:spPr>
          <a:xfrm>
            <a:off x="4137931" y="5156200"/>
            <a:ext cx="80433" cy="114300"/>
          </a:xfrm>
          <a:prstGeom prst="rect">
            <a:avLst/>
          </a:prstGeom>
          <a:solidFill>
            <a:srgbClr val="F6DADA"/>
          </a:solidFill>
          <a:ln/>
        </p:spPr>
      </p:sp>
      <p:sp>
        <p:nvSpPr>
          <p:cNvPr id="71" name="Shape 69"/>
          <p:cNvSpPr/>
          <p:nvPr/>
        </p:nvSpPr>
        <p:spPr>
          <a:xfrm>
            <a:off x="4212014" y="5156200"/>
            <a:ext cx="80433" cy="114300"/>
          </a:xfrm>
          <a:prstGeom prst="rect">
            <a:avLst/>
          </a:prstGeom>
          <a:solidFill>
            <a:srgbClr val="F9E4E4"/>
          </a:solidFill>
          <a:ln/>
        </p:spPr>
      </p:sp>
      <p:sp>
        <p:nvSpPr>
          <p:cNvPr id="72" name="Shape 70"/>
          <p:cNvSpPr/>
          <p:nvPr/>
        </p:nvSpPr>
        <p:spPr>
          <a:xfrm>
            <a:off x="4286098" y="5156200"/>
            <a:ext cx="80433" cy="114300"/>
          </a:xfrm>
          <a:prstGeom prst="rect">
            <a:avLst/>
          </a:prstGeom>
          <a:solidFill>
            <a:srgbClr val="FBEEEE"/>
          </a:solidFill>
          <a:ln/>
        </p:spPr>
      </p:sp>
      <p:sp>
        <p:nvSpPr>
          <p:cNvPr id="73" name="Shape 71"/>
          <p:cNvSpPr/>
          <p:nvPr/>
        </p:nvSpPr>
        <p:spPr>
          <a:xfrm>
            <a:off x="4360181" y="5156200"/>
            <a:ext cx="80433" cy="114300"/>
          </a:xfrm>
          <a:prstGeom prst="rect">
            <a:avLst/>
          </a:prstGeom>
          <a:solidFill>
            <a:srgbClr val="FDF7F7"/>
          </a:solidFill>
          <a:ln/>
        </p:spPr>
      </p:sp>
      <p:sp>
        <p:nvSpPr>
          <p:cNvPr id="74" name="Shape 72"/>
          <p:cNvSpPr/>
          <p:nvPr/>
        </p:nvSpPr>
        <p:spPr>
          <a:xfrm>
            <a:off x="4434264" y="5156200"/>
            <a:ext cx="80433" cy="114300"/>
          </a:xfrm>
          <a:prstGeom prst="rect">
            <a:avLst/>
          </a:prstGeom>
          <a:solidFill>
            <a:srgbClr val="FEFEFF"/>
          </a:solidFill>
          <a:ln/>
        </p:spPr>
      </p:sp>
      <p:sp>
        <p:nvSpPr>
          <p:cNvPr id="75" name="Shape 73"/>
          <p:cNvSpPr/>
          <p:nvPr/>
        </p:nvSpPr>
        <p:spPr>
          <a:xfrm>
            <a:off x="4508348" y="5156200"/>
            <a:ext cx="80433" cy="114300"/>
          </a:xfrm>
          <a:prstGeom prst="rect">
            <a:avLst/>
          </a:prstGeom>
          <a:solidFill>
            <a:srgbClr val="F5F7FC"/>
          </a:solidFill>
          <a:ln/>
        </p:spPr>
      </p:sp>
      <p:sp>
        <p:nvSpPr>
          <p:cNvPr id="76" name="Shape 74"/>
          <p:cNvSpPr/>
          <p:nvPr/>
        </p:nvSpPr>
        <p:spPr>
          <a:xfrm>
            <a:off x="4582431" y="5156200"/>
            <a:ext cx="80433" cy="114300"/>
          </a:xfrm>
          <a:prstGeom prst="rect">
            <a:avLst/>
          </a:prstGeom>
          <a:solidFill>
            <a:srgbClr val="EBEEF9"/>
          </a:solidFill>
          <a:ln/>
        </p:spPr>
      </p:sp>
      <p:sp>
        <p:nvSpPr>
          <p:cNvPr id="77" name="Shape 75"/>
          <p:cNvSpPr/>
          <p:nvPr/>
        </p:nvSpPr>
        <p:spPr>
          <a:xfrm>
            <a:off x="4656514" y="5156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78" name="Shape 76"/>
          <p:cNvSpPr/>
          <p:nvPr/>
        </p:nvSpPr>
        <p:spPr>
          <a:xfrm>
            <a:off x="4730598" y="5156200"/>
            <a:ext cx="80433" cy="114300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79" name="Shape 77"/>
          <p:cNvSpPr/>
          <p:nvPr/>
        </p:nvSpPr>
        <p:spPr>
          <a:xfrm>
            <a:off x="4804681" y="5156200"/>
            <a:ext cx="80433" cy="114300"/>
          </a:xfrm>
          <a:prstGeom prst="rect">
            <a:avLst/>
          </a:prstGeom>
          <a:solidFill>
            <a:srgbClr val="CAD4EF"/>
          </a:solidFill>
          <a:ln/>
        </p:spPr>
      </p:sp>
      <p:sp>
        <p:nvSpPr>
          <p:cNvPr id="80" name="Shape 78"/>
          <p:cNvSpPr/>
          <p:nvPr/>
        </p:nvSpPr>
        <p:spPr>
          <a:xfrm>
            <a:off x="4878764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81" name="Shape 79"/>
          <p:cNvSpPr/>
          <p:nvPr/>
        </p:nvSpPr>
        <p:spPr>
          <a:xfrm>
            <a:off x="4952848" y="5156200"/>
            <a:ext cx="80433" cy="114300"/>
          </a:xfrm>
          <a:prstGeom prst="rect">
            <a:avLst/>
          </a:prstGeom>
          <a:solidFill>
            <a:srgbClr val="AFBFE8"/>
          </a:solidFill>
          <a:ln/>
        </p:spPr>
      </p:sp>
      <p:sp>
        <p:nvSpPr>
          <p:cNvPr id="82" name="Shape 80"/>
          <p:cNvSpPr/>
          <p:nvPr/>
        </p:nvSpPr>
        <p:spPr>
          <a:xfrm>
            <a:off x="5026931" y="5156200"/>
            <a:ext cx="80433" cy="114300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83" name="Shape 81"/>
          <p:cNvSpPr/>
          <p:nvPr/>
        </p:nvSpPr>
        <p:spPr>
          <a:xfrm>
            <a:off x="5101014" y="5156200"/>
            <a:ext cx="80433" cy="114300"/>
          </a:xfrm>
          <a:prstGeom prst="rect">
            <a:avLst/>
          </a:prstGeom>
          <a:solidFill>
            <a:srgbClr val="8DA8E1"/>
          </a:solidFill>
          <a:ln/>
        </p:spPr>
      </p:sp>
      <p:sp>
        <p:nvSpPr>
          <p:cNvPr id="84" name="Shape 82"/>
          <p:cNvSpPr/>
          <p:nvPr/>
        </p:nvSpPr>
        <p:spPr>
          <a:xfrm>
            <a:off x="5175098" y="5156200"/>
            <a:ext cx="80433" cy="114300"/>
          </a:xfrm>
          <a:prstGeom prst="rect">
            <a:avLst/>
          </a:prstGeom>
          <a:solidFill>
            <a:srgbClr val="779ADD"/>
          </a:solidFill>
          <a:ln/>
        </p:spPr>
      </p:sp>
      <p:sp>
        <p:nvSpPr>
          <p:cNvPr id="85" name="Shape 83"/>
          <p:cNvSpPr/>
          <p:nvPr/>
        </p:nvSpPr>
        <p:spPr>
          <a:xfrm>
            <a:off x="5249181" y="5156200"/>
            <a:ext cx="80433" cy="114300"/>
          </a:xfrm>
          <a:prstGeom prst="rect">
            <a:avLst/>
          </a:prstGeom>
          <a:solidFill>
            <a:srgbClr val="5B8ADA"/>
          </a:solidFill>
          <a:ln/>
        </p:spPr>
      </p:sp>
      <p:sp>
        <p:nvSpPr>
          <p:cNvPr id="86" name="Shape 84"/>
          <p:cNvSpPr/>
          <p:nvPr/>
        </p:nvSpPr>
        <p:spPr>
          <a:xfrm>
            <a:off x="532326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Text 85"/>
          <p:cNvSpPr/>
          <p:nvPr/>
        </p:nvSpPr>
        <p:spPr>
          <a:xfrm>
            <a:off x="3619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-0.9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4508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4334558" y="5276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397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KPIs (rows clustered)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01050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1924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62797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93671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28848" y="186690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9" name="Text 7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1" name="Text 9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solidFill>
            <a:srgbClr val="5C8BDA"/>
          </a:solidFill>
          <a:ln/>
        </p:spPr>
      </p:sp>
      <p:sp>
        <p:nvSpPr>
          <p:cNvPr id="13" name="Text 11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28848" y="240241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8" name="Text 16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solidFill>
            <a:srgbClr val="618DDB"/>
          </a:solidFill>
          <a:ln/>
        </p:spPr>
      </p:sp>
      <p:sp>
        <p:nvSpPr>
          <p:cNvPr id="20" name="Text 18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solidFill>
            <a:srgbClr val="5186D9"/>
          </a:solidFill>
          <a:ln/>
        </p:spPr>
      </p:sp>
      <p:sp>
        <p:nvSpPr>
          <p:cNvPr id="22" name="Text 20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solidFill>
            <a:srgbClr val="3D7ED7"/>
          </a:solidFill>
          <a:ln/>
        </p:spPr>
      </p:sp>
      <p:sp>
        <p:nvSpPr>
          <p:cNvPr id="24" name="Text 22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28848" y="293793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Metro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solidFill>
            <a:srgbClr val="6590DB"/>
          </a:solidFill>
          <a:ln/>
        </p:spPr>
      </p:sp>
      <p:sp>
        <p:nvSpPr>
          <p:cNvPr id="27" name="Text 25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solidFill>
            <a:srgbClr val="6D94DC"/>
          </a:solidFill>
          <a:ln/>
        </p:spPr>
      </p:sp>
      <p:sp>
        <p:nvSpPr>
          <p:cNvPr id="29" name="Text 27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solidFill>
            <a:srgbClr val="4B83D8"/>
          </a:solidFill>
          <a:ln/>
        </p:spPr>
      </p:sp>
      <p:sp>
        <p:nvSpPr>
          <p:cNvPr id="31" name="Text 29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solidFill>
            <a:srgbClr val="4581D8"/>
          </a:solidFill>
          <a:ln/>
        </p:spPr>
      </p:sp>
      <p:sp>
        <p:nvSpPr>
          <p:cNvPr id="33" name="Text 31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87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428848" y="347345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solidFill>
            <a:srgbClr val="BBC9EC"/>
          </a:solidFill>
          <a:ln/>
        </p:spPr>
      </p:sp>
      <p:sp>
        <p:nvSpPr>
          <p:cNvPr id="36" name="Text 34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38" name="Text 36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solidFill>
            <a:srgbClr val="BFCCED"/>
          </a:solidFill>
          <a:ln/>
        </p:spPr>
      </p:sp>
      <p:sp>
        <p:nvSpPr>
          <p:cNvPr id="40" name="Text 38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solidFill>
            <a:srgbClr val="B1C1E9"/>
          </a:solidFill>
          <a:ln/>
        </p:spPr>
      </p:sp>
      <p:sp>
        <p:nvSpPr>
          <p:cNvPr id="42" name="Text 40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428848" y="400896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solidFill>
            <a:srgbClr val="EEF2FA"/>
          </a:solidFill>
          <a:ln/>
        </p:spPr>
      </p:sp>
      <p:sp>
        <p:nvSpPr>
          <p:cNvPr id="45" name="Text 43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47" name="Text 45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solidFill>
            <a:srgbClr val="F0F3FB"/>
          </a:solidFill>
          <a:ln/>
        </p:spPr>
      </p:sp>
      <p:sp>
        <p:nvSpPr>
          <p:cNvPr id="49" name="Text 47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51" name="Text 49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28848" y="454448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54" name="Text 52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56" name="Text 54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58" name="Text 56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solidFill>
            <a:srgbClr val="EDF0FA"/>
          </a:solidFill>
          <a:ln/>
        </p:spPr>
      </p:sp>
      <p:sp>
        <p:nvSpPr>
          <p:cNvPr id="60" name="Text 58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010508" y="5156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62" name="Shape 60"/>
          <p:cNvSpPr/>
          <p:nvPr/>
        </p:nvSpPr>
        <p:spPr>
          <a:xfrm>
            <a:off x="4084591" y="5156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63" name="Shape 61"/>
          <p:cNvSpPr/>
          <p:nvPr/>
        </p:nvSpPr>
        <p:spPr>
          <a:xfrm>
            <a:off x="4158674" y="5156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64" name="Shape 62"/>
          <p:cNvSpPr/>
          <p:nvPr/>
        </p:nvSpPr>
        <p:spPr>
          <a:xfrm>
            <a:off x="4232758" y="5156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65" name="Shape 63"/>
          <p:cNvSpPr/>
          <p:nvPr/>
        </p:nvSpPr>
        <p:spPr>
          <a:xfrm>
            <a:off x="4306841" y="5156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66" name="Shape 64"/>
          <p:cNvSpPr/>
          <p:nvPr/>
        </p:nvSpPr>
        <p:spPr>
          <a:xfrm>
            <a:off x="4380924" y="5156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67" name="Shape 65"/>
          <p:cNvSpPr/>
          <p:nvPr/>
        </p:nvSpPr>
        <p:spPr>
          <a:xfrm>
            <a:off x="4455008" y="5156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68" name="Shape 66"/>
          <p:cNvSpPr/>
          <p:nvPr/>
        </p:nvSpPr>
        <p:spPr>
          <a:xfrm>
            <a:off x="4529091" y="5156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69" name="Shape 67"/>
          <p:cNvSpPr/>
          <p:nvPr/>
        </p:nvSpPr>
        <p:spPr>
          <a:xfrm>
            <a:off x="4603174" y="5156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70" name="Shape 68"/>
          <p:cNvSpPr/>
          <p:nvPr/>
        </p:nvSpPr>
        <p:spPr>
          <a:xfrm>
            <a:off x="4677258" y="5156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71" name="Shape 69"/>
          <p:cNvSpPr/>
          <p:nvPr/>
        </p:nvSpPr>
        <p:spPr>
          <a:xfrm>
            <a:off x="4751341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72" name="Shape 70"/>
          <p:cNvSpPr/>
          <p:nvPr/>
        </p:nvSpPr>
        <p:spPr>
          <a:xfrm>
            <a:off x="4825424" y="5156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73" name="Shape 71"/>
          <p:cNvSpPr/>
          <p:nvPr/>
        </p:nvSpPr>
        <p:spPr>
          <a:xfrm>
            <a:off x="4899508" y="5156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74" name="Shape 72"/>
          <p:cNvSpPr/>
          <p:nvPr/>
        </p:nvSpPr>
        <p:spPr>
          <a:xfrm>
            <a:off x="4973591" y="5156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75" name="Shape 73"/>
          <p:cNvSpPr/>
          <p:nvPr/>
        </p:nvSpPr>
        <p:spPr>
          <a:xfrm>
            <a:off x="5047674" y="5156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76" name="Shape 74"/>
          <p:cNvSpPr/>
          <p:nvPr/>
        </p:nvSpPr>
        <p:spPr>
          <a:xfrm>
            <a:off x="5121758" y="5156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77" name="Shape 75"/>
          <p:cNvSpPr/>
          <p:nvPr/>
        </p:nvSpPr>
        <p:spPr>
          <a:xfrm>
            <a:off x="5195841" y="5156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78" name="Shape 76"/>
          <p:cNvSpPr/>
          <p:nvPr/>
        </p:nvSpPr>
        <p:spPr>
          <a:xfrm>
            <a:off x="5269924" y="5156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79" name="Shape 77"/>
          <p:cNvSpPr/>
          <p:nvPr/>
        </p:nvSpPr>
        <p:spPr>
          <a:xfrm>
            <a:off x="5344008" y="5156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80" name="Shape 78"/>
          <p:cNvSpPr/>
          <p:nvPr/>
        </p:nvSpPr>
        <p:spPr>
          <a:xfrm>
            <a:off x="5418091" y="5156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81" name="Shape 79"/>
          <p:cNvSpPr/>
          <p:nvPr/>
        </p:nvSpPr>
        <p:spPr>
          <a:xfrm>
            <a:off x="5492174" y="5156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82" name="Shape 80"/>
          <p:cNvSpPr/>
          <p:nvPr/>
        </p:nvSpPr>
        <p:spPr>
          <a:xfrm>
            <a:off x="5566258" y="5156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83" name="Shape 81"/>
          <p:cNvSpPr/>
          <p:nvPr/>
        </p:nvSpPr>
        <p:spPr>
          <a:xfrm>
            <a:off x="5640341" y="5156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84" name="Shape 82"/>
          <p:cNvSpPr/>
          <p:nvPr/>
        </p:nvSpPr>
        <p:spPr>
          <a:xfrm>
            <a:off x="571442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Text 83"/>
          <p:cNvSpPr/>
          <p:nvPr/>
        </p:nvSpPr>
        <p:spPr>
          <a:xfrm>
            <a:off x="4010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4899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3375954" y="2670175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375954" y="3205692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375954" y="267017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370908" y="2134658"/>
            <a:ext cx="1984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3370908" y="2937933"/>
            <a:ext cx="5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370908" y="213465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357394" y="4276725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357394" y="4812242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357394" y="427672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134294" y="3741208"/>
            <a:ext cx="2564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134294" y="4544483"/>
            <a:ext cx="2231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3134294" y="374120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946248" y="2536296"/>
            <a:ext cx="42466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946248" y="4142846"/>
            <a:ext cx="188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946248" y="2536296"/>
            <a:ext cx="0" cy="16065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mix (stacked area) + margin 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81924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79037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6150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3262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0375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7488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4811" y="4364482"/>
            <a:ext cx="54906" cy="8679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353367" y="4355846"/>
            <a:ext cx="54906" cy="8765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3401924" y="4347210"/>
            <a:ext cx="54906" cy="8851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0480" y="4338574"/>
            <a:ext cx="54906" cy="8938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499036" y="4329938"/>
            <a:ext cx="54906" cy="902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547593" y="4321302"/>
            <a:ext cx="54906" cy="9110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596149" y="4312666"/>
            <a:ext cx="54906" cy="919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3644705" y="4304030"/>
            <a:ext cx="54906" cy="9283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3693262" y="4295394"/>
            <a:ext cx="54906" cy="9370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3741818" y="4286758"/>
            <a:ext cx="54906" cy="9456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790374" y="4278122"/>
            <a:ext cx="54906" cy="9542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3838931" y="4269486"/>
            <a:ext cx="54906" cy="9629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887487" y="4260850"/>
            <a:ext cx="54906" cy="9715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36043" y="4252214"/>
            <a:ext cx="54906" cy="980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984600" y="4243578"/>
            <a:ext cx="54906" cy="9888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33156" y="4234942"/>
            <a:ext cx="54906" cy="997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081712" y="4226306"/>
            <a:ext cx="54906" cy="1006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30269" y="4217670"/>
            <a:ext cx="54906" cy="1014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178825" y="4209034"/>
            <a:ext cx="54906" cy="10233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227381" y="4200398"/>
            <a:ext cx="54906" cy="10320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275938" y="4191762"/>
            <a:ext cx="54906" cy="10406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324494" y="4183126"/>
            <a:ext cx="54906" cy="10492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373050" y="4174490"/>
            <a:ext cx="54906" cy="10579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421607" y="4165854"/>
            <a:ext cx="54906" cy="10665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470163" y="4157218"/>
            <a:ext cx="54906" cy="1075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518719" y="4148582"/>
            <a:ext cx="54906" cy="1083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567276" y="4139946"/>
            <a:ext cx="54906" cy="10924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615832" y="4131310"/>
            <a:ext cx="54906" cy="1101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664388" y="4122674"/>
            <a:ext cx="54906" cy="1109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12945" y="4114038"/>
            <a:ext cx="54906" cy="11183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761501" y="4105402"/>
            <a:ext cx="54906" cy="11269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810057" y="4096766"/>
            <a:ext cx="54906" cy="11356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858614" y="4088130"/>
            <a:ext cx="54906" cy="11442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07170" y="4079494"/>
            <a:ext cx="54906" cy="11529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955726" y="4070858"/>
            <a:ext cx="54906" cy="11615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004283" y="4062222"/>
            <a:ext cx="54906" cy="1170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052839" y="4053586"/>
            <a:ext cx="54906" cy="11788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101395" y="4044950"/>
            <a:ext cx="54906" cy="11874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149952" y="4036314"/>
            <a:ext cx="54906" cy="11960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198508" y="4027678"/>
            <a:ext cx="54906" cy="1204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247064" y="4021201"/>
            <a:ext cx="54906" cy="12111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295621" y="4016883"/>
            <a:ext cx="54906" cy="12155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344177" y="4012565"/>
            <a:ext cx="54906" cy="12198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392733" y="4008247"/>
            <a:ext cx="54906" cy="1224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441290" y="4003929"/>
            <a:ext cx="54906" cy="12284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489846" y="3999611"/>
            <a:ext cx="54906" cy="12327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538402" y="3995293"/>
            <a:ext cx="54906" cy="1237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586959" y="3990975"/>
            <a:ext cx="54906" cy="12414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635515" y="3986657"/>
            <a:ext cx="54906" cy="12457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684071" y="3982339"/>
            <a:ext cx="54906" cy="12500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732628" y="3978021"/>
            <a:ext cx="54906" cy="1254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781184" y="3973703"/>
            <a:ext cx="54906" cy="12586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29740" y="3969385"/>
            <a:ext cx="54906" cy="12630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878297" y="3965067"/>
            <a:ext cx="54906" cy="12673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26853" y="3960749"/>
            <a:ext cx="54906" cy="12716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975409" y="3956431"/>
            <a:ext cx="54906" cy="12759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23966" y="3952113"/>
            <a:ext cx="54906" cy="12802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72522" y="3947795"/>
            <a:ext cx="54906" cy="12846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21078" y="3943477"/>
            <a:ext cx="54906" cy="12889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69635" y="3939159"/>
            <a:ext cx="54906" cy="12932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8191" y="3931602"/>
            <a:ext cx="54906" cy="1300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6747" y="3920808"/>
            <a:ext cx="54906" cy="13115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15304" y="3910012"/>
            <a:ext cx="54906" cy="13223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63860" y="3899218"/>
            <a:ext cx="54906" cy="1333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412416" y="3888423"/>
            <a:ext cx="54906" cy="13439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60973" y="3877627"/>
            <a:ext cx="54906" cy="13547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509529" y="3866832"/>
            <a:ext cx="54906" cy="13655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58085" y="3856038"/>
            <a:ext cx="54906" cy="13763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606642" y="3845243"/>
            <a:ext cx="54906" cy="13871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655198" y="3834447"/>
            <a:ext cx="54906" cy="13979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703754" y="3823652"/>
            <a:ext cx="54906" cy="14087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752311" y="3812858"/>
            <a:ext cx="54906" cy="1419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800867" y="3802062"/>
            <a:ext cx="54906" cy="14303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849423" y="3791268"/>
            <a:ext cx="54906" cy="1441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97980" y="3780473"/>
            <a:ext cx="54906" cy="14519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946536" y="3769678"/>
            <a:ext cx="54906" cy="1462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995092" y="3758882"/>
            <a:ext cx="54906" cy="14735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043649" y="3748087"/>
            <a:ext cx="54906" cy="14843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092205" y="3737293"/>
            <a:ext cx="54906" cy="1495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140761" y="3726497"/>
            <a:ext cx="54906" cy="15059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189318" y="3715702"/>
            <a:ext cx="54906" cy="15166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237874" y="3704908"/>
            <a:ext cx="54906" cy="1527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286430" y="3694113"/>
            <a:ext cx="54906" cy="15382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334987" y="3683317"/>
            <a:ext cx="54906" cy="1549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383543" y="3672523"/>
            <a:ext cx="54906" cy="15598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432099" y="3661728"/>
            <a:ext cx="54906" cy="15706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480656" y="3650932"/>
            <a:ext cx="54906" cy="1581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529212" y="3640138"/>
            <a:ext cx="54906" cy="15922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577768" y="3629343"/>
            <a:ext cx="54906" cy="16030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626325" y="3618548"/>
            <a:ext cx="54906" cy="1613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674881" y="3607752"/>
            <a:ext cx="54906" cy="16246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723437" y="3596957"/>
            <a:ext cx="54906" cy="1635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771994" y="3586162"/>
            <a:ext cx="54906" cy="16462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820550" y="3575368"/>
            <a:ext cx="54906" cy="16570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869106" y="3564573"/>
            <a:ext cx="54906" cy="16678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917663" y="3553778"/>
            <a:ext cx="54906" cy="16786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966219" y="3542982"/>
            <a:ext cx="54906" cy="1689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8014775" y="3532187"/>
            <a:ext cx="54906" cy="17002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8063332" y="3521393"/>
            <a:ext cx="54906" cy="17110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8111888" y="3510598"/>
            <a:ext cx="54906" cy="1721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304811" y="3717862"/>
            <a:ext cx="54906" cy="6466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353367" y="3711385"/>
            <a:ext cx="54906" cy="6444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401924" y="3704908"/>
            <a:ext cx="54906" cy="6423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450480" y="3698430"/>
            <a:ext cx="54906" cy="64014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3499036" y="3691954"/>
            <a:ext cx="54906" cy="6379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3547593" y="3685477"/>
            <a:ext cx="54906" cy="6358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3596149" y="3678999"/>
            <a:ext cx="54906" cy="6336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644705" y="3672523"/>
            <a:ext cx="54906" cy="6315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693262" y="3666046"/>
            <a:ext cx="54906" cy="6293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741818" y="3659568"/>
            <a:ext cx="54906" cy="6271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790374" y="3653092"/>
            <a:ext cx="54906" cy="6250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838931" y="3646615"/>
            <a:ext cx="54906" cy="622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887487" y="3640138"/>
            <a:ext cx="54906" cy="6207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936043" y="3633660"/>
            <a:ext cx="54906" cy="6185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984600" y="3627184"/>
            <a:ext cx="54906" cy="6163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033156" y="3620706"/>
            <a:ext cx="54906" cy="61423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081712" y="3614230"/>
            <a:ext cx="54906" cy="61207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130269" y="3607753"/>
            <a:ext cx="54906" cy="6099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178825" y="3601276"/>
            <a:ext cx="54906" cy="607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227381" y="3594798"/>
            <a:ext cx="54906" cy="6056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275938" y="3585083"/>
            <a:ext cx="54906" cy="60667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324494" y="3572129"/>
            <a:ext cx="54906" cy="6109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373050" y="3559175"/>
            <a:ext cx="54906" cy="615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421607" y="3546221"/>
            <a:ext cx="54906" cy="619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470163" y="3533267"/>
            <a:ext cx="54906" cy="6239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518719" y="3520313"/>
            <a:ext cx="54906" cy="6282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567276" y="3507359"/>
            <a:ext cx="54906" cy="6325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615832" y="3494405"/>
            <a:ext cx="54906" cy="6369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664388" y="3481451"/>
            <a:ext cx="54906" cy="64122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712945" y="3468497"/>
            <a:ext cx="54906" cy="645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761501" y="3455543"/>
            <a:ext cx="54906" cy="6498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810057" y="3442589"/>
            <a:ext cx="54906" cy="65417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858614" y="3429635"/>
            <a:ext cx="54906" cy="6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907170" y="3416681"/>
            <a:ext cx="54906" cy="6628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955726" y="3403727"/>
            <a:ext cx="54906" cy="6671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004283" y="3390773"/>
            <a:ext cx="54906" cy="6714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052839" y="3377819"/>
            <a:ext cx="54906" cy="6757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101395" y="3364865"/>
            <a:ext cx="54906" cy="6800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149952" y="3351911"/>
            <a:ext cx="54906" cy="6844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198508" y="3338957"/>
            <a:ext cx="54906" cy="6887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247064" y="3331400"/>
            <a:ext cx="54906" cy="6898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295621" y="3329241"/>
            <a:ext cx="54906" cy="687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344177" y="3327082"/>
            <a:ext cx="54906" cy="6854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392733" y="3324923"/>
            <a:ext cx="54906" cy="6833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441290" y="3322765"/>
            <a:ext cx="54906" cy="6811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489846" y="3320605"/>
            <a:ext cx="54906" cy="6790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538402" y="3318446"/>
            <a:ext cx="54906" cy="6768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586959" y="3316287"/>
            <a:ext cx="54906" cy="6746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635515" y="3314128"/>
            <a:ext cx="54906" cy="6725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684071" y="3311970"/>
            <a:ext cx="54906" cy="6703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732628" y="3309810"/>
            <a:ext cx="54906" cy="6682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5781184" y="3307652"/>
            <a:ext cx="54906" cy="66605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5829740" y="3305492"/>
            <a:ext cx="54906" cy="6638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5878297" y="3303333"/>
            <a:ext cx="54906" cy="6617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5926853" y="3301174"/>
            <a:ext cx="54906" cy="6595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975409" y="3299016"/>
            <a:ext cx="54906" cy="65741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023966" y="3296857"/>
            <a:ext cx="54906" cy="65525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072522" y="3294698"/>
            <a:ext cx="54906" cy="653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121078" y="3292538"/>
            <a:ext cx="54906" cy="6509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169635" y="3290380"/>
            <a:ext cx="54906" cy="64877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218191" y="3281744"/>
            <a:ext cx="54906" cy="6498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266747" y="3266631"/>
            <a:ext cx="54906" cy="65417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315304" y="3251518"/>
            <a:ext cx="54906" cy="6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363860" y="3236404"/>
            <a:ext cx="54906" cy="6628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412416" y="3221292"/>
            <a:ext cx="54906" cy="6671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460973" y="3206179"/>
            <a:ext cx="54906" cy="6714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509529" y="3191065"/>
            <a:ext cx="54906" cy="6757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558085" y="3175952"/>
            <a:ext cx="54906" cy="6800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606642" y="3160839"/>
            <a:ext cx="54906" cy="6844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655198" y="3145727"/>
            <a:ext cx="54906" cy="6887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703754" y="3130614"/>
            <a:ext cx="54906" cy="6930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752311" y="3115500"/>
            <a:ext cx="54906" cy="69735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00867" y="3100388"/>
            <a:ext cx="54906" cy="7016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849423" y="3085274"/>
            <a:ext cx="54906" cy="7059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897980" y="3070162"/>
            <a:ext cx="54906" cy="7103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946536" y="3055049"/>
            <a:ext cx="54906" cy="7146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995092" y="3039935"/>
            <a:ext cx="54906" cy="7189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43649" y="3024822"/>
            <a:ext cx="54906" cy="7232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092205" y="3009709"/>
            <a:ext cx="54906" cy="7275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40761" y="2994596"/>
            <a:ext cx="54906" cy="7319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189318" y="2980563"/>
            <a:ext cx="54906" cy="73514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37874" y="2967609"/>
            <a:ext cx="54906" cy="7372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86430" y="2954655"/>
            <a:ext cx="54906" cy="7394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4987" y="2941701"/>
            <a:ext cx="54906" cy="7416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3543" y="2928747"/>
            <a:ext cx="54906" cy="74377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32099" y="2915793"/>
            <a:ext cx="54906" cy="74593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80656" y="2902839"/>
            <a:ext cx="54906" cy="748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29212" y="2889885"/>
            <a:ext cx="54906" cy="7502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77768" y="2876931"/>
            <a:ext cx="54906" cy="75241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626325" y="2863977"/>
            <a:ext cx="54906" cy="7545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74881" y="2851023"/>
            <a:ext cx="54906" cy="7567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723437" y="2838069"/>
            <a:ext cx="54906" cy="7588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71994" y="2825115"/>
            <a:ext cx="54906" cy="7610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820550" y="2812161"/>
            <a:ext cx="54906" cy="7632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869106" y="2799207"/>
            <a:ext cx="54906" cy="7653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917663" y="2786253"/>
            <a:ext cx="54906" cy="7675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966219" y="2773299"/>
            <a:ext cx="54906" cy="7696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8014775" y="2760345"/>
            <a:ext cx="54906" cy="7718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8063332" y="2747391"/>
            <a:ext cx="54906" cy="7740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8111888" y="2734437"/>
            <a:ext cx="54906" cy="7761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3304811" y="3284982"/>
            <a:ext cx="54906" cy="4328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0" name="Shape 208"/>
          <p:cNvSpPr/>
          <p:nvPr/>
        </p:nvSpPr>
        <p:spPr>
          <a:xfrm>
            <a:off x="3353367" y="3276346"/>
            <a:ext cx="54906" cy="4350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1" name="Shape 209"/>
          <p:cNvSpPr/>
          <p:nvPr/>
        </p:nvSpPr>
        <p:spPr>
          <a:xfrm>
            <a:off x="3401924" y="3267710"/>
            <a:ext cx="54906" cy="43719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2" name="Shape 210"/>
          <p:cNvSpPr/>
          <p:nvPr/>
        </p:nvSpPr>
        <p:spPr>
          <a:xfrm>
            <a:off x="3450480" y="3259074"/>
            <a:ext cx="54906" cy="43935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3" name="Shape 211"/>
          <p:cNvSpPr/>
          <p:nvPr/>
        </p:nvSpPr>
        <p:spPr>
          <a:xfrm>
            <a:off x="3499036" y="3250438"/>
            <a:ext cx="54906" cy="44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4" name="Shape 212"/>
          <p:cNvSpPr/>
          <p:nvPr/>
        </p:nvSpPr>
        <p:spPr>
          <a:xfrm>
            <a:off x="3547593" y="3241802"/>
            <a:ext cx="54906" cy="44367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5" name="Shape 213"/>
          <p:cNvSpPr/>
          <p:nvPr/>
        </p:nvSpPr>
        <p:spPr>
          <a:xfrm>
            <a:off x="3596149" y="3233166"/>
            <a:ext cx="54906" cy="4458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6" name="Shape 214"/>
          <p:cNvSpPr/>
          <p:nvPr/>
        </p:nvSpPr>
        <p:spPr>
          <a:xfrm>
            <a:off x="3644705" y="3224530"/>
            <a:ext cx="54906" cy="4479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7" name="Shape 215"/>
          <p:cNvSpPr/>
          <p:nvPr/>
        </p:nvSpPr>
        <p:spPr>
          <a:xfrm>
            <a:off x="3693262" y="3215894"/>
            <a:ext cx="54906" cy="4501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8" name="Shape 216"/>
          <p:cNvSpPr/>
          <p:nvPr/>
        </p:nvSpPr>
        <p:spPr>
          <a:xfrm>
            <a:off x="3741818" y="3207258"/>
            <a:ext cx="54906" cy="45231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9" name="Shape 217"/>
          <p:cNvSpPr/>
          <p:nvPr/>
        </p:nvSpPr>
        <p:spPr>
          <a:xfrm>
            <a:off x="3790374" y="3198622"/>
            <a:ext cx="54906" cy="45447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0" name="Shape 218"/>
          <p:cNvSpPr/>
          <p:nvPr/>
        </p:nvSpPr>
        <p:spPr>
          <a:xfrm>
            <a:off x="3838931" y="3189986"/>
            <a:ext cx="54906" cy="4566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1" name="Shape 219"/>
          <p:cNvSpPr/>
          <p:nvPr/>
        </p:nvSpPr>
        <p:spPr>
          <a:xfrm>
            <a:off x="3887487" y="3181350"/>
            <a:ext cx="54906" cy="4587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2" name="Shape 220"/>
          <p:cNvSpPr/>
          <p:nvPr/>
        </p:nvSpPr>
        <p:spPr>
          <a:xfrm>
            <a:off x="3936043" y="3172714"/>
            <a:ext cx="54906" cy="46094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3" name="Shape 221"/>
          <p:cNvSpPr/>
          <p:nvPr/>
        </p:nvSpPr>
        <p:spPr>
          <a:xfrm>
            <a:off x="3984600" y="3164078"/>
            <a:ext cx="54906" cy="46310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4" name="Shape 222"/>
          <p:cNvSpPr/>
          <p:nvPr/>
        </p:nvSpPr>
        <p:spPr>
          <a:xfrm>
            <a:off x="4033156" y="3155442"/>
            <a:ext cx="54906" cy="46526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5" name="Shape 223"/>
          <p:cNvSpPr/>
          <p:nvPr/>
        </p:nvSpPr>
        <p:spPr>
          <a:xfrm>
            <a:off x="4081712" y="3146806"/>
            <a:ext cx="54906" cy="4674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6" name="Shape 224"/>
          <p:cNvSpPr/>
          <p:nvPr/>
        </p:nvSpPr>
        <p:spPr>
          <a:xfrm>
            <a:off x="4130269" y="3138170"/>
            <a:ext cx="54906" cy="46958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7" name="Shape 225"/>
          <p:cNvSpPr/>
          <p:nvPr/>
        </p:nvSpPr>
        <p:spPr>
          <a:xfrm>
            <a:off x="4178825" y="3129534"/>
            <a:ext cx="54906" cy="47174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8" name="Shape 226"/>
          <p:cNvSpPr/>
          <p:nvPr/>
        </p:nvSpPr>
        <p:spPr>
          <a:xfrm>
            <a:off x="4227381" y="3120898"/>
            <a:ext cx="54906" cy="47390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9" name="Shape 227"/>
          <p:cNvSpPr/>
          <p:nvPr/>
        </p:nvSpPr>
        <p:spPr>
          <a:xfrm>
            <a:off x="4275938" y="3109023"/>
            <a:ext cx="54906" cy="47606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0" name="Shape 228"/>
          <p:cNvSpPr/>
          <p:nvPr/>
        </p:nvSpPr>
        <p:spPr>
          <a:xfrm>
            <a:off x="4324494" y="3093910"/>
            <a:ext cx="54906" cy="4782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1" name="Shape 229"/>
          <p:cNvSpPr/>
          <p:nvPr/>
        </p:nvSpPr>
        <p:spPr>
          <a:xfrm>
            <a:off x="4373050" y="3078798"/>
            <a:ext cx="54906" cy="48037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2" name="Shape 230"/>
          <p:cNvSpPr/>
          <p:nvPr/>
        </p:nvSpPr>
        <p:spPr>
          <a:xfrm>
            <a:off x="4421607" y="3063684"/>
            <a:ext cx="54906" cy="4825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3" name="Shape 231"/>
          <p:cNvSpPr/>
          <p:nvPr/>
        </p:nvSpPr>
        <p:spPr>
          <a:xfrm>
            <a:off x="4470163" y="3048571"/>
            <a:ext cx="54906" cy="48469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4" name="Shape 232"/>
          <p:cNvSpPr/>
          <p:nvPr/>
        </p:nvSpPr>
        <p:spPr>
          <a:xfrm>
            <a:off x="4518719" y="3033458"/>
            <a:ext cx="54906" cy="4868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5" name="Shape 233"/>
          <p:cNvSpPr/>
          <p:nvPr/>
        </p:nvSpPr>
        <p:spPr>
          <a:xfrm>
            <a:off x="4567276" y="3018345"/>
            <a:ext cx="54906" cy="48901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6" name="Shape 234"/>
          <p:cNvSpPr/>
          <p:nvPr/>
        </p:nvSpPr>
        <p:spPr>
          <a:xfrm>
            <a:off x="4615832" y="3003233"/>
            <a:ext cx="54906" cy="49117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7" name="Shape 235"/>
          <p:cNvSpPr/>
          <p:nvPr/>
        </p:nvSpPr>
        <p:spPr>
          <a:xfrm>
            <a:off x="4664388" y="2988119"/>
            <a:ext cx="54906" cy="4933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8" name="Shape 236"/>
          <p:cNvSpPr/>
          <p:nvPr/>
        </p:nvSpPr>
        <p:spPr>
          <a:xfrm>
            <a:off x="4712945" y="2973007"/>
            <a:ext cx="54906" cy="49549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9" name="Shape 237"/>
          <p:cNvSpPr/>
          <p:nvPr/>
        </p:nvSpPr>
        <p:spPr>
          <a:xfrm>
            <a:off x="4761501" y="2957893"/>
            <a:ext cx="54906" cy="4976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0" name="Shape 238"/>
          <p:cNvSpPr/>
          <p:nvPr/>
        </p:nvSpPr>
        <p:spPr>
          <a:xfrm>
            <a:off x="4810057" y="2942781"/>
            <a:ext cx="54906" cy="49980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1" name="Shape 239"/>
          <p:cNvSpPr/>
          <p:nvPr/>
        </p:nvSpPr>
        <p:spPr>
          <a:xfrm>
            <a:off x="4858614" y="2927668"/>
            <a:ext cx="54906" cy="50196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2" name="Shape 240"/>
          <p:cNvSpPr/>
          <p:nvPr/>
        </p:nvSpPr>
        <p:spPr>
          <a:xfrm>
            <a:off x="4907170" y="2912555"/>
            <a:ext cx="54906" cy="5041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3" name="Shape 241"/>
          <p:cNvSpPr/>
          <p:nvPr/>
        </p:nvSpPr>
        <p:spPr>
          <a:xfrm>
            <a:off x="4955726" y="2897442"/>
            <a:ext cx="54906" cy="50628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4" name="Shape 242"/>
          <p:cNvSpPr/>
          <p:nvPr/>
        </p:nvSpPr>
        <p:spPr>
          <a:xfrm>
            <a:off x="5004283" y="2882329"/>
            <a:ext cx="54906" cy="50844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5" name="Shape 243"/>
          <p:cNvSpPr/>
          <p:nvPr/>
        </p:nvSpPr>
        <p:spPr>
          <a:xfrm>
            <a:off x="5052839" y="2867216"/>
            <a:ext cx="54906" cy="51060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6" name="Shape 244"/>
          <p:cNvSpPr/>
          <p:nvPr/>
        </p:nvSpPr>
        <p:spPr>
          <a:xfrm>
            <a:off x="5101395" y="2852102"/>
            <a:ext cx="54906" cy="51276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7" name="Shape 245"/>
          <p:cNvSpPr/>
          <p:nvPr/>
        </p:nvSpPr>
        <p:spPr>
          <a:xfrm>
            <a:off x="5149952" y="2836990"/>
            <a:ext cx="54906" cy="5149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8" name="Shape 246"/>
          <p:cNvSpPr/>
          <p:nvPr/>
        </p:nvSpPr>
        <p:spPr>
          <a:xfrm>
            <a:off x="5198508" y="2821877"/>
            <a:ext cx="54906" cy="5170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9" name="Shape 247"/>
          <p:cNvSpPr/>
          <p:nvPr/>
        </p:nvSpPr>
        <p:spPr>
          <a:xfrm>
            <a:off x="5247064" y="2811082"/>
            <a:ext cx="54906" cy="5203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0" name="Shape 248"/>
          <p:cNvSpPr/>
          <p:nvPr/>
        </p:nvSpPr>
        <p:spPr>
          <a:xfrm>
            <a:off x="5295621" y="2804605"/>
            <a:ext cx="54906" cy="5246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1" name="Shape 249"/>
          <p:cNvSpPr/>
          <p:nvPr/>
        </p:nvSpPr>
        <p:spPr>
          <a:xfrm>
            <a:off x="5344177" y="2798128"/>
            <a:ext cx="54906" cy="5289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2" name="Shape 250"/>
          <p:cNvSpPr/>
          <p:nvPr/>
        </p:nvSpPr>
        <p:spPr>
          <a:xfrm>
            <a:off x="5392733" y="2791651"/>
            <a:ext cx="54906" cy="53327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3" name="Shape 251"/>
          <p:cNvSpPr/>
          <p:nvPr/>
        </p:nvSpPr>
        <p:spPr>
          <a:xfrm>
            <a:off x="5441290" y="2785174"/>
            <a:ext cx="54906" cy="53759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4" name="Shape 252"/>
          <p:cNvSpPr/>
          <p:nvPr/>
        </p:nvSpPr>
        <p:spPr>
          <a:xfrm>
            <a:off x="5489846" y="2778697"/>
            <a:ext cx="54906" cy="54190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5" name="Shape 253"/>
          <p:cNvSpPr/>
          <p:nvPr/>
        </p:nvSpPr>
        <p:spPr>
          <a:xfrm>
            <a:off x="5538402" y="2772220"/>
            <a:ext cx="54906" cy="54622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6" name="Shape 254"/>
          <p:cNvSpPr/>
          <p:nvPr/>
        </p:nvSpPr>
        <p:spPr>
          <a:xfrm>
            <a:off x="5586959" y="2765743"/>
            <a:ext cx="54906" cy="55054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7" name="Shape 255"/>
          <p:cNvSpPr/>
          <p:nvPr/>
        </p:nvSpPr>
        <p:spPr>
          <a:xfrm>
            <a:off x="5635515" y="2759266"/>
            <a:ext cx="54906" cy="55486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8" name="Shape 256"/>
          <p:cNvSpPr/>
          <p:nvPr/>
        </p:nvSpPr>
        <p:spPr>
          <a:xfrm>
            <a:off x="5684071" y="2752788"/>
            <a:ext cx="54906" cy="5591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9" name="Shape 257"/>
          <p:cNvSpPr/>
          <p:nvPr/>
        </p:nvSpPr>
        <p:spPr>
          <a:xfrm>
            <a:off x="5732628" y="2746312"/>
            <a:ext cx="54906" cy="56349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0" name="Shape 258"/>
          <p:cNvSpPr/>
          <p:nvPr/>
        </p:nvSpPr>
        <p:spPr>
          <a:xfrm>
            <a:off x="5781184" y="2739835"/>
            <a:ext cx="54906" cy="56781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1" name="Shape 259"/>
          <p:cNvSpPr/>
          <p:nvPr/>
        </p:nvSpPr>
        <p:spPr>
          <a:xfrm>
            <a:off x="5829740" y="2733357"/>
            <a:ext cx="54906" cy="5721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2" name="Shape 260"/>
          <p:cNvSpPr/>
          <p:nvPr/>
        </p:nvSpPr>
        <p:spPr>
          <a:xfrm>
            <a:off x="5878297" y="2726880"/>
            <a:ext cx="54906" cy="57645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3" name="Shape 261"/>
          <p:cNvSpPr/>
          <p:nvPr/>
        </p:nvSpPr>
        <p:spPr>
          <a:xfrm>
            <a:off x="5926853" y="2720404"/>
            <a:ext cx="54906" cy="5807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4" name="Shape 262"/>
          <p:cNvSpPr/>
          <p:nvPr/>
        </p:nvSpPr>
        <p:spPr>
          <a:xfrm>
            <a:off x="5975409" y="2713926"/>
            <a:ext cx="54906" cy="5850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5" name="Shape 263"/>
          <p:cNvSpPr/>
          <p:nvPr/>
        </p:nvSpPr>
        <p:spPr>
          <a:xfrm>
            <a:off x="6023966" y="2707449"/>
            <a:ext cx="54906" cy="58940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6" name="Shape 264"/>
          <p:cNvSpPr/>
          <p:nvPr/>
        </p:nvSpPr>
        <p:spPr>
          <a:xfrm>
            <a:off x="6072522" y="2700972"/>
            <a:ext cx="54906" cy="5937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7" name="Shape 265"/>
          <p:cNvSpPr/>
          <p:nvPr/>
        </p:nvSpPr>
        <p:spPr>
          <a:xfrm>
            <a:off x="6121078" y="2694495"/>
            <a:ext cx="54906" cy="59804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8" name="Shape 266"/>
          <p:cNvSpPr/>
          <p:nvPr/>
        </p:nvSpPr>
        <p:spPr>
          <a:xfrm>
            <a:off x="6169635" y="2688018"/>
            <a:ext cx="54906" cy="60236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9" name="Shape 267"/>
          <p:cNvSpPr/>
          <p:nvPr/>
        </p:nvSpPr>
        <p:spPr>
          <a:xfrm>
            <a:off x="6218191" y="2678303"/>
            <a:ext cx="54906" cy="60344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0" name="Shape 268"/>
          <p:cNvSpPr/>
          <p:nvPr/>
        </p:nvSpPr>
        <p:spPr>
          <a:xfrm>
            <a:off x="6266747" y="2665349"/>
            <a:ext cx="54906" cy="60128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1" name="Shape 269"/>
          <p:cNvSpPr/>
          <p:nvPr/>
        </p:nvSpPr>
        <p:spPr>
          <a:xfrm>
            <a:off x="6315304" y="2652395"/>
            <a:ext cx="54906" cy="5991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2" name="Shape 270"/>
          <p:cNvSpPr/>
          <p:nvPr/>
        </p:nvSpPr>
        <p:spPr>
          <a:xfrm>
            <a:off x="6363860" y="2639441"/>
            <a:ext cx="54906" cy="59696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3" name="Shape 271"/>
          <p:cNvSpPr/>
          <p:nvPr/>
        </p:nvSpPr>
        <p:spPr>
          <a:xfrm>
            <a:off x="6412416" y="2626487"/>
            <a:ext cx="54906" cy="59480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4" name="Shape 272"/>
          <p:cNvSpPr/>
          <p:nvPr/>
        </p:nvSpPr>
        <p:spPr>
          <a:xfrm>
            <a:off x="6460973" y="2613533"/>
            <a:ext cx="54906" cy="59264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5" name="Shape 273"/>
          <p:cNvSpPr/>
          <p:nvPr/>
        </p:nvSpPr>
        <p:spPr>
          <a:xfrm>
            <a:off x="6509529" y="2600579"/>
            <a:ext cx="54906" cy="5904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6" name="Shape 274"/>
          <p:cNvSpPr/>
          <p:nvPr/>
        </p:nvSpPr>
        <p:spPr>
          <a:xfrm>
            <a:off x="6558085" y="2587625"/>
            <a:ext cx="54906" cy="58832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7" name="Shape 275"/>
          <p:cNvSpPr/>
          <p:nvPr/>
        </p:nvSpPr>
        <p:spPr>
          <a:xfrm>
            <a:off x="6606642" y="2574671"/>
            <a:ext cx="54906" cy="58616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8" name="Shape 276"/>
          <p:cNvSpPr/>
          <p:nvPr/>
        </p:nvSpPr>
        <p:spPr>
          <a:xfrm>
            <a:off x="6655198" y="2561717"/>
            <a:ext cx="54906" cy="58400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9" name="Shape 277"/>
          <p:cNvSpPr/>
          <p:nvPr/>
        </p:nvSpPr>
        <p:spPr>
          <a:xfrm>
            <a:off x="6703754" y="2548763"/>
            <a:ext cx="54906" cy="5818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0" name="Shape 278"/>
          <p:cNvSpPr/>
          <p:nvPr/>
        </p:nvSpPr>
        <p:spPr>
          <a:xfrm>
            <a:off x="6752311" y="2535809"/>
            <a:ext cx="54906" cy="57969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1" name="Shape 279"/>
          <p:cNvSpPr/>
          <p:nvPr/>
        </p:nvSpPr>
        <p:spPr>
          <a:xfrm>
            <a:off x="6800867" y="2522855"/>
            <a:ext cx="54906" cy="5775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2" name="Shape 280"/>
          <p:cNvSpPr/>
          <p:nvPr/>
        </p:nvSpPr>
        <p:spPr>
          <a:xfrm>
            <a:off x="6849423" y="2509901"/>
            <a:ext cx="54906" cy="57537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3" name="Shape 281"/>
          <p:cNvSpPr/>
          <p:nvPr/>
        </p:nvSpPr>
        <p:spPr>
          <a:xfrm>
            <a:off x="6897980" y="2496947"/>
            <a:ext cx="54906" cy="57321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4" name="Shape 282"/>
          <p:cNvSpPr/>
          <p:nvPr/>
        </p:nvSpPr>
        <p:spPr>
          <a:xfrm>
            <a:off x="6946536" y="2483993"/>
            <a:ext cx="54906" cy="5710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5" name="Shape 283"/>
          <p:cNvSpPr/>
          <p:nvPr/>
        </p:nvSpPr>
        <p:spPr>
          <a:xfrm>
            <a:off x="6995092" y="2471039"/>
            <a:ext cx="54906" cy="56889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6" name="Shape 284"/>
          <p:cNvSpPr/>
          <p:nvPr/>
        </p:nvSpPr>
        <p:spPr>
          <a:xfrm>
            <a:off x="7043649" y="2458085"/>
            <a:ext cx="54906" cy="5667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7" name="Shape 285"/>
          <p:cNvSpPr/>
          <p:nvPr/>
        </p:nvSpPr>
        <p:spPr>
          <a:xfrm>
            <a:off x="7092205" y="2445131"/>
            <a:ext cx="54906" cy="56457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8" name="Shape 286"/>
          <p:cNvSpPr/>
          <p:nvPr/>
        </p:nvSpPr>
        <p:spPr>
          <a:xfrm>
            <a:off x="7140761" y="2432177"/>
            <a:ext cx="54906" cy="5624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9" name="Shape 287"/>
          <p:cNvSpPr/>
          <p:nvPr/>
        </p:nvSpPr>
        <p:spPr>
          <a:xfrm>
            <a:off x="7189318" y="2417064"/>
            <a:ext cx="54906" cy="56349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0" name="Shape 288"/>
          <p:cNvSpPr/>
          <p:nvPr/>
        </p:nvSpPr>
        <p:spPr>
          <a:xfrm>
            <a:off x="7237874" y="2399792"/>
            <a:ext cx="54906" cy="56781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1" name="Shape 289"/>
          <p:cNvSpPr/>
          <p:nvPr/>
        </p:nvSpPr>
        <p:spPr>
          <a:xfrm>
            <a:off x="7286430" y="2382520"/>
            <a:ext cx="54906" cy="5721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2" name="Shape 290"/>
          <p:cNvSpPr/>
          <p:nvPr/>
        </p:nvSpPr>
        <p:spPr>
          <a:xfrm>
            <a:off x="7334987" y="2365248"/>
            <a:ext cx="54906" cy="57645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3" name="Shape 291"/>
          <p:cNvSpPr/>
          <p:nvPr/>
        </p:nvSpPr>
        <p:spPr>
          <a:xfrm>
            <a:off x="7383543" y="2347976"/>
            <a:ext cx="54906" cy="5807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4" name="Shape 292"/>
          <p:cNvSpPr/>
          <p:nvPr/>
        </p:nvSpPr>
        <p:spPr>
          <a:xfrm>
            <a:off x="7432099" y="2330704"/>
            <a:ext cx="54906" cy="5850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5" name="Shape 293"/>
          <p:cNvSpPr/>
          <p:nvPr/>
        </p:nvSpPr>
        <p:spPr>
          <a:xfrm>
            <a:off x="7480656" y="2313432"/>
            <a:ext cx="54906" cy="58940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6" name="Shape 294"/>
          <p:cNvSpPr/>
          <p:nvPr/>
        </p:nvSpPr>
        <p:spPr>
          <a:xfrm>
            <a:off x="7529212" y="2296160"/>
            <a:ext cx="54906" cy="5937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7" name="Shape 295"/>
          <p:cNvSpPr/>
          <p:nvPr/>
        </p:nvSpPr>
        <p:spPr>
          <a:xfrm>
            <a:off x="7577768" y="2278888"/>
            <a:ext cx="54906" cy="59804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8" name="Shape 296"/>
          <p:cNvSpPr/>
          <p:nvPr/>
        </p:nvSpPr>
        <p:spPr>
          <a:xfrm>
            <a:off x="7626325" y="2261616"/>
            <a:ext cx="54906" cy="60236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9" name="Shape 297"/>
          <p:cNvSpPr/>
          <p:nvPr/>
        </p:nvSpPr>
        <p:spPr>
          <a:xfrm>
            <a:off x="7674881" y="2244344"/>
            <a:ext cx="54906" cy="60667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0" name="Shape 298"/>
          <p:cNvSpPr/>
          <p:nvPr/>
        </p:nvSpPr>
        <p:spPr>
          <a:xfrm>
            <a:off x="7723437" y="2227072"/>
            <a:ext cx="54906" cy="61099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1" name="Shape 299"/>
          <p:cNvSpPr/>
          <p:nvPr/>
        </p:nvSpPr>
        <p:spPr>
          <a:xfrm>
            <a:off x="7771994" y="2209800"/>
            <a:ext cx="54906" cy="61531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2" name="Shape 300"/>
          <p:cNvSpPr/>
          <p:nvPr/>
        </p:nvSpPr>
        <p:spPr>
          <a:xfrm>
            <a:off x="7820550" y="2192528"/>
            <a:ext cx="54906" cy="6196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3" name="Shape 301"/>
          <p:cNvSpPr/>
          <p:nvPr/>
        </p:nvSpPr>
        <p:spPr>
          <a:xfrm>
            <a:off x="7869106" y="2175256"/>
            <a:ext cx="54906" cy="6239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4" name="Shape 302"/>
          <p:cNvSpPr/>
          <p:nvPr/>
        </p:nvSpPr>
        <p:spPr>
          <a:xfrm>
            <a:off x="7917663" y="2157984"/>
            <a:ext cx="54906" cy="62826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5" name="Shape 303"/>
          <p:cNvSpPr/>
          <p:nvPr/>
        </p:nvSpPr>
        <p:spPr>
          <a:xfrm>
            <a:off x="7966219" y="2140712"/>
            <a:ext cx="54906" cy="6325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6" name="Shape 304"/>
          <p:cNvSpPr/>
          <p:nvPr/>
        </p:nvSpPr>
        <p:spPr>
          <a:xfrm>
            <a:off x="8014775" y="2123440"/>
            <a:ext cx="54906" cy="63690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7" name="Shape 305"/>
          <p:cNvSpPr/>
          <p:nvPr/>
        </p:nvSpPr>
        <p:spPr>
          <a:xfrm>
            <a:off x="8063332" y="2106168"/>
            <a:ext cx="54906" cy="6412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8" name="Shape 306"/>
          <p:cNvSpPr/>
          <p:nvPr/>
        </p:nvSpPr>
        <p:spPr>
          <a:xfrm>
            <a:off x="8111888" y="2088896"/>
            <a:ext cx="54906" cy="64554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9" name="Shape 307"/>
          <p:cNvSpPr/>
          <p:nvPr/>
        </p:nvSpPr>
        <p:spPr>
          <a:xfrm>
            <a:off x="2819248" y="5232400"/>
            <a:ext cx="5826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0" name="Text 308"/>
          <p:cNvSpPr/>
          <p:nvPr/>
        </p:nvSpPr>
        <p:spPr>
          <a:xfrm>
            <a:off x="8696808" y="231838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311" name="Text 309"/>
          <p:cNvSpPr/>
          <p:nvPr/>
        </p:nvSpPr>
        <p:spPr>
          <a:xfrm>
            <a:off x="8696808" y="303085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12" name="Text 310"/>
          <p:cNvSpPr/>
          <p:nvPr/>
        </p:nvSpPr>
        <p:spPr>
          <a:xfrm>
            <a:off x="8696808" y="428307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1000" dirty="0"/>
          </a:p>
        </p:txBody>
      </p:sp>
      <p:sp>
        <p:nvSpPr>
          <p:cNvPr id="313" name="Text 311"/>
          <p:cNvSpPr/>
          <p:nvPr/>
        </p:nvSpPr>
        <p:spPr>
          <a:xfrm>
            <a:off x="8671408" y="5143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4" name="Text 312"/>
          <p:cNvSpPr/>
          <p:nvPr/>
        </p:nvSpPr>
        <p:spPr>
          <a:xfrm>
            <a:off x="8671408" y="3992033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15" name="Text 313"/>
          <p:cNvSpPr/>
          <p:nvPr/>
        </p:nvSpPr>
        <p:spPr>
          <a:xfrm>
            <a:off x="8671408" y="2840567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16" name="Text 314"/>
          <p:cNvSpPr/>
          <p:nvPr/>
        </p:nvSpPr>
        <p:spPr>
          <a:xfrm>
            <a:off x="8671408" y="1689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7" name="Shape 315"/>
          <p:cNvSpPr/>
          <p:nvPr/>
        </p:nvSpPr>
        <p:spPr>
          <a:xfrm>
            <a:off x="3274331" y="266869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8" name="Text 316"/>
          <p:cNvSpPr/>
          <p:nvPr/>
        </p:nvSpPr>
        <p:spPr>
          <a:xfrm>
            <a:off x="2923811" y="24896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19" name="Shape 317"/>
          <p:cNvSpPr/>
          <p:nvPr/>
        </p:nvSpPr>
        <p:spPr>
          <a:xfrm flipV="1">
            <a:off x="3304811" y="246888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4245458" y="243840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1" name="Text 319"/>
          <p:cNvSpPr/>
          <p:nvPr/>
        </p:nvSpPr>
        <p:spPr>
          <a:xfrm>
            <a:off x="3894938" y="22593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322" name="Shape 320"/>
          <p:cNvSpPr/>
          <p:nvPr/>
        </p:nvSpPr>
        <p:spPr>
          <a:xfrm flipV="1">
            <a:off x="4275938" y="2238587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5216584" y="2208107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4" name="Text 322"/>
          <p:cNvSpPr/>
          <p:nvPr/>
        </p:nvSpPr>
        <p:spPr>
          <a:xfrm>
            <a:off x="4866064" y="20290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325" name="Shape 323"/>
          <p:cNvSpPr/>
          <p:nvPr/>
        </p:nvSpPr>
        <p:spPr>
          <a:xfrm>
            <a:off x="5247064" y="2238587"/>
            <a:ext cx="971127" cy="115147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6187711" y="232325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7" name="Text 325"/>
          <p:cNvSpPr/>
          <p:nvPr/>
        </p:nvSpPr>
        <p:spPr>
          <a:xfrm>
            <a:off x="5837191" y="2144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28" name="Shape 326"/>
          <p:cNvSpPr/>
          <p:nvPr/>
        </p:nvSpPr>
        <p:spPr>
          <a:xfrm flipV="1">
            <a:off x="6218191" y="2008293"/>
            <a:ext cx="971127" cy="345440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7158838" y="197781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0" name="Text 328"/>
          <p:cNvSpPr/>
          <p:nvPr/>
        </p:nvSpPr>
        <p:spPr>
          <a:xfrm>
            <a:off x="6808318" y="179874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331" name="Shape 329"/>
          <p:cNvSpPr/>
          <p:nvPr/>
        </p:nvSpPr>
        <p:spPr>
          <a:xfrm flipV="1">
            <a:off x="7189318" y="177800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8129964" y="174752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3" name="Text 331"/>
          <p:cNvSpPr/>
          <p:nvPr/>
        </p:nvSpPr>
        <p:spPr>
          <a:xfrm>
            <a:off x="7779444" y="1568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334" name="Text 332"/>
          <p:cNvSpPr/>
          <p:nvPr/>
        </p:nvSpPr>
        <p:spPr>
          <a:xfrm>
            <a:off x="8696808" y="150495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58848" y="1778000"/>
            <a:ext cx="787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Programme plan — cost and effort beside the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94862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90062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706550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01750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8239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3439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529928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25128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158848" y="22733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2158848" y="23939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94862" y="2453640"/>
            <a:ext cx="191168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3794862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06550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5848" y="28511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606128" y="28511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94862" y="27178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0–3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285848" y="33083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Concept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606128" y="33083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794862" y="31750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158848" y="36449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7" name="Text 25"/>
          <p:cNvSpPr/>
          <p:nvPr/>
        </p:nvSpPr>
        <p:spPr>
          <a:xfrm>
            <a:off x="2158848" y="37655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706550" y="3825240"/>
            <a:ext cx="344104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9" name="Shape 27"/>
          <p:cNvSpPr/>
          <p:nvPr/>
        </p:nvSpPr>
        <p:spPr>
          <a:xfrm>
            <a:off x="570655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759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85848" y="42227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606128" y="42227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794862" y="40894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285848" y="46799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606128" y="46799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794862" y="45466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11–14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903068" y="2057400"/>
            <a:ext cx="48285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k€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903068" y="2393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2903068" y="28511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903068" y="33083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75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2903068" y="37655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260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903068" y="42227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191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2903068" y="4679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62122" y="2057400"/>
            <a:ext cx="2565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FTE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462122" y="2393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462122" y="28511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462122" y="33083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62122" y="37655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462122" y="42227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462122" y="4679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905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Working-day timeline — weekends carry no width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832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7352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788149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483349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7970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170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865827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61027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6035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Jan–8 Jan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32258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8328" y="30099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Jan–15 Jan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8481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8328" y="36322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Jan–20 Jan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44704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78328" y="42545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07791" y="4476750"/>
            <a:ext cx="68392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5814041" y="26987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788641" y="33210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5400000">
            <a:off x="5712441" y="32766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1898" y="33210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56498" y="39433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rot="5400000">
            <a:off x="7080298" y="3898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3" name="Shape 31"/>
          <p:cNvSpPr/>
          <p:nvPr/>
        </p:nvSpPr>
        <p:spPr>
          <a:xfrm>
            <a:off x="8207791" y="39433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82391" y="45656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5400000">
            <a:off x="8106191" y="45212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Marginal histograms — distribution beside the relationship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5168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48945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4005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7211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632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295275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28638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21844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2095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9208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3305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7402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1499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5596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25648" y="2184400"/>
            <a:ext cx="0" cy="30734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930498" y="2072640"/>
            <a:ext cx="692150" cy="7366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1" name="Shape 19"/>
          <p:cNvSpPr/>
          <p:nvPr/>
        </p:nvSpPr>
        <p:spPr>
          <a:xfrm>
            <a:off x="463534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2" name="Shape 20"/>
          <p:cNvSpPr/>
          <p:nvPr/>
        </p:nvSpPr>
        <p:spPr>
          <a:xfrm>
            <a:off x="534019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3" name="Shape 21"/>
          <p:cNvSpPr/>
          <p:nvPr/>
        </p:nvSpPr>
        <p:spPr>
          <a:xfrm>
            <a:off x="6749898" y="2035810"/>
            <a:ext cx="692150" cy="11049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4" name="Shape 22"/>
          <p:cNvSpPr/>
          <p:nvPr/>
        </p:nvSpPr>
        <p:spPr>
          <a:xfrm>
            <a:off x="7454748" y="1925320"/>
            <a:ext cx="692150" cy="22098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5" name="Shape 23"/>
          <p:cNvSpPr/>
          <p:nvPr/>
        </p:nvSpPr>
        <p:spPr>
          <a:xfrm>
            <a:off x="8159598" y="1814830"/>
            <a:ext cx="692150" cy="33147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6" name="Shape 24"/>
          <p:cNvSpPr/>
          <p:nvPr/>
        </p:nvSpPr>
        <p:spPr>
          <a:xfrm>
            <a:off x="8902548" y="4873625"/>
            <a:ext cx="32226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7" name="Shape 25"/>
          <p:cNvSpPr/>
          <p:nvPr/>
        </p:nvSpPr>
        <p:spPr>
          <a:xfrm>
            <a:off x="8902548" y="4489450"/>
            <a:ext cx="368300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8" name="Shape 26"/>
          <p:cNvSpPr/>
          <p:nvPr/>
        </p:nvSpPr>
        <p:spPr>
          <a:xfrm>
            <a:off x="8902548" y="4105275"/>
            <a:ext cx="32226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9" name="Shape 27"/>
          <p:cNvSpPr/>
          <p:nvPr/>
        </p:nvSpPr>
        <p:spPr>
          <a:xfrm>
            <a:off x="8902548" y="3721100"/>
            <a:ext cx="276225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0" name="Shape 28"/>
          <p:cNvSpPr/>
          <p:nvPr/>
        </p:nvSpPr>
        <p:spPr>
          <a:xfrm>
            <a:off x="8902548" y="3336925"/>
            <a:ext cx="276225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1" name="Shape 29"/>
          <p:cNvSpPr/>
          <p:nvPr/>
        </p:nvSpPr>
        <p:spPr>
          <a:xfrm>
            <a:off x="8902548" y="2952750"/>
            <a:ext cx="13811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2" name="Shape 30"/>
          <p:cNvSpPr/>
          <p:nvPr/>
        </p:nvSpPr>
        <p:spPr>
          <a:xfrm>
            <a:off x="8902548" y="2568575"/>
            <a:ext cx="13811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3" name="Shape 31"/>
          <p:cNvSpPr/>
          <p:nvPr/>
        </p:nvSpPr>
        <p:spPr>
          <a:xfrm>
            <a:off x="4456278" y="514286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949673" y="472027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43068" y="42976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36463" y="487394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79188" y="44513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72583" y="502761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865978" y="46050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08703" y="418242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302098" y="475869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795493" y="433609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738218" y="49123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231613" y="448976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725008" y="506603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667733" y="464343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161128" y="422084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54523" y="479710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97248" y="43745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090643" y="495077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84038" y="45281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526763" y="510444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020158" y="468185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513553" y="42592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473923" y="27609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826348" y="395192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064223" y="383667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416648" y="372141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769073" y="360616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121498" y="349091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473923" y="33756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826348" y="326040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064223" y="314515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416648" y="302990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769073" y="29146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121498" y="279939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473923" y="399034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826348" y="387508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064223" y="375983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416648" y="364458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769073" y="352933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121498" y="341407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524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Overlap relief — markers nudged along Y only, by a disclosed cap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4876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4513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3624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9370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848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34226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33337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29083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2819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25648" y="23939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93848" y="23050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25648" y="18796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93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9208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4384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561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4737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9914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25648" y="1879600"/>
            <a:ext cx="0" cy="30861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24382" y="1874591"/>
            <a:ext cx="621066" cy="62106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24382" y="1703141"/>
            <a:ext cx="62106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8083622" y="2056497"/>
            <a:ext cx="439160" cy="43916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83622" y="1794094"/>
            <a:ext cx="43916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8714969" y="2021109"/>
            <a:ext cx="555498" cy="55549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65837" y="4318908"/>
            <a:ext cx="519621" cy="519621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045888" y="1629240"/>
            <a:ext cx="500719" cy="500719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88640" y="4622292"/>
            <a:ext cx="481075" cy="4810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47115" y="3809573"/>
            <a:ext cx="460595" cy="46059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924903" y="2380110"/>
            <a:ext cx="439160" cy="4391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93218" y="4073572"/>
            <a:ext cx="416623" cy="41662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72202" y="1838884"/>
            <a:ext cx="392796" cy="39279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510858" y="436880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Alfa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741928" y="41763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Charlie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819248" y="5187950"/>
            <a:ext cx="6553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 positions approximate: markers spread by up to ±3.0 to reduce overlap</a:t>
            </a:r>
            <a:endParaRPr lang="en-US" sz="85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524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Shape per group — the split survives greyscale and color blindness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4876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0132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3924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060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2971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21082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9208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13496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34908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56320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7732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9914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25648" y="2108200"/>
            <a:ext cx="0" cy="28575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25648" y="1955800"/>
            <a:ext cx="88900" cy="889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3352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010508" y="1944540"/>
            <a:ext cx="111420" cy="111420"/>
          </a:xfrm>
          <a:prstGeom prst="diamond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4160027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17887" y="1944540"/>
            <a:ext cx="111420" cy="111420"/>
          </a:xfrm>
          <a:prstGeom prst="triangle">
            <a:avLst/>
          </a:prstGeom>
          <a:solidFill>
            <a:srgbClr val="EDA100"/>
          </a:solidFill>
          <a:ln/>
        </p:spPr>
      </p:sp>
      <p:sp>
        <p:nvSpPr>
          <p:cNvPr id="24" name="Text 22"/>
          <p:cNvSpPr/>
          <p:nvPr/>
        </p:nvSpPr>
        <p:spPr>
          <a:xfrm>
            <a:off x="4967407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916020" y="44513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80256" y="392747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23080" y="468947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98138" y="41656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848960" y="3251074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73902" y="3584449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31078" y="2917699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16726" y="3441574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670140" y="244144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95082" y="272719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912964" y="206044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337906" y="234619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017620" y="4406900"/>
            <a:ext cx="6426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Northwind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381856" y="388302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24680" y="4645025"/>
            <a:ext cx="4368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199738" y="412115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960212" y="32162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Umbra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385154" y="354965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142330" y="2882900"/>
            <a:ext cx="5740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Vandelay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380328" y="32607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Hooli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781392" y="24066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Stark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206334" y="26924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Wayne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7742276" y="2171700"/>
            <a:ext cx="4368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Tyrell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449158" y="2311400"/>
            <a:ext cx="6426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Cyberdyne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2819248" y="5187950"/>
            <a:ext cx="6553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Groups: challengers, contenders, leaders.</a:t>
            </a:r>
            <a:endParaRPr lang="en-US" sz="85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524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Benchmark markers — consensus per quarter, on the columns' own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94624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3943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2581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78446" y="3677073"/>
            <a:ext cx="928793" cy="142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27646" y="4295987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78446" y="3064933"/>
            <a:ext cx="928793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27646" y="3275753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946248" y="2531533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1636" y="3524038"/>
            <a:ext cx="928793" cy="158136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0836" y="4219469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1636" y="2809875"/>
            <a:ext cx="928793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20836" y="3071707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39438" y="2486025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64826" y="3575050"/>
            <a:ext cx="92879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14026" y="4244975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64826" y="2707852"/>
            <a:ext cx="928793" cy="86719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14026" y="3046201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23702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58016" y="3268980"/>
            <a:ext cx="928793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07216" y="4091940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58016" y="2503805"/>
            <a:ext cx="928793" cy="76517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07216" y="2791143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125818" y="2179955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946248" y="5105400"/>
            <a:ext cx="5572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69808" y="2800668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69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02203" y="2922270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61843" y="275336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995393" y="2820247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55033" y="26513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88583" y="2514177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48223" y="234526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81773" y="2565188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41413" y="239627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69808" y="2402628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Consensus</a:t>
            </a:r>
            <a:endParaRPr lang="en-US" sz="10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Bridge with “of which” detail columns — the walk steps over them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56524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44472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32419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20367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Labour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Freight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96262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Energy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84209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72157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1827" y="2353056"/>
            <a:ext cx="586317" cy="27523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2635627" y="36339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8143" y="2353056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3591302" y="1905000"/>
            <a:ext cx="586317" cy="4480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515102" y="20337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77618" y="1905000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4470777" y="1905000"/>
            <a:ext cx="586317" cy="38404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4394577" y="2001774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57093" y="2289048"/>
            <a:ext cx="293158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0" name="Shape 18"/>
          <p:cNvSpPr/>
          <p:nvPr/>
        </p:nvSpPr>
        <p:spPr>
          <a:xfrm>
            <a:off x="5350252" y="1905000"/>
            <a:ext cx="586317" cy="22402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1" name="Text 19"/>
          <p:cNvSpPr/>
          <p:nvPr/>
        </p:nvSpPr>
        <p:spPr>
          <a:xfrm>
            <a:off x="5274052" y="1921764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29727" y="2129028"/>
            <a:ext cx="586317" cy="9601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53527" y="19448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109202" y="2225040"/>
            <a:ext cx="586317" cy="6400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5" name="Text 23"/>
          <p:cNvSpPr/>
          <p:nvPr/>
        </p:nvSpPr>
        <p:spPr>
          <a:xfrm>
            <a:off x="7033002" y="2040890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988677" y="2289048"/>
            <a:ext cx="586317" cy="128016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7" name="Text 25"/>
          <p:cNvSpPr/>
          <p:nvPr/>
        </p:nvSpPr>
        <p:spPr>
          <a:xfrm>
            <a:off x="7912477" y="210489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574993" y="2417064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9" name="Shape 27"/>
          <p:cNvSpPr/>
          <p:nvPr/>
        </p:nvSpPr>
        <p:spPr>
          <a:xfrm>
            <a:off x="8868152" y="2417064"/>
            <a:ext cx="586317" cy="2688336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0" name="Text 28"/>
          <p:cNvSpPr/>
          <p:nvPr/>
        </p:nvSpPr>
        <p:spPr>
          <a:xfrm>
            <a:off x="8791952" y="3665982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65248" y="5105400"/>
            <a:ext cx="7035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651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grouped into owner lanes — dependencies follow their rows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72650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4" name="Shape 2"/>
          <p:cNvSpPr/>
          <p:nvPr/>
        </p:nvSpPr>
        <p:spPr>
          <a:xfrm>
            <a:off x="5032676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5" name="Shape 3"/>
          <p:cNvSpPr/>
          <p:nvPr/>
        </p:nvSpPr>
        <p:spPr>
          <a:xfrm>
            <a:off x="6092703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6" name="Shape 4"/>
          <p:cNvSpPr/>
          <p:nvPr/>
        </p:nvSpPr>
        <p:spPr>
          <a:xfrm>
            <a:off x="7152730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7" name="Shape 5"/>
          <p:cNvSpPr/>
          <p:nvPr/>
        </p:nvSpPr>
        <p:spPr>
          <a:xfrm>
            <a:off x="8212756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8" name="Shape 6"/>
          <p:cNvSpPr/>
          <p:nvPr/>
        </p:nvSpPr>
        <p:spPr>
          <a:xfrm>
            <a:off x="9272783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321548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1068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75514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70714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335541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30741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39556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9076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455594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50794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515621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10821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57564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7084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539848" y="2146300"/>
            <a:ext cx="7112000" cy="402771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4" name="Text 22"/>
          <p:cNvSpPr/>
          <p:nvPr/>
        </p:nvSpPr>
        <p:spPr>
          <a:xfrm>
            <a:off x="2539848" y="2252436"/>
            <a:ext cx="7112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5514" y="2312126"/>
            <a:ext cx="318008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6" name="Shape 24"/>
          <p:cNvSpPr/>
          <p:nvPr/>
        </p:nvSpPr>
        <p:spPr>
          <a:xfrm>
            <a:off x="4275514" y="2312126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455594" y="2312126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66848" y="2680607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15488" y="2561771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275514" y="2686957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275514" y="2686957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Jan–12 Jan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666848" y="3108779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215488" y="2989943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95568" y="3115129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6395568" y="3115129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Jan–26 Jan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539848" y="3430814"/>
            <a:ext cx="7112000" cy="402771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2539848" y="3536950"/>
            <a:ext cx="7112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335541" y="3596640"/>
            <a:ext cx="3634377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9" name="Shape 37"/>
          <p:cNvSpPr/>
          <p:nvPr/>
        </p:nvSpPr>
        <p:spPr>
          <a:xfrm>
            <a:off x="5335541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969918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66848" y="3965121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15488" y="3846286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335541" y="3971471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Text 42"/>
          <p:cNvSpPr/>
          <p:nvPr/>
        </p:nvSpPr>
        <p:spPr>
          <a:xfrm>
            <a:off x="5335541" y="3971471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Jan–19 Jan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666848" y="4393293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215488" y="4274457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455594" y="4399643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Text 46"/>
          <p:cNvSpPr/>
          <p:nvPr/>
        </p:nvSpPr>
        <p:spPr>
          <a:xfrm>
            <a:off x="7455594" y="4399643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 Feb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2666848" y="4821464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Handover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15488" y="4702629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515621" y="4827814"/>
            <a:ext cx="45429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395568" y="3204029"/>
            <a:ext cx="0" cy="856343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370168" y="3204029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rot="5400000">
            <a:off x="6293968" y="3159579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5" name="Shape 53"/>
          <p:cNvSpPr/>
          <p:nvPr/>
        </p:nvSpPr>
        <p:spPr>
          <a:xfrm>
            <a:off x="5335541" y="2775857"/>
            <a:ext cx="0" cy="1284514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310141" y="4060371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rot="5400000">
            <a:off x="5233941" y="4015921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8" name="Shape 56"/>
          <p:cNvSpPr/>
          <p:nvPr/>
        </p:nvSpPr>
        <p:spPr>
          <a:xfrm>
            <a:off x="7455594" y="3204029"/>
            <a:ext cx="0" cy="1284514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430194" y="448854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rot="5400000">
            <a:off x="7353994" y="444409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1" name="Shape 59"/>
          <p:cNvSpPr/>
          <p:nvPr/>
        </p:nvSpPr>
        <p:spPr>
          <a:xfrm>
            <a:off x="8515621" y="4488543"/>
            <a:ext cx="0" cy="428171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490221" y="4916714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rot="5400000">
            <a:off x="8414021" y="4872264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121</Slides>
  <Notes>121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121</vt:i4>
      </vt:variant>
    </vt:vector>
  </HeadingPairs>
  <TitlesOfParts>
    <vt:vector size="1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2026-07-21T15:46:34Z</dcterms:created>
  <dcterms:modified xsi:type="dcterms:W3CDTF">2026-07-21T15:46:34Z</dcterms:modified>
</cp:coreProperties>
</file>
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</p:sldIdLst>
  <p:notesMasterIdLst>
    <p:notesMasterId r:id="rId12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notesMaster" Target="notesMasters/notesMaster1.xml"/><Relationship Id="rId124" Type="http://schemas.openxmlformats.org/officeDocument/2006/relationships/presProps" Target="presProps.xml"/><Relationship Id="rId125" Type="http://schemas.openxmlformats.org/officeDocument/2006/relationships/viewProps" Target="viewProps.xml"/><Relationship Id="rId126" Type="http://schemas.openxmlformats.org/officeDocument/2006/relationships/theme" Target="theme/theme1.xml"/><Relationship Id="rId1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— Revenue by segment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4059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3552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2027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— Sales by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45339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065145"/>
            <a:ext cx="453390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399002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45339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177003" y="2905125"/>
            <a:ext cx="453390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5126203" y="3910013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453390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75273" y="2785110"/>
            <a:ext cx="453390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524473" y="385000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45339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973543" y="2305050"/>
            <a:ext cx="453390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922743" y="3609975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— Channel mix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8579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98338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10883" y="5143500"/>
            <a:ext cx="131254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2005" y="3345180"/>
            <a:ext cx="87503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1205" y="413004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2005" y="2385060"/>
            <a:ext cx="875030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1205" y="276987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9200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4120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604550" y="3537204"/>
            <a:ext cx="875030" cy="156819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53750" y="422605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04550" y="2385060"/>
            <a:ext cx="875030" cy="115214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53750" y="286588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60455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5375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17095" y="3697224"/>
            <a:ext cx="875030" cy="140817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6295" y="430606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917095" y="2385060"/>
            <a:ext cx="875030" cy="131216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66295" y="2945892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917095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66295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229640" y="3889248"/>
            <a:ext cx="875030" cy="121615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78840" y="440207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229640" y="2385060"/>
            <a:ext cx="875030" cy="15041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78840" y="3041904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229640" y="1905000"/>
            <a:ext cx="875030" cy="48006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78840" y="2049780"/>
            <a:ext cx="97663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2501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74228" y="205930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74228" y="305142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74228" y="4411599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— EBITDA bridge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3270504"/>
            <a:ext cx="668867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40927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3270504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971800"/>
            <a:ext cx="668867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302590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779776"/>
            <a:ext cx="668867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78053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779776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779776"/>
            <a:ext cx="668867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812542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3035808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3035808"/>
            <a:ext cx="668867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851658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3121152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3121152"/>
            <a:ext cx="668867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4018026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575050"/>
            <a:ext cx="1632527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244975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554817"/>
            <a:ext cx="1632527" cy="10202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969683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073248" y="2044700"/>
            <a:ext cx="1632527" cy="510117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2204508"/>
            <a:ext cx="16833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22448" y="186055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31175" y="3575050"/>
            <a:ext cx="213783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05775" y="4244975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31175" y="2740314"/>
            <a:ext cx="2137833" cy="83473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5775" y="3062432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31175" y="2044700"/>
            <a:ext cx="2137833" cy="69561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705775" y="2297257"/>
            <a:ext cx="218863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680375" y="186055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894408" y="4318363"/>
            <a:ext cx="1360439" cy="7870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69008" y="4616631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894408" y="3356429"/>
            <a:ext cx="1360439" cy="96193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869008" y="3742146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894408" y="2044700"/>
            <a:ext cx="1360439" cy="131172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69008" y="2605314"/>
            <a:ext cx="141123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43608" y="186055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— Revenue by region and segment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22448" y="5143500"/>
            <a:ext cx="1734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(32%)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680375" y="5143500"/>
            <a:ext cx="22394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(42%)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843608" y="5143500"/>
            <a:ext cx="146203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(27%)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05648" y="261483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305648" y="375167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305648" y="462615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Line — Gross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— Active users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672279"/>
            <a:ext cx="56159" cy="433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027551" y="4659478"/>
            <a:ext cx="56159" cy="4459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077360" y="4646676"/>
            <a:ext cx="56159" cy="4587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127170" y="4633874"/>
            <a:ext cx="56159" cy="47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4176979" y="4621073"/>
            <a:ext cx="56159" cy="4843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4226789" y="4608271"/>
            <a:ext cx="56159" cy="497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4276598" y="4595470"/>
            <a:ext cx="56159" cy="5099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4326407" y="4582668"/>
            <a:ext cx="56159" cy="5227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376217" y="4569866"/>
            <a:ext cx="56159" cy="5355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426026" y="4557065"/>
            <a:ext cx="56159" cy="5483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475836" y="4544263"/>
            <a:ext cx="56159" cy="561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525645" y="4531462"/>
            <a:ext cx="56159" cy="5739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575454" y="4518660"/>
            <a:ext cx="56159" cy="5867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625264" y="4505858"/>
            <a:ext cx="56159" cy="599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675073" y="4493057"/>
            <a:ext cx="56159" cy="612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724883" y="4480255"/>
            <a:ext cx="56159" cy="625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774692" y="4467454"/>
            <a:ext cx="56159" cy="6379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824501" y="4454652"/>
            <a:ext cx="56159" cy="650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874311" y="4441850"/>
            <a:ext cx="56159" cy="663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924120" y="4429049"/>
            <a:ext cx="56159" cy="6763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973930" y="4415714"/>
            <a:ext cx="56159" cy="6896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5023739" y="4401845"/>
            <a:ext cx="56159" cy="7035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5073548" y="4387977"/>
            <a:ext cx="56159" cy="7174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5123358" y="4374109"/>
            <a:ext cx="56159" cy="7312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73167" y="4360240"/>
            <a:ext cx="56159" cy="745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222977" y="4346372"/>
            <a:ext cx="56159" cy="7590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272786" y="4332503"/>
            <a:ext cx="56159" cy="7728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5322595" y="4318635"/>
            <a:ext cx="56159" cy="7867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372405" y="4304767"/>
            <a:ext cx="56159" cy="800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422214" y="4290898"/>
            <a:ext cx="56159" cy="8145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472024" y="4277030"/>
            <a:ext cx="56159" cy="8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521833" y="4263161"/>
            <a:ext cx="56159" cy="842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571642" y="4249293"/>
            <a:ext cx="56159" cy="856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621452" y="4235425"/>
            <a:ext cx="56159" cy="8699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671261" y="4221556"/>
            <a:ext cx="56159" cy="8838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721071" y="4207688"/>
            <a:ext cx="56159" cy="8977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770880" y="4193819"/>
            <a:ext cx="56159" cy="9115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820689" y="4179951"/>
            <a:ext cx="56159" cy="9254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870499" y="4166083"/>
            <a:ext cx="56159" cy="9393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920308" y="4152214"/>
            <a:ext cx="56159" cy="953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970118" y="4137279"/>
            <a:ext cx="56159" cy="96812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6019927" y="4121277"/>
            <a:ext cx="56159" cy="9841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6069736" y="4105275"/>
            <a:ext cx="56159" cy="10001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6119546" y="4089273"/>
            <a:ext cx="56159" cy="10161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169355" y="4073271"/>
            <a:ext cx="56159" cy="103212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6219165" y="4057269"/>
            <a:ext cx="56159" cy="10481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6268974" y="4041267"/>
            <a:ext cx="56159" cy="1064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318783" y="4025265"/>
            <a:ext cx="56159" cy="10801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368593" y="4009263"/>
            <a:ext cx="56159" cy="109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418402" y="3993261"/>
            <a:ext cx="56159" cy="11121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468212" y="3977259"/>
            <a:ext cx="56159" cy="1128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518021" y="3961257"/>
            <a:ext cx="56159" cy="11441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567830" y="3945255"/>
            <a:ext cx="56159" cy="116014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617640" y="3929253"/>
            <a:ext cx="56159" cy="11761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667449" y="3913251"/>
            <a:ext cx="56159" cy="11921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717259" y="3897249"/>
            <a:ext cx="56159" cy="12081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767068" y="3881247"/>
            <a:ext cx="56159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816877" y="3865245"/>
            <a:ext cx="56159" cy="124015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866687" y="3849243"/>
            <a:ext cx="56159" cy="1256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916496" y="3833241"/>
            <a:ext cx="56159" cy="127215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966306" y="3817772"/>
            <a:ext cx="56159" cy="12876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7016115" y="3802837"/>
            <a:ext cx="56159" cy="13025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7065924" y="3787902"/>
            <a:ext cx="56159" cy="13174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7115734" y="3772967"/>
            <a:ext cx="56159" cy="13324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7165543" y="3758032"/>
            <a:ext cx="56159" cy="13473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7215353" y="3743096"/>
            <a:ext cx="56159" cy="13623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7265162" y="3728161"/>
            <a:ext cx="56159" cy="137723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7314971" y="3713226"/>
            <a:ext cx="56159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364781" y="3698291"/>
            <a:ext cx="56159" cy="140710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414590" y="3683356"/>
            <a:ext cx="56159" cy="14220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464400" y="3668420"/>
            <a:ext cx="56159" cy="14369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514209" y="3653485"/>
            <a:ext cx="56159" cy="14519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564018" y="3638550"/>
            <a:ext cx="56159" cy="14668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613828" y="3623615"/>
            <a:ext cx="56159" cy="14817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663637" y="3608680"/>
            <a:ext cx="56159" cy="149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713447" y="3593744"/>
            <a:ext cx="56159" cy="1511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763256" y="3578809"/>
            <a:ext cx="56159" cy="15265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813065" y="3563874"/>
            <a:ext cx="56159" cy="15415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862875" y="3548939"/>
            <a:ext cx="56159" cy="15564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912684" y="3534004"/>
            <a:ext cx="56159" cy="15713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3977742" y="3924452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4027551" y="3909517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4077360" y="3894582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4127170" y="3879647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4176979" y="3864712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4226789" y="3849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4276598" y="3834841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326407" y="3819906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376217" y="380497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426026" y="3790036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475836" y="3775100"/>
            <a:ext cx="56159" cy="7691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525645" y="3760165"/>
            <a:ext cx="56159" cy="7712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575454" y="3745230"/>
            <a:ext cx="56159" cy="7734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625264" y="3730295"/>
            <a:ext cx="56159" cy="7755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675073" y="3715360"/>
            <a:ext cx="56159" cy="7776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724883" y="3700424"/>
            <a:ext cx="56159" cy="7798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4774692" y="3685489"/>
            <a:ext cx="56159" cy="7819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4824501" y="3670554"/>
            <a:ext cx="56159" cy="7840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4874311" y="3655619"/>
            <a:ext cx="56159" cy="7862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4924120" y="3640684"/>
            <a:ext cx="56159" cy="7883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4973930" y="3626815"/>
            <a:ext cx="56159" cy="7888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023739" y="3614014"/>
            <a:ext cx="56159" cy="7878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073548" y="3601212"/>
            <a:ext cx="56159" cy="7867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123358" y="3588410"/>
            <a:ext cx="56159" cy="7856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173167" y="3575609"/>
            <a:ext cx="56159" cy="7846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5222977" y="3562807"/>
            <a:ext cx="56159" cy="783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5272786" y="3550006"/>
            <a:ext cx="56159" cy="78249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5322595" y="3537204"/>
            <a:ext cx="56159" cy="7814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5372405" y="3524402"/>
            <a:ext cx="56159" cy="7803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422214" y="3511601"/>
            <a:ext cx="56159" cy="7792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472024" y="3498799"/>
            <a:ext cx="56159" cy="778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521833" y="3485998"/>
            <a:ext cx="56159" cy="77716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5571642" y="3473196"/>
            <a:ext cx="56159" cy="776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5621452" y="3460394"/>
            <a:ext cx="56159" cy="7750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5671261" y="3447593"/>
            <a:ext cx="56159" cy="7739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5721071" y="3434791"/>
            <a:ext cx="56159" cy="7728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770880" y="3421990"/>
            <a:ext cx="56159" cy="77183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5820689" y="3409188"/>
            <a:ext cx="56159" cy="77076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5870499" y="3396386"/>
            <a:ext cx="56159" cy="7696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5920308" y="3383585"/>
            <a:ext cx="56159" cy="768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970118" y="3370250"/>
            <a:ext cx="56159" cy="7670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019927" y="3356381"/>
            <a:ext cx="56159" cy="7648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6069736" y="3342513"/>
            <a:ext cx="56159" cy="76276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6119546" y="3328645"/>
            <a:ext cx="56159" cy="7606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6169355" y="3314776"/>
            <a:ext cx="56159" cy="7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219165" y="3300908"/>
            <a:ext cx="56159" cy="7563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6268974" y="3287039"/>
            <a:ext cx="56159" cy="75422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6318783" y="3273171"/>
            <a:ext cx="56159" cy="752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6368593" y="3259303"/>
            <a:ext cx="56159" cy="7499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6418402" y="3245434"/>
            <a:ext cx="56159" cy="74782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6468212" y="3231566"/>
            <a:ext cx="56159" cy="7456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518021" y="3217697"/>
            <a:ext cx="56159" cy="7435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6567830" y="3203829"/>
            <a:ext cx="56159" cy="7414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6617640" y="3189961"/>
            <a:ext cx="56159" cy="7392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6667449" y="3176092"/>
            <a:ext cx="56159" cy="7371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6717259" y="3162224"/>
            <a:ext cx="56159" cy="7350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6767068" y="3148355"/>
            <a:ext cx="56159" cy="73289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6816877" y="3134487"/>
            <a:ext cx="56159" cy="7307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6866687" y="3120619"/>
            <a:ext cx="56159" cy="7286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6916496" y="3106750"/>
            <a:ext cx="56159" cy="72649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966306" y="3094482"/>
            <a:ext cx="56159" cy="723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016115" y="3083814"/>
            <a:ext cx="56159" cy="7190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7065924" y="3073146"/>
            <a:ext cx="56159" cy="71475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7115734" y="3062478"/>
            <a:ext cx="56159" cy="7104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7165543" y="3051810"/>
            <a:ext cx="56159" cy="70622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7215353" y="3041142"/>
            <a:ext cx="56159" cy="70195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7265162" y="3030474"/>
            <a:ext cx="56159" cy="6976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7314971" y="3019806"/>
            <a:ext cx="56159" cy="6934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7364781" y="3009138"/>
            <a:ext cx="56159" cy="6891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7414590" y="2998470"/>
            <a:ext cx="56159" cy="68488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7464400" y="2987802"/>
            <a:ext cx="56159" cy="6806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514209" y="2977134"/>
            <a:ext cx="56159" cy="6763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7564018" y="2966466"/>
            <a:ext cx="56159" cy="6720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7613828" y="2955798"/>
            <a:ext cx="56159" cy="6678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7663637" y="2945130"/>
            <a:ext cx="56159" cy="6635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7713447" y="2934462"/>
            <a:ext cx="56159" cy="65928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7763256" y="2923794"/>
            <a:ext cx="56159" cy="6550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7813065" y="2913126"/>
            <a:ext cx="56159" cy="65074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7862875" y="2902458"/>
            <a:ext cx="56159" cy="64648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7912684" y="2891790"/>
            <a:ext cx="56159" cy="64221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177" name="Text 175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— Headcount by age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4709" y="2140373"/>
            <a:ext cx="124348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4604709" y="226187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343498" y="2140373"/>
            <a:ext cx="112506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6343498" y="226187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42178" y="2790613"/>
            <a:ext cx="1806019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042178" y="291211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3498" y="2790613"/>
            <a:ext cx="1924447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6343498" y="291211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49426" y="3440853"/>
            <a:ext cx="159877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249426" y="356235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343498" y="3440853"/>
            <a:ext cx="1776413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" name="Text 17"/>
          <p:cNvSpPr/>
          <p:nvPr/>
        </p:nvSpPr>
        <p:spPr>
          <a:xfrm>
            <a:off x="6343498" y="356235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900778" y="4091093"/>
            <a:ext cx="947420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900778" y="421259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343498" y="4091093"/>
            <a:ext cx="1213882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6343498" y="421259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492915" y="4741333"/>
            <a:ext cx="355282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5492915" y="486283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343498" y="4741333"/>
            <a:ext cx="473710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9" name="Text 27"/>
          <p:cNvSpPr/>
          <p:nvPr/>
        </p:nvSpPr>
        <p:spPr>
          <a:xfrm>
            <a:off x="6343498" y="486283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Price vs. margin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— Market map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" name="Text 25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417950" y="2120688"/>
            <a:ext cx="573498" cy="573498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17950" y="1949238"/>
            <a:ext cx="573498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910825" y="2288662"/>
            <a:ext cx="405524" cy="405524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910825" y="2033225"/>
            <a:ext cx="40552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5988914" y="3528822"/>
            <a:ext cx="544068" cy="544068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85141" y="2472809"/>
            <a:ext cx="479823" cy="479823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78004" y="4011361"/>
            <a:ext cx="425318" cy="425318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36604" y="2833624"/>
            <a:ext cx="362712" cy="362712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647565" y="3147597"/>
            <a:ext cx="339286" cy="339286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160561" y="1964825"/>
            <a:ext cx="286749" cy="286749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454565" y="4898839"/>
            <a:ext cx="222115" cy="22211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223360" y="4435602"/>
            <a:ext cx="181356" cy="18135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58382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72323" y="2978031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028721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5424716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7012251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119785" y="22769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5702080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4430116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Programme plan (weeks)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65490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35010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45915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435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26340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95860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2364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Scoping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015757" y="224282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8867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54908" y="265684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4737456" y="289306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3–6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739994" y="290195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35369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4908" y="330708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5459154" y="3543300"/>
            <a:ext cx="216509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047848" y="41871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Test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54908" y="395732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4"/>
          <p:cNvSpPr/>
          <p:nvPr/>
        </p:nvSpPr>
        <p:spPr>
          <a:xfrm>
            <a:off x="7263401" y="4193540"/>
            <a:ext cx="108254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10–13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265939" y="420243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28" name="Text 26"/>
          <p:cNvSpPr/>
          <p:nvPr/>
        </p:nvSpPr>
        <p:spPr>
          <a:xfrm>
            <a:off x="3047848" y="48374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Rollout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654908" y="4607560"/>
            <a:ext cx="541274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8345949" y="4843780"/>
            <a:ext cx="721699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13–15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987638" y="485267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— Revenue and margin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314604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83997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032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20747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6782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07613" y="412610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57093" y="394703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3738093" y="4064762"/>
            <a:ext cx="1329690" cy="9182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37303" y="4034282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86783" y="385521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5067783" y="3942334"/>
            <a:ext cx="1329690" cy="12242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366993" y="391185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016473" y="373278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6397473" y="3728085"/>
            <a:ext cx="1329690" cy="21424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696683" y="3697605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46163" y="3518535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442808" y="3524885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Pie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30589" y="2917318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739821" y="4391153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21218" y="318491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Doughnut — Revenue split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5900" y="0"/>
                </a:moveTo>
                <a:lnTo>
                  <a:pt x="1637972" y="7802"/>
                </a:lnTo>
                <a:lnTo>
                  <a:pt x="1788447" y="31127"/>
                </a:lnTo>
                <a:lnTo>
                  <a:pt x="1935745" y="69730"/>
                </a:lnTo>
                <a:lnTo>
                  <a:pt x="2078318" y="123204"/>
                </a:lnTo>
                <a:lnTo>
                  <a:pt x="2214670" y="190990"/>
                </a:lnTo>
                <a:lnTo>
                  <a:pt x="2343369" y="272374"/>
                </a:lnTo>
                <a:lnTo>
                  <a:pt x="2463063" y="366502"/>
                </a:lnTo>
                <a:lnTo>
                  <a:pt x="2572495" y="472386"/>
                </a:lnTo>
                <a:lnTo>
                  <a:pt x="2670516" y="588914"/>
                </a:lnTo>
                <a:lnTo>
                  <a:pt x="2756096" y="714861"/>
                </a:lnTo>
                <a:lnTo>
                  <a:pt x="2828337" y="848906"/>
                </a:lnTo>
                <a:lnTo>
                  <a:pt x="2886480" y="989640"/>
                </a:lnTo>
                <a:lnTo>
                  <a:pt x="2929915" y="1135586"/>
                </a:lnTo>
                <a:lnTo>
                  <a:pt x="2958185" y="1285211"/>
                </a:lnTo>
                <a:lnTo>
                  <a:pt x="2970993" y="1436943"/>
                </a:lnTo>
                <a:lnTo>
                  <a:pt x="2968206" y="1589189"/>
                </a:lnTo>
                <a:lnTo>
                  <a:pt x="2949851" y="1740351"/>
                </a:lnTo>
                <a:lnTo>
                  <a:pt x="2916123" y="188884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290588" y="2621881"/>
            <a:ext cx="55687" cy="4216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61463" y="25151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29%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2916123" y="1888841"/>
                </a:moveTo>
                <a:lnTo>
                  <a:pt x="2868374" y="2030569"/>
                </a:lnTo>
                <a:lnTo>
                  <a:pt x="2806621" y="2166779"/>
                </a:lnTo>
                <a:lnTo>
                  <a:pt x="2731488" y="2296092"/>
                </a:lnTo>
                <a:lnTo>
                  <a:pt x="2643736" y="2417197"/>
                </a:lnTo>
                <a:lnTo>
                  <a:pt x="2544256" y="2528868"/>
                </a:lnTo>
                <a:lnTo>
                  <a:pt x="2434054" y="2629973"/>
                </a:lnTo>
                <a:lnTo>
                  <a:pt x="2314247" y="2719488"/>
                </a:lnTo>
                <a:lnTo>
                  <a:pt x="2186049" y="2796507"/>
                </a:lnTo>
                <a:lnTo>
                  <a:pt x="2050757" y="2860249"/>
                </a:lnTo>
                <a:lnTo>
                  <a:pt x="1909744" y="2910068"/>
                </a:lnTo>
                <a:lnTo>
                  <a:pt x="1764437" y="2945460"/>
                </a:lnTo>
                <a:lnTo>
                  <a:pt x="1616308" y="2966066"/>
                </a:lnTo>
                <a:lnTo>
                  <a:pt x="1466858" y="2971678"/>
                </a:lnTo>
                <a:lnTo>
                  <a:pt x="1317601" y="2962238"/>
                </a:lnTo>
                <a:lnTo>
                  <a:pt x="1170049" y="2937843"/>
                </a:lnTo>
                <a:lnTo>
                  <a:pt x="1025697" y="2898738"/>
                </a:lnTo>
                <a:lnTo>
                  <a:pt x="886007" y="2845321"/>
                </a:lnTo>
                <a:lnTo>
                  <a:pt x="752393" y="2778133"/>
                </a:lnTo>
                <a:lnTo>
                  <a:pt x="626211" y="2697854"/>
                </a:lnTo>
                <a:lnTo>
                  <a:pt x="508737" y="2605298"/>
                </a:lnTo>
                <a:lnTo>
                  <a:pt x="401163" y="2501402"/>
                </a:lnTo>
                <a:lnTo>
                  <a:pt x="304577" y="2387218"/>
                </a:lnTo>
                <a:lnTo>
                  <a:pt x="219958" y="2263904"/>
                </a:lnTo>
                <a:lnTo>
                  <a:pt x="148164" y="2132708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227370" y="5061517"/>
            <a:ext cx="6130" cy="6958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235172" y="5054824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148164" y="2132708"/>
                </a:moveTo>
                <a:lnTo>
                  <a:pt x="88992" y="1992403"/>
                </a:lnTo>
                <a:lnTo>
                  <a:pt x="44489" y="1846779"/>
                </a:lnTo>
                <a:lnTo>
                  <a:pt x="15124" y="1697366"/>
                </a:lnTo>
                <a:lnTo>
                  <a:pt x="1205" y="1545731"/>
                </a:lnTo>
                <a:lnTo>
                  <a:pt x="2878" y="1393468"/>
                </a:lnTo>
                <a:lnTo>
                  <a:pt x="20125" y="1242176"/>
                </a:lnTo>
                <a:lnTo>
                  <a:pt x="52765" y="1093444"/>
                </a:lnTo>
                <a:lnTo>
                  <a:pt x="100455" y="948833"/>
                </a:lnTo>
                <a:lnTo>
                  <a:pt x="162695" y="809862"/>
                </a:lnTo>
                <a:lnTo>
                  <a:pt x="238831" y="677990"/>
                </a:lnTo>
                <a:lnTo>
                  <a:pt x="328064" y="554603"/>
                </a:lnTo>
                <a:lnTo>
                  <a:pt x="429455" y="440997"/>
                </a:lnTo>
                <a:lnTo>
                  <a:pt x="541941" y="338363"/>
                </a:lnTo>
                <a:lnTo>
                  <a:pt x="664341" y="247781"/>
                </a:lnTo>
                <a:lnTo>
                  <a:pt x="795368" y="170201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06307" y="3077473"/>
            <a:ext cx="66336" cy="2187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988775" y="297625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24%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09948" y="2082800"/>
            <a:ext cx="2971800" cy="2971800"/>
          </a:xfrm>
          <a:custGeom>
            <a:avLst/>
            <a:gdLst/>
            <a:ahLst/>
            <a:cxnLst/>
            <a:rect l="l" t="t" r="r" b="b"/>
            <a:pathLst>
              <a:path w="2971800" h="2971800">
                <a:moveTo>
                  <a:pt x="795368" y="170201"/>
                </a:moveTo>
                <a:lnTo>
                  <a:pt x="925575" y="109697"/>
                </a:lnTo>
                <a:lnTo>
                  <a:pt x="1061013" y="62043"/>
                </a:lnTo>
                <a:lnTo>
                  <a:pt x="1200419" y="27682"/>
                </a:lnTo>
                <a:lnTo>
                  <a:pt x="1342490" y="6937"/>
                </a:lnTo>
                <a:lnTo>
                  <a:pt x="1485900" y="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lnTo>
                  <a:pt x="1485900" y="148590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20493" y="2045826"/>
            <a:ext cx="16716" cy="678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16494" y="193208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278603" y="2751455"/>
            <a:ext cx="1634490" cy="163449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5352898" y="3454400"/>
            <a:ext cx="14859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286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— Delivery days by region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81323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1323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007658" y="33985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00765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795401" y="382524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795401" y="4251960"/>
            <a:ext cx="77184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795401" y="406146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584673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584673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11008" y="25450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11008" y="446532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198751" y="3185160"/>
            <a:ext cx="771843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198751" y="361188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98751" y="342138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98802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8802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814358" y="36118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14358" y="489204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602101" y="403860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602101" y="446532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602101" y="427482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391373" y="297180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391373" y="42519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17708" y="297180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217708" y="4678680"/>
            <a:ext cx="34732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5451" y="3611880"/>
            <a:ext cx="77184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005451" y="4038600"/>
            <a:ext cx="77184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005451" y="3848100"/>
            <a:ext cx="77184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— Capability assessment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110380" y="2816860"/>
            <a:ext cx="1724568" cy="1422400"/>
          </a:xfrm>
          <a:custGeom>
            <a:avLst/>
            <a:gdLst/>
            <a:ahLst/>
            <a:cxnLst/>
            <a:rect l="l" t="t" r="r" b="b"/>
            <a:pathLst>
              <a:path w="1724568" h="1422400">
                <a:moveTo>
                  <a:pt x="985468" y="0"/>
                </a:moveTo>
                <a:lnTo>
                  <a:pt x="1478201" y="568960"/>
                </a:lnTo>
                <a:lnTo>
                  <a:pt x="1724568" y="1280160"/>
                </a:lnTo>
                <a:lnTo>
                  <a:pt x="985468" y="1422400"/>
                </a:lnTo>
                <a:lnTo>
                  <a:pt x="0" y="1422400"/>
                </a:lnTo>
                <a:lnTo>
                  <a:pt x="246367" y="426720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558101" y="33553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804468" y="406654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79900" y="420878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326267" y="3213100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864013" y="2532380"/>
            <a:ext cx="2217302" cy="1991360"/>
          </a:xfrm>
          <a:custGeom>
            <a:avLst/>
            <a:gdLst/>
            <a:ahLst/>
            <a:cxnLst/>
            <a:rect l="l" t="t" r="r" b="b"/>
            <a:pathLst>
              <a:path w="2217302" h="1991360">
                <a:moveTo>
                  <a:pt x="1231835" y="0"/>
                </a:moveTo>
                <a:lnTo>
                  <a:pt x="2217302" y="568960"/>
                </a:lnTo>
                <a:lnTo>
                  <a:pt x="2217302" y="1706880"/>
                </a:lnTo>
                <a:lnTo>
                  <a:pt x="1231835" y="1991360"/>
                </a:lnTo>
                <a:lnTo>
                  <a:pt x="0" y="1849120"/>
                </a:lnTo>
                <a:lnTo>
                  <a:pt x="246367" y="568960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065368" y="250190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65368" y="44932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Text 34"/>
          <p:cNvSpPr/>
          <p:nvPr/>
        </p:nvSpPr>
        <p:spPr>
          <a:xfrm>
            <a:off x="3174848" y="1803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67014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8" name="Text 36"/>
          <p:cNvSpPr/>
          <p:nvPr/>
        </p:nvSpPr>
        <p:spPr>
          <a:xfrm>
            <a:off x="379714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— Sales by region and quarter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solidFill>
            <a:srgbClr val="83A1E0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73367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solidFill>
            <a:srgbClr val="BECBEC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solidFill>
            <a:srgbClr val="C7D3EF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73367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473450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solidFill>
            <a:srgbClr val="E2E7F6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solidFill>
            <a:srgbClr val="D9E1F4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solidFill>
            <a:srgbClr val="C1CEED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473450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047848" y="4213225"/>
            <a:ext cx="393700" cy="7397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36" name="Text 34"/>
          <p:cNvSpPr/>
          <p:nvPr/>
        </p:nvSpPr>
        <p:spPr>
          <a:xfrm>
            <a:off x="349234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8" name="Text 36"/>
          <p:cNvSpPr/>
          <p:nvPr/>
        </p:nvSpPr>
        <p:spPr>
          <a:xfrm>
            <a:off x="489887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solidFill>
            <a:srgbClr val="E4EAF7"/>
          </a:solidFill>
          <a:ln/>
        </p:spPr>
      </p:sp>
      <p:sp>
        <p:nvSpPr>
          <p:cNvPr id="40" name="Text 38"/>
          <p:cNvSpPr/>
          <p:nvPr/>
        </p:nvSpPr>
        <p:spPr>
          <a:xfrm>
            <a:off x="6305398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42" name="Text 40"/>
          <p:cNvSpPr/>
          <p:nvPr/>
        </p:nvSpPr>
        <p:spPr>
          <a:xfrm>
            <a:off x="7711923" y="4213225"/>
            <a:ext cx="1393825" cy="7270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4" name="Shape 42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45" name="Shape 43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6" name="Shape 44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47" name="Shape 45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48" name="Shape 46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49" name="Shape 47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0" name="Shape 48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1" name="Shape 49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2" name="Shape 50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3" name="Shape 51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4" name="Shape 52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55" name="Shape 53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56" name="Shape 54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57" name="Shape 55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58" name="Shape 56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59" name="Shape 57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0" name="Shape 58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1" name="Shape 59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2" name="Shape 60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3" name="Shape 61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4" name="Shape 62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65" name="Shape 63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66" name="Shape 64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Text 65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850" dirty="0"/>
          </a:p>
        </p:txBody>
      </p:sp>
      <p:sp>
        <p:nvSpPr>
          <p:cNvPr id="68" name="Text 66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— Revenue by market (€m)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4107504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5710879" y="1828800"/>
            <a:ext cx="369094" cy="369094"/>
          </a:xfrm>
          <a:prstGeom prst="rect">
            <a:avLst/>
          </a:prstGeom>
          <a:solidFill>
            <a:srgbClr val="E4E9F7"/>
          </a:solidFill>
          <a:ln/>
        </p:spPr>
      </p:sp>
      <p:sp>
        <p:nvSpPr>
          <p:cNvPr id="6" name="Text 4"/>
          <p:cNvSpPr/>
          <p:nvPr/>
        </p:nvSpPr>
        <p:spPr>
          <a:xfrm>
            <a:off x="5710879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</a:t>
            </a:r>
            <a:endParaRPr lang="en-US" sz="988" dirty="0"/>
          </a:p>
        </p:txBody>
      </p:sp>
      <p:sp>
        <p:nvSpPr>
          <p:cNvPr id="7" name="Text 5"/>
          <p:cNvSpPr/>
          <p:nvPr/>
        </p:nvSpPr>
        <p:spPr>
          <a:xfrm>
            <a:off x="5710879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6111723" y="1828800"/>
            <a:ext cx="369094" cy="369094"/>
          </a:xfrm>
          <a:prstGeom prst="rect">
            <a:avLst/>
          </a:prstGeom>
          <a:solidFill>
            <a:srgbClr val="D3DCF2"/>
          </a:solidFill>
          <a:ln/>
        </p:spPr>
      </p:sp>
      <p:sp>
        <p:nvSpPr>
          <p:cNvPr id="9" name="Text 7"/>
          <p:cNvSpPr/>
          <p:nvPr/>
        </p:nvSpPr>
        <p:spPr>
          <a:xfrm>
            <a:off x="6111723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</a:t>
            </a:r>
            <a:endParaRPr lang="en-US" sz="988" dirty="0"/>
          </a:p>
        </p:txBody>
      </p:sp>
      <p:sp>
        <p:nvSpPr>
          <p:cNvPr id="10" name="Text 8"/>
          <p:cNvSpPr/>
          <p:nvPr/>
        </p:nvSpPr>
        <p:spPr>
          <a:xfrm>
            <a:off x="6111723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6512566" y="1828800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" name="Text 10"/>
          <p:cNvSpPr/>
          <p:nvPr/>
        </p:nvSpPr>
        <p:spPr>
          <a:xfrm>
            <a:off x="6512566" y="1854597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6512566" y="201334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5" name="Text 13"/>
          <p:cNvSpPr/>
          <p:nvPr/>
        </p:nvSpPr>
        <p:spPr>
          <a:xfrm>
            <a:off x="6913410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EE</a:t>
            </a:r>
            <a:endParaRPr lang="en-US" sz="988" dirty="0"/>
          </a:p>
        </p:txBody>
      </p:sp>
      <p:sp>
        <p:nvSpPr>
          <p:cNvPr id="16" name="Shape 14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IE</a:t>
            </a:r>
            <a:endParaRPr lang="en-US" sz="988" dirty="0"/>
          </a:p>
        </p:txBody>
      </p:sp>
      <p:sp>
        <p:nvSpPr>
          <p:cNvPr id="18" name="Shape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88A4E0"/>
          </a:solidFill>
          <a:ln/>
        </p:spPr>
      </p:sp>
      <p:sp>
        <p:nvSpPr>
          <p:cNvPr id="19" name="Text 17"/>
          <p:cNvSpPr/>
          <p:nvPr/>
        </p:nvSpPr>
        <p:spPr>
          <a:xfrm>
            <a:off x="4508348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GB</a:t>
            </a:r>
            <a:endParaRPr lang="en-US" sz="988" dirty="0"/>
          </a:p>
        </p:txBody>
      </p:sp>
      <p:sp>
        <p:nvSpPr>
          <p:cNvPr id="20" name="Text 18"/>
          <p:cNvSpPr/>
          <p:nvPr/>
        </p:nvSpPr>
        <p:spPr>
          <a:xfrm>
            <a:off x="4508348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112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NL</a:t>
            </a:r>
            <a:endParaRPr lang="en-US" sz="988" dirty="0"/>
          </a:p>
        </p:txBody>
      </p:sp>
      <p:sp>
        <p:nvSpPr>
          <p:cNvPr id="23" name="Text 21"/>
          <p:cNvSpPr/>
          <p:nvPr/>
        </p:nvSpPr>
        <p:spPr>
          <a:xfrm>
            <a:off x="5310035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66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25" name="Text 23"/>
          <p:cNvSpPr/>
          <p:nvPr/>
        </p:nvSpPr>
        <p:spPr>
          <a:xfrm>
            <a:off x="5710879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DK</a:t>
            </a:r>
            <a:endParaRPr lang="en-US" sz="988" dirty="0"/>
          </a:p>
        </p:txBody>
      </p:sp>
      <p:sp>
        <p:nvSpPr>
          <p:cNvPr id="26" name="Text 24"/>
          <p:cNvSpPr/>
          <p:nvPr/>
        </p:nvSpPr>
        <p:spPr>
          <a:xfrm>
            <a:off x="5710879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913410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LV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0" name="Text 28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</a:t>
            </a:r>
            <a:endParaRPr lang="en-US" sz="988" dirty="0"/>
          </a:p>
        </p:txBody>
      </p:sp>
      <p:sp>
        <p:nvSpPr>
          <p:cNvPr id="31" name="Shape 29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Text 30"/>
          <p:cNvSpPr/>
          <p:nvPr/>
        </p:nvSpPr>
        <p:spPr>
          <a:xfrm>
            <a:off x="5710879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33" name="Text 31"/>
          <p:cNvSpPr/>
          <p:nvPr/>
        </p:nvSpPr>
        <p:spPr>
          <a:xfrm>
            <a:off x="5710879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CZ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37" name="Text 35"/>
          <p:cNvSpPr/>
          <p:nvPr/>
        </p:nvSpPr>
        <p:spPr>
          <a:xfrm>
            <a:off x="6512566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</a:t>
            </a:r>
            <a:endParaRPr lang="en-US" sz="988" dirty="0"/>
          </a:p>
        </p:txBody>
      </p:sp>
      <p:sp>
        <p:nvSpPr>
          <p:cNvPr id="38" name="Text 36"/>
          <p:cNvSpPr/>
          <p:nvPr/>
        </p:nvSpPr>
        <p:spPr>
          <a:xfrm>
            <a:off x="6512566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0" name="Text 38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LT</a:t>
            </a:r>
            <a:endParaRPr lang="en-US" sz="988" dirty="0"/>
          </a:p>
        </p:txBody>
      </p:sp>
      <p:sp>
        <p:nvSpPr>
          <p:cNvPr id="41" name="Shape 3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2" name="Text 40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BY</a:t>
            </a:r>
            <a:endParaRPr lang="en-US" sz="988" dirty="0"/>
          </a:p>
        </p:txBody>
      </p:sp>
      <p:sp>
        <p:nvSpPr>
          <p:cNvPr id="43" name="Shape 4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4" name="Text 42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</a:t>
            </a:r>
            <a:endParaRPr lang="en-US" sz="988" dirty="0"/>
          </a:p>
        </p:txBody>
      </p:sp>
      <p:sp>
        <p:nvSpPr>
          <p:cNvPr id="45" name="Shape 4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</a:t>
            </a:r>
            <a:endParaRPr lang="en-US" sz="988" dirty="0"/>
          </a:p>
        </p:txBody>
      </p:sp>
      <p:sp>
        <p:nvSpPr>
          <p:cNvPr id="47" name="Text 45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9" name="Text 47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</a:t>
            </a:r>
            <a:endParaRPr lang="en-US" sz="988" dirty="0"/>
          </a:p>
        </p:txBody>
      </p:sp>
      <p:sp>
        <p:nvSpPr>
          <p:cNvPr id="50" name="Shape 4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1" name="Text 49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</a:t>
            </a:r>
            <a:endParaRPr lang="en-US" sz="988" dirty="0"/>
          </a:p>
        </p:txBody>
      </p:sp>
      <p:sp>
        <p:nvSpPr>
          <p:cNvPr id="52" name="Shape 5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3" name="Text 51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</a:t>
            </a:r>
            <a:endParaRPr lang="en-US" sz="988" dirty="0"/>
          </a:p>
        </p:txBody>
      </p:sp>
      <p:sp>
        <p:nvSpPr>
          <p:cNvPr id="54" name="Shape 5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5" name="Text 53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RS</a:t>
            </a:r>
            <a:endParaRPr lang="en-US" sz="988" dirty="0"/>
          </a:p>
        </p:txBody>
      </p:sp>
      <p:sp>
        <p:nvSpPr>
          <p:cNvPr id="56" name="Shape 5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7" name="Text 55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</a:t>
            </a:r>
            <a:endParaRPr lang="en-US" sz="988" dirty="0"/>
          </a:p>
        </p:txBody>
      </p:sp>
      <p:sp>
        <p:nvSpPr>
          <p:cNvPr id="58" name="Shape 5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9" name="Text 57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UA</a:t>
            </a:r>
            <a:endParaRPr lang="en-US" sz="988" dirty="0"/>
          </a:p>
        </p:txBody>
      </p:sp>
      <p:sp>
        <p:nvSpPr>
          <p:cNvPr id="60" name="Shape 58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PT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</a:t>
            </a:r>
            <a:endParaRPr lang="en-US" sz="988" dirty="0"/>
          </a:p>
        </p:txBody>
      </p:sp>
      <p:sp>
        <p:nvSpPr>
          <p:cNvPr id="64" name="Text 62"/>
          <p:cNvSpPr/>
          <p:nvPr/>
        </p:nvSpPr>
        <p:spPr>
          <a:xfrm>
            <a:off x="4508348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</a:t>
            </a:r>
            <a:endParaRPr lang="en-US" sz="800" dirty="0"/>
          </a:p>
        </p:txBody>
      </p:sp>
      <p:sp>
        <p:nvSpPr>
          <p:cNvPr id="65" name="Shape 6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6" name="Text 6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</a:t>
            </a:r>
            <a:endParaRPr lang="en-US" sz="988" dirty="0"/>
          </a:p>
        </p:txBody>
      </p:sp>
      <p:sp>
        <p:nvSpPr>
          <p:cNvPr id="67" name="Shape 6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7314254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IT</a:t>
            </a:r>
            <a:endParaRPr lang="en-US" sz="988" dirty="0"/>
          </a:p>
        </p:txBody>
      </p:sp>
      <p:sp>
        <p:nvSpPr>
          <p:cNvPr id="79" name="Text 77"/>
          <p:cNvSpPr/>
          <p:nvPr/>
        </p:nvSpPr>
        <p:spPr>
          <a:xfrm>
            <a:off x="5310035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800" dirty="0"/>
          </a:p>
        </p:txBody>
      </p:sp>
      <p:sp>
        <p:nvSpPr>
          <p:cNvPr id="80" name="Shape 78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Text 79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HR</a:t>
            </a:r>
            <a:endParaRPr lang="en-US" sz="988" dirty="0"/>
          </a:p>
        </p:txBody>
      </p:sp>
      <p:sp>
        <p:nvSpPr>
          <p:cNvPr id="82" name="Shape 80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Text 81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84" name="Shape 82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Text 83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MK</a:t>
            </a:r>
            <a:endParaRPr lang="en-US" sz="988" dirty="0"/>
          </a:p>
        </p:txBody>
      </p:sp>
      <p:sp>
        <p:nvSpPr>
          <p:cNvPr id="86" name="Shape 84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Text 85"/>
          <p:cNvSpPr/>
          <p:nvPr/>
        </p:nvSpPr>
        <p:spPr>
          <a:xfrm>
            <a:off x="7314254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</a:t>
            </a:r>
            <a:endParaRPr lang="en-US" sz="988" dirty="0"/>
          </a:p>
        </p:txBody>
      </p:sp>
      <p:sp>
        <p:nvSpPr>
          <p:cNvPr id="88" name="Shape 86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Text 87"/>
          <p:cNvSpPr/>
          <p:nvPr/>
        </p:nvSpPr>
        <p:spPr>
          <a:xfrm>
            <a:off x="4909191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90" name="Shape 88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Text 89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92" name="Shape 90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Text 91"/>
          <p:cNvSpPr/>
          <p:nvPr/>
        </p:nvSpPr>
        <p:spPr>
          <a:xfrm>
            <a:off x="691341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</a:t>
            </a:r>
            <a:endParaRPr lang="en-US" sz="988" dirty="0"/>
          </a:p>
        </p:txBody>
      </p:sp>
      <p:sp>
        <p:nvSpPr>
          <p:cNvPr id="94" name="Shape 92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Text 93"/>
          <p:cNvSpPr/>
          <p:nvPr/>
        </p:nvSpPr>
        <p:spPr>
          <a:xfrm>
            <a:off x="7715098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</a:t>
            </a:r>
            <a:endParaRPr lang="en-US" sz="988" dirty="0"/>
          </a:p>
        </p:txBody>
      </p:sp>
      <p:sp>
        <p:nvSpPr>
          <p:cNvPr id="96" name="Shape 94"/>
          <p:cNvSpPr/>
          <p:nvPr/>
        </p:nvSpPr>
        <p:spPr>
          <a:xfrm>
            <a:off x="4107504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7" name="Shape 95"/>
          <p:cNvSpPr/>
          <p:nvPr/>
        </p:nvSpPr>
        <p:spPr>
          <a:xfrm>
            <a:off x="4171004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98" name="Shape 96"/>
          <p:cNvSpPr/>
          <p:nvPr/>
        </p:nvSpPr>
        <p:spPr>
          <a:xfrm>
            <a:off x="4234504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99" name="Shape 97"/>
          <p:cNvSpPr/>
          <p:nvPr/>
        </p:nvSpPr>
        <p:spPr>
          <a:xfrm>
            <a:off x="4298004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00" name="Shape 98"/>
          <p:cNvSpPr/>
          <p:nvPr/>
        </p:nvSpPr>
        <p:spPr>
          <a:xfrm>
            <a:off x="4361504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01" name="Shape 99"/>
          <p:cNvSpPr/>
          <p:nvPr/>
        </p:nvSpPr>
        <p:spPr>
          <a:xfrm>
            <a:off x="4425004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02" name="Shape 100"/>
          <p:cNvSpPr/>
          <p:nvPr/>
        </p:nvSpPr>
        <p:spPr>
          <a:xfrm>
            <a:off x="4488504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03" name="Shape 101"/>
          <p:cNvSpPr/>
          <p:nvPr/>
        </p:nvSpPr>
        <p:spPr>
          <a:xfrm>
            <a:off x="4552004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04" name="Shape 102"/>
          <p:cNvSpPr/>
          <p:nvPr/>
        </p:nvSpPr>
        <p:spPr>
          <a:xfrm>
            <a:off x="4615504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05" name="Shape 103"/>
          <p:cNvSpPr/>
          <p:nvPr/>
        </p:nvSpPr>
        <p:spPr>
          <a:xfrm>
            <a:off x="4679004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742504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806004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4869504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4933004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10" name="Shape 108"/>
          <p:cNvSpPr/>
          <p:nvPr/>
        </p:nvSpPr>
        <p:spPr>
          <a:xfrm>
            <a:off x="4996504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11" name="Shape 109"/>
          <p:cNvSpPr/>
          <p:nvPr/>
        </p:nvSpPr>
        <p:spPr>
          <a:xfrm>
            <a:off x="5060004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23504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13" name="Shape 111"/>
          <p:cNvSpPr/>
          <p:nvPr/>
        </p:nvSpPr>
        <p:spPr>
          <a:xfrm>
            <a:off x="5187004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14" name="Shape 112"/>
          <p:cNvSpPr/>
          <p:nvPr/>
        </p:nvSpPr>
        <p:spPr>
          <a:xfrm>
            <a:off x="5250504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15" name="Shape 113"/>
          <p:cNvSpPr/>
          <p:nvPr/>
        </p:nvSpPr>
        <p:spPr>
          <a:xfrm>
            <a:off x="5314004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377504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17" name="Shape 115"/>
          <p:cNvSpPr/>
          <p:nvPr/>
        </p:nvSpPr>
        <p:spPr>
          <a:xfrm>
            <a:off x="5441004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5504504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19" name="Shape 117"/>
          <p:cNvSpPr/>
          <p:nvPr/>
        </p:nvSpPr>
        <p:spPr>
          <a:xfrm>
            <a:off x="5568004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0" name="Text 118"/>
          <p:cNvSpPr/>
          <p:nvPr/>
        </p:nvSpPr>
        <p:spPr>
          <a:xfrm>
            <a:off x="4107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850" dirty="0"/>
          </a:p>
        </p:txBody>
      </p:sp>
      <p:sp>
        <p:nvSpPr>
          <p:cNvPr id="121" name="Text 119"/>
          <p:cNvSpPr/>
          <p:nvPr/>
        </p:nvSpPr>
        <p:spPr>
          <a:xfrm>
            <a:off x="4869504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850" dirty="0"/>
          </a:p>
        </p:txBody>
      </p:sp>
      <p:sp>
        <p:nvSpPr>
          <p:cNvPr id="122" name="Shape 120"/>
          <p:cNvSpPr/>
          <p:nvPr/>
        </p:nvSpPr>
        <p:spPr>
          <a:xfrm>
            <a:off x="5758504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23" name="Text 121"/>
          <p:cNvSpPr/>
          <p:nvPr/>
        </p:nvSpPr>
        <p:spPr>
          <a:xfrm>
            <a:off x="5898204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Cascade — Support volume breakdown — April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4" name="Text 2"/>
          <p:cNvSpPr/>
          <p:nvPr/>
        </p:nvSpPr>
        <p:spPr>
          <a:xfrm>
            <a:off x="31412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Contacts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6" name="Text 4"/>
          <p:cNvSpPr/>
          <p:nvPr/>
        </p:nvSpPr>
        <p:spPr>
          <a:xfrm>
            <a:off x="6163856" y="1803400"/>
            <a:ext cx="288658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Incidents &amp; Service Requests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41256" y="2070100"/>
            <a:ext cx="1375283" cy="30480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166656" y="261874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 contacts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166656" y="3498850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4,986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652556" y="2070100"/>
            <a:ext cx="1375283" cy="28218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" name="Text 9"/>
          <p:cNvSpPr/>
          <p:nvPr/>
        </p:nvSpPr>
        <p:spPr>
          <a:xfrm>
            <a:off x="4677956" y="257802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Answered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677956" y="338575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4,616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677956" y="356990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(92.6%)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52556" y="4891915"/>
            <a:ext cx="1375283" cy="226185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7956" y="4891915"/>
            <a:ext cx="1324483" cy="22618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370 (7.4%)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84548" y="5130800"/>
            <a:ext cx="15113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Dropped contacts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163856" y="2070100"/>
            <a:ext cx="1375283" cy="208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189256" y="2444773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 a case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189256" y="301560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3,405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189256" y="3199758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(73.8%)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163856" y="4151616"/>
            <a:ext cx="1375283" cy="740298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89256" y="435031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Without a case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189256" y="4521765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1,211 (26.2%)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675156" y="2070100"/>
            <a:ext cx="1375283" cy="1641372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5" name="Text 23"/>
          <p:cNvSpPr/>
          <p:nvPr/>
        </p:nvSpPr>
        <p:spPr>
          <a:xfrm>
            <a:off x="7700556" y="2365547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Solved in support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700556" y="279553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2,685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7700556" y="2979686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(78.9%)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675156" y="3711472"/>
            <a:ext cx="1375283" cy="440144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700556" y="376009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solved in support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7700556" y="3931544"/>
            <a:ext cx="13244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 (21.1%)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service desk logs, Apr 2026</a:t>
            </a:r>
            <a:endParaRPr lang="en-US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Funnel — Sales pipeline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29228" y="1828800"/>
            <a:ext cx="5163820" cy="5384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200279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929228" y="2002790"/>
            <a:ext cx="5163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961992" y="2557780"/>
            <a:ext cx="3098292" cy="5384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" name="Text 5"/>
          <p:cNvSpPr/>
          <p:nvPr/>
        </p:nvSpPr>
        <p:spPr>
          <a:xfrm>
            <a:off x="3047848" y="273177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Qualified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961992" y="2731770"/>
            <a:ext cx="30982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720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003138" y="236728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60.0%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5693533" y="3286760"/>
            <a:ext cx="1635210" cy="5384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1" name="Text 9"/>
          <p:cNvSpPr/>
          <p:nvPr/>
        </p:nvSpPr>
        <p:spPr>
          <a:xfrm>
            <a:off x="3047848" y="346075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Proposal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693533" y="3460750"/>
            <a:ext cx="16352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003138" y="309626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52.8%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102335" y="4015740"/>
            <a:ext cx="817605" cy="53848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5" name="Text 13"/>
          <p:cNvSpPr/>
          <p:nvPr/>
        </p:nvSpPr>
        <p:spPr>
          <a:xfrm>
            <a:off x="3047848" y="418973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Negotiation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102335" y="4189730"/>
            <a:ext cx="81760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003138" y="382524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50.0%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252947" y="4744720"/>
            <a:ext cx="516382" cy="538480"/>
          </a:xfrm>
          <a:prstGeom prst="rect">
            <a:avLst/>
          </a:prstGeom>
          <a:solidFill>
            <a:srgbClr val="4A3AA7"/>
          </a:solidFill>
          <a:ln/>
        </p:spPr>
      </p:sp>
      <p:sp>
        <p:nvSpPr>
          <p:cNvPr id="19" name="Text 17"/>
          <p:cNvSpPr/>
          <p:nvPr/>
        </p:nvSpPr>
        <p:spPr>
          <a:xfrm>
            <a:off x="3047848" y="4918710"/>
            <a:ext cx="8305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252947" y="4918710"/>
            <a:ext cx="5163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003138" y="4554220"/>
            <a:ext cx="101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▾ 63.2%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Share of revenue under subscription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3" name="Text 101"/>
          <p:cNvSpPr/>
          <p:nvPr/>
        </p:nvSpPr>
        <p:spPr>
          <a:xfrm>
            <a:off x="6629248" y="3263900"/>
            <a:ext cx="2489200" cy="406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68%</a:t>
            </a:r>
            <a:endParaRPr lang="en-US" sz="2600" dirty="0"/>
          </a:p>
        </p:txBody>
      </p:sp>
      <p:sp>
        <p:nvSpPr>
          <p:cNvPr id="104" name="Text 102"/>
          <p:cNvSpPr/>
          <p:nvPr/>
        </p:nvSpPr>
        <p:spPr>
          <a:xfrm>
            <a:off x="6629248" y="3683000"/>
            <a:ext cx="2489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Subscription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Treemap — Revenue by product line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20900" cy="346710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542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5" name="Text 3"/>
          <p:cNvSpPr/>
          <p:nvPr/>
        </p:nvSpPr>
        <p:spPr>
          <a:xfrm>
            <a:off x="3111348" y="2006600"/>
            <a:ext cx="20574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206848" y="1828800"/>
            <a:ext cx="2476500" cy="1975757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244948" y="18542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244948" y="2006600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5206848" y="3817257"/>
            <a:ext cx="2476500" cy="1478643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244948" y="38426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244948" y="3995057"/>
            <a:ext cx="2413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7696048" y="1828800"/>
            <a:ext cx="1409700" cy="172720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34148" y="18542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7734148" y="20066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7696048" y="3568700"/>
            <a:ext cx="1409700" cy="1074738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734148" y="35941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734148" y="3746500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7696048" y="4656138"/>
            <a:ext cx="1409700" cy="639763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34148" y="46815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34148" y="4833938"/>
            <a:ext cx="1346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— Revenue by region and product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Violin — Response 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0798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086448" y="5143500"/>
            <a:ext cx="200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233776" y="4411980"/>
            <a:ext cx="1685544" cy="266700"/>
          </a:xfrm>
          <a:custGeom>
            <a:avLst/>
            <a:gdLst/>
            <a:ahLst/>
            <a:cxnLst/>
            <a:rect l="l" t="t" r="r" b="b"/>
            <a:pathLst>
              <a:path w="1685544" h="266700">
                <a:moveTo>
                  <a:pt x="1033777" y="266700"/>
                </a:moveTo>
                <a:lnTo>
                  <a:pt x="1070442" y="260032"/>
                </a:lnTo>
                <a:lnTo>
                  <a:pt x="1110864" y="253365"/>
                </a:lnTo>
                <a:lnTo>
                  <a:pt x="1154707" y="246697"/>
                </a:lnTo>
                <a:lnTo>
                  <a:pt x="1201478" y="240030"/>
                </a:lnTo>
                <a:lnTo>
                  <a:pt x="1250533" y="233362"/>
                </a:lnTo>
                <a:lnTo>
                  <a:pt x="1301085" y="226695"/>
                </a:lnTo>
                <a:lnTo>
                  <a:pt x="1352233" y="220027"/>
                </a:lnTo>
                <a:lnTo>
                  <a:pt x="1402991" y="213360"/>
                </a:lnTo>
                <a:lnTo>
                  <a:pt x="1452321" y="206693"/>
                </a:lnTo>
                <a:lnTo>
                  <a:pt x="1499178" y="200025"/>
                </a:lnTo>
                <a:lnTo>
                  <a:pt x="1542545" y="193357"/>
                </a:lnTo>
                <a:lnTo>
                  <a:pt x="1581477" y="186690"/>
                </a:lnTo>
                <a:lnTo>
                  <a:pt x="1615135" y="180022"/>
                </a:lnTo>
                <a:lnTo>
                  <a:pt x="1642818" y="173355"/>
                </a:lnTo>
                <a:lnTo>
                  <a:pt x="1663980" y="166687"/>
                </a:lnTo>
                <a:lnTo>
                  <a:pt x="1678251" y="160020"/>
                </a:lnTo>
                <a:lnTo>
                  <a:pt x="1685443" y="153352"/>
                </a:lnTo>
                <a:lnTo>
                  <a:pt x="1685544" y="146685"/>
                </a:lnTo>
                <a:lnTo>
                  <a:pt x="1678717" y="140018"/>
                </a:lnTo>
                <a:lnTo>
                  <a:pt x="1665279" y="133350"/>
                </a:lnTo>
                <a:lnTo>
                  <a:pt x="1645686" y="126682"/>
                </a:lnTo>
                <a:lnTo>
                  <a:pt x="1620508" y="120015"/>
                </a:lnTo>
                <a:lnTo>
                  <a:pt x="1590404" y="113347"/>
                </a:lnTo>
                <a:lnTo>
                  <a:pt x="1556094" y="106680"/>
                </a:lnTo>
                <a:lnTo>
                  <a:pt x="1518338" y="100013"/>
                </a:lnTo>
                <a:lnTo>
                  <a:pt x="1477903" y="93345"/>
                </a:lnTo>
                <a:lnTo>
                  <a:pt x="1435549" y="86677"/>
                </a:lnTo>
                <a:lnTo>
                  <a:pt x="1392006" y="80010"/>
                </a:lnTo>
                <a:lnTo>
                  <a:pt x="1347960" y="73343"/>
                </a:lnTo>
                <a:lnTo>
                  <a:pt x="1304039" y="66675"/>
                </a:lnTo>
                <a:lnTo>
                  <a:pt x="1260809" y="60007"/>
                </a:lnTo>
                <a:lnTo>
                  <a:pt x="1218766" y="53340"/>
                </a:lnTo>
                <a:lnTo>
                  <a:pt x="1178333" y="46672"/>
                </a:lnTo>
                <a:lnTo>
                  <a:pt x="1139866" y="40005"/>
                </a:lnTo>
                <a:lnTo>
                  <a:pt x="1103650" y="33337"/>
                </a:lnTo>
                <a:lnTo>
                  <a:pt x="1069902" y="26670"/>
                </a:lnTo>
                <a:lnTo>
                  <a:pt x="1038777" y="20002"/>
                </a:lnTo>
                <a:lnTo>
                  <a:pt x="1010369" y="13335"/>
                </a:lnTo>
                <a:lnTo>
                  <a:pt x="984716" y="6668"/>
                </a:lnTo>
                <a:lnTo>
                  <a:pt x="961801" y="0"/>
                </a:lnTo>
                <a:lnTo>
                  <a:pt x="723743" y="0"/>
                </a:lnTo>
                <a:lnTo>
                  <a:pt x="700828" y="6668"/>
                </a:lnTo>
                <a:lnTo>
                  <a:pt x="675175" y="13335"/>
                </a:lnTo>
                <a:lnTo>
                  <a:pt x="646767" y="20002"/>
                </a:lnTo>
                <a:lnTo>
                  <a:pt x="615642" y="26670"/>
                </a:lnTo>
                <a:lnTo>
                  <a:pt x="581894" y="33337"/>
                </a:lnTo>
                <a:lnTo>
                  <a:pt x="545678" y="40005"/>
                </a:lnTo>
                <a:lnTo>
                  <a:pt x="507211" y="46672"/>
                </a:lnTo>
                <a:lnTo>
                  <a:pt x="466778" y="53340"/>
                </a:lnTo>
                <a:lnTo>
                  <a:pt x="424735" y="60007"/>
                </a:lnTo>
                <a:lnTo>
                  <a:pt x="381505" y="66675"/>
                </a:lnTo>
                <a:lnTo>
                  <a:pt x="337584" y="73343"/>
                </a:lnTo>
                <a:lnTo>
                  <a:pt x="293538" y="80010"/>
                </a:lnTo>
                <a:lnTo>
                  <a:pt x="249995" y="86677"/>
                </a:lnTo>
                <a:lnTo>
                  <a:pt x="207641" y="93345"/>
                </a:lnTo>
                <a:lnTo>
                  <a:pt x="167206" y="100013"/>
                </a:lnTo>
                <a:lnTo>
                  <a:pt x="129450" y="106680"/>
                </a:lnTo>
                <a:lnTo>
                  <a:pt x="95140" y="113347"/>
                </a:lnTo>
                <a:lnTo>
                  <a:pt x="65036" y="120015"/>
                </a:lnTo>
                <a:lnTo>
                  <a:pt x="39858" y="126682"/>
                </a:lnTo>
                <a:lnTo>
                  <a:pt x="20265" y="133350"/>
                </a:lnTo>
                <a:lnTo>
                  <a:pt x="6827" y="140018"/>
                </a:lnTo>
                <a:lnTo>
                  <a:pt x="0" y="146685"/>
                </a:lnTo>
                <a:lnTo>
                  <a:pt x="101" y="153352"/>
                </a:lnTo>
                <a:lnTo>
                  <a:pt x="7293" y="160020"/>
                </a:lnTo>
                <a:lnTo>
                  <a:pt x="21564" y="166687"/>
                </a:lnTo>
                <a:lnTo>
                  <a:pt x="42726" y="173355"/>
                </a:lnTo>
                <a:lnTo>
                  <a:pt x="70409" y="180022"/>
                </a:lnTo>
                <a:lnTo>
                  <a:pt x="104067" y="186690"/>
                </a:lnTo>
                <a:lnTo>
                  <a:pt x="142999" y="193357"/>
                </a:lnTo>
                <a:lnTo>
                  <a:pt x="186366" y="200025"/>
                </a:lnTo>
                <a:lnTo>
                  <a:pt x="233223" y="206693"/>
                </a:lnTo>
                <a:lnTo>
                  <a:pt x="282553" y="213360"/>
                </a:lnTo>
                <a:lnTo>
                  <a:pt x="333311" y="220027"/>
                </a:lnTo>
                <a:lnTo>
                  <a:pt x="384459" y="226695"/>
                </a:lnTo>
                <a:lnTo>
                  <a:pt x="435011" y="233362"/>
                </a:lnTo>
                <a:lnTo>
                  <a:pt x="484066" y="240030"/>
                </a:lnTo>
                <a:lnTo>
                  <a:pt x="530837" y="246697"/>
                </a:lnTo>
                <a:lnTo>
                  <a:pt x="574680" y="253365"/>
                </a:lnTo>
                <a:lnTo>
                  <a:pt x="615102" y="260032"/>
                </a:lnTo>
                <a:lnTo>
                  <a:pt x="651767" y="266700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781577" y="4559332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240376" y="4007187"/>
            <a:ext cx="1685544" cy="396200"/>
          </a:xfrm>
          <a:custGeom>
            <a:avLst/>
            <a:gdLst/>
            <a:ahLst/>
            <a:cxnLst/>
            <a:rect l="l" t="t" r="r" b="b"/>
            <a:pathLst>
              <a:path w="1685544" h="396200">
                <a:moveTo>
                  <a:pt x="1014916" y="396200"/>
                </a:moveTo>
                <a:lnTo>
                  <a:pt x="1059531" y="386295"/>
                </a:lnTo>
                <a:lnTo>
                  <a:pt x="1110209" y="376390"/>
                </a:lnTo>
                <a:lnTo>
                  <a:pt x="1166302" y="366485"/>
                </a:lnTo>
                <a:lnTo>
                  <a:pt x="1226780" y="356580"/>
                </a:lnTo>
                <a:lnTo>
                  <a:pt x="1290238" y="346675"/>
                </a:lnTo>
                <a:lnTo>
                  <a:pt x="1354950" y="336770"/>
                </a:lnTo>
                <a:lnTo>
                  <a:pt x="1418936" y="326865"/>
                </a:lnTo>
                <a:lnTo>
                  <a:pt x="1480073" y="316960"/>
                </a:lnTo>
                <a:lnTo>
                  <a:pt x="1536219" y="307055"/>
                </a:lnTo>
                <a:lnTo>
                  <a:pt x="1585373" y="297150"/>
                </a:lnTo>
                <a:lnTo>
                  <a:pt x="1625829" y="287245"/>
                </a:lnTo>
                <a:lnTo>
                  <a:pt x="1656339" y="277340"/>
                </a:lnTo>
                <a:lnTo>
                  <a:pt x="1676240" y="267435"/>
                </a:lnTo>
                <a:lnTo>
                  <a:pt x="1685544" y="257530"/>
                </a:lnTo>
                <a:lnTo>
                  <a:pt x="1684948" y="247625"/>
                </a:lnTo>
                <a:lnTo>
                  <a:pt x="1675779" y="237720"/>
                </a:lnTo>
                <a:lnTo>
                  <a:pt x="1659845" y="227815"/>
                </a:lnTo>
                <a:lnTo>
                  <a:pt x="1639236" y="217910"/>
                </a:lnTo>
                <a:lnTo>
                  <a:pt x="1616068" y="208005"/>
                </a:lnTo>
                <a:lnTo>
                  <a:pt x="1592246" y="198100"/>
                </a:lnTo>
                <a:lnTo>
                  <a:pt x="1569247" y="188195"/>
                </a:lnTo>
                <a:lnTo>
                  <a:pt x="1547981" y="178290"/>
                </a:lnTo>
                <a:lnTo>
                  <a:pt x="1528744" y="168385"/>
                </a:lnTo>
                <a:lnTo>
                  <a:pt x="1511249" y="158480"/>
                </a:lnTo>
                <a:lnTo>
                  <a:pt x="1494746" y="148575"/>
                </a:lnTo>
                <a:lnTo>
                  <a:pt x="1478184" y="138670"/>
                </a:lnTo>
                <a:lnTo>
                  <a:pt x="1460396" y="128765"/>
                </a:lnTo>
                <a:lnTo>
                  <a:pt x="1440269" y="118860"/>
                </a:lnTo>
                <a:lnTo>
                  <a:pt x="1416889" y="108955"/>
                </a:lnTo>
                <a:lnTo>
                  <a:pt x="1389639" y="99050"/>
                </a:lnTo>
                <a:lnTo>
                  <a:pt x="1358252" y="89145"/>
                </a:lnTo>
                <a:lnTo>
                  <a:pt x="1322833" y="79240"/>
                </a:lnTo>
                <a:lnTo>
                  <a:pt x="1283834" y="69335"/>
                </a:lnTo>
                <a:lnTo>
                  <a:pt x="1242014" y="59430"/>
                </a:lnTo>
                <a:lnTo>
                  <a:pt x="1198367" y="49525"/>
                </a:lnTo>
                <a:lnTo>
                  <a:pt x="1154046" y="39620"/>
                </a:lnTo>
                <a:lnTo>
                  <a:pt x="1110263" y="29715"/>
                </a:lnTo>
                <a:lnTo>
                  <a:pt x="1068192" y="19810"/>
                </a:lnTo>
                <a:lnTo>
                  <a:pt x="1028879" y="9905"/>
                </a:lnTo>
                <a:lnTo>
                  <a:pt x="993161" y="0"/>
                </a:lnTo>
                <a:lnTo>
                  <a:pt x="692383" y="0"/>
                </a:lnTo>
                <a:lnTo>
                  <a:pt x="656665" y="9905"/>
                </a:lnTo>
                <a:lnTo>
                  <a:pt x="617352" y="19810"/>
                </a:lnTo>
                <a:lnTo>
                  <a:pt x="575281" y="29715"/>
                </a:lnTo>
                <a:lnTo>
                  <a:pt x="531498" y="39620"/>
                </a:lnTo>
                <a:lnTo>
                  <a:pt x="487177" y="49525"/>
                </a:lnTo>
                <a:lnTo>
                  <a:pt x="443530" y="59430"/>
                </a:lnTo>
                <a:lnTo>
                  <a:pt x="401710" y="69335"/>
                </a:lnTo>
                <a:lnTo>
                  <a:pt x="362711" y="79240"/>
                </a:lnTo>
                <a:lnTo>
                  <a:pt x="327292" y="89145"/>
                </a:lnTo>
                <a:lnTo>
                  <a:pt x="295905" y="99050"/>
                </a:lnTo>
                <a:lnTo>
                  <a:pt x="268655" y="108955"/>
                </a:lnTo>
                <a:lnTo>
                  <a:pt x="245275" y="118860"/>
                </a:lnTo>
                <a:lnTo>
                  <a:pt x="225148" y="128765"/>
                </a:lnTo>
                <a:lnTo>
                  <a:pt x="207360" y="138670"/>
                </a:lnTo>
                <a:lnTo>
                  <a:pt x="190798" y="148575"/>
                </a:lnTo>
                <a:lnTo>
                  <a:pt x="174295" y="158480"/>
                </a:lnTo>
                <a:lnTo>
                  <a:pt x="156800" y="168385"/>
                </a:lnTo>
                <a:lnTo>
                  <a:pt x="137563" y="178290"/>
                </a:lnTo>
                <a:lnTo>
                  <a:pt x="116297" y="188195"/>
                </a:lnTo>
                <a:lnTo>
                  <a:pt x="93298" y="198100"/>
                </a:lnTo>
                <a:lnTo>
                  <a:pt x="69476" y="208005"/>
                </a:lnTo>
                <a:lnTo>
                  <a:pt x="46308" y="217910"/>
                </a:lnTo>
                <a:lnTo>
                  <a:pt x="25699" y="227815"/>
                </a:lnTo>
                <a:lnTo>
                  <a:pt x="9765" y="237720"/>
                </a:lnTo>
                <a:lnTo>
                  <a:pt x="596" y="247625"/>
                </a:lnTo>
                <a:lnTo>
                  <a:pt x="0" y="257530"/>
                </a:lnTo>
                <a:lnTo>
                  <a:pt x="9304" y="267435"/>
                </a:lnTo>
                <a:lnTo>
                  <a:pt x="29205" y="277340"/>
                </a:lnTo>
                <a:lnTo>
                  <a:pt x="59715" y="287245"/>
                </a:lnTo>
                <a:lnTo>
                  <a:pt x="100171" y="297150"/>
                </a:lnTo>
                <a:lnTo>
                  <a:pt x="149325" y="307055"/>
                </a:lnTo>
                <a:lnTo>
                  <a:pt x="205471" y="316960"/>
                </a:lnTo>
                <a:lnTo>
                  <a:pt x="266608" y="326865"/>
                </a:lnTo>
                <a:lnTo>
                  <a:pt x="330594" y="336770"/>
                </a:lnTo>
                <a:lnTo>
                  <a:pt x="395306" y="346675"/>
                </a:lnTo>
                <a:lnTo>
                  <a:pt x="458764" y="356580"/>
                </a:lnTo>
                <a:lnTo>
                  <a:pt x="519242" y="366485"/>
                </a:lnTo>
                <a:lnTo>
                  <a:pt x="575335" y="376390"/>
                </a:lnTo>
                <a:lnTo>
                  <a:pt x="626013" y="386295"/>
                </a:lnTo>
                <a:lnTo>
                  <a:pt x="670628" y="396200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788177" y="423529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46976" y="2111998"/>
            <a:ext cx="1685544" cy="786154"/>
          </a:xfrm>
          <a:custGeom>
            <a:avLst/>
            <a:gdLst/>
            <a:ahLst/>
            <a:cxnLst/>
            <a:rect l="l" t="t" r="r" b="b"/>
            <a:pathLst>
              <a:path w="1685544" h="786154">
                <a:moveTo>
                  <a:pt x="965668" y="786154"/>
                </a:moveTo>
                <a:lnTo>
                  <a:pt x="993047" y="766500"/>
                </a:lnTo>
                <a:lnTo>
                  <a:pt x="1022653" y="746846"/>
                </a:lnTo>
                <a:lnTo>
                  <a:pt x="1053936" y="727192"/>
                </a:lnTo>
                <a:lnTo>
                  <a:pt x="1086385" y="707538"/>
                </a:lnTo>
                <a:lnTo>
                  <a:pt x="1119622" y="687884"/>
                </a:lnTo>
                <a:lnTo>
                  <a:pt x="1153474" y="668231"/>
                </a:lnTo>
                <a:lnTo>
                  <a:pt x="1188012" y="648577"/>
                </a:lnTo>
                <a:lnTo>
                  <a:pt x="1223519" y="628923"/>
                </a:lnTo>
                <a:lnTo>
                  <a:pt x="1260409" y="609269"/>
                </a:lnTo>
                <a:lnTo>
                  <a:pt x="1299095" y="589615"/>
                </a:lnTo>
                <a:lnTo>
                  <a:pt x="1339827" y="569961"/>
                </a:lnTo>
                <a:lnTo>
                  <a:pt x="1382533" y="550308"/>
                </a:lnTo>
                <a:lnTo>
                  <a:pt x="1426714" y="530654"/>
                </a:lnTo>
                <a:lnTo>
                  <a:pt x="1471401" y="511000"/>
                </a:lnTo>
                <a:lnTo>
                  <a:pt x="1515213" y="491346"/>
                </a:lnTo>
                <a:lnTo>
                  <a:pt x="1556508" y="471692"/>
                </a:lnTo>
                <a:lnTo>
                  <a:pt x="1593618" y="452038"/>
                </a:lnTo>
                <a:lnTo>
                  <a:pt x="1625100" y="432385"/>
                </a:lnTo>
                <a:lnTo>
                  <a:pt x="1649982" y="412731"/>
                </a:lnTo>
                <a:lnTo>
                  <a:pt x="1667910" y="393077"/>
                </a:lnTo>
                <a:lnTo>
                  <a:pt x="1679192" y="373423"/>
                </a:lnTo>
                <a:lnTo>
                  <a:pt x="1684681" y="353769"/>
                </a:lnTo>
                <a:lnTo>
                  <a:pt x="1685544" y="334115"/>
                </a:lnTo>
                <a:lnTo>
                  <a:pt x="1682958" y="314461"/>
                </a:lnTo>
                <a:lnTo>
                  <a:pt x="1677792" y="294808"/>
                </a:lnTo>
                <a:lnTo>
                  <a:pt x="1670364" y="275154"/>
                </a:lnTo>
                <a:lnTo>
                  <a:pt x="1660332" y="255500"/>
                </a:lnTo>
                <a:lnTo>
                  <a:pt x="1646737" y="235846"/>
                </a:lnTo>
                <a:lnTo>
                  <a:pt x="1628213" y="216192"/>
                </a:lnTo>
                <a:lnTo>
                  <a:pt x="1603290" y="196538"/>
                </a:lnTo>
                <a:lnTo>
                  <a:pt x="1570750" y="176885"/>
                </a:lnTo>
                <a:lnTo>
                  <a:pt x="1529935" y="157231"/>
                </a:lnTo>
                <a:lnTo>
                  <a:pt x="1480956" y="137577"/>
                </a:lnTo>
                <a:lnTo>
                  <a:pt x="1424765" y="117923"/>
                </a:lnTo>
                <a:lnTo>
                  <a:pt x="1363072" y="98269"/>
                </a:lnTo>
                <a:lnTo>
                  <a:pt x="1298140" y="78615"/>
                </a:lnTo>
                <a:lnTo>
                  <a:pt x="1232503" y="58962"/>
                </a:lnTo>
                <a:lnTo>
                  <a:pt x="1168667" y="39308"/>
                </a:lnTo>
                <a:lnTo>
                  <a:pt x="1108842" y="19654"/>
                </a:lnTo>
                <a:lnTo>
                  <a:pt x="1054739" y="0"/>
                </a:lnTo>
                <a:lnTo>
                  <a:pt x="630805" y="0"/>
                </a:lnTo>
                <a:lnTo>
                  <a:pt x="576702" y="19654"/>
                </a:lnTo>
                <a:lnTo>
                  <a:pt x="516877" y="39308"/>
                </a:lnTo>
                <a:lnTo>
                  <a:pt x="453041" y="58962"/>
                </a:lnTo>
                <a:lnTo>
                  <a:pt x="387404" y="78615"/>
                </a:lnTo>
                <a:lnTo>
                  <a:pt x="322472" y="98269"/>
                </a:lnTo>
                <a:lnTo>
                  <a:pt x="260779" y="117923"/>
                </a:lnTo>
                <a:lnTo>
                  <a:pt x="204588" y="137577"/>
                </a:lnTo>
                <a:lnTo>
                  <a:pt x="155609" y="157231"/>
                </a:lnTo>
                <a:lnTo>
                  <a:pt x="114794" y="176885"/>
                </a:lnTo>
                <a:lnTo>
                  <a:pt x="82254" y="196538"/>
                </a:lnTo>
                <a:lnTo>
                  <a:pt x="57331" y="216192"/>
                </a:lnTo>
                <a:lnTo>
                  <a:pt x="38807" y="235846"/>
                </a:lnTo>
                <a:lnTo>
                  <a:pt x="25212" y="255500"/>
                </a:lnTo>
                <a:lnTo>
                  <a:pt x="15180" y="275154"/>
                </a:lnTo>
                <a:lnTo>
                  <a:pt x="7752" y="294808"/>
                </a:lnTo>
                <a:lnTo>
                  <a:pt x="2586" y="314461"/>
                </a:lnTo>
                <a:lnTo>
                  <a:pt x="0" y="334115"/>
                </a:lnTo>
                <a:lnTo>
                  <a:pt x="863" y="353769"/>
                </a:lnTo>
                <a:lnTo>
                  <a:pt x="6352" y="373423"/>
                </a:lnTo>
                <a:lnTo>
                  <a:pt x="17634" y="393077"/>
                </a:lnTo>
                <a:lnTo>
                  <a:pt x="35562" y="412731"/>
                </a:lnTo>
                <a:lnTo>
                  <a:pt x="60444" y="432385"/>
                </a:lnTo>
                <a:lnTo>
                  <a:pt x="91926" y="452038"/>
                </a:lnTo>
                <a:lnTo>
                  <a:pt x="129036" y="471692"/>
                </a:lnTo>
                <a:lnTo>
                  <a:pt x="170331" y="491346"/>
                </a:lnTo>
                <a:lnTo>
                  <a:pt x="214143" y="511000"/>
                </a:lnTo>
                <a:lnTo>
                  <a:pt x="258830" y="530654"/>
                </a:lnTo>
                <a:lnTo>
                  <a:pt x="303011" y="550308"/>
                </a:lnTo>
                <a:lnTo>
                  <a:pt x="345717" y="569961"/>
                </a:lnTo>
                <a:lnTo>
                  <a:pt x="386449" y="589615"/>
                </a:lnTo>
                <a:lnTo>
                  <a:pt x="425135" y="609269"/>
                </a:lnTo>
                <a:lnTo>
                  <a:pt x="462025" y="628923"/>
                </a:lnTo>
                <a:lnTo>
                  <a:pt x="497532" y="648577"/>
                </a:lnTo>
                <a:lnTo>
                  <a:pt x="532070" y="668231"/>
                </a:lnTo>
                <a:lnTo>
                  <a:pt x="565922" y="687884"/>
                </a:lnTo>
                <a:lnTo>
                  <a:pt x="599159" y="707538"/>
                </a:lnTo>
                <a:lnTo>
                  <a:pt x="631608" y="727192"/>
                </a:lnTo>
                <a:lnTo>
                  <a:pt x="662891" y="746846"/>
                </a:lnTo>
                <a:lnTo>
                  <a:pt x="692497" y="766500"/>
                </a:lnTo>
                <a:lnTo>
                  <a:pt x="719876" y="78615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94777" y="2475071"/>
            <a:ext cx="589940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Candlestick — 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752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2772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791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11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8314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68512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Tue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28710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88908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8491068" y="5143500"/>
            <a:ext cx="6019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374238" y="40386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223743" y="42519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76218" y="38252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25723" y="42519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8198" y="36118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27703" y="3825240"/>
            <a:ext cx="30099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180178" y="3611880"/>
            <a:ext cx="0" cy="64008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029683" y="382524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8215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631663" y="361188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38413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3364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8611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835623" y="3185160"/>
            <a:ext cx="30099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588098" y="31851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37603" y="3398520"/>
            <a:ext cx="300990" cy="42672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19007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039583" y="3611880"/>
            <a:ext cx="300990" cy="21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792058" y="29718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641563" y="3185160"/>
            <a:ext cx="30099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Decorations — totals, CAGR, difference, value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 flipV="1">
            <a:off x="3720948" y="2253573"/>
            <a:ext cx="388620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rot="4680000">
            <a:off x="7481438" y="2202811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5092548" y="2050373"/>
            <a:ext cx="1143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+15.2% p.a.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178148" y="3595455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8165948" y="2799673"/>
            <a:ext cx="0" cy="795782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102448" y="2799673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45" name="Text 43"/>
          <p:cNvSpPr/>
          <p:nvPr/>
        </p:nvSpPr>
        <p:spPr>
          <a:xfrm>
            <a:off x="8204048" y="3102314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+53%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073248" y="3233272"/>
            <a:ext cx="5181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3098648" y="3042772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Ø 92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 total — sum of all category totals (top-right)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98533"/>
            <a:ext cx="453390" cy="16068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20671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8733" y="3154204"/>
            <a:ext cx="453390" cy="19511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727933" y="4034552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970054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710913" y="3268980"/>
            <a:ext cx="453390" cy="18364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660113" y="4091940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7003" y="3001169"/>
            <a:ext cx="453390" cy="21042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5126203" y="395803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71518" y="2817019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9183" y="3383756"/>
            <a:ext cx="453390" cy="17216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058383" y="414932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75273" y="2886393"/>
            <a:ext cx="453390" cy="221900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6524473" y="3900646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869788" y="2702243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103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507453" y="2771616"/>
            <a:ext cx="453390" cy="23337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456653" y="3843258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73543" y="2427288"/>
            <a:ext cx="453390" cy="26781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5" name="Text 23"/>
          <p:cNvSpPr/>
          <p:nvPr/>
        </p:nvSpPr>
        <p:spPr>
          <a:xfrm>
            <a:off x="7922743" y="3671094"/>
            <a:ext cx="55499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268058" y="2243138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343748" y="1854200"/>
            <a:ext cx="3225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717128" y="3680619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717128" y="385278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397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scenarios — PY / AC / FC / PL by fill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514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992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28405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539848" y="168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29716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6289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28634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943698" y="5270500"/>
            <a:ext cx="1657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54223" y="3390053"/>
            <a:ext cx="263525" cy="184234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2" name="Text 10"/>
          <p:cNvSpPr/>
          <p:nvPr/>
        </p:nvSpPr>
        <p:spPr>
          <a:xfrm>
            <a:off x="3203423" y="421597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530448" y="3343995"/>
            <a:ext cx="263525" cy="1888405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4" name="Text 12"/>
          <p:cNvSpPr/>
          <p:nvPr/>
        </p:nvSpPr>
        <p:spPr>
          <a:xfrm>
            <a:off x="3479648" y="419294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082898" y="3274907"/>
            <a:ext cx="263525" cy="195749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32098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911573" y="3274907"/>
            <a:ext cx="263525" cy="1957493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18" name="Text 16"/>
          <p:cNvSpPr/>
          <p:nvPr/>
        </p:nvSpPr>
        <p:spPr>
          <a:xfrm>
            <a:off x="4860773" y="415840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187798" y="3205819"/>
            <a:ext cx="263525" cy="2026581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0" name="Text 18"/>
          <p:cNvSpPr/>
          <p:nvPr/>
        </p:nvSpPr>
        <p:spPr>
          <a:xfrm>
            <a:off x="5136998" y="4123859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40248" y="3159760"/>
            <a:ext cx="263525" cy="207264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89448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568923" y="3159760"/>
            <a:ext cx="263525" cy="2072640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24" name="Text 22"/>
          <p:cNvSpPr/>
          <p:nvPr/>
        </p:nvSpPr>
        <p:spPr>
          <a:xfrm>
            <a:off x="6518123" y="4100830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5148" y="3021584"/>
            <a:ext cx="263525" cy="2210816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6" name="Text 24"/>
          <p:cNvSpPr/>
          <p:nvPr/>
        </p:nvSpPr>
        <p:spPr>
          <a:xfrm>
            <a:off x="6794348" y="4031742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397598" y="3044613"/>
            <a:ext cx="263525" cy="2187787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346798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8226273" y="3044613"/>
            <a:ext cx="263525" cy="2187787"/>
          </a:xfrm>
          <a:prstGeom prst="rect">
            <a:avLst/>
          </a:prstGeom>
          <a:solidFill>
            <a:srgbClr val="BFC8D8"/>
          </a:solidFill>
          <a:ln/>
        </p:spPr>
      </p:sp>
      <p:sp>
        <p:nvSpPr>
          <p:cNvPr id="30" name="Text 28"/>
          <p:cNvSpPr/>
          <p:nvPr/>
        </p:nvSpPr>
        <p:spPr>
          <a:xfrm>
            <a:off x="8175473" y="4043257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8778723" y="2883408"/>
            <a:ext cx="263525" cy="2348992"/>
          </a:xfrm>
          <a:prstGeom prst="rect">
            <a:avLst/>
          </a:prstGeom>
          <a:solidFill>
            <a:srgbClr val="91A3C1"/>
          </a:solidFill>
          <a:ln w="12700">
            <a:solidFill>
              <a:srgbClr val="3B6EA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727923" y="3962654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9054948" y="2929467"/>
            <a:ext cx="263525" cy="2302933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004148" y="3985683"/>
            <a:ext cx="3651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971648" y="5232400"/>
            <a:ext cx="6629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270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IBCS variance tier — actual vs plan (Δ below)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39848" y="46990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539848" y="313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2539848" y="1562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297164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48802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00440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20788" y="5397500"/>
            <a:ext cx="15163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30728" y="2215642"/>
            <a:ext cx="492760" cy="2572258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1" name="Text 9"/>
          <p:cNvSpPr/>
          <p:nvPr/>
        </p:nvSpPr>
        <p:spPr>
          <a:xfrm>
            <a:off x="3179928" y="340652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736188" y="2121535"/>
            <a:ext cx="492760" cy="266636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85388" y="335946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47108" y="2027428"/>
            <a:ext cx="492760" cy="2760472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5" name="Text 13"/>
          <p:cNvSpPr/>
          <p:nvPr/>
        </p:nvSpPr>
        <p:spPr>
          <a:xfrm>
            <a:off x="4696308" y="3312414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52568" y="2090166"/>
            <a:ext cx="492760" cy="2697734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01768" y="334378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263488" y="1776476"/>
            <a:ext cx="492760" cy="3011424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19" name="Text 17"/>
          <p:cNvSpPr/>
          <p:nvPr/>
        </p:nvSpPr>
        <p:spPr>
          <a:xfrm>
            <a:off x="6212688" y="3186938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68948" y="1807845"/>
            <a:ext cx="492760" cy="2980055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8148" y="3202623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779868" y="1933321"/>
            <a:ext cx="492760" cy="2854579"/>
          </a:xfrm>
          <a:prstGeom prst="rect">
            <a:avLst/>
          </a:prstGeom>
          <a:solidFill>
            <a:srgbClr val="3B6EA5"/>
          </a:solidFill>
          <a:ln/>
        </p:spPr>
      </p:sp>
      <p:sp>
        <p:nvSpPr>
          <p:cNvPr id="23" name="Text 21"/>
          <p:cNvSpPr/>
          <p:nvPr/>
        </p:nvSpPr>
        <p:spPr>
          <a:xfrm>
            <a:off x="7729068" y="3265361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8285328" y="1651000"/>
            <a:ext cx="492760" cy="3136900"/>
          </a:xfrm>
          <a:prstGeom prst="rect">
            <a:avLst/>
          </a:prstGeom>
          <a:ln w="19050">
            <a:solidFill>
              <a:srgbClr val="3B6EA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234528" y="3124200"/>
            <a:ext cx="5943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2971648" y="507365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350743" y="5073650"/>
            <a:ext cx="758190" cy="4572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8" name="Text 26"/>
          <p:cNvSpPr/>
          <p:nvPr/>
        </p:nvSpPr>
        <p:spPr>
          <a:xfrm>
            <a:off x="2971648" y="513207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4867123" y="5043170"/>
            <a:ext cx="758190" cy="3048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0" name="Text 28"/>
          <p:cNvSpPr/>
          <p:nvPr/>
        </p:nvSpPr>
        <p:spPr>
          <a:xfrm>
            <a:off x="4488028" y="490982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383503" y="5058410"/>
            <a:ext cx="758190" cy="15240"/>
          </a:xfrm>
          <a:prstGeom prst="rect">
            <a:avLst/>
          </a:prstGeom>
          <a:solidFill>
            <a:srgbClr val="0CA30C"/>
          </a:solidFill>
          <a:ln/>
        </p:spPr>
      </p:sp>
      <p:sp>
        <p:nvSpPr>
          <p:cNvPr id="32" name="Text 30"/>
          <p:cNvSpPr/>
          <p:nvPr/>
        </p:nvSpPr>
        <p:spPr>
          <a:xfrm>
            <a:off x="6004408" y="492506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CA30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7899883" y="5073650"/>
            <a:ext cx="758190" cy="1371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34" name="Text 32"/>
          <p:cNvSpPr/>
          <p:nvPr/>
        </p:nvSpPr>
        <p:spPr>
          <a:xfrm>
            <a:off x="7520788" y="5223510"/>
            <a:ext cx="1516380" cy="13335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2971648" y="4787900"/>
            <a:ext cx="60655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087968" y="313372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(PL)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087968" y="33051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 (AC)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Level difference (series) + label content Value+%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34 46%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22 30%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18 24%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40 48%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26 31%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17 20%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47 48%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31 32%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19 20%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56 50%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35 31%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22 19%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178148" y="4411641"/>
            <a:ext cx="40386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8165948" y="3962739"/>
            <a:ext cx="0" cy="448903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102448" y="3962739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8" name="Text 36"/>
          <p:cNvSpPr/>
          <p:nvPr/>
        </p:nvSpPr>
        <p:spPr>
          <a:xfrm>
            <a:off x="8204048" y="4091940"/>
            <a:ext cx="939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+65%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 orientation + segment order descending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3653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31718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97827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4784725"/>
            <a:ext cx="3251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376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55076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8896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451596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7410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" name="Text 10"/>
          <p:cNvSpPr/>
          <p:nvPr/>
        </p:nvSpPr>
        <p:spPr>
          <a:xfrm>
            <a:off x="500110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423768" y="2191808"/>
            <a:ext cx="1175647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72968" y="2365375"/>
            <a:ext cx="12772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599415" y="2191808"/>
            <a:ext cx="760713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48615" y="236537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360128" y="2191808"/>
            <a:ext cx="622402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09328" y="2365375"/>
            <a:ext cx="72400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020630" y="2365375"/>
            <a:ext cx="312321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423768" y="2998258"/>
            <a:ext cx="1383115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72968" y="3171825"/>
            <a:ext cx="148471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806882" y="2998258"/>
            <a:ext cx="8990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56082" y="3171825"/>
            <a:ext cx="10006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705907" y="2998258"/>
            <a:ext cx="587824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655107" y="3171825"/>
            <a:ext cx="6894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331831" y="3171825"/>
            <a:ext cx="28120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423768" y="3804708"/>
            <a:ext cx="1625160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372968" y="3978275"/>
            <a:ext cx="1726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048927" y="3804708"/>
            <a:ext cx="1071914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98127" y="3978275"/>
            <a:ext cx="117351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120841" y="3804708"/>
            <a:ext cx="656979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70041" y="3978275"/>
            <a:ext cx="75857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815921" y="3978275"/>
            <a:ext cx="232792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23768" y="4611158"/>
            <a:ext cx="1936361" cy="5376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72968" y="4784725"/>
            <a:ext cx="20379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5360128" y="4611158"/>
            <a:ext cx="1210225" cy="53763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309328" y="4784725"/>
            <a:ext cx="1311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570353" y="4611158"/>
            <a:ext cx="760713" cy="53763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519553" y="4784725"/>
            <a:ext cx="8623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369167" y="4784725"/>
            <a:ext cx="177468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42376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Category sort descending + pinned axis + de-DE locale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85167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064933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0447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0,0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962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50,0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9760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100,0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955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734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8672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061048" y="5143500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678614" y="3962739"/>
            <a:ext cx="795867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27814" y="4438819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56,0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78614" y="3248575"/>
            <a:ext cx="795867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27814" y="351040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35,0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678614" y="2799673"/>
            <a:ext cx="795867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27814" y="2928874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79648" y="261552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113,0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72414" y="4146381"/>
            <a:ext cx="795867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821614" y="45306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47,0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72414" y="3513836"/>
            <a:ext cx="7958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21614" y="3734858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31,0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872414" y="3126147"/>
            <a:ext cx="7958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21614" y="322474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19,0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673448" y="2941997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97,0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066214" y="4289213"/>
            <a:ext cx="7958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15414" y="460205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40,0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66214" y="3758692"/>
            <a:ext cx="7958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015414" y="3928703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26,0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066214" y="3411813"/>
            <a:ext cx="7958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015414" y="3490002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17,0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867248" y="3227663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83,0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7260014" y="4411641"/>
            <a:ext cx="795867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09214" y="4663271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34,0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7260014" y="3962739"/>
            <a:ext cx="7958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09214" y="4091940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22,0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7260014" y="3595455"/>
            <a:ext cx="7958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209214" y="3683847"/>
            <a:ext cx="897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18,0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61048" y="3411305"/>
            <a:ext cx="1193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74,0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305648" y="369337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305648" y="4101465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305648" y="4672796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Clustered-stacked (stack groups) 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629758" y="5143500"/>
            <a:ext cx="255651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505683" y="3575050"/>
            <a:ext cx="839470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454883" y="4244975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505683" y="2962910"/>
            <a:ext cx="839470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54883" y="317373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357853" y="3779097"/>
            <a:ext cx="839470" cy="13263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07053" y="434699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357853" y="3268980"/>
            <a:ext cx="839470" cy="51011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07053" y="342878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448533" y="277876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4300703" y="3084830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62193" y="3268980"/>
            <a:ext cx="83947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11393" y="4091940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062193" y="2452793"/>
            <a:ext cx="839470" cy="81618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11393" y="2765637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914363" y="3422015"/>
            <a:ext cx="839470" cy="168338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63563" y="4168458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914363" y="2707852"/>
            <a:ext cx="839470" cy="71416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863563" y="2969683"/>
            <a:ext cx="941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005043" y="2268643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857213" y="2523702"/>
            <a:ext cx="9537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073248" y="5105400"/>
            <a:ext cx="51130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237068" y="2775162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Services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237068" y="2979208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Services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237068" y="410146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EU Product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237068" y="4272915"/>
            <a:ext cx="9067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Product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Axis break (620 outlier) + axis title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3910584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821684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714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€m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4684227"/>
            <a:ext cx="922867" cy="4211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47995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4553864"/>
            <a:ext cx="922867" cy="55153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4734382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3710026"/>
            <a:ext cx="922867" cy="13953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4312463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4493697"/>
            <a:ext cx="922867" cy="61170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470429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54248" y="4111142"/>
            <a:ext cx="5664200" cy="19202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2" name="Shape 20"/>
          <p:cNvSpPr/>
          <p:nvPr/>
        </p:nvSpPr>
        <p:spPr>
          <a:xfrm flipV="1">
            <a:off x="3428848" y="4271416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3428848" y="4079392"/>
            <a:ext cx="5715000" cy="635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Log scale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3053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5052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7051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56134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1,000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10,000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714500"/>
            <a:ext cx="54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$m (log)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Seed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19889" y="4623692"/>
            <a:ext cx="922867" cy="4817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669089" y="476929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123239" y="3823592"/>
            <a:ext cx="922867" cy="12818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072439" y="436924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26589" y="3231228"/>
            <a:ext cx="922867" cy="187417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6475789" y="407306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29939" y="2482069"/>
            <a:ext cx="922867" cy="262333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7879139" y="3698485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100%= row (columns short of 100%)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825240"/>
            <a:ext cx="1242907" cy="1280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37007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2865120"/>
            <a:ext cx="1242907" cy="9601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499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30%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2545080"/>
            <a:ext cx="1242907" cy="8001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284988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25%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12694" y="2865120"/>
            <a:ext cx="1242907" cy="2240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061894" y="389001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70%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112694" y="222504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61894" y="244983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20%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717128" y="245935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Lost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717128" y="389953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Won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Stacked waterfall + value-line-anchored difference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1116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Organic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34908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M&amp;A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48700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24928" y="5143500"/>
            <a:ext cx="11379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62901" y="4085167"/>
            <a:ext cx="758613" cy="102023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86701" y="45000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62901" y="3350599"/>
            <a:ext cx="758613" cy="73456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186701" y="3622633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21514" y="3350599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3" name="Shape 11"/>
          <p:cNvSpPr/>
          <p:nvPr/>
        </p:nvSpPr>
        <p:spPr>
          <a:xfrm>
            <a:off x="4400821" y="3187361"/>
            <a:ext cx="758613" cy="16323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24621" y="3173730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400821" y="3064933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159434" y="3064933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5538741" y="2962910"/>
            <a:ext cx="758613" cy="10202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538741" y="2779268"/>
            <a:ext cx="758613" cy="18364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62541" y="2775839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97354" y="2779268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676661" y="2779268"/>
            <a:ext cx="758613" cy="12242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6661" y="2901696"/>
            <a:ext cx="758613" cy="12242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435274" y="3024124"/>
            <a:ext cx="379307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7814581" y="3024124"/>
            <a:ext cx="758613" cy="2081276"/>
          </a:xfrm>
          <a:prstGeom prst="rect">
            <a:avLst/>
          </a:prstGeom>
          <a:solidFill>
            <a:srgbClr val="898781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38381" y="3969512"/>
            <a:ext cx="9110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5689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046914" y="3064933"/>
            <a:ext cx="470408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8700194" y="3024124"/>
            <a:ext cx="0" cy="40809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636694" y="3024124"/>
            <a:ext cx="127000" cy="127000"/>
          </a:xfrm>
          <a:prstGeom prst="triangle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8738294" y="2949279"/>
            <a:ext cx="40555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+2.0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073248" y="3064933"/>
            <a:ext cx="5689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32" name="Text 30"/>
          <p:cNvSpPr/>
          <p:nvPr/>
        </p:nvSpPr>
        <p:spPr>
          <a:xfrm>
            <a:off x="3098648" y="2874433"/>
            <a:ext cx="1270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5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Rotated waterfall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679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047848" y="26352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3047848" y="32025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47848" y="3769783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433705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4904317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560928" y="1974144"/>
            <a:ext cx="3128061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484728" y="2067983"/>
            <a:ext cx="32804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688988" y="23523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6688988" y="2541411"/>
            <a:ext cx="509219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6612788" y="2635250"/>
            <a:ext cx="6616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198208" y="29195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7198208" y="3108678"/>
            <a:ext cx="327355" cy="378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122008" y="3202517"/>
            <a:ext cx="47975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525563" y="3486856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7089089" y="3675944"/>
            <a:ext cx="436474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9" name="Text 17"/>
          <p:cNvSpPr/>
          <p:nvPr/>
        </p:nvSpPr>
        <p:spPr>
          <a:xfrm>
            <a:off x="7012889" y="3769783"/>
            <a:ext cx="58887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089089" y="4054122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6943598" y="4243211"/>
            <a:ext cx="145491" cy="37817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14489" y="4337050"/>
            <a:ext cx="508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943598" y="4621389"/>
            <a:ext cx="0" cy="189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3560928" y="4810478"/>
            <a:ext cx="3382670" cy="37817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3484728" y="4904317"/>
            <a:ext cx="353507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560928" y="1879600"/>
            <a:ext cx="0" cy="3403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98088" y="2057400"/>
            <a:ext cx="1875628" cy="1587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672688" y="2755900"/>
            <a:ext cx="192642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5573716" y="2057400"/>
            <a:ext cx="1250419" cy="1587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548316" y="2755900"/>
            <a:ext cx="13012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6824135" y="2057400"/>
            <a:ext cx="625209" cy="1587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798735" y="2755900"/>
            <a:ext cx="67600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487444" y="2755900"/>
            <a:ext cx="165640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98088" y="3670300"/>
            <a:ext cx="2456180" cy="9525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72688" y="4051300"/>
            <a:ext cx="25069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154268" y="3670300"/>
            <a:ext cx="1339735" cy="9525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128868" y="405130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94002" y="3670300"/>
            <a:ext cx="1116445" cy="9525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468602" y="4051300"/>
            <a:ext cx="116724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648548" y="40513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698088" y="4648200"/>
            <a:ext cx="803841" cy="6350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72688" y="4870450"/>
            <a:ext cx="8546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01928" y="4648200"/>
            <a:ext cx="982472" cy="6350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76528" y="4870450"/>
            <a:ext cx="103327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4400" y="4648200"/>
            <a:ext cx="1339735" cy="63500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459000" y="4870450"/>
            <a:ext cx="13905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862235" y="4870450"/>
            <a:ext cx="22816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Mekko with units (X extent) — rotated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047848" y="27559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405130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3047848" y="4870450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698088" y="2057400"/>
            <a:ext cx="0" cy="32258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69808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Text 27"/>
          <p:cNvSpPr/>
          <p:nvPr/>
        </p:nvSpPr>
        <p:spPr>
          <a:xfrm>
            <a:off x="3825088" y="18288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6632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1" name="Text 29"/>
          <p:cNvSpPr/>
          <p:nvPr/>
        </p:nvSpPr>
        <p:spPr>
          <a:xfrm>
            <a:off x="4790288" y="18288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148428" y="18732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3" name="Text 31"/>
          <p:cNvSpPr/>
          <p:nvPr/>
        </p:nvSpPr>
        <p:spPr>
          <a:xfrm>
            <a:off x="5275428" y="1828800"/>
            <a:ext cx="6248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 + secondary axis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293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062318" y="5143500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4863" y="3881120"/>
            <a:ext cx="886460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44063" y="439801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94863" y="3330194"/>
            <a:ext cx="886460" cy="550926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44063" y="3510407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073248" y="279679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24553" y="3697478"/>
            <a:ext cx="886460" cy="140792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3753" y="4306189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24553" y="3024124"/>
            <a:ext cx="886460" cy="67335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3753" y="3265551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02938" y="2630424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54243" y="3513836"/>
            <a:ext cx="886460" cy="159156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3443" y="4214368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54243" y="2687447"/>
            <a:ext cx="886460" cy="826389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03443" y="3005392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363597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83933" y="3268980"/>
            <a:ext cx="886460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233133" y="4091940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283933" y="2258949"/>
            <a:ext cx="886460" cy="101003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33133" y="2668715"/>
            <a:ext cx="988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062318" y="1935099"/>
            <a:ext cx="13296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318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442808" y="2398840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442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Product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740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8417408" y="44043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417408" y="37922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8417408" y="31800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417408" y="25679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841740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707613" y="317728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357093" y="299821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 flipV="1">
            <a:off x="3738093" y="3024124"/>
            <a:ext cx="1329690" cy="183642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037303" y="299364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86783" y="2814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067783" y="2779268"/>
            <a:ext cx="1329690" cy="244856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66993" y="274878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016473" y="256971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 flipV="1">
            <a:off x="6397473" y="2350770"/>
            <a:ext cx="1329690" cy="428498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96683" y="232029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46163" y="214122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442808" y="214757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partition lines, trend, groups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751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862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5306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86385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7749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08610" y="2108200"/>
            <a:ext cx="0" cy="3022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3479648" y="36195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 flipV="1">
            <a:off x="3479648" y="2450745"/>
            <a:ext cx="5562600" cy="234683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7757008" y="2501545"/>
            <a:ext cx="12852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0.99, p &lt; 0.001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3479648" y="19558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606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264508" y="19558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439150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049368" y="195580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517636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275938" y="44126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179860" y="395922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222848" y="3656965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65835" y="3128010"/>
            <a:ext cx="76200" cy="762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2563" y="3014663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586953" y="2523490"/>
            <a:ext cx="76200" cy="76200"/>
          </a:xfrm>
          <a:prstGeom prst="ellips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377538" y="436816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281460" y="39147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324448" y="361251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7367435" y="308356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7854163" y="2970213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056093" y="247904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— quadratic (degree 2) trend fit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3180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229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6924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603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74973" y="2722880"/>
            <a:ext cx="121682" cy="21379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296654" y="2936678"/>
            <a:ext cx="121682" cy="20197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418336" y="3138653"/>
            <a:ext cx="121682" cy="19015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4540018" y="3328803"/>
            <a:ext cx="121682" cy="17832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4661700" y="3507130"/>
            <a:ext cx="121682" cy="16650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83382" y="3673634"/>
            <a:ext cx="121682" cy="15468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905064" y="3828313"/>
            <a:ext cx="121682" cy="14285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5026746" y="3971169"/>
            <a:ext cx="121682" cy="13103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>
            <a:off x="5148428" y="4102202"/>
            <a:ext cx="121682" cy="11920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5270109" y="4221410"/>
            <a:ext cx="121682" cy="10738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5391791" y="4328795"/>
            <a:ext cx="121682" cy="9556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5513473" y="4424356"/>
            <a:ext cx="121682" cy="83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5635155" y="4508094"/>
            <a:ext cx="121682" cy="7191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5756837" y="4580007"/>
            <a:ext cx="121682" cy="6009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5878519" y="4640097"/>
            <a:ext cx="121682" cy="4826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6000201" y="4688364"/>
            <a:ext cx="121682" cy="3644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121883" y="4724806"/>
            <a:ext cx="121682" cy="2461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43564" y="4749425"/>
            <a:ext cx="121682" cy="1279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365246" y="4762221"/>
            <a:ext cx="121682" cy="97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 flipV="1">
            <a:off x="6486928" y="4752340"/>
            <a:ext cx="121682" cy="1085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 flipV="1">
            <a:off x="6608610" y="4729664"/>
            <a:ext cx="121682" cy="2267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 flipV="1">
            <a:off x="6730292" y="4695165"/>
            <a:ext cx="121682" cy="345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 flipV="1">
            <a:off x="6851974" y="4648841"/>
            <a:ext cx="121682" cy="4632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 flipV="1">
            <a:off x="6973656" y="4590694"/>
            <a:ext cx="121682" cy="5814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 flipV="1">
            <a:off x="7095338" y="4520724"/>
            <a:ext cx="121682" cy="6997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5" name="Shape 43"/>
          <p:cNvSpPr/>
          <p:nvPr/>
        </p:nvSpPr>
        <p:spPr>
          <a:xfrm flipV="1">
            <a:off x="7217019" y="4438929"/>
            <a:ext cx="121682" cy="8179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 flipV="1">
            <a:off x="7338701" y="4345311"/>
            <a:ext cx="121682" cy="9361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7" name="Shape 45"/>
          <p:cNvSpPr/>
          <p:nvPr/>
        </p:nvSpPr>
        <p:spPr>
          <a:xfrm flipV="1">
            <a:off x="7460383" y="4239870"/>
            <a:ext cx="121682" cy="10544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 flipV="1">
            <a:off x="7582065" y="4122604"/>
            <a:ext cx="121682" cy="11726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49" name="Shape 47"/>
          <p:cNvSpPr/>
          <p:nvPr/>
        </p:nvSpPr>
        <p:spPr>
          <a:xfrm flipV="1">
            <a:off x="7703747" y="3993515"/>
            <a:ext cx="121682" cy="12908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 flipV="1">
            <a:off x="7825429" y="3852602"/>
            <a:ext cx="121682" cy="140913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1" name="Shape 49"/>
          <p:cNvSpPr/>
          <p:nvPr/>
        </p:nvSpPr>
        <p:spPr>
          <a:xfrm flipV="1">
            <a:off x="7947111" y="3699866"/>
            <a:ext cx="121682" cy="152737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 flipV="1">
            <a:off x="8068793" y="3535305"/>
            <a:ext cx="121682" cy="16456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3" name="Shape 51"/>
          <p:cNvSpPr/>
          <p:nvPr/>
        </p:nvSpPr>
        <p:spPr>
          <a:xfrm flipV="1">
            <a:off x="8190474" y="3358921"/>
            <a:ext cx="121682" cy="176384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 flipV="1">
            <a:off x="8312156" y="3170714"/>
            <a:ext cx="121682" cy="188208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5" name="Shape 53"/>
          <p:cNvSpPr/>
          <p:nvPr/>
        </p:nvSpPr>
        <p:spPr>
          <a:xfrm flipV="1">
            <a:off x="8433838" y="2970682"/>
            <a:ext cx="121682" cy="200031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 flipV="1">
            <a:off x="8555520" y="2758827"/>
            <a:ext cx="121682" cy="211855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 flipV="1">
            <a:off x="8677202" y="2535149"/>
            <a:ext cx="121682" cy="223679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 flipV="1">
            <a:off x="8798884" y="2299646"/>
            <a:ext cx="121682" cy="235502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59" name="Shape 57"/>
          <p:cNvSpPr/>
          <p:nvPr/>
        </p:nvSpPr>
        <p:spPr>
          <a:xfrm flipV="1">
            <a:off x="8920566" y="2052320"/>
            <a:ext cx="121682" cy="247326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0" name="Text 58"/>
          <p:cNvSpPr/>
          <p:nvPr/>
        </p:nvSpPr>
        <p:spPr>
          <a:xfrm>
            <a:off x="7695286" y="1905000"/>
            <a:ext cx="1346962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R² = 1.00 · quadratic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136873" y="2654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4832198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527523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6222848" y="46863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918173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613498" y="4117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308823" y="33045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004148" y="20040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38473" y="2609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4933798" y="37477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000" dirty="0"/>
          </a:p>
        </p:txBody>
      </p:sp>
      <p:sp>
        <p:nvSpPr>
          <p:cNvPr id="71" name="Text 69"/>
          <p:cNvSpPr/>
          <p:nvPr/>
        </p:nvSpPr>
        <p:spPr>
          <a:xfrm>
            <a:off x="5629123" y="43980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000" dirty="0"/>
          </a:p>
        </p:txBody>
      </p:sp>
      <p:sp>
        <p:nvSpPr>
          <p:cNvPr id="72" name="Text 70"/>
          <p:cNvSpPr/>
          <p:nvPr/>
        </p:nvSpPr>
        <p:spPr>
          <a:xfrm>
            <a:off x="6324448" y="46418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7019773" y="456057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000" dirty="0"/>
          </a:p>
        </p:txBody>
      </p:sp>
      <p:sp>
        <p:nvSpPr>
          <p:cNvPr id="74" name="Text 72"/>
          <p:cNvSpPr/>
          <p:nvPr/>
        </p:nvSpPr>
        <p:spPr>
          <a:xfrm>
            <a:off x="7715098" y="40728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75" name="Text 73"/>
          <p:cNvSpPr/>
          <p:nvPr/>
        </p:nvSpPr>
        <p:spPr>
          <a:xfrm>
            <a:off x="8410423" y="326009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1000" dirty="0"/>
          </a:p>
        </p:txBody>
      </p:sp>
      <p:sp>
        <p:nvSpPr>
          <p:cNvPr id="76" name="Text 74"/>
          <p:cNvSpPr/>
          <p:nvPr/>
        </p:nvSpPr>
        <p:spPr>
          <a:xfrm>
            <a:off x="8884768" y="195961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— sections, owners, remarks, deps, today, holiday, bracket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25193" y="1993900"/>
            <a:ext cx="894651" cy="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925193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819845" y="1993900"/>
            <a:ext cx="0" cy="4445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25193" y="1822450"/>
            <a:ext cx="894651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5564230" y="2247900"/>
            <a:ext cx="63904" cy="2882900"/>
          </a:xfrm>
          <a:prstGeom prst="rect">
            <a:avLst/>
          </a:prstGeom>
          <a:solidFill>
            <a:srgbClr val="EFE7E7"/>
          </a:solidFill>
          <a:ln/>
        </p:spPr>
      </p:sp>
      <p:sp>
        <p:nvSpPr>
          <p:cNvPr id="8" name="Shape 6"/>
          <p:cNvSpPr/>
          <p:nvPr/>
        </p:nvSpPr>
        <p:spPr>
          <a:xfrm>
            <a:off x="479738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5244712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0" name="Shape 8"/>
          <p:cNvSpPr/>
          <p:nvPr/>
        </p:nvSpPr>
        <p:spPr>
          <a:xfrm>
            <a:off x="5692037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1" name="Shape 9"/>
          <p:cNvSpPr/>
          <p:nvPr/>
        </p:nvSpPr>
        <p:spPr>
          <a:xfrm>
            <a:off x="6139363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586689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3" name="Shape 11"/>
          <p:cNvSpPr/>
          <p:nvPr/>
        </p:nvSpPr>
        <p:spPr>
          <a:xfrm>
            <a:off x="7034015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4" name="Shape 12"/>
          <p:cNvSpPr/>
          <p:nvPr/>
        </p:nvSpPr>
        <p:spPr>
          <a:xfrm>
            <a:off x="7481340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5" name="Shape 13"/>
          <p:cNvSpPr/>
          <p:nvPr/>
        </p:nvSpPr>
        <p:spPr>
          <a:xfrm>
            <a:off x="7928666" y="2247900"/>
            <a:ext cx="127807" cy="28829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16" name="Shape 14"/>
          <p:cNvSpPr/>
          <p:nvPr/>
        </p:nvSpPr>
        <p:spPr>
          <a:xfrm>
            <a:off x="447786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17306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25193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20393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372519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67719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819845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515045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267171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962371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9696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7161822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7022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7609148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304348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 Feb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8056474" y="2247900"/>
            <a:ext cx="0" cy="28829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751674" y="20447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 Feb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3047848" y="226060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3047848" y="244094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 — Discovery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3174848" y="301752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132674" y="301752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33994" y="302387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done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477868" y="282448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925193" y="3210560"/>
            <a:ext cx="958555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43" name="Text 41"/>
          <p:cNvSpPr/>
          <p:nvPr/>
        </p:nvSpPr>
        <p:spPr>
          <a:xfrm>
            <a:off x="4925193" y="3023870"/>
            <a:ext cx="115026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Jan–23 Jan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3174848" y="359410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Synthesis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8132674" y="359410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477868" y="340106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564230" y="3787140"/>
            <a:ext cx="766844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48" name="Shape 46"/>
          <p:cNvSpPr/>
          <p:nvPr/>
        </p:nvSpPr>
        <p:spPr>
          <a:xfrm>
            <a:off x="5819845" y="3600450"/>
            <a:ext cx="702940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819845" y="3600450"/>
            <a:ext cx="421764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50" name="Shape 48"/>
          <p:cNvSpPr/>
          <p:nvPr/>
        </p:nvSpPr>
        <p:spPr>
          <a:xfrm>
            <a:off x="6442775" y="360934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51" name="Shape 49"/>
          <p:cNvSpPr/>
          <p:nvPr/>
        </p:nvSpPr>
        <p:spPr>
          <a:xfrm>
            <a:off x="3047848" y="3990340"/>
            <a:ext cx="6096000" cy="55118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52" name="Text 50"/>
          <p:cNvSpPr/>
          <p:nvPr/>
        </p:nvSpPr>
        <p:spPr>
          <a:xfrm>
            <a:off x="3047848" y="417068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 — Delivery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174848" y="4747260"/>
            <a:ext cx="12268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132674" y="474726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Cato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8533994" y="4753610"/>
            <a:ext cx="53365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risk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4477868" y="4554220"/>
            <a:ext cx="357860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011556" y="4940300"/>
            <a:ext cx="1341977" cy="71120"/>
          </a:xfrm>
          <a:prstGeom prst="rect">
            <a:avLst/>
          </a:prstGeom>
          <a:solidFill>
            <a:srgbClr val="CFCDC5"/>
          </a:solidFill>
          <a:ln/>
        </p:spPr>
      </p:sp>
      <p:sp>
        <p:nvSpPr>
          <p:cNvPr id="58" name="Shape 56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6267171" y="4753610"/>
            <a:ext cx="319518" cy="177800"/>
          </a:xfrm>
          <a:prstGeom prst="rect">
            <a:avLst/>
          </a:prstGeom>
          <a:solidFill>
            <a:srgbClr val="1B4E8A"/>
          </a:solidFill>
          <a:ln/>
        </p:spPr>
      </p:sp>
      <p:sp>
        <p:nvSpPr>
          <p:cNvPr id="60" name="Text 58"/>
          <p:cNvSpPr/>
          <p:nvPr/>
        </p:nvSpPr>
        <p:spPr>
          <a:xfrm>
            <a:off x="6267171" y="4753610"/>
            <a:ext cx="159759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Jan–20 Feb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7784753" y="4762500"/>
            <a:ext cx="160020" cy="160020"/>
          </a:xfrm>
          <a:prstGeom prst="ellipse">
            <a:avLst/>
          </a:prstGeom>
          <a:solidFill>
            <a:srgbClr val="0B0B0B"/>
          </a:solidFill>
          <a:ln/>
        </p:spPr>
      </p:sp>
      <p:sp>
        <p:nvSpPr>
          <p:cNvPr id="62" name="Shape 60"/>
          <p:cNvSpPr/>
          <p:nvPr/>
        </p:nvSpPr>
        <p:spPr>
          <a:xfrm>
            <a:off x="6075460" y="3112770"/>
            <a:ext cx="0" cy="57658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5794445" y="368935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rot="16200000">
            <a:off x="5807145" y="3644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5" name="Shape 63"/>
          <p:cNvSpPr/>
          <p:nvPr/>
        </p:nvSpPr>
        <p:spPr>
          <a:xfrm>
            <a:off x="6522785" y="3689350"/>
            <a:ext cx="0" cy="115316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6241771" y="4842510"/>
            <a:ext cx="281015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rot="16200000">
            <a:off x="6254471" y="479806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8" name="Shape 66"/>
          <p:cNvSpPr/>
          <p:nvPr/>
        </p:nvSpPr>
        <p:spPr>
          <a:xfrm>
            <a:off x="6714496" y="2247900"/>
            <a:ext cx="0" cy="2882900"/>
          </a:xfrm>
          <a:prstGeom prst="line">
            <a:avLst/>
          </a:prstGeom>
          <a:noFill/>
          <a:ln w="15875">
            <a:solidFill>
              <a:srgbClr val="E34948"/>
            </a:solidFill>
            <a:prstDash val="dash"/>
          </a:ln>
        </p:spPr>
      </p:sp>
      <p:sp>
        <p:nvSpPr>
          <p:cNvPr id="69" name="Text 67"/>
          <p:cNvSpPr/>
          <p:nvPr/>
        </p:nvSpPr>
        <p:spPr>
          <a:xfrm>
            <a:off x="6409696" y="5143500"/>
            <a:ext cx="6096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</a:t>
            </a:r>
            <a:endParaRPr lang="en-US" sz="85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label nudge (labelOffsets)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411641"/>
            <a:ext cx="8636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663271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962739"/>
            <a:ext cx="8636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40919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95455"/>
            <a:ext cx="8636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68384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289213"/>
            <a:ext cx="8636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60205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758692"/>
            <a:ext cx="8636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928703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411813"/>
            <a:ext cx="8636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900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146381"/>
            <a:ext cx="8636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53064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513836"/>
            <a:ext cx="8636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73485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126147"/>
            <a:ext cx="8636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2247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962739"/>
            <a:ext cx="8636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438819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248575"/>
            <a:ext cx="8636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510407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99673"/>
            <a:ext cx="8636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928874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393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Connector lines + footnote (source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49784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89148" y="4283964"/>
            <a:ext cx="863600" cy="656336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38348" y="451688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89148" y="3859276"/>
            <a:ext cx="863600" cy="42468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8348" y="39763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89148" y="3511804"/>
            <a:ext cx="863600" cy="34747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38348" y="359029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327654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84548" y="4168140"/>
            <a:ext cx="863600" cy="7721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33748" y="445897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584548" y="3666236"/>
            <a:ext cx="863600" cy="50190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33748" y="38219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584548" y="3338068"/>
            <a:ext cx="863600" cy="32816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33748" y="340690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15391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879948" y="4033012"/>
            <a:ext cx="863600" cy="90728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829148" y="43914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879948" y="3434588"/>
            <a:ext cx="863600" cy="598424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829148" y="36385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879948" y="3067812"/>
            <a:ext cx="863600" cy="366776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829148" y="3155950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883662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7175348" y="3859276"/>
            <a:ext cx="863600" cy="1081024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124548" y="4304538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7175348" y="3183636"/>
            <a:ext cx="863600" cy="6756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124548" y="3426206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75348" y="2758948"/>
            <a:ext cx="863600" cy="424688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124548" y="2876042"/>
            <a:ext cx="965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574798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4152748" y="4168140"/>
            <a:ext cx="431800" cy="11582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4152748" y="3666236"/>
            <a:ext cx="431800" cy="193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152748" y="3338068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5448148" y="4033012"/>
            <a:ext cx="431800" cy="1351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448148" y="3434588"/>
            <a:ext cx="431800" cy="23164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5448148" y="3067812"/>
            <a:ext cx="431800" cy="2702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6743548" y="3859276"/>
            <a:ext cx="431800" cy="17373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743548" y="3183636"/>
            <a:ext cx="431800" cy="25095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6743548" y="2758948"/>
            <a:ext cx="431800" cy="308864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073248" y="49403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305648" y="2885567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305648" y="343573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305648" y="431406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Statistics Denmark, 2024</a:t>
            </a:r>
            <a:endParaRPr lang="en-US" sz="8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highlight + speech-bubble callout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6293" y="3505200"/>
            <a:ext cx="932180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5493" y="421005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6293" y="3185160"/>
            <a:ext cx="932180" cy="3200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55493" y="324993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04563" y="3345180"/>
            <a:ext cx="932180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53763" y="413004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04563" y="2945130"/>
            <a:ext cx="932180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53763" y="304990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2833" y="3225165"/>
            <a:ext cx="932180" cy="188023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52033" y="407003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102833" y="2385060"/>
            <a:ext cx="932180" cy="840105"/>
          </a:xfrm>
          <a:prstGeom prst="rect">
            <a:avLst/>
          </a:prstGeom>
          <a:solidFill>
            <a:srgbClr val="E34948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52033" y="2709863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1103" y="3025140"/>
            <a:ext cx="932180" cy="20802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50303" y="3970020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501103" y="2465070"/>
            <a:ext cx="932180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50303" y="2649855"/>
            <a:ext cx="10337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 flipV="1">
            <a:off x="4238473" y="3345180"/>
            <a:ext cx="466090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238473" y="2945130"/>
            <a:ext cx="466090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5636743" y="3225165"/>
            <a:ext cx="466090" cy="12001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636743" y="2385060"/>
            <a:ext cx="466090" cy="56007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7035013" y="3025140"/>
            <a:ext cx="466090" cy="20002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35013" y="2385060"/>
            <a:ext cx="466090" cy="800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17128" y="265938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717128" y="397954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 flipV="1">
            <a:off x="6568923" y="1959610"/>
            <a:ext cx="381000" cy="400050"/>
          </a:xfrm>
          <a:prstGeom prst="line">
            <a:avLst/>
          </a:prstGeom>
          <a:noFill/>
          <a:ln w="9525">
            <a:solidFill>
              <a:srgbClr val="0B0B0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solidFill>
            <a:srgbClr val="FFFFFF"/>
          </a:solidFill>
          <a:ln w="12700">
            <a:solidFill>
              <a:srgbClr val="0B0B0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27953" y="1731010"/>
            <a:ext cx="1043940" cy="2413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One-off boost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9648" y="2438400"/>
            <a:ext cx="5613400" cy="5334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3" name="Text 1"/>
          <p:cNvSpPr/>
          <p:nvPr/>
        </p:nvSpPr>
        <p:spPr>
          <a:xfrm>
            <a:off x="3517748" y="2451100"/>
            <a:ext cx="55372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Target range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Background band (target range) + line highlight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9889" y="3078480"/>
            <a:ext cx="922867" cy="2026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3669089" y="399669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123239" y="2705100"/>
            <a:ext cx="922867" cy="2400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5072439" y="381000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26589" y="2331720"/>
            <a:ext cx="922867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6475789" y="362331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929939" y="2491740"/>
            <a:ext cx="922867" cy="26136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879139" y="370332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Scatter background bands (quadrant regions)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6956273" y="1879600"/>
            <a:ext cx="2085975" cy="3251200"/>
          </a:xfrm>
          <a:prstGeom prst="rect">
            <a:avLst/>
          </a:prstGeom>
          <a:solidFill>
            <a:srgbClr val="E8F0E4"/>
          </a:solidFill>
          <a:ln/>
        </p:spPr>
      </p:sp>
      <p:sp>
        <p:nvSpPr>
          <p:cNvPr id="4" name="Text 2"/>
          <p:cNvSpPr/>
          <p:nvPr/>
        </p:nvSpPr>
        <p:spPr>
          <a:xfrm>
            <a:off x="6994373" y="1892300"/>
            <a:ext cx="20097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Focus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484535" y="50927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27523" y="37380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570510" y="42799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613498" y="292523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56485" y="23833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86135" y="50482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29123" y="36935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672110" y="4235450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15098" y="2880783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58085" y="2338917"/>
            <a:ext cx="939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Exploding slice + slice color + 100% = note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403350" y="0"/>
                </a:moveTo>
                <a:lnTo>
                  <a:pt x="1547952" y="7470"/>
                </a:lnTo>
                <a:lnTo>
                  <a:pt x="1691015" y="29800"/>
                </a:lnTo>
                <a:lnTo>
                  <a:pt x="1831015" y="66752"/>
                </a:lnTo>
                <a:lnTo>
                  <a:pt x="1966462" y="117933"/>
                </a:lnTo>
                <a:lnTo>
                  <a:pt x="2095915" y="182799"/>
                </a:lnTo>
                <a:lnTo>
                  <a:pt x="2217995" y="260658"/>
                </a:lnTo>
                <a:lnTo>
                  <a:pt x="2331402" y="350682"/>
                </a:lnTo>
                <a:lnTo>
                  <a:pt x="2434930" y="451912"/>
                </a:lnTo>
                <a:lnTo>
                  <a:pt x="2527475" y="563271"/>
                </a:lnTo>
                <a:lnTo>
                  <a:pt x="2608054" y="683573"/>
                </a:lnTo>
                <a:lnTo>
                  <a:pt x="2675808" y="811537"/>
                </a:lnTo>
                <a:lnTo>
                  <a:pt x="2730015" y="945802"/>
                </a:lnTo>
                <a:lnTo>
                  <a:pt x="2770100" y="1084938"/>
                </a:lnTo>
                <a:lnTo>
                  <a:pt x="2795634" y="1227464"/>
                </a:lnTo>
                <a:lnTo>
                  <a:pt x="2806347" y="1371862"/>
                </a:lnTo>
                <a:lnTo>
                  <a:pt x="2802123" y="1516595"/>
                </a:lnTo>
                <a:lnTo>
                  <a:pt x="2783009" y="1660122"/>
                </a:lnTo>
                <a:lnTo>
                  <a:pt x="2749207" y="1800916"/>
                </a:lnTo>
                <a:lnTo>
                  <a:pt x="2701078" y="1937478"/>
                </a:lnTo>
                <a:lnTo>
                  <a:pt x="2639134" y="2068354"/>
                </a:lnTo>
                <a:lnTo>
                  <a:pt x="2564034" y="2192150"/>
                </a:lnTo>
                <a:lnTo>
                  <a:pt x="2476577" y="2307549"/>
                </a:lnTo>
                <a:lnTo>
                  <a:pt x="2377695" y="2413322"/>
                </a:lnTo>
                <a:lnTo>
                  <a:pt x="2268441" y="2508343"/>
                </a:lnTo>
                <a:lnTo>
                  <a:pt x="2149977" y="2591600"/>
                </a:lnTo>
                <a:lnTo>
                  <a:pt x="2023565" y="2662208"/>
                </a:lnTo>
                <a:lnTo>
                  <a:pt x="1890550" y="2719415"/>
                </a:lnTo>
                <a:lnTo>
                  <a:pt x="1752349" y="2762611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590764" y="32818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46%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626508" y="2173627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1752349" y="2762611"/>
                </a:moveTo>
                <a:lnTo>
                  <a:pt x="1610066" y="2791392"/>
                </a:lnTo>
                <a:lnTo>
                  <a:pt x="1465571" y="2805320"/>
                </a:lnTo>
                <a:lnTo>
                  <a:pt x="1320410" y="2804247"/>
                </a:lnTo>
                <a:lnTo>
                  <a:pt x="1176137" y="2788184"/>
                </a:lnTo>
                <a:lnTo>
                  <a:pt x="1034295" y="2757303"/>
                </a:lnTo>
                <a:lnTo>
                  <a:pt x="896402" y="2711935"/>
                </a:lnTo>
                <a:lnTo>
                  <a:pt x="763933" y="2652564"/>
                </a:lnTo>
                <a:lnTo>
                  <a:pt x="638306" y="2579827"/>
                </a:lnTo>
                <a:lnTo>
                  <a:pt x="520865" y="2494502"/>
                </a:lnTo>
                <a:lnTo>
                  <a:pt x="412867" y="2397500"/>
                </a:lnTo>
                <a:lnTo>
                  <a:pt x="315468" y="2289862"/>
                </a:lnTo>
                <a:lnTo>
                  <a:pt x="229708" y="2172737"/>
                </a:lnTo>
                <a:lnTo>
                  <a:pt x="156507" y="2047380"/>
                </a:lnTo>
                <a:lnTo>
                  <a:pt x="96648" y="1915132"/>
                </a:lnTo>
                <a:lnTo>
                  <a:pt x="50770" y="1777407"/>
                </a:lnTo>
                <a:lnTo>
                  <a:pt x="19365" y="1635680"/>
                </a:lnTo>
                <a:lnTo>
                  <a:pt x="2769" y="1491467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150140" y="4185634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28%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2769" y="1491467"/>
                </a:moveTo>
                <a:lnTo>
                  <a:pt x="1122" y="1347254"/>
                </a:lnTo>
                <a:lnTo>
                  <a:pt x="14284" y="1203632"/>
                </a:lnTo>
                <a:lnTo>
                  <a:pt x="42118" y="1062121"/>
                </a:lnTo>
                <a:lnTo>
                  <a:pt x="84328" y="924213"/>
                </a:lnTo>
                <a:lnTo>
                  <a:pt x="140470" y="791366"/>
                </a:lnTo>
                <a:lnTo>
                  <a:pt x="209950" y="664982"/>
                </a:lnTo>
                <a:lnTo>
                  <a:pt x="292034" y="546397"/>
                </a:lnTo>
                <a:lnTo>
                  <a:pt x="385856" y="436863"/>
                </a:lnTo>
                <a:lnTo>
                  <a:pt x="490424" y="337537"/>
                </a:lnTo>
                <a:lnTo>
                  <a:pt x="604635" y="249467"/>
                </a:lnTo>
                <a:lnTo>
                  <a:pt x="727281" y="173585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62223" y="2971737"/>
            <a:ext cx="942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18%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92498" y="2082800"/>
            <a:ext cx="2806700" cy="2806700"/>
          </a:xfrm>
          <a:custGeom>
            <a:avLst/>
            <a:gdLst/>
            <a:ahLst/>
            <a:cxnLst/>
            <a:rect l="l" t="t" r="r" b="b"/>
            <a:pathLst>
              <a:path w="2806700" h="2806700">
                <a:moveTo>
                  <a:pt x="727281" y="173585"/>
                </a:moveTo>
                <a:lnTo>
                  <a:pt x="854116" y="111943"/>
                </a:lnTo>
                <a:lnTo>
                  <a:pt x="986497" y="63341"/>
                </a:lnTo>
                <a:lnTo>
                  <a:pt x="1123087" y="28270"/>
                </a:lnTo>
                <a:lnTo>
                  <a:pt x="1262507" y="7085"/>
                </a:lnTo>
                <a:lnTo>
                  <a:pt x="1403350" y="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lnTo>
                  <a:pt x="1403350" y="1403350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726319" y="2046932"/>
            <a:ext cx="17371" cy="67656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122142" y="193323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= 100   ·   Source: annual report FY24</a:t>
            </a:r>
            <a:endParaRPr lang="en-US" sz="8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Pattern fills (SVG/preview; solid in PPT)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93760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801968" y="5143500"/>
            <a:ext cx="1864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3974" y="3505200"/>
            <a:ext cx="1242907" cy="160020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33174" y="421005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83974" y="3105150"/>
            <a:ext cx="1242907" cy="40005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3174" y="32099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83974" y="2865120"/>
            <a:ext cx="1242907" cy="24003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33174" y="288988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248334" y="3345180"/>
            <a:ext cx="1242907" cy="17602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97534" y="41300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48334" y="2785110"/>
            <a:ext cx="1242907" cy="56007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97534" y="296989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248334" y="2465070"/>
            <a:ext cx="1242907" cy="32004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197534" y="252984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112694" y="3105150"/>
            <a:ext cx="1242907" cy="20002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061894" y="4010025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12694" y="2465070"/>
            <a:ext cx="1242907" cy="6400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061894" y="2689860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112694" y="2105025"/>
            <a:ext cx="1242907" cy="360045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061894" y="2189798"/>
            <a:ext cx="134450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 flipV="1">
            <a:off x="4626881" y="3345180"/>
            <a:ext cx="621453" cy="16002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626881" y="278511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626881" y="2465070"/>
            <a:ext cx="621453" cy="4000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6491241" y="3105150"/>
            <a:ext cx="621453" cy="24003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491241" y="2465070"/>
            <a:ext cx="621453" cy="32004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6491241" y="2105025"/>
            <a:ext cx="621453" cy="36004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717128" y="21993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717128" y="269938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717128" y="401955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from raw samples (Tukey whiskers, outliers)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39852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03860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3985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42519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350520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339014" y="352298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387274" y="187706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5450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29184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5450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65176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29718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10148" y="2906607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771786" y="27813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8157481" y="3611880"/>
            <a:ext cx="0" cy="1066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157481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36118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25928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718560"/>
            <a:ext cx="1029123" cy="53340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642919" y="403860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081281" y="3736340"/>
            <a:ext cx="152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98781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129541" y="2090420"/>
            <a:ext cx="55880" cy="5588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7642919" y="384810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boxplot (same shared axis, rotated)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187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029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68705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1907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047848" y="30035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047848" y="38163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047848" y="4629150"/>
            <a:ext cx="3937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702148" y="22860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228948" y="22860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4387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28948" y="21854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97248" y="20624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965548" y="20624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84548" y="18910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807048" y="30988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597248" y="30988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119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97248" y="29982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33848" y="2875280"/>
            <a:ext cx="14732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070448" y="28752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9448" y="27038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5333848" y="39116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60648" y="3911600"/>
            <a:ext cx="3683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0704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60648" y="38110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228948" y="36880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597248" y="36880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16248" y="35166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6070448" y="4724400"/>
            <a:ext cx="11049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28948" y="4724400"/>
            <a:ext cx="736600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1753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228948" y="4623816"/>
            <a:ext cx="0" cy="20116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965548" y="4500880"/>
            <a:ext cx="1104900" cy="4470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33848" y="4500880"/>
            <a:ext cx="0" cy="44704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52848" y="432943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4923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Grouped boxplots (2024 vs 2025)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36066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0333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41603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087766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087766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48987" y="339852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48987" y="4678680"/>
            <a:ext cx="277558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779368" y="382524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79368" y="425196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958899" y="254508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58899" y="403860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20120" y="25450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820120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650501" y="3185160"/>
            <a:ext cx="616797" cy="85344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50501" y="361188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830033" y="361188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830033" y="467868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91253" y="36118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691253" y="489204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521634" y="4038600"/>
            <a:ext cx="616797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521634" y="4465320"/>
            <a:ext cx="616797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742663" y="318516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742663" y="425196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603883" y="31851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03883" y="44653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434264" y="361188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434264" y="403860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613796" y="2331720"/>
            <a:ext cx="0" cy="6400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613796" y="382524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75017" y="23317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75017" y="425196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305398" y="2971800"/>
            <a:ext cx="616797" cy="85344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05398" y="339852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8484929" y="3398520"/>
            <a:ext cx="0" cy="42672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484929" y="4465320"/>
            <a:ext cx="0" cy="2133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46150" y="339852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346150" y="4678680"/>
            <a:ext cx="277559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76531" y="3825240"/>
            <a:ext cx="616797" cy="640080"/>
          </a:xfrm>
          <a:prstGeom prst="rect">
            <a:avLst/>
          </a:prstGeom>
          <a:solidFill>
            <a:srgbClr val="E5F0EA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176531" y="4251960"/>
            <a:ext cx="616797" cy="0"/>
          </a:xfrm>
          <a:prstGeom prst="line">
            <a:avLst/>
          </a:prstGeom>
          <a:noFill/>
          <a:ln w="22225">
            <a:solidFill>
              <a:srgbClr val="1BAF7A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Error bars (Error / Error+ / Error- rows)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27762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4796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8829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2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28634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89698" y="5143500"/>
            <a:ext cx="14033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Trial 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19889" y="3121152"/>
            <a:ext cx="922867" cy="13441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669089" y="3697986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3239" y="2705100"/>
            <a:ext cx="922867" cy="17602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5072439" y="3489960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526589" y="2929128"/>
            <a:ext cx="922867" cy="153619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475789" y="3601974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929939" y="2513076"/>
            <a:ext cx="922867" cy="19522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879139" y="3393948"/>
            <a:ext cx="10244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79648" y="446532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181323" y="2961132"/>
            <a:ext cx="0" cy="32004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17823" y="296113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17823" y="32811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584673" y="2481072"/>
            <a:ext cx="0" cy="448056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1173" y="248107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21173" y="292912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88023" y="2641092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924523" y="2641092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924523" y="302514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91373" y="2385060"/>
            <a:ext cx="0" cy="384048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327873" y="2385060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327873" y="2769108"/>
            <a:ext cx="1270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705225"/>
            <a:ext cx="6019800" cy="1400175"/>
          </a:xfrm>
          <a:prstGeom prst="rect">
            <a:avLst/>
          </a:prstGeom>
          <a:solidFill>
            <a:srgbClr val="E4E2DA"/>
          </a:solidFill>
          <a:ln/>
        </p:spPr>
      </p:sp>
      <p:sp>
        <p:nvSpPr>
          <p:cNvPr id="3" name="Shape 1"/>
          <p:cNvSpPr/>
          <p:nvPr/>
        </p:nvSpPr>
        <p:spPr>
          <a:xfrm>
            <a:off x="3073248" y="2905125"/>
            <a:ext cx="6019800" cy="800100"/>
          </a:xfrm>
          <a:prstGeom prst="rect">
            <a:avLst/>
          </a:prstGeom>
          <a:solidFill>
            <a:srgbClr val="EFEEE8"/>
          </a:solidFill>
          <a:ln/>
        </p:spPr>
      </p:sp>
      <p:sp>
        <p:nvSpPr>
          <p:cNvPr id="4" name="Text 2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Bullet chart (Target row + range bands)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30732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81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88098" y="5143500"/>
            <a:ext cx="150495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30423" y="3425190"/>
            <a:ext cx="990600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279623" y="4170045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835373" y="2905125"/>
            <a:ext cx="990600" cy="22002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784573" y="3910013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340323" y="3185160"/>
            <a:ext cx="990600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Text 12"/>
          <p:cNvSpPr/>
          <p:nvPr/>
        </p:nvSpPr>
        <p:spPr>
          <a:xfrm>
            <a:off x="6289523" y="4050030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845273" y="2665095"/>
            <a:ext cx="990600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7794473" y="3789998"/>
            <a:ext cx="10922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49552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00473" y="310515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05423" y="2905125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8010373" y="278511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clustered columns +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188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710528" y="5143500"/>
            <a:ext cx="18186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82704" y="2971800"/>
            <a:ext cx="593513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3331904" y="394335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988918" y="3078480"/>
            <a:ext cx="593513" cy="20269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" name="Text 7"/>
          <p:cNvSpPr/>
          <p:nvPr/>
        </p:nvSpPr>
        <p:spPr>
          <a:xfrm>
            <a:off x="3938118" y="39966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201344" y="2651760"/>
            <a:ext cx="593513" cy="24536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5150544" y="378333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807558" y="2545080"/>
            <a:ext cx="593513" cy="25603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" name="Text 11"/>
          <p:cNvSpPr/>
          <p:nvPr/>
        </p:nvSpPr>
        <p:spPr>
          <a:xfrm>
            <a:off x="5756758" y="372999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019984" y="2331720"/>
            <a:ext cx="593513" cy="27736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969184" y="362331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7626198" y="2171700"/>
            <a:ext cx="593513" cy="29337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7575398" y="3543300"/>
            <a:ext cx="6951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79968" y="32035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579968" y="372427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Actual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554568" y="42164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855456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554568" y="26162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952088" y="259461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01568" y="241554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982568" y="2385060"/>
            <a:ext cx="1818640" cy="24003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770728" y="235458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20208" y="21755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5801208" y="2065020"/>
            <a:ext cx="1818640" cy="32004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89368" y="203454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238848" y="185547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79968" y="1652270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Dumbbell range (before vs after)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721583" y="345440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8583" y="34163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772383" y="3025140"/>
            <a:ext cx="0" cy="480060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721583" y="297434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48583" y="293624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19853" y="285432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246853" y="281622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170653" y="2705100"/>
            <a:ext cx="0" cy="20002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19853" y="265430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246853" y="261620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518123" y="3134360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45123" y="309626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568923" y="3185160"/>
            <a:ext cx="0" cy="12001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518123" y="3254375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45123" y="321627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916393" y="2614295"/>
            <a:ext cx="101600" cy="1016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43393" y="2576195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967193" y="2305050"/>
            <a:ext cx="0" cy="360045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916393" y="2254250"/>
            <a:ext cx="101600" cy="10160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043393" y="2216150"/>
            <a:ext cx="187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717128" y="2219325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717128" y="257937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Forecast with confidence band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6083148" y="3431858"/>
            <a:ext cx="56515" cy="733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9" name="Shape 7"/>
          <p:cNvSpPr/>
          <p:nvPr/>
        </p:nvSpPr>
        <p:spPr>
          <a:xfrm>
            <a:off x="6133313" y="3413189"/>
            <a:ext cx="56515" cy="2200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0" name="Shape 8"/>
          <p:cNvSpPr/>
          <p:nvPr/>
        </p:nvSpPr>
        <p:spPr>
          <a:xfrm>
            <a:off x="6183478" y="3394519"/>
            <a:ext cx="56515" cy="366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1" name="Shape 9"/>
          <p:cNvSpPr/>
          <p:nvPr/>
        </p:nvSpPr>
        <p:spPr>
          <a:xfrm>
            <a:off x="6233643" y="3375851"/>
            <a:ext cx="56515" cy="5134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83808" y="3357182"/>
            <a:ext cx="56515" cy="6600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3" name="Shape 11"/>
          <p:cNvSpPr/>
          <p:nvPr/>
        </p:nvSpPr>
        <p:spPr>
          <a:xfrm>
            <a:off x="6333973" y="3338513"/>
            <a:ext cx="56515" cy="806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4" name="Shape 12"/>
          <p:cNvSpPr/>
          <p:nvPr/>
        </p:nvSpPr>
        <p:spPr>
          <a:xfrm>
            <a:off x="6384138" y="3319844"/>
            <a:ext cx="56515" cy="953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434303" y="3301175"/>
            <a:ext cx="56515" cy="11001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6" name="Shape 14"/>
          <p:cNvSpPr/>
          <p:nvPr/>
        </p:nvSpPr>
        <p:spPr>
          <a:xfrm>
            <a:off x="6484468" y="3282506"/>
            <a:ext cx="56515" cy="12468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7" name="Shape 15"/>
          <p:cNvSpPr/>
          <p:nvPr/>
        </p:nvSpPr>
        <p:spPr>
          <a:xfrm>
            <a:off x="6534633" y="3263837"/>
            <a:ext cx="56515" cy="1393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8" name="Shape 16"/>
          <p:cNvSpPr/>
          <p:nvPr/>
        </p:nvSpPr>
        <p:spPr>
          <a:xfrm>
            <a:off x="6584798" y="3245168"/>
            <a:ext cx="56515" cy="15401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19" name="Shape 17"/>
          <p:cNvSpPr/>
          <p:nvPr/>
        </p:nvSpPr>
        <p:spPr>
          <a:xfrm>
            <a:off x="6634963" y="3226499"/>
            <a:ext cx="56515" cy="168688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0" name="Shape 18"/>
          <p:cNvSpPr/>
          <p:nvPr/>
        </p:nvSpPr>
        <p:spPr>
          <a:xfrm>
            <a:off x="6685128" y="3207830"/>
            <a:ext cx="56515" cy="18335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735293" y="3189161"/>
            <a:ext cx="56515" cy="19802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2" name="Shape 20"/>
          <p:cNvSpPr/>
          <p:nvPr/>
        </p:nvSpPr>
        <p:spPr>
          <a:xfrm>
            <a:off x="6785458" y="3170492"/>
            <a:ext cx="56515" cy="21269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3" name="Shape 21"/>
          <p:cNvSpPr/>
          <p:nvPr/>
        </p:nvSpPr>
        <p:spPr>
          <a:xfrm>
            <a:off x="6835623" y="3151823"/>
            <a:ext cx="56515" cy="227362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4" name="Shape 22"/>
          <p:cNvSpPr/>
          <p:nvPr/>
        </p:nvSpPr>
        <p:spPr>
          <a:xfrm>
            <a:off x="6885788" y="3133154"/>
            <a:ext cx="56515" cy="24203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5" name="Shape 23"/>
          <p:cNvSpPr/>
          <p:nvPr/>
        </p:nvSpPr>
        <p:spPr>
          <a:xfrm>
            <a:off x="6935953" y="3114485"/>
            <a:ext cx="56515" cy="25669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6" name="Shape 24"/>
          <p:cNvSpPr/>
          <p:nvPr/>
        </p:nvSpPr>
        <p:spPr>
          <a:xfrm>
            <a:off x="6986118" y="3095816"/>
            <a:ext cx="56515" cy="2713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7" name="Shape 25"/>
          <p:cNvSpPr/>
          <p:nvPr/>
        </p:nvSpPr>
        <p:spPr>
          <a:xfrm>
            <a:off x="7036283" y="3077147"/>
            <a:ext cx="56515" cy="286036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8" name="Shape 26"/>
          <p:cNvSpPr/>
          <p:nvPr/>
        </p:nvSpPr>
        <p:spPr>
          <a:xfrm>
            <a:off x="7086448" y="3058478"/>
            <a:ext cx="56515" cy="300704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29" name="Shape 27"/>
          <p:cNvSpPr/>
          <p:nvPr/>
        </p:nvSpPr>
        <p:spPr>
          <a:xfrm>
            <a:off x="7136613" y="3039809"/>
            <a:ext cx="56515" cy="3153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6778" y="3021140"/>
            <a:ext cx="56515" cy="33004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1" name="Shape 29"/>
          <p:cNvSpPr/>
          <p:nvPr/>
        </p:nvSpPr>
        <p:spPr>
          <a:xfrm>
            <a:off x="7236943" y="3002471"/>
            <a:ext cx="56515" cy="344710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2" name="Shape 30"/>
          <p:cNvSpPr/>
          <p:nvPr/>
        </p:nvSpPr>
        <p:spPr>
          <a:xfrm>
            <a:off x="7287108" y="2982468"/>
            <a:ext cx="56515" cy="36004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3" name="Shape 31"/>
          <p:cNvSpPr/>
          <p:nvPr/>
        </p:nvSpPr>
        <p:spPr>
          <a:xfrm>
            <a:off x="7337273" y="2961132"/>
            <a:ext cx="56515" cy="37604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4" name="Shape 32"/>
          <p:cNvSpPr/>
          <p:nvPr/>
        </p:nvSpPr>
        <p:spPr>
          <a:xfrm>
            <a:off x="7387438" y="2939796"/>
            <a:ext cx="56515" cy="39204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5" name="Shape 33"/>
          <p:cNvSpPr/>
          <p:nvPr/>
        </p:nvSpPr>
        <p:spPr>
          <a:xfrm>
            <a:off x="7437603" y="2918460"/>
            <a:ext cx="56515" cy="40805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6" name="Shape 34"/>
          <p:cNvSpPr/>
          <p:nvPr/>
        </p:nvSpPr>
        <p:spPr>
          <a:xfrm>
            <a:off x="7487768" y="2897124"/>
            <a:ext cx="56515" cy="42405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7" name="Shape 35"/>
          <p:cNvSpPr/>
          <p:nvPr/>
        </p:nvSpPr>
        <p:spPr>
          <a:xfrm>
            <a:off x="7537933" y="2875788"/>
            <a:ext cx="56515" cy="44005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588098" y="2854452"/>
            <a:ext cx="56515" cy="45605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39" name="Shape 37"/>
          <p:cNvSpPr/>
          <p:nvPr/>
        </p:nvSpPr>
        <p:spPr>
          <a:xfrm>
            <a:off x="7638263" y="2833116"/>
            <a:ext cx="56515" cy="47205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0" name="Shape 38"/>
          <p:cNvSpPr/>
          <p:nvPr/>
        </p:nvSpPr>
        <p:spPr>
          <a:xfrm>
            <a:off x="7688428" y="2811780"/>
            <a:ext cx="56515" cy="48806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1" name="Shape 39"/>
          <p:cNvSpPr/>
          <p:nvPr/>
        </p:nvSpPr>
        <p:spPr>
          <a:xfrm>
            <a:off x="7738593" y="2790444"/>
            <a:ext cx="56515" cy="50406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8758" y="2769108"/>
            <a:ext cx="56515" cy="52006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3" name="Shape 41"/>
          <p:cNvSpPr/>
          <p:nvPr/>
        </p:nvSpPr>
        <p:spPr>
          <a:xfrm>
            <a:off x="7838923" y="2747772"/>
            <a:ext cx="56515" cy="53606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4" name="Shape 42"/>
          <p:cNvSpPr/>
          <p:nvPr/>
        </p:nvSpPr>
        <p:spPr>
          <a:xfrm>
            <a:off x="7889088" y="2726436"/>
            <a:ext cx="56515" cy="55206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5" name="Shape 43"/>
          <p:cNvSpPr/>
          <p:nvPr/>
        </p:nvSpPr>
        <p:spPr>
          <a:xfrm>
            <a:off x="7939253" y="2705100"/>
            <a:ext cx="56515" cy="56807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6" name="Shape 44"/>
          <p:cNvSpPr/>
          <p:nvPr/>
        </p:nvSpPr>
        <p:spPr>
          <a:xfrm>
            <a:off x="7989418" y="2683764"/>
            <a:ext cx="56515" cy="58407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7" name="Shape 45"/>
          <p:cNvSpPr/>
          <p:nvPr/>
        </p:nvSpPr>
        <p:spPr>
          <a:xfrm>
            <a:off x="8039583" y="2662428"/>
            <a:ext cx="56515" cy="60007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8" name="Shape 46"/>
          <p:cNvSpPr/>
          <p:nvPr/>
        </p:nvSpPr>
        <p:spPr>
          <a:xfrm>
            <a:off x="8089748" y="2641092"/>
            <a:ext cx="56515" cy="61607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49" name="Shape 47"/>
          <p:cNvSpPr/>
          <p:nvPr/>
        </p:nvSpPr>
        <p:spPr>
          <a:xfrm>
            <a:off x="8139913" y="2619756"/>
            <a:ext cx="56515" cy="63207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0" name="Shape 48"/>
          <p:cNvSpPr/>
          <p:nvPr/>
        </p:nvSpPr>
        <p:spPr>
          <a:xfrm>
            <a:off x="8190078" y="2598420"/>
            <a:ext cx="56515" cy="64808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1" name="Shape 49"/>
          <p:cNvSpPr/>
          <p:nvPr/>
        </p:nvSpPr>
        <p:spPr>
          <a:xfrm>
            <a:off x="8240243" y="2577084"/>
            <a:ext cx="56515" cy="664083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2" name="Shape 50"/>
          <p:cNvSpPr/>
          <p:nvPr/>
        </p:nvSpPr>
        <p:spPr>
          <a:xfrm>
            <a:off x="8290408" y="2555748"/>
            <a:ext cx="56515" cy="680085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3" name="Shape 51"/>
          <p:cNvSpPr/>
          <p:nvPr/>
        </p:nvSpPr>
        <p:spPr>
          <a:xfrm>
            <a:off x="8340573" y="2534412"/>
            <a:ext cx="56515" cy="696087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4" name="Shape 52"/>
          <p:cNvSpPr/>
          <p:nvPr/>
        </p:nvSpPr>
        <p:spPr>
          <a:xfrm>
            <a:off x="8390738" y="2513076"/>
            <a:ext cx="56515" cy="712089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5" name="Shape 53"/>
          <p:cNvSpPr/>
          <p:nvPr/>
        </p:nvSpPr>
        <p:spPr>
          <a:xfrm>
            <a:off x="8440903" y="2491740"/>
            <a:ext cx="56515" cy="728091"/>
          </a:xfrm>
          <a:prstGeom prst="rect">
            <a:avLst/>
          </a:prstGeom>
          <a:solidFill>
            <a:srgbClr val="EAEEF8"/>
          </a:solidFill>
          <a:ln/>
        </p:spPr>
      </p:sp>
      <p:sp>
        <p:nvSpPr>
          <p:cNvPr id="56" name="Shape 54"/>
          <p:cNvSpPr/>
          <p:nvPr/>
        </p:nvSpPr>
        <p:spPr>
          <a:xfrm>
            <a:off x="6685128" y="1905000"/>
            <a:ext cx="0" cy="3200400"/>
          </a:xfrm>
          <a:prstGeom prst="line">
            <a:avLst/>
          </a:prstGeom>
          <a:noFill/>
          <a:ln w="12700">
            <a:solidFill>
              <a:srgbClr val="E1E0D9"/>
            </a:solidFill>
            <a:prstDash val="dash"/>
          </a:ln>
        </p:spPr>
      </p:sp>
      <p:sp>
        <p:nvSpPr>
          <p:cNvPr id="57" name="Shape 55"/>
          <p:cNvSpPr/>
          <p:nvPr/>
        </p:nvSpPr>
        <p:spPr>
          <a:xfrm>
            <a:off x="3644748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294228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 flipV="1">
            <a:off x="3675228" y="363321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48708" y="36027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98188" y="342366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 flipV="1">
            <a:off x="4879188" y="3441192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6052668" y="3410712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702148" y="323164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 flipV="1">
            <a:off x="6083148" y="3185160"/>
            <a:ext cx="1203960" cy="256032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7256628" y="3154680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90610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 flipV="1">
            <a:off x="7287108" y="2897124"/>
            <a:ext cx="1203960" cy="288036"/>
          </a:xfrm>
          <a:prstGeom prst="line">
            <a:avLst/>
          </a:prstGeom>
          <a:noFill/>
          <a:ln w="25400">
            <a:solidFill>
              <a:srgbClr val="2A78D6"/>
            </a:solidFill>
            <a:prstDash val="dash"/>
          </a:ln>
        </p:spPr>
      </p:sp>
      <p:sp>
        <p:nvSpPr>
          <p:cNvPr id="69" name="Shape 67"/>
          <p:cNvSpPr/>
          <p:nvPr/>
        </p:nvSpPr>
        <p:spPr>
          <a:xfrm>
            <a:off x="8460588" y="2866644"/>
            <a:ext cx="60960" cy="60960"/>
          </a:xfrm>
          <a:prstGeom prst="rect">
            <a:avLst/>
          </a:prstGeom>
          <a:solidFill>
            <a:srgbClr val="FFFFFF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110068" y="268757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69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Budget-vs-actual bridge (gap to target)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73908" y="3270504"/>
            <a:ext cx="80264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3197708" y="40927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076548" y="3270504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1" name="Shape 9"/>
          <p:cNvSpPr/>
          <p:nvPr/>
        </p:nvSpPr>
        <p:spPr>
          <a:xfrm>
            <a:off x="4477868" y="2971800"/>
            <a:ext cx="80264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401668" y="302590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80508" y="2971800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5681828" y="2779776"/>
            <a:ext cx="80264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605628" y="2780538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84468" y="2779776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6885788" y="2779776"/>
            <a:ext cx="80264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6809588" y="2812542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8428" y="3035808"/>
            <a:ext cx="40132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8089748" y="3035808"/>
            <a:ext cx="802640" cy="2069592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1" name="Text 19"/>
          <p:cNvSpPr/>
          <p:nvPr/>
        </p:nvSpPr>
        <p:spPr>
          <a:xfrm>
            <a:off x="8013548" y="3975354"/>
            <a:ext cx="9550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60868" y="2758440"/>
            <a:ext cx="660400" cy="0"/>
          </a:xfrm>
          <a:prstGeom prst="line">
            <a:avLst/>
          </a:prstGeom>
          <a:noFill/>
          <a:ln w="28575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89748" y="2758440"/>
            <a:ext cx="802640" cy="277368"/>
          </a:xfrm>
          <a:prstGeom prst="rect">
            <a:avLst/>
          </a:prstGeom>
          <a:solidFill>
            <a:srgbClr val="898781"/>
          </a:solidFill>
          <a:ln w="9525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038948" y="2567940"/>
            <a:ext cx="9042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Gap +13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Heatmap with marginal totals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77187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051398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30923" y="1803400"/>
            <a:ext cx="1279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solidFill>
            <a:srgbClr val="AABDE7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solidFill>
            <a:srgbClr val="8CA7E1"/>
          </a:solidFill>
          <a:ln/>
        </p:spPr>
      </p:sp>
      <p:sp>
        <p:nvSpPr>
          <p:cNvPr id="11" name="Text 9"/>
          <p:cNvSpPr/>
          <p:nvPr/>
        </p:nvSpPr>
        <p:spPr>
          <a:xfrm>
            <a:off x="477187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solidFill>
            <a:srgbClr val="799BDE"/>
          </a:solidFill>
          <a:ln/>
        </p:spPr>
      </p:sp>
      <p:sp>
        <p:nvSpPr>
          <p:cNvPr id="13" name="Text 11"/>
          <p:cNvSpPr/>
          <p:nvPr/>
        </p:nvSpPr>
        <p:spPr>
          <a:xfrm>
            <a:off x="6051398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330923" y="1993900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899833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solidFill>
            <a:srgbClr val="CBD5F0"/>
          </a:solidFill>
          <a:ln/>
        </p:spPr>
      </p:sp>
      <p:sp>
        <p:nvSpPr>
          <p:cNvPr id="20" name="Text 18"/>
          <p:cNvSpPr/>
          <p:nvPr/>
        </p:nvSpPr>
        <p:spPr>
          <a:xfrm>
            <a:off x="477187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22" name="Text 20"/>
          <p:cNvSpPr/>
          <p:nvPr/>
        </p:nvSpPr>
        <p:spPr>
          <a:xfrm>
            <a:off x="6051398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solidFill>
            <a:srgbClr val="C3CFEE"/>
          </a:solidFill>
          <a:ln/>
        </p:spPr>
      </p:sp>
      <p:sp>
        <p:nvSpPr>
          <p:cNvPr id="24" name="Text 22"/>
          <p:cNvSpPr/>
          <p:nvPr/>
        </p:nvSpPr>
        <p:spPr>
          <a:xfrm>
            <a:off x="7330923" y="2899833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805767"/>
            <a:ext cx="393700" cy="9059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29" name="Text 27"/>
          <p:cNvSpPr/>
          <p:nvPr/>
        </p:nvSpPr>
        <p:spPr>
          <a:xfrm>
            <a:off x="477187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solidFill>
            <a:srgbClr val="DCE3F4"/>
          </a:solidFill>
          <a:ln/>
        </p:spPr>
      </p:sp>
      <p:sp>
        <p:nvSpPr>
          <p:cNvPr id="31" name="Text 29"/>
          <p:cNvSpPr/>
          <p:nvPr/>
        </p:nvSpPr>
        <p:spPr>
          <a:xfrm>
            <a:off x="6051398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solidFill>
            <a:srgbClr val="CED8F0"/>
          </a:solidFill>
          <a:ln/>
        </p:spPr>
      </p:sp>
      <p:sp>
        <p:nvSpPr>
          <p:cNvPr id="33" name="Text 31"/>
          <p:cNvSpPr/>
          <p:nvPr/>
        </p:nvSpPr>
        <p:spPr>
          <a:xfrm>
            <a:off x="7330923" y="3805767"/>
            <a:ext cx="1266825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635848" y="1993900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5" name="Text 33"/>
          <p:cNvSpPr/>
          <p:nvPr/>
        </p:nvSpPr>
        <p:spPr>
          <a:xfrm>
            <a:off x="8635848" y="1993900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199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8635848" y="2899833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8635848" y="2899833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131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635848" y="3805767"/>
            <a:ext cx="457200" cy="893233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9" name="Text 37"/>
          <p:cNvSpPr/>
          <p:nvPr/>
        </p:nvSpPr>
        <p:spPr>
          <a:xfrm>
            <a:off x="8635848" y="3805767"/>
            <a:ext cx="431800" cy="89323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109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1" name="Text 39"/>
          <p:cNvSpPr/>
          <p:nvPr/>
        </p:nvSpPr>
        <p:spPr>
          <a:xfrm>
            <a:off x="349234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94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3" name="Text 41"/>
          <p:cNvSpPr/>
          <p:nvPr/>
        </p:nvSpPr>
        <p:spPr>
          <a:xfrm>
            <a:off x="477187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5" name="Text 43"/>
          <p:cNvSpPr/>
          <p:nvPr/>
        </p:nvSpPr>
        <p:spPr>
          <a:xfrm>
            <a:off x="6051398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111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47" name="Text 45"/>
          <p:cNvSpPr/>
          <p:nvPr/>
        </p:nvSpPr>
        <p:spPr>
          <a:xfrm>
            <a:off x="7330923" y="4737100"/>
            <a:ext cx="12668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127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9" name="Shape 47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50" name="Shape 48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51" name="Shape 49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52" name="Shape 50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53" name="Shape 51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54" name="Shape 52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55" name="Shape 53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56" name="Shape 54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57" name="Shape 55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58" name="Shape 56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59" name="Shape 57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60" name="Shape 58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61" name="Shape 59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62" name="Shape 60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63" name="Shape 61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64" name="Shape 62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65" name="Shape 63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66" name="Shape 64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67" name="Shape 65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68" name="Shape 66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69" name="Shape 67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70" name="Shape 68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71" name="Shape 69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Text 70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73" name="Text 71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8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Slope chart — market share, before vs after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27212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51012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919568" y="2044700"/>
            <a:ext cx="0" cy="30480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157568" y="1803400"/>
            <a:ext cx="152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241648" y="32013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4272128" y="2288540"/>
            <a:ext cx="3647440" cy="9432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889088" y="22580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136566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995768" y="219329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 31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41648" y="2662321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72128" y="2692801"/>
            <a:ext cx="3647440" cy="269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89088" y="293182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47848" y="2597551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28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995768" y="286705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 26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41648" y="387510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272128" y="3501323"/>
            <a:ext cx="3647440" cy="4042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889088" y="347084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3810334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19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995768" y="3406073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 22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241648" y="481838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272128" y="4040338"/>
            <a:ext cx="3647440" cy="808522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889088" y="4009858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047848" y="4753610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12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995768" y="3945088"/>
            <a:ext cx="11480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Private label 18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3073248" y="5187950"/>
            <a:ext cx="6045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Source: internal market model, 2026</a:t>
            </a:r>
            <a:endParaRPr lang="en-US" sz="8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Waffle — order mix by channel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Shape 2"/>
          <p:cNvSpPr/>
          <p:nvPr/>
        </p:nvSpPr>
        <p:spPr>
          <a:xfrm>
            <a:off x="34161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" name="Shape 3"/>
          <p:cNvSpPr/>
          <p:nvPr/>
        </p:nvSpPr>
        <p:spPr>
          <a:xfrm>
            <a:off x="37590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" name="Shape 4"/>
          <p:cNvSpPr/>
          <p:nvPr/>
        </p:nvSpPr>
        <p:spPr>
          <a:xfrm>
            <a:off x="41019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" name="Shape 5"/>
          <p:cNvSpPr/>
          <p:nvPr/>
        </p:nvSpPr>
        <p:spPr>
          <a:xfrm>
            <a:off x="44448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Shape 6"/>
          <p:cNvSpPr/>
          <p:nvPr/>
        </p:nvSpPr>
        <p:spPr>
          <a:xfrm>
            <a:off x="47877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" name="Shape 7"/>
          <p:cNvSpPr/>
          <p:nvPr/>
        </p:nvSpPr>
        <p:spPr>
          <a:xfrm>
            <a:off x="51306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54735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58164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6159348" y="49403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0732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4161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7590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1019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44448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47877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51306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54735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58164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6159348" y="45974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0732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34161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37590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019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4448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7877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51306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54735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58164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6159348" y="42545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0732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4161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7590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1019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4448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877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51306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54735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58164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6159348" y="39116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0732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4161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7590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41019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44448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47877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1306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4735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8164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9348" y="35687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0732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416148" y="3225800"/>
            <a:ext cx="294894" cy="2948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7590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6" name="Shape 54"/>
          <p:cNvSpPr/>
          <p:nvPr/>
        </p:nvSpPr>
        <p:spPr>
          <a:xfrm>
            <a:off x="41019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7" name="Shape 55"/>
          <p:cNvSpPr/>
          <p:nvPr/>
        </p:nvSpPr>
        <p:spPr>
          <a:xfrm>
            <a:off x="44448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8" name="Shape 56"/>
          <p:cNvSpPr/>
          <p:nvPr/>
        </p:nvSpPr>
        <p:spPr>
          <a:xfrm>
            <a:off x="47877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9" name="Shape 57"/>
          <p:cNvSpPr/>
          <p:nvPr/>
        </p:nvSpPr>
        <p:spPr>
          <a:xfrm>
            <a:off x="51306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0" name="Shape 58"/>
          <p:cNvSpPr/>
          <p:nvPr/>
        </p:nvSpPr>
        <p:spPr>
          <a:xfrm>
            <a:off x="54735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1" name="Shape 59"/>
          <p:cNvSpPr/>
          <p:nvPr/>
        </p:nvSpPr>
        <p:spPr>
          <a:xfrm>
            <a:off x="58164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2" name="Shape 60"/>
          <p:cNvSpPr/>
          <p:nvPr/>
        </p:nvSpPr>
        <p:spPr>
          <a:xfrm>
            <a:off x="6159348" y="32258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3" name="Shape 61"/>
          <p:cNvSpPr/>
          <p:nvPr/>
        </p:nvSpPr>
        <p:spPr>
          <a:xfrm>
            <a:off x="30732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4" name="Shape 62"/>
          <p:cNvSpPr/>
          <p:nvPr/>
        </p:nvSpPr>
        <p:spPr>
          <a:xfrm>
            <a:off x="34161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5" name="Shape 63"/>
          <p:cNvSpPr/>
          <p:nvPr/>
        </p:nvSpPr>
        <p:spPr>
          <a:xfrm>
            <a:off x="37590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6" name="Shape 64"/>
          <p:cNvSpPr/>
          <p:nvPr/>
        </p:nvSpPr>
        <p:spPr>
          <a:xfrm>
            <a:off x="41019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7" name="Shape 65"/>
          <p:cNvSpPr/>
          <p:nvPr/>
        </p:nvSpPr>
        <p:spPr>
          <a:xfrm>
            <a:off x="44448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47877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9" name="Shape 67"/>
          <p:cNvSpPr/>
          <p:nvPr/>
        </p:nvSpPr>
        <p:spPr>
          <a:xfrm>
            <a:off x="51306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0" name="Shape 68"/>
          <p:cNvSpPr/>
          <p:nvPr/>
        </p:nvSpPr>
        <p:spPr>
          <a:xfrm>
            <a:off x="54735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1" name="Shape 69"/>
          <p:cNvSpPr/>
          <p:nvPr/>
        </p:nvSpPr>
        <p:spPr>
          <a:xfrm>
            <a:off x="58164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2" name="Shape 70"/>
          <p:cNvSpPr/>
          <p:nvPr/>
        </p:nvSpPr>
        <p:spPr>
          <a:xfrm>
            <a:off x="6159348" y="28829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3" name="Shape 71"/>
          <p:cNvSpPr/>
          <p:nvPr/>
        </p:nvSpPr>
        <p:spPr>
          <a:xfrm>
            <a:off x="30732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4" name="Shape 72"/>
          <p:cNvSpPr/>
          <p:nvPr/>
        </p:nvSpPr>
        <p:spPr>
          <a:xfrm>
            <a:off x="34161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5" name="Shape 73"/>
          <p:cNvSpPr/>
          <p:nvPr/>
        </p:nvSpPr>
        <p:spPr>
          <a:xfrm>
            <a:off x="37590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6" name="Shape 74"/>
          <p:cNvSpPr/>
          <p:nvPr/>
        </p:nvSpPr>
        <p:spPr>
          <a:xfrm>
            <a:off x="41019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7" name="Shape 75"/>
          <p:cNvSpPr/>
          <p:nvPr/>
        </p:nvSpPr>
        <p:spPr>
          <a:xfrm>
            <a:off x="44448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47877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51306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54735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58164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159348" y="25400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30732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34161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37590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41019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4444848" y="2197100"/>
            <a:ext cx="294894" cy="2948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47877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9" name="Shape 87"/>
          <p:cNvSpPr/>
          <p:nvPr/>
        </p:nvSpPr>
        <p:spPr>
          <a:xfrm>
            <a:off x="51306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0" name="Shape 88"/>
          <p:cNvSpPr/>
          <p:nvPr/>
        </p:nvSpPr>
        <p:spPr>
          <a:xfrm>
            <a:off x="54735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1" name="Shape 89"/>
          <p:cNvSpPr/>
          <p:nvPr/>
        </p:nvSpPr>
        <p:spPr>
          <a:xfrm>
            <a:off x="58164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2" name="Shape 90"/>
          <p:cNvSpPr/>
          <p:nvPr/>
        </p:nvSpPr>
        <p:spPr>
          <a:xfrm>
            <a:off x="6159348" y="21971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3" name="Shape 91"/>
          <p:cNvSpPr/>
          <p:nvPr/>
        </p:nvSpPr>
        <p:spPr>
          <a:xfrm>
            <a:off x="30732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4" name="Shape 92"/>
          <p:cNvSpPr/>
          <p:nvPr/>
        </p:nvSpPr>
        <p:spPr>
          <a:xfrm>
            <a:off x="34161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5" name="Shape 93"/>
          <p:cNvSpPr/>
          <p:nvPr/>
        </p:nvSpPr>
        <p:spPr>
          <a:xfrm>
            <a:off x="37590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6" name="Shape 94"/>
          <p:cNvSpPr/>
          <p:nvPr/>
        </p:nvSpPr>
        <p:spPr>
          <a:xfrm>
            <a:off x="41019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7" name="Shape 95"/>
          <p:cNvSpPr/>
          <p:nvPr/>
        </p:nvSpPr>
        <p:spPr>
          <a:xfrm>
            <a:off x="44448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8" name="Shape 96"/>
          <p:cNvSpPr/>
          <p:nvPr/>
        </p:nvSpPr>
        <p:spPr>
          <a:xfrm>
            <a:off x="47877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99" name="Shape 97"/>
          <p:cNvSpPr/>
          <p:nvPr/>
        </p:nvSpPr>
        <p:spPr>
          <a:xfrm>
            <a:off x="51306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0" name="Shape 98"/>
          <p:cNvSpPr/>
          <p:nvPr/>
        </p:nvSpPr>
        <p:spPr>
          <a:xfrm>
            <a:off x="54735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164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2" name="Shape 100"/>
          <p:cNvSpPr/>
          <p:nvPr/>
        </p:nvSpPr>
        <p:spPr>
          <a:xfrm>
            <a:off x="6159348" y="1854200"/>
            <a:ext cx="294894" cy="29489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3" name="Shape 101"/>
          <p:cNvSpPr/>
          <p:nvPr/>
        </p:nvSpPr>
        <p:spPr>
          <a:xfrm>
            <a:off x="6629248" y="3295650"/>
            <a:ext cx="11430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794348" y="32448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  52%</a:t>
            </a:r>
            <a:endParaRPr lang="en-US" sz="1000" dirty="0"/>
          </a:p>
        </p:txBody>
      </p:sp>
      <p:sp>
        <p:nvSpPr>
          <p:cNvPr id="105" name="Shape 103"/>
          <p:cNvSpPr/>
          <p:nvPr/>
        </p:nvSpPr>
        <p:spPr>
          <a:xfrm>
            <a:off x="6629248" y="3511550"/>
            <a:ext cx="114300" cy="1143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Text 104"/>
          <p:cNvSpPr/>
          <p:nvPr/>
        </p:nvSpPr>
        <p:spPr>
          <a:xfrm>
            <a:off x="6794348" y="34607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  33%</a:t>
            </a:r>
            <a:endParaRPr lang="en-US" sz="1000" dirty="0"/>
          </a:p>
        </p:txBody>
      </p:sp>
      <p:sp>
        <p:nvSpPr>
          <p:cNvPr id="107" name="Shape 105"/>
          <p:cNvSpPr/>
          <p:nvPr/>
        </p:nvSpPr>
        <p:spPr>
          <a:xfrm>
            <a:off x="6629248" y="3727450"/>
            <a:ext cx="114300" cy="1143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8" name="Text 106"/>
          <p:cNvSpPr/>
          <p:nvPr/>
        </p:nvSpPr>
        <p:spPr>
          <a:xfrm>
            <a:off x="6794348" y="3676650"/>
            <a:ext cx="2324100" cy="215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Wholesale  15%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Bar-of-pie — revenue with the long tail detailed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2322993"/>
                </a:moveTo>
                <a:lnTo>
                  <a:pt x="2550291" y="2442005"/>
                </a:lnTo>
                <a:lnTo>
                  <a:pt x="2442005" y="2550291"/>
                </a:lnTo>
                <a:lnTo>
                  <a:pt x="2322993" y="2646664"/>
                </a:lnTo>
                <a:lnTo>
                  <a:pt x="2194560" y="2730070"/>
                </a:lnTo>
                <a:lnTo>
                  <a:pt x="2058112" y="2799594"/>
                </a:lnTo>
                <a:lnTo>
                  <a:pt x="1915144" y="2854474"/>
                </a:lnTo>
                <a:lnTo>
                  <a:pt x="1767223" y="2894109"/>
                </a:lnTo>
                <a:lnTo>
                  <a:pt x="1615969" y="2918065"/>
                </a:lnTo>
                <a:lnTo>
                  <a:pt x="1463040" y="2926080"/>
                </a:lnTo>
                <a:lnTo>
                  <a:pt x="1310111" y="2918065"/>
                </a:lnTo>
                <a:lnTo>
                  <a:pt x="1158857" y="2894109"/>
                </a:lnTo>
                <a:lnTo>
                  <a:pt x="1010936" y="2854474"/>
                </a:lnTo>
                <a:lnTo>
                  <a:pt x="867968" y="2799594"/>
                </a:lnTo>
                <a:lnTo>
                  <a:pt x="731520" y="2730070"/>
                </a:lnTo>
                <a:lnTo>
                  <a:pt x="603087" y="2646664"/>
                </a:lnTo>
                <a:lnTo>
                  <a:pt x="484075" y="2550291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71744" y="4375566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27%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484075" y="2550291"/>
                </a:moveTo>
                <a:lnTo>
                  <a:pt x="375789" y="2442005"/>
                </a:lnTo>
                <a:lnTo>
                  <a:pt x="279416" y="2322993"/>
                </a:lnTo>
                <a:lnTo>
                  <a:pt x="196010" y="2194560"/>
                </a:lnTo>
                <a:lnTo>
                  <a:pt x="126486" y="2058112"/>
                </a:lnTo>
                <a:lnTo>
                  <a:pt x="71606" y="1915144"/>
                </a:lnTo>
                <a:lnTo>
                  <a:pt x="31971" y="1767223"/>
                </a:lnTo>
                <a:lnTo>
                  <a:pt x="8015" y="1615969"/>
                </a:lnTo>
                <a:lnTo>
                  <a:pt x="0" y="1463040"/>
                </a:lnTo>
                <a:lnTo>
                  <a:pt x="8015" y="1310111"/>
                </a:lnTo>
                <a:lnTo>
                  <a:pt x="31971" y="1158857"/>
                </a:lnTo>
                <a:lnTo>
                  <a:pt x="71606" y="1010936"/>
                </a:lnTo>
                <a:lnTo>
                  <a:pt x="126486" y="867968"/>
                </a:lnTo>
                <a:lnTo>
                  <a:pt x="196010" y="731520"/>
                </a:lnTo>
                <a:lnTo>
                  <a:pt x="279416" y="603087"/>
                </a:lnTo>
                <a:lnTo>
                  <a:pt x="375789" y="484075"/>
                </a:lnTo>
                <a:lnTo>
                  <a:pt x="484075" y="375789"/>
                </a:lnTo>
                <a:lnTo>
                  <a:pt x="603087" y="279416"/>
                </a:lnTo>
                <a:lnTo>
                  <a:pt x="731520" y="196010"/>
                </a:lnTo>
                <a:lnTo>
                  <a:pt x="867968" y="126486"/>
                </a:lnTo>
                <a:lnTo>
                  <a:pt x="1010936" y="71606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552505" y="328485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33%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1010936" y="71606"/>
                </a:moveTo>
                <a:lnTo>
                  <a:pt x="1158857" y="31971"/>
                </a:lnTo>
                <a:lnTo>
                  <a:pt x="1310111" y="8015"/>
                </a:lnTo>
                <a:lnTo>
                  <a:pt x="1463040" y="0"/>
                </a:lnTo>
                <a:lnTo>
                  <a:pt x="1615969" y="8015"/>
                </a:lnTo>
                <a:lnTo>
                  <a:pt x="1767223" y="31971"/>
                </a:lnTo>
                <a:lnTo>
                  <a:pt x="1915144" y="71606"/>
                </a:lnTo>
                <a:lnTo>
                  <a:pt x="2058112" y="126486"/>
                </a:lnTo>
                <a:lnTo>
                  <a:pt x="2194560" y="196010"/>
                </a:lnTo>
                <a:lnTo>
                  <a:pt x="2322993" y="279416"/>
                </a:lnTo>
                <a:lnTo>
                  <a:pt x="2442005" y="375789"/>
                </a:lnTo>
                <a:lnTo>
                  <a:pt x="2550291" y="484075"/>
                </a:lnTo>
                <a:lnTo>
                  <a:pt x="2646664" y="603087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57232" y="261076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20%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13608" y="2105660"/>
            <a:ext cx="2926080" cy="2926080"/>
          </a:xfrm>
          <a:custGeom>
            <a:avLst/>
            <a:gdLst/>
            <a:ahLst/>
            <a:cxnLst/>
            <a:rect l="l" t="t" r="r" b="b"/>
            <a:pathLst>
              <a:path w="2926080" h="2926080">
                <a:moveTo>
                  <a:pt x="2646664" y="603087"/>
                </a:moveTo>
                <a:lnTo>
                  <a:pt x="2730070" y="731520"/>
                </a:lnTo>
                <a:lnTo>
                  <a:pt x="2799594" y="867968"/>
                </a:lnTo>
                <a:lnTo>
                  <a:pt x="2854474" y="1010936"/>
                </a:lnTo>
                <a:lnTo>
                  <a:pt x="2894109" y="1158857"/>
                </a:lnTo>
                <a:lnTo>
                  <a:pt x="2918065" y="1310111"/>
                </a:lnTo>
                <a:lnTo>
                  <a:pt x="2926080" y="1463040"/>
                </a:lnTo>
                <a:lnTo>
                  <a:pt x="2918065" y="1615969"/>
                </a:lnTo>
                <a:lnTo>
                  <a:pt x="2894109" y="1767223"/>
                </a:lnTo>
                <a:lnTo>
                  <a:pt x="2854474" y="1915144"/>
                </a:lnTo>
                <a:lnTo>
                  <a:pt x="2799594" y="2058112"/>
                </a:lnTo>
                <a:lnTo>
                  <a:pt x="2730070" y="2194560"/>
                </a:lnTo>
                <a:lnTo>
                  <a:pt x="2646664" y="2322993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lnTo>
                  <a:pt x="1463040" y="1463040"/>
                </a:lnTo>
                <a:close/>
              </a:path>
            </a:pathLst>
          </a:custGeom>
          <a:solidFill>
            <a:srgbClr val="89878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9722" y="3473450"/>
            <a:ext cx="668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20%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60272" y="2178812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6060272" y="4428653"/>
            <a:ext cx="889016" cy="529935"/>
          </a:xfrm>
          <a:prstGeom prst="line">
            <a:avLst/>
          </a:prstGeom>
          <a:noFill/>
          <a:ln w="9525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6949288" y="2178812"/>
            <a:ext cx="355600" cy="926592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68388" y="254685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Nordics 7%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949288" y="3105404"/>
            <a:ext cx="355600" cy="694944"/>
          </a:xfrm>
          <a:prstGeom prst="rect">
            <a:avLst/>
          </a:pr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8388" y="3357626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Benelux 5%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949288" y="3800348"/>
            <a:ext cx="355600" cy="115824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8388" y="4284218"/>
            <a:ext cx="17500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DACH 8%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Small multiples — one panel per brand, shared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79648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4796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8458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120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81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632259" y="330461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662739" y="2981036"/>
            <a:ext cx="366183" cy="3540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98443" y="295055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4028923" y="2671233"/>
            <a:ext cx="366183" cy="30980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64626" y="26407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4395106" y="2184400"/>
            <a:ext cx="366183" cy="48683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730809" y="2153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122181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553981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553981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553981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122181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5122181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122181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122181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55539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9201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8634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65253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5706593" y="3747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5737073" y="3689158"/>
            <a:ext cx="366183" cy="8851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072776" y="365867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03256" y="3689158"/>
            <a:ext cx="366183" cy="442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438959" y="370293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6469439" y="3556385"/>
            <a:ext cx="366183" cy="17703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805143" y="352590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553981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96514" y="1803400"/>
            <a:ext cx="1947333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C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7628314" y="4220248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628314" y="3335097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628314" y="2449945"/>
            <a:ext cx="1464733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196514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196514" y="4131348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196514" y="324619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196514" y="2361045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62831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7994498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360681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8726864" y="5143500"/>
            <a:ext cx="36618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7780926" y="454382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7811406" y="4308764"/>
            <a:ext cx="366183" cy="265545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147109" y="4278284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8177589" y="3954703"/>
            <a:ext cx="366183" cy="354061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13293" y="3924223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8543773" y="3290839"/>
            <a:ext cx="366183" cy="663864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879476" y="3260359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7628314" y="5105400"/>
            <a:ext cx="1464733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Bubble size legend + quadrant matrix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79600"/>
            <a:ext cx="208597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4" name="Text 2"/>
          <p:cNvSpPr/>
          <p:nvPr/>
        </p:nvSpPr>
        <p:spPr>
          <a:xfrm>
            <a:off x="3530448" y="19050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 marks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565623" y="1879600"/>
            <a:ext cx="347662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6" name="Text 4"/>
          <p:cNvSpPr/>
          <p:nvPr/>
        </p:nvSpPr>
        <p:spPr>
          <a:xfrm>
            <a:off x="5616423" y="19050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505200"/>
            <a:ext cx="2085975" cy="1625600"/>
          </a:xfrm>
          <a:prstGeom prst="rect">
            <a:avLst/>
          </a:prstGeom>
          <a:solidFill>
            <a:srgbClr val="FAF9F6"/>
          </a:solidFill>
          <a:ln/>
        </p:spPr>
      </p:sp>
      <p:sp>
        <p:nvSpPr>
          <p:cNvPr id="8" name="Text 6"/>
          <p:cNvSpPr/>
          <p:nvPr/>
        </p:nvSpPr>
        <p:spPr>
          <a:xfrm>
            <a:off x="3530448" y="3530600"/>
            <a:ext cx="198437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Dogs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5565623" y="3505200"/>
            <a:ext cx="3476625" cy="1625600"/>
          </a:xfrm>
          <a:prstGeom prst="rect">
            <a:avLst/>
          </a:prstGeom>
          <a:solidFill>
            <a:srgbClr val="F2F1EC"/>
          </a:solidFill>
          <a:ln/>
        </p:spPr>
      </p:sp>
      <p:sp>
        <p:nvSpPr>
          <p:cNvPr id="10" name="Text 8"/>
          <p:cNvSpPr/>
          <p:nvPr/>
        </p:nvSpPr>
        <p:spPr>
          <a:xfrm>
            <a:off x="5616423" y="3530600"/>
            <a:ext cx="3375025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Cash cows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565623" y="1879600"/>
            <a:ext cx="0" cy="325120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2" name="Shape 10"/>
          <p:cNvSpPr/>
          <p:nvPr/>
        </p:nvSpPr>
        <p:spPr>
          <a:xfrm>
            <a:off x="3479648" y="3505200"/>
            <a:ext cx="55626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dash"/>
          </a:ln>
        </p:spPr>
      </p:sp>
      <p:sp>
        <p:nvSpPr>
          <p:cNvPr id="13" name="Shape 1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479648" y="4047067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47848" y="3958167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479648" y="2963333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47848" y="2874433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406232" y="1908861"/>
            <a:ext cx="585216" cy="58521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406232" y="1737411"/>
            <a:ext cx="58521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890821" y="2080267"/>
            <a:ext cx="413810" cy="41381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890821" y="1823114"/>
            <a:ext cx="41381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6663665" y="1857925"/>
            <a:ext cx="585216" cy="58521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260919" y="2701617"/>
            <a:ext cx="523433" cy="52343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72607" y="3007613"/>
            <a:ext cx="453306" cy="45330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716998" y="3850779"/>
            <a:ext cx="392575" cy="3925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19380" y="4699599"/>
            <a:ext cx="320536" cy="32053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74281" y="20679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809752" y="2880783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251313" y="31517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6134973" y="3964517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665316" y="4777317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Datamark axis (Tufte range frame)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51054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165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28848" y="1905000"/>
            <a:ext cx="50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1816100"/>
            <a:ext cx="355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947262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977742" y="3025140"/>
            <a:ext cx="996188" cy="1600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943450" y="29946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V="1">
            <a:off x="4973930" y="2905125"/>
            <a:ext cx="996188" cy="12001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3963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5970118" y="2665095"/>
            <a:ext cx="996188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35826" y="263461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6966306" y="2465070"/>
            <a:ext cx="996188" cy="2000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932014" y="243459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947262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77742" y="3425190"/>
            <a:ext cx="996188" cy="800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943450" y="33947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73930" y="3425190"/>
            <a:ext cx="996188" cy="40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939638" y="343471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970118" y="330517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35826" y="327469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6966306" y="3145155"/>
            <a:ext cx="996188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32014" y="311467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11388" y="23793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A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511388" y="305943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Brand B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Diverging heatmap (YoY change, 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9234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9887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305398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711923" y="1803400"/>
            <a:ext cx="140652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047848" y="1993900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solidFill>
            <a:srgbClr val="C6D1EE"/>
          </a:solidFill>
          <a:ln/>
        </p:spPr>
      </p:sp>
      <p:sp>
        <p:nvSpPr>
          <p:cNvPr id="9" name="Text 7"/>
          <p:cNvSpPr/>
          <p:nvPr/>
        </p:nvSpPr>
        <p:spPr>
          <a:xfrm>
            <a:off x="349234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11" name="Text 9"/>
          <p:cNvSpPr/>
          <p:nvPr/>
        </p:nvSpPr>
        <p:spPr>
          <a:xfrm>
            <a:off x="489887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solidFill>
            <a:srgbClr val="F9E6E6"/>
          </a:solidFill>
          <a:ln/>
        </p:spPr>
      </p:sp>
      <p:sp>
        <p:nvSpPr>
          <p:cNvPr id="13" name="Text 11"/>
          <p:cNvSpPr/>
          <p:nvPr/>
        </p:nvSpPr>
        <p:spPr>
          <a:xfrm>
            <a:off x="6305398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-2.0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solidFill>
            <a:srgbClr val="6690DB"/>
          </a:solidFill>
          <a:ln/>
        </p:spPr>
      </p:sp>
      <p:sp>
        <p:nvSpPr>
          <p:cNvPr id="15" name="Text 13"/>
          <p:cNvSpPr/>
          <p:nvPr/>
        </p:nvSpPr>
        <p:spPr>
          <a:xfrm>
            <a:off x="7711923" y="1993900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8.0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2980267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18" name="Text 16"/>
          <p:cNvSpPr/>
          <p:nvPr/>
        </p:nvSpPr>
        <p:spPr>
          <a:xfrm>
            <a:off x="349234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solidFill>
            <a:srgbClr val="F6D8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9887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-3.0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solidFill>
            <a:srgbClr val="E5EAF7"/>
          </a:solidFill>
          <a:ln/>
        </p:spPr>
      </p:sp>
      <p:sp>
        <p:nvSpPr>
          <p:cNvPr id="22" name="Text 20"/>
          <p:cNvSpPr/>
          <p:nvPr/>
        </p:nvSpPr>
        <p:spPr>
          <a:xfrm>
            <a:off x="6305398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4" name="Text 22"/>
          <p:cNvSpPr/>
          <p:nvPr/>
        </p:nvSpPr>
        <p:spPr>
          <a:xfrm>
            <a:off x="7711923" y="2980267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047848" y="3966633"/>
            <a:ext cx="393700" cy="9863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solidFill>
            <a:srgbClr val="F2F5FB"/>
          </a:solidFill>
          <a:ln/>
        </p:spPr>
      </p:sp>
      <p:sp>
        <p:nvSpPr>
          <p:cNvPr id="27" name="Text 25"/>
          <p:cNvSpPr/>
          <p:nvPr/>
        </p:nvSpPr>
        <p:spPr>
          <a:xfrm>
            <a:off x="349234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solidFill>
            <a:srgbClr val="D6DEF2"/>
          </a:solidFill>
          <a:ln/>
        </p:spPr>
      </p:sp>
      <p:sp>
        <p:nvSpPr>
          <p:cNvPr id="29" name="Text 27"/>
          <p:cNvSpPr/>
          <p:nvPr/>
        </p:nvSpPr>
        <p:spPr>
          <a:xfrm>
            <a:off x="489887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solidFill>
            <a:srgbClr val="B4C3E9"/>
          </a:solidFill>
          <a:ln/>
        </p:spPr>
      </p:sp>
      <p:sp>
        <p:nvSpPr>
          <p:cNvPr id="31" name="Text 29"/>
          <p:cNvSpPr/>
          <p:nvPr/>
        </p:nvSpPr>
        <p:spPr>
          <a:xfrm>
            <a:off x="6305398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1923" y="3966633"/>
            <a:ext cx="1393825" cy="97366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492348" y="5029200"/>
            <a:ext cx="80433" cy="114300"/>
          </a:xfrm>
          <a:prstGeom prst="rect">
            <a:avLst/>
          </a:prstGeom>
          <a:solidFill>
            <a:srgbClr val="F0B8B8"/>
          </a:solidFill>
          <a:ln/>
        </p:spPr>
      </p:sp>
      <p:sp>
        <p:nvSpPr>
          <p:cNvPr id="35" name="Shape 33"/>
          <p:cNvSpPr/>
          <p:nvPr/>
        </p:nvSpPr>
        <p:spPr>
          <a:xfrm>
            <a:off x="3566431" y="5029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36" name="Shape 34"/>
          <p:cNvSpPr/>
          <p:nvPr/>
        </p:nvSpPr>
        <p:spPr>
          <a:xfrm>
            <a:off x="3640514" y="5029200"/>
            <a:ext cx="80433" cy="114300"/>
          </a:xfrm>
          <a:prstGeom prst="rect">
            <a:avLst/>
          </a:prstGeom>
          <a:solidFill>
            <a:srgbClr val="F4CDCC"/>
          </a:solidFill>
          <a:ln/>
        </p:spPr>
      </p:sp>
      <p:sp>
        <p:nvSpPr>
          <p:cNvPr id="37" name="Shape 35"/>
          <p:cNvSpPr/>
          <p:nvPr/>
        </p:nvSpPr>
        <p:spPr>
          <a:xfrm>
            <a:off x="3714598" y="5029200"/>
            <a:ext cx="80433" cy="114300"/>
          </a:xfrm>
          <a:prstGeom prst="rect">
            <a:avLst/>
          </a:prstGeom>
          <a:solidFill>
            <a:srgbClr val="F6D6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788681" y="5029200"/>
            <a:ext cx="80433" cy="114300"/>
          </a:xfrm>
          <a:prstGeom prst="rect">
            <a:avLst/>
          </a:prstGeom>
          <a:solidFill>
            <a:srgbClr val="F7DEDE"/>
          </a:solidFill>
          <a:ln/>
        </p:spPr>
      </p:sp>
      <p:sp>
        <p:nvSpPr>
          <p:cNvPr id="39" name="Shape 37"/>
          <p:cNvSpPr/>
          <p:nvPr/>
        </p:nvSpPr>
        <p:spPr>
          <a:xfrm>
            <a:off x="3862764" y="5029200"/>
            <a:ext cx="80433" cy="114300"/>
          </a:xfrm>
          <a:prstGeom prst="rect">
            <a:avLst/>
          </a:prstGeom>
          <a:solidFill>
            <a:srgbClr val="F9E7E7"/>
          </a:solidFill>
          <a:ln/>
        </p:spPr>
      </p:sp>
      <p:sp>
        <p:nvSpPr>
          <p:cNvPr id="40" name="Shape 38"/>
          <p:cNvSpPr/>
          <p:nvPr/>
        </p:nvSpPr>
        <p:spPr>
          <a:xfrm>
            <a:off x="3936848" y="5029200"/>
            <a:ext cx="80433" cy="114300"/>
          </a:xfrm>
          <a:prstGeom prst="rect">
            <a:avLst/>
          </a:prstGeom>
          <a:solidFill>
            <a:srgbClr val="FBEFEF"/>
          </a:solidFill>
          <a:ln/>
        </p:spPr>
      </p:sp>
      <p:sp>
        <p:nvSpPr>
          <p:cNvPr id="41" name="Shape 39"/>
          <p:cNvSpPr/>
          <p:nvPr/>
        </p:nvSpPr>
        <p:spPr>
          <a:xfrm>
            <a:off x="4010931" y="5029200"/>
            <a:ext cx="80433" cy="114300"/>
          </a:xfrm>
          <a:prstGeom prst="rect">
            <a:avLst/>
          </a:prstGeom>
          <a:solidFill>
            <a:srgbClr val="FDF6F6"/>
          </a:solidFill>
          <a:ln/>
        </p:spPr>
      </p:sp>
      <p:sp>
        <p:nvSpPr>
          <p:cNvPr id="42" name="Shape 40"/>
          <p:cNvSpPr/>
          <p:nvPr/>
        </p:nvSpPr>
        <p:spPr>
          <a:xfrm>
            <a:off x="4085014" y="5029200"/>
            <a:ext cx="80433" cy="114300"/>
          </a:xfrm>
          <a:prstGeom prst="rect">
            <a:avLst/>
          </a:prstGeom>
          <a:solidFill>
            <a:srgbClr val="FFFDFD"/>
          </a:solidFill>
          <a:ln/>
        </p:spPr>
      </p:sp>
      <p:sp>
        <p:nvSpPr>
          <p:cNvPr id="43" name="Shape 41"/>
          <p:cNvSpPr/>
          <p:nvPr/>
        </p:nvSpPr>
        <p:spPr>
          <a:xfrm>
            <a:off x="4159098" y="5029200"/>
            <a:ext cx="80433" cy="114300"/>
          </a:xfrm>
          <a:prstGeom prst="rect">
            <a:avLst/>
          </a:prstGeom>
          <a:solidFill>
            <a:srgbClr val="F9FAFD"/>
          </a:solidFill>
          <a:ln/>
        </p:spPr>
      </p:sp>
      <p:sp>
        <p:nvSpPr>
          <p:cNvPr id="44" name="Shape 42"/>
          <p:cNvSpPr/>
          <p:nvPr/>
        </p:nvSpPr>
        <p:spPr>
          <a:xfrm>
            <a:off x="4233181" y="5029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5" name="Shape 43"/>
          <p:cNvSpPr/>
          <p:nvPr/>
        </p:nvSpPr>
        <p:spPr>
          <a:xfrm>
            <a:off x="4307264" y="5029200"/>
            <a:ext cx="80433" cy="114300"/>
          </a:xfrm>
          <a:prstGeom prst="rect">
            <a:avLst/>
          </a:prstGeom>
          <a:solidFill>
            <a:srgbClr val="E9EDF8"/>
          </a:solidFill>
          <a:ln/>
        </p:spPr>
      </p:sp>
      <p:sp>
        <p:nvSpPr>
          <p:cNvPr id="46" name="Shape 44"/>
          <p:cNvSpPr/>
          <p:nvPr/>
        </p:nvSpPr>
        <p:spPr>
          <a:xfrm>
            <a:off x="4381348" y="5029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47" name="Shape 45"/>
          <p:cNvSpPr/>
          <p:nvPr/>
        </p:nvSpPr>
        <p:spPr>
          <a:xfrm>
            <a:off x="4455431" y="5029200"/>
            <a:ext cx="80433" cy="1143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48" name="Shape 46"/>
          <p:cNvSpPr/>
          <p:nvPr/>
        </p:nvSpPr>
        <p:spPr>
          <a:xfrm>
            <a:off x="4529514" y="5029200"/>
            <a:ext cx="80433" cy="114300"/>
          </a:xfrm>
          <a:prstGeom prst="rect">
            <a:avLst/>
          </a:prstGeom>
          <a:solidFill>
            <a:srgbClr val="CED7F0"/>
          </a:solidFill>
          <a:ln/>
        </p:spPr>
      </p:sp>
      <p:sp>
        <p:nvSpPr>
          <p:cNvPr id="49" name="Shape 47"/>
          <p:cNvSpPr/>
          <p:nvPr/>
        </p:nvSpPr>
        <p:spPr>
          <a:xfrm>
            <a:off x="4603598" y="5029200"/>
            <a:ext cx="80433" cy="114300"/>
          </a:xfrm>
          <a:prstGeom prst="rect">
            <a:avLst/>
          </a:prstGeom>
          <a:solidFill>
            <a:srgbClr val="C4CFED"/>
          </a:solidFill>
          <a:ln/>
        </p:spPr>
      </p:sp>
      <p:sp>
        <p:nvSpPr>
          <p:cNvPr id="50" name="Shape 48"/>
          <p:cNvSpPr/>
          <p:nvPr/>
        </p:nvSpPr>
        <p:spPr>
          <a:xfrm>
            <a:off x="4677681" y="5029200"/>
            <a:ext cx="80433" cy="114300"/>
          </a:xfrm>
          <a:prstGeom prst="rect">
            <a:avLst/>
          </a:prstGeom>
          <a:solidFill>
            <a:srgbClr val="B9C7EB"/>
          </a:solidFill>
          <a:ln/>
        </p:spPr>
      </p:sp>
      <p:sp>
        <p:nvSpPr>
          <p:cNvPr id="51" name="Shape 49"/>
          <p:cNvSpPr/>
          <p:nvPr/>
        </p:nvSpPr>
        <p:spPr>
          <a:xfrm>
            <a:off x="4751764" y="5029200"/>
            <a:ext cx="80433" cy="114300"/>
          </a:xfrm>
          <a:prstGeom prst="rect">
            <a:avLst/>
          </a:prstGeom>
          <a:solidFill>
            <a:srgbClr val="ADBEE8"/>
          </a:solidFill>
          <a:ln/>
        </p:spPr>
      </p:sp>
      <p:sp>
        <p:nvSpPr>
          <p:cNvPr id="52" name="Shape 50"/>
          <p:cNvSpPr/>
          <p:nvPr/>
        </p:nvSpPr>
        <p:spPr>
          <a:xfrm>
            <a:off x="4825848" y="5029200"/>
            <a:ext cx="80433" cy="114300"/>
          </a:xfrm>
          <a:prstGeom prst="rect">
            <a:avLst/>
          </a:prstGeom>
          <a:solidFill>
            <a:srgbClr val="A0B5E5"/>
          </a:solidFill>
          <a:ln/>
        </p:spPr>
      </p:sp>
      <p:sp>
        <p:nvSpPr>
          <p:cNvPr id="53" name="Shape 51"/>
          <p:cNvSpPr/>
          <p:nvPr/>
        </p:nvSpPr>
        <p:spPr>
          <a:xfrm>
            <a:off x="4899931" y="5029200"/>
            <a:ext cx="80433" cy="114300"/>
          </a:xfrm>
          <a:prstGeom prst="rect">
            <a:avLst/>
          </a:prstGeom>
          <a:solidFill>
            <a:srgbClr val="92ABE2"/>
          </a:solidFill>
          <a:ln/>
        </p:spPr>
      </p:sp>
      <p:sp>
        <p:nvSpPr>
          <p:cNvPr id="54" name="Shape 52"/>
          <p:cNvSpPr/>
          <p:nvPr/>
        </p:nvSpPr>
        <p:spPr>
          <a:xfrm>
            <a:off x="4974014" y="5029200"/>
            <a:ext cx="80433" cy="1143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55" name="Shape 53"/>
          <p:cNvSpPr/>
          <p:nvPr/>
        </p:nvSpPr>
        <p:spPr>
          <a:xfrm>
            <a:off x="5048098" y="5029200"/>
            <a:ext cx="80433" cy="114300"/>
          </a:xfrm>
          <a:prstGeom prst="rect">
            <a:avLst/>
          </a:prstGeom>
          <a:solidFill>
            <a:srgbClr val="6E94DC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2181" y="5029200"/>
            <a:ext cx="80433" cy="114300"/>
          </a:xfrm>
          <a:prstGeom prst="rect">
            <a:avLst/>
          </a:prstGeom>
          <a:solidFill>
            <a:srgbClr val="5487D9"/>
          </a:solidFill>
          <a:ln/>
        </p:spPr>
      </p:sp>
      <p:sp>
        <p:nvSpPr>
          <p:cNvPr id="57" name="Shape 55"/>
          <p:cNvSpPr/>
          <p:nvPr/>
        </p:nvSpPr>
        <p:spPr>
          <a:xfrm>
            <a:off x="5196264" y="5029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492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-5.0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381348" y="5149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9.0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4000348" y="5149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tile map (auto-detected layout)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988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988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988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988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DFE6F5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5441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988" dirty="0"/>
          </a:p>
        </p:txBody>
      </p:sp>
      <p:sp>
        <p:nvSpPr>
          <p:cNvPr id="13" name="Text 11"/>
          <p:cNvSpPr/>
          <p:nvPr/>
        </p:nvSpPr>
        <p:spPr>
          <a:xfrm>
            <a:off x="8115941" y="241419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D8E0F3"/>
          </a:solidFill>
          <a:ln/>
        </p:spPr>
      </p:sp>
      <p:sp>
        <p:nvSpPr>
          <p:cNvPr id="15" name="Text 13"/>
          <p:cNvSpPr/>
          <p:nvPr/>
        </p:nvSpPr>
        <p:spPr>
          <a:xfrm>
            <a:off x="410750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988" dirty="0"/>
          </a:p>
        </p:txBody>
      </p:sp>
      <p:sp>
        <p:nvSpPr>
          <p:cNvPr id="16" name="Text 14"/>
          <p:cNvSpPr/>
          <p:nvPr/>
        </p:nvSpPr>
        <p:spPr>
          <a:xfrm>
            <a:off x="410750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8" name="Text 16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988" dirty="0"/>
          </a:p>
        </p:txBody>
      </p:sp>
      <p:sp>
        <p:nvSpPr>
          <p:cNvPr id="19" name="Shape 17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0" name="Text 18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988" dirty="0"/>
          </a:p>
        </p:txBody>
      </p:sp>
      <p:sp>
        <p:nvSpPr>
          <p:cNvPr id="21" name="Shape 19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2" name="Text 20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988" dirty="0"/>
          </a:p>
        </p:txBody>
      </p:sp>
      <p:sp>
        <p:nvSpPr>
          <p:cNvPr id="23" name="Shape 21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4" name="Text 22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988" dirty="0"/>
          </a:p>
        </p:txBody>
      </p:sp>
      <p:sp>
        <p:nvSpPr>
          <p:cNvPr id="25" name="Shape 23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6" name="Text 24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988" dirty="0"/>
          </a:p>
        </p:txBody>
      </p:sp>
      <p:sp>
        <p:nvSpPr>
          <p:cNvPr id="27" name="Shape 25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28" name="Text 26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988" dirty="0"/>
          </a:p>
        </p:txBody>
      </p:sp>
      <p:sp>
        <p:nvSpPr>
          <p:cNvPr id="29" name="Shape 27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96AEE3"/>
          </a:solidFill>
          <a:ln/>
        </p:spPr>
      </p:sp>
      <p:sp>
        <p:nvSpPr>
          <p:cNvPr id="30" name="Text 28"/>
          <p:cNvSpPr/>
          <p:nvPr/>
        </p:nvSpPr>
        <p:spPr>
          <a:xfrm>
            <a:off x="7314254" y="2656284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988" dirty="0"/>
          </a:p>
        </p:txBody>
      </p:sp>
      <p:sp>
        <p:nvSpPr>
          <p:cNvPr id="31" name="Text 29"/>
          <p:cNvSpPr/>
          <p:nvPr/>
        </p:nvSpPr>
        <p:spPr>
          <a:xfrm>
            <a:off x="7314254" y="281503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3" name="Text 31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988" dirty="0"/>
          </a:p>
        </p:txBody>
      </p:sp>
      <p:sp>
        <p:nvSpPr>
          <p:cNvPr id="34" name="Shape 32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5" name="Text 33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988" dirty="0"/>
          </a:p>
        </p:txBody>
      </p:sp>
      <p:sp>
        <p:nvSpPr>
          <p:cNvPr id="36" name="Shape 34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7" name="Text 35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988" dirty="0"/>
          </a:p>
        </p:txBody>
      </p:sp>
      <p:sp>
        <p:nvSpPr>
          <p:cNvPr id="38" name="Shape 36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39" name="Text 37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988" dirty="0"/>
          </a:p>
        </p:txBody>
      </p:sp>
      <p:sp>
        <p:nvSpPr>
          <p:cNvPr id="40" name="Shape 38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1" name="Text 39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988" dirty="0"/>
          </a:p>
        </p:txBody>
      </p:sp>
      <p:sp>
        <p:nvSpPr>
          <p:cNvPr id="42" name="Shape 40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3" name="Text 41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988" dirty="0"/>
          </a:p>
        </p:txBody>
      </p:sp>
      <p:sp>
        <p:nvSpPr>
          <p:cNvPr id="44" name="Shape 42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45" name="Text 43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988" dirty="0"/>
          </a:p>
        </p:txBody>
      </p:sp>
      <p:sp>
        <p:nvSpPr>
          <p:cNvPr id="46" name="Shape 44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CFD9F1"/>
          </a:solidFill>
          <a:ln/>
        </p:spPr>
      </p:sp>
      <p:sp>
        <p:nvSpPr>
          <p:cNvPr id="47" name="Text 45"/>
          <p:cNvSpPr/>
          <p:nvPr/>
        </p:nvSpPr>
        <p:spPr>
          <a:xfrm>
            <a:off x="6111723" y="3057128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988" dirty="0"/>
          </a:p>
        </p:txBody>
      </p:sp>
      <p:sp>
        <p:nvSpPr>
          <p:cNvPr id="48" name="Text 46"/>
          <p:cNvSpPr/>
          <p:nvPr/>
        </p:nvSpPr>
        <p:spPr>
          <a:xfrm>
            <a:off x="6111723" y="321587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0" name="Text 48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988" dirty="0"/>
          </a:p>
        </p:txBody>
      </p:sp>
      <p:sp>
        <p:nvSpPr>
          <p:cNvPr id="51" name="Shape 49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2" name="Text 50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988" dirty="0"/>
          </a:p>
        </p:txBody>
      </p:sp>
      <p:sp>
        <p:nvSpPr>
          <p:cNvPr id="53" name="Shape 51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4" name="Text 52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988" dirty="0"/>
          </a:p>
        </p:txBody>
      </p:sp>
      <p:sp>
        <p:nvSpPr>
          <p:cNvPr id="55" name="Shape 53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56" name="Text 54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988" dirty="0"/>
          </a:p>
        </p:txBody>
      </p:sp>
      <p:sp>
        <p:nvSpPr>
          <p:cNvPr id="57" name="Shape 55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Text 56"/>
          <p:cNvSpPr/>
          <p:nvPr/>
        </p:nvSpPr>
        <p:spPr>
          <a:xfrm>
            <a:off x="3706660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988" dirty="0"/>
          </a:p>
        </p:txBody>
      </p:sp>
      <p:sp>
        <p:nvSpPr>
          <p:cNvPr id="59" name="Text 57"/>
          <p:cNvSpPr/>
          <p:nvPr/>
        </p:nvSpPr>
        <p:spPr>
          <a:xfrm>
            <a:off x="3706660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1" name="Text 5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988" dirty="0"/>
          </a:p>
        </p:txBody>
      </p:sp>
      <p:sp>
        <p:nvSpPr>
          <p:cNvPr id="62" name="Shape 60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3" name="Text 6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988" dirty="0"/>
          </a:p>
        </p:txBody>
      </p:sp>
      <p:sp>
        <p:nvSpPr>
          <p:cNvPr id="64" name="Shape 62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E9EEF9"/>
          </a:solidFill>
          <a:ln/>
        </p:spPr>
      </p:sp>
      <p:sp>
        <p:nvSpPr>
          <p:cNvPr id="65" name="Text 63"/>
          <p:cNvSpPr/>
          <p:nvPr/>
        </p:nvSpPr>
        <p:spPr>
          <a:xfrm>
            <a:off x="4909191" y="3457972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988" dirty="0"/>
          </a:p>
        </p:txBody>
      </p:sp>
      <p:sp>
        <p:nvSpPr>
          <p:cNvPr id="66" name="Text 64"/>
          <p:cNvSpPr/>
          <p:nvPr/>
        </p:nvSpPr>
        <p:spPr>
          <a:xfrm>
            <a:off x="4909191" y="361672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67" name="Shape 6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68" name="Text 66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988" dirty="0"/>
          </a:p>
        </p:txBody>
      </p:sp>
      <p:sp>
        <p:nvSpPr>
          <p:cNvPr id="69" name="Shape 6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0" name="Text 68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988" dirty="0"/>
          </a:p>
        </p:txBody>
      </p:sp>
      <p:sp>
        <p:nvSpPr>
          <p:cNvPr id="71" name="Shape 6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2" name="Text 70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988" dirty="0"/>
          </a:p>
        </p:txBody>
      </p:sp>
      <p:sp>
        <p:nvSpPr>
          <p:cNvPr id="73" name="Shape 7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4" name="Text 72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988" dirty="0"/>
          </a:p>
        </p:txBody>
      </p:sp>
      <p:sp>
        <p:nvSpPr>
          <p:cNvPr id="75" name="Shape 7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6" name="Text 74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988" dirty="0"/>
          </a:p>
        </p:txBody>
      </p:sp>
      <p:sp>
        <p:nvSpPr>
          <p:cNvPr id="77" name="Shape 7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78" name="Text 76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988" dirty="0"/>
          </a:p>
        </p:txBody>
      </p:sp>
      <p:sp>
        <p:nvSpPr>
          <p:cNvPr id="79" name="Shape 7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0" name="Text 78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988" dirty="0"/>
          </a:p>
        </p:txBody>
      </p:sp>
      <p:sp>
        <p:nvSpPr>
          <p:cNvPr id="81" name="Shape 7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2" name="Text 80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988" dirty="0"/>
          </a:p>
        </p:txBody>
      </p:sp>
      <p:sp>
        <p:nvSpPr>
          <p:cNvPr id="83" name="Shape 8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4" name="Text 82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988" dirty="0"/>
          </a:p>
        </p:txBody>
      </p:sp>
      <p:sp>
        <p:nvSpPr>
          <p:cNvPr id="85" name="Shape 8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6" name="Text 84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988" dirty="0"/>
          </a:p>
        </p:txBody>
      </p:sp>
      <p:sp>
        <p:nvSpPr>
          <p:cNvPr id="87" name="Shape 8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88" name="Text 86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988" dirty="0"/>
          </a:p>
        </p:txBody>
      </p:sp>
      <p:sp>
        <p:nvSpPr>
          <p:cNvPr id="89" name="Shape 8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0" name="Text 88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988" dirty="0"/>
          </a:p>
        </p:txBody>
      </p:sp>
      <p:sp>
        <p:nvSpPr>
          <p:cNvPr id="91" name="Shape 8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92" name="Text 90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988" dirty="0"/>
          </a:p>
        </p:txBody>
      </p:sp>
      <p:sp>
        <p:nvSpPr>
          <p:cNvPr id="93" name="Shape 9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94" name="Text 92"/>
          <p:cNvSpPr/>
          <p:nvPr/>
        </p:nvSpPr>
        <p:spPr>
          <a:xfrm>
            <a:off x="6913410" y="3858816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988" dirty="0"/>
          </a:p>
        </p:txBody>
      </p:sp>
      <p:sp>
        <p:nvSpPr>
          <p:cNvPr id="95" name="Text 93"/>
          <p:cNvSpPr/>
          <p:nvPr/>
        </p:nvSpPr>
        <p:spPr>
          <a:xfrm>
            <a:off x="6913410" y="401756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87A4E0"/>
          </a:solidFill>
          <a:ln/>
        </p:spPr>
      </p:sp>
      <p:sp>
        <p:nvSpPr>
          <p:cNvPr id="97" name="Text 95"/>
          <p:cNvSpPr/>
          <p:nvPr/>
        </p:nvSpPr>
        <p:spPr>
          <a:xfrm>
            <a:off x="4909191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988" dirty="0"/>
          </a:p>
        </p:txBody>
      </p:sp>
      <p:sp>
        <p:nvSpPr>
          <p:cNvPr id="98" name="Text 96"/>
          <p:cNvSpPr/>
          <p:nvPr/>
        </p:nvSpPr>
        <p:spPr>
          <a:xfrm>
            <a:off x="4909191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0" name="Text 98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988" dirty="0"/>
          </a:p>
        </p:txBody>
      </p:sp>
      <p:sp>
        <p:nvSpPr>
          <p:cNvPr id="101" name="Shape 99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2" name="Text 100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988" dirty="0"/>
          </a:p>
        </p:txBody>
      </p:sp>
      <p:sp>
        <p:nvSpPr>
          <p:cNvPr id="103" name="Shape 101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4" name="Text 102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988" dirty="0"/>
          </a:p>
        </p:txBody>
      </p:sp>
      <p:sp>
        <p:nvSpPr>
          <p:cNvPr id="105" name="Shape 103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ECF0F9"/>
          </a:solidFill>
          <a:ln/>
        </p:spPr>
      </p:sp>
      <p:sp>
        <p:nvSpPr>
          <p:cNvPr id="106" name="Text 104"/>
          <p:cNvSpPr/>
          <p:nvPr/>
        </p:nvSpPr>
        <p:spPr>
          <a:xfrm>
            <a:off x="6512566" y="4259659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988" dirty="0"/>
          </a:p>
        </p:txBody>
      </p:sp>
      <p:sp>
        <p:nvSpPr>
          <p:cNvPr id="107" name="Text 105"/>
          <p:cNvSpPr/>
          <p:nvPr/>
        </p:nvSpPr>
        <p:spPr>
          <a:xfrm>
            <a:off x="6512566" y="441840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08" name="Shape 106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09" name="Text 10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988" dirty="0"/>
          </a:p>
        </p:txBody>
      </p:sp>
      <p:sp>
        <p:nvSpPr>
          <p:cNvPr id="110" name="Shape 108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11" name="Text 10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988" dirty="0"/>
          </a:p>
        </p:txBody>
      </p:sp>
      <p:sp>
        <p:nvSpPr>
          <p:cNvPr id="112" name="Shape 110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AEC0E8"/>
          </a:solidFill>
          <a:ln/>
        </p:spPr>
      </p:sp>
      <p:sp>
        <p:nvSpPr>
          <p:cNvPr id="113" name="Text 111"/>
          <p:cNvSpPr/>
          <p:nvPr/>
        </p:nvSpPr>
        <p:spPr>
          <a:xfrm>
            <a:off x="6512566" y="4660503"/>
            <a:ext cx="36909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88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988" dirty="0"/>
          </a:p>
        </p:txBody>
      </p:sp>
      <p:sp>
        <p:nvSpPr>
          <p:cNvPr id="114" name="Text 112"/>
          <p:cNvSpPr/>
          <p:nvPr/>
        </p:nvSpPr>
        <p:spPr>
          <a:xfrm>
            <a:off x="6512566" y="481925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15" name="Shape 113"/>
          <p:cNvSpPr/>
          <p:nvPr/>
        </p:nvSpPr>
        <p:spPr>
          <a:xfrm>
            <a:off x="3706660" y="509905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770160" y="509905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833660" y="509905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897160" y="509905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960660" y="509905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0" name="Shape 118"/>
          <p:cNvSpPr/>
          <p:nvPr/>
        </p:nvSpPr>
        <p:spPr>
          <a:xfrm>
            <a:off x="4024160" y="509905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1" name="Shape 119"/>
          <p:cNvSpPr/>
          <p:nvPr/>
        </p:nvSpPr>
        <p:spPr>
          <a:xfrm>
            <a:off x="4087660" y="509905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51160" y="509905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3" name="Shape 121"/>
          <p:cNvSpPr/>
          <p:nvPr/>
        </p:nvSpPr>
        <p:spPr>
          <a:xfrm>
            <a:off x="4214660" y="509905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278160" y="509905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341660" y="509905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405160" y="509905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468660" y="509905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532160" y="509905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595660" y="509905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659160" y="509905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722660" y="509905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786160" y="509905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849660" y="509905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913160" y="509905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976660" y="509905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36" name="Shape 134"/>
          <p:cNvSpPr/>
          <p:nvPr/>
        </p:nvSpPr>
        <p:spPr>
          <a:xfrm>
            <a:off x="5040160" y="509905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5103660" y="509905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38" name="Shape 136"/>
          <p:cNvSpPr/>
          <p:nvPr/>
        </p:nvSpPr>
        <p:spPr>
          <a:xfrm>
            <a:off x="5167160" y="509905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9" name="Text 137"/>
          <p:cNvSpPr/>
          <p:nvPr/>
        </p:nvSpPr>
        <p:spPr>
          <a:xfrm>
            <a:off x="3706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0" name="Text 138"/>
          <p:cNvSpPr/>
          <p:nvPr/>
        </p:nvSpPr>
        <p:spPr>
          <a:xfrm>
            <a:off x="4468660" y="521970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1" name="Shape 139"/>
          <p:cNvSpPr/>
          <p:nvPr/>
        </p:nvSpPr>
        <p:spPr>
          <a:xfrm>
            <a:off x="5357660" y="509905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2" name="Text 140"/>
          <p:cNvSpPr/>
          <p:nvPr/>
        </p:nvSpPr>
        <p:spPr>
          <a:xfrm>
            <a:off x="5497360" y="507365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Highlighted max point (per-cell color on line)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27720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116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68512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889088" y="5143500"/>
            <a:ext cx="12039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44748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294228" y="297561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 flipV="1">
            <a:off x="3675228" y="2945130"/>
            <a:ext cx="1203960" cy="24003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8708" y="291465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98188" y="273558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135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4879188" y="2257044"/>
            <a:ext cx="1203960" cy="6880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39968" y="2213864"/>
            <a:ext cx="86360" cy="86360"/>
          </a:xfrm>
          <a:prstGeom prst="rect">
            <a:avLst/>
          </a:pr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702148" y="204749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3494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178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3148" y="2257044"/>
            <a:ext cx="1203960" cy="448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256628" y="26746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906108" y="24955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7287108" y="2513076"/>
            <a:ext cx="1203960" cy="19202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60588" y="248259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10068" y="230352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line (staircase)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84378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28694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09424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901538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08834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516131" y="5143500"/>
            <a:ext cx="80729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852816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83296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690593" y="29718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660113" y="29413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90593" y="29718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497889" y="24384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7409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97889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05186" y="2438400"/>
            <a:ext cx="0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274706" y="2407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305186" y="24384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112483" y="1905000"/>
            <a:ext cx="0" cy="5334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082003" y="1874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12483" y="1905000"/>
            <a:ext cx="807297" cy="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919779" y="1905000"/>
            <a:ext cx="0" cy="26670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889299" y="21412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479648" y="5105400"/>
            <a:ext cx="48437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374228" y="2085975"/>
            <a:ext cx="7696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 rate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Stepped area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0386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29718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475836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72024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68212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64400" y="5143500"/>
            <a:ext cx="99618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977742" y="4422648"/>
            <a:ext cx="1002538" cy="6827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4973930" y="4145280"/>
            <a:ext cx="1002538" cy="9601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5970118" y="3825240"/>
            <a:ext cx="1002538" cy="128016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6966306" y="3526536"/>
            <a:ext cx="1002538" cy="157886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977742" y="3633216"/>
            <a:ext cx="1002538" cy="78943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Shape 18"/>
          <p:cNvSpPr/>
          <p:nvPr/>
        </p:nvSpPr>
        <p:spPr>
          <a:xfrm>
            <a:off x="4973930" y="3377184"/>
            <a:ext cx="1002538" cy="76809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1" name="Shape 19"/>
          <p:cNvSpPr/>
          <p:nvPr/>
        </p:nvSpPr>
        <p:spPr>
          <a:xfrm>
            <a:off x="5970118" y="3099816"/>
            <a:ext cx="1002538" cy="7254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Shape 20"/>
          <p:cNvSpPr/>
          <p:nvPr/>
        </p:nvSpPr>
        <p:spPr>
          <a:xfrm>
            <a:off x="6966306" y="2886456"/>
            <a:ext cx="1002538" cy="64008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3" name="Shape 21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511388" y="312077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Desktop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511388" y="4230243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value ticks on both flanks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47964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6343498" y="1803400"/>
            <a:ext cx="236855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525606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93563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66392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527773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071785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119910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96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8712048" y="2032000"/>
            <a:ext cx="0" cy="3060700"/>
          </a:xfrm>
          <a:prstGeom prst="line">
            <a:avLst/>
          </a:prstGeom>
          <a:noFill/>
          <a:ln w="12700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848198" y="224282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34023"/>
            <a:ext cx="124348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4282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34023"/>
            <a:ext cx="1125061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42820"/>
            <a:ext cx="112506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380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848198" y="285496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042178" y="2746163"/>
            <a:ext cx="1806019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4042178" y="2854960"/>
            <a:ext cx="180601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343498" y="2746163"/>
            <a:ext cx="1924447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6343498" y="2854960"/>
            <a:ext cx="192444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650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848198" y="346710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249426" y="3358303"/>
            <a:ext cx="1598771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249426" y="3467100"/>
            <a:ext cx="159877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540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343498" y="3358303"/>
            <a:ext cx="1776413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6343498" y="3467100"/>
            <a:ext cx="177641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848198" y="407924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900778" y="3970443"/>
            <a:ext cx="947420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4900778" y="4079240"/>
            <a:ext cx="947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320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343498" y="3970443"/>
            <a:ext cx="1213882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6343498" y="4079240"/>
            <a:ext cx="12138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848198" y="469138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492915" y="4582583"/>
            <a:ext cx="355282" cy="408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492915" y="4691380"/>
            <a:ext cx="35528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6343498" y="4582583"/>
            <a:ext cx="473710" cy="4080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7" name="Text 35"/>
          <p:cNvSpPr/>
          <p:nvPr/>
        </p:nvSpPr>
        <p:spPr>
          <a:xfrm>
            <a:off x="6343498" y="4691380"/>
            <a:ext cx="47371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160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8481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343498" y="2032000"/>
            <a:ext cx="0" cy="30607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6322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2759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504016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671973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44802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7311873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3855885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7904010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600</a:t>
            </a:r>
            <a:endParaRPr lang="en-US" sz="850" dirty="0"/>
          </a:p>
        </p:txBody>
      </p:sp>
      <p:sp>
        <p:nvSpPr>
          <p:cNvPr id="48" name="Text 46"/>
          <p:cNvSpPr/>
          <p:nvPr/>
        </p:nvSpPr>
        <p:spPr>
          <a:xfrm>
            <a:off x="32637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8496148" y="5105400"/>
            <a:ext cx="431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800</a:t>
            </a:r>
            <a:endParaRPr lang="en-US" sz="8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Clustered overlap (Excel-style, 45%)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7151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6978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68058" y="5143500"/>
            <a:ext cx="139827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12643" y="3425190"/>
            <a:ext cx="588706" cy="16802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6"/>
          <p:cNvSpPr/>
          <p:nvPr/>
        </p:nvSpPr>
        <p:spPr>
          <a:xfrm>
            <a:off x="3261843" y="417004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643416" y="3065145"/>
            <a:ext cx="588706" cy="204025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" name="Text 8"/>
          <p:cNvSpPr/>
          <p:nvPr/>
        </p:nvSpPr>
        <p:spPr>
          <a:xfrm>
            <a:off x="3592616" y="399002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710913" y="3185160"/>
            <a:ext cx="588706" cy="19202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4660113" y="4050030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41686" y="2905125"/>
            <a:ext cx="588706" cy="22002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" name="Text 12"/>
          <p:cNvSpPr/>
          <p:nvPr/>
        </p:nvSpPr>
        <p:spPr>
          <a:xfrm>
            <a:off x="4990886" y="3910013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109183" y="3305175"/>
            <a:ext cx="588706" cy="18002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Text 14"/>
          <p:cNvSpPr/>
          <p:nvPr/>
        </p:nvSpPr>
        <p:spPr>
          <a:xfrm>
            <a:off x="6058383" y="411003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39956" y="2785110"/>
            <a:ext cx="588706" cy="232029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" name="Text 16"/>
          <p:cNvSpPr/>
          <p:nvPr/>
        </p:nvSpPr>
        <p:spPr>
          <a:xfrm>
            <a:off x="6389156" y="385000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507453" y="2665095"/>
            <a:ext cx="588706" cy="24403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7456653" y="3789998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838226" y="2305050"/>
            <a:ext cx="588706" cy="280035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7787426" y="3609975"/>
            <a:ext cx="6903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73248" y="5105400"/>
            <a:ext cx="559308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717128" y="3619500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717128" y="3799523"/>
            <a:ext cx="42672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Narrow gap width (histogram look, gapWidth 0)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686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6640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959448" y="5143500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073248" y="4411641"/>
            <a:ext cx="1295400" cy="69375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22448" y="4663271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073248" y="3962739"/>
            <a:ext cx="1295400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22448" y="40919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073248" y="3595455"/>
            <a:ext cx="1295400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22448" y="368384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73248" y="3411305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368648" y="4289213"/>
            <a:ext cx="1295400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7848" y="460205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368648" y="3758692"/>
            <a:ext cx="1295400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7848" y="3928703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368648" y="3411813"/>
            <a:ext cx="1295400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7848" y="349000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68648" y="322766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664048" y="4146381"/>
            <a:ext cx="1295400" cy="95901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13248" y="4530640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664048" y="3513836"/>
            <a:ext cx="1295400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13248" y="3734858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4048" y="3126147"/>
            <a:ext cx="1295400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13248" y="3224742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664048" y="2941997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959448" y="3962739"/>
            <a:ext cx="1295400" cy="1142661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908648" y="4438819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56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59448" y="3248575"/>
            <a:ext cx="1295400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908648" y="3510407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959448" y="2799673"/>
            <a:ext cx="1295400" cy="448903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908648" y="2928874"/>
            <a:ext cx="1397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959448" y="2615523"/>
            <a:ext cx="12954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113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05648" y="2938399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305648" y="3519932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305648" y="444834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Area with negative values (net income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054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446532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7752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2755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0713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867248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63114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458981" y="5143500"/>
            <a:ext cx="79586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77581" y="3081147"/>
            <a:ext cx="56092" cy="760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927323" y="3129153"/>
            <a:ext cx="56092" cy="7440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77064" y="3177159"/>
            <a:ext cx="56092" cy="728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4026806" y="3225165"/>
            <a:ext cx="56092" cy="7120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76548" y="3273171"/>
            <a:ext cx="56092" cy="696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126289" y="3321177"/>
            <a:ext cx="56092" cy="68008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76031" y="3369183"/>
            <a:ext cx="56092" cy="664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225773" y="3417189"/>
            <a:ext cx="56092" cy="64808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75514" y="3465195"/>
            <a:ext cx="56092" cy="632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325256" y="3513201"/>
            <a:ext cx="56092" cy="616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74998" y="3561207"/>
            <a:ext cx="56092" cy="60007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424739" y="3609213"/>
            <a:ext cx="56092" cy="584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74481" y="3657219"/>
            <a:ext cx="56092" cy="5680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524223" y="3705225"/>
            <a:ext cx="56092" cy="552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73964" y="3753231"/>
            <a:ext cx="56092" cy="53606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623706" y="3801237"/>
            <a:ext cx="56092" cy="52006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73448" y="3825240"/>
            <a:ext cx="56092" cy="5260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723189" y="3825240"/>
            <a:ext cx="56092" cy="5540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72931" y="3825240"/>
            <a:ext cx="56092" cy="582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822673" y="3825240"/>
            <a:ext cx="56092" cy="61007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72414" y="3825240"/>
            <a:ext cx="56092" cy="638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922156" y="3825240"/>
            <a:ext cx="56092" cy="666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71898" y="3825240"/>
            <a:ext cx="56092" cy="6940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5021639" y="3825240"/>
            <a:ext cx="56092" cy="722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71381" y="3825240"/>
            <a:ext cx="56092" cy="750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121123" y="3825240"/>
            <a:ext cx="56092" cy="7780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70864" y="3825240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220606" y="3825240"/>
            <a:ext cx="56092" cy="8341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270348" y="3825240"/>
            <a:ext cx="56092" cy="86210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320089" y="3825240"/>
            <a:ext cx="56092" cy="89011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369831" y="3825240"/>
            <a:ext cx="56092" cy="9181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419573" y="3825240"/>
            <a:ext cx="56092" cy="9461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469314" y="3817239"/>
            <a:ext cx="56092" cy="9381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519056" y="3801237"/>
            <a:ext cx="56092" cy="89411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568798" y="3785235"/>
            <a:ext cx="56092" cy="8501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618539" y="3769233"/>
            <a:ext cx="56092" cy="80610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668281" y="3753231"/>
            <a:ext cx="56092" cy="7620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718023" y="3737229"/>
            <a:ext cx="56092" cy="718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767764" y="3721227"/>
            <a:ext cx="56092" cy="674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817506" y="3705225"/>
            <a:ext cx="56092" cy="6300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867248" y="3689223"/>
            <a:ext cx="56092" cy="5860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916989" y="3673221"/>
            <a:ext cx="56092" cy="5420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966731" y="3657219"/>
            <a:ext cx="56092" cy="4980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6016473" y="3641217"/>
            <a:ext cx="56092" cy="454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6066214" y="3625215"/>
            <a:ext cx="56092" cy="4100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115956" y="3609213"/>
            <a:ext cx="56092" cy="3660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165698" y="3593211"/>
            <a:ext cx="56092" cy="32204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215439" y="3577209"/>
            <a:ext cx="56092" cy="278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265181" y="3541205"/>
            <a:ext cx="56092" cy="2840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314923" y="3485198"/>
            <a:ext cx="56092" cy="3400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364664" y="3429191"/>
            <a:ext cx="56092" cy="39604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414406" y="3373184"/>
            <a:ext cx="56092" cy="452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464148" y="3317177"/>
            <a:ext cx="56092" cy="5080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513889" y="3261170"/>
            <a:ext cx="56092" cy="5640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563631" y="3205163"/>
            <a:ext cx="56092" cy="6200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613373" y="3149156"/>
            <a:ext cx="56092" cy="67608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663114" y="3093149"/>
            <a:ext cx="56092" cy="73209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712856" y="3037142"/>
            <a:ext cx="56092" cy="788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762598" y="2981135"/>
            <a:ext cx="56092" cy="8441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812339" y="2925128"/>
            <a:ext cx="56092" cy="9001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862081" y="2869121"/>
            <a:ext cx="56092" cy="95611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911823" y="2813114"/>
            <a:ext cx="56092" cy="10121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961564" y="2757107"/>
            <a:ext cx="56092" cy="1068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7011306" y="2701100"/>
            <a:ext cx="56092" cy="11241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7061048" y="2657094"/>
            <a:ext cx="56092" cy="11681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7110789" y="2625090"/>
            <a:ext cx="56092" cy="12001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160531" y="2593086"/>
            <a:ext cx="56092" cy="12321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210273" y="2561082"/>
            <a:ext cx="56092" cy="12641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260014" y="2529078"/>
            <a:ext cx="56092" cy="12961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309756" y="2497074"/>
            <a:ext cx="56092" cy="13281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359498" y="2465070"/>
            <a:ext cx="56092" cy="13601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409239" y="2433066"/>
            <a:ext cx="56092" cy="13921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458981" y="2401062"/>
            <a:ext cx="56092" cy="1424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508723" y="2369058"/>
            <a:ext cx="56092" cy="1456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558464" y="2337054"/>
            <a:ext cx="56092" cy="1488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608206" y="2305050"/>
            <a:ext cx="56092" cy="1520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657948" y="2273046"/>
            <a:ext cx="56092" cy="15521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707689" y="2241042"/>
            <a:ext cx="56092" cy="15841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757431" y="2209038"/>
            <a:ext cx="56092" cy="16162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807173" y="2177034"/>
            <a:ext cx="56092" cy="16482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3479648" y="3825240"/>
            <a:ext cx="47752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305648" y="2907411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income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Trajectory trail (one entity over time)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4805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3916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8303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741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1800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091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5298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440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18796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18796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4480560"/>
            <a:ext cx="1112520" cy="26009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rot="6180000">
            <a:off x="3935641" y="4548243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4" name="Shape 22"/>
          <p:cNvSpPr/>
          <p:nvPr/>
        </p:nvSpPr>
        <p:spPr>
          <a:xfrm flipV="1">
            <a:off x="4592168" y="3830320"/>
            <a:ext cx="695325" cy="910336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rot="2220000">
            <a:off x="4858194" y="4275059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6" name="Shape 24"/>
          <p:cNvSpPr/>
          <p:nvPr/>
        </p:nvSpPr>
        <p:spPr>
          <a:xfrm>
            <a:off x="5287493" y="3830320"/>
            <a:ext cx="1668780" cy="13004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rot="5640000">
            <a:off x="6020436" y="3840597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28" name="Shape 26"/>
          <p:cNvSpPr/>
          <p:nvPr/>
        </p:nvSpPr>
        <p:spPr>
          <a:xfrm flipV="1">
            <a:off x="6956273" y="2854960"/>
            <a:ext cx="973455" cy="1105408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2460000">
            <a:off x="7358627" y="339498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 flipV="1">
            <a:off x="7929728" y="2009648"/>
            <a:ext cx="1112520" cy="845312"/>
          </a:xfrm>
          <a:prstGeom prst="line">
            <a:avLst/>
          </a:prstGeom>
          <a:noFill/>
          <a:ln w="1905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rot="3180000">
            <a:off x="8394739" y="2412238"/>
            <a:ext cx="101600" cy="1016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2" name="Shape 30"/>
          <p:cNvSpPr/>
          <p:nvPr/>
        </p:nvSpPr>
        <p:spPr>
          <a:xfrm>
            <a:off x="3441548" y="44424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554068" y="4702556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249393" y="37922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918173" y="392226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891628" y="28168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004148" y="19715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543148" y="43980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2019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55668" y="46581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350993" y="37477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019773" y="387781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7993228" y="277241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679028" y="1927098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Boxplot with jittered raw-data dots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86512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414528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8651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446532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3425190"/>
            <a:ext cx="1029123" cy="72009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382524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49334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178869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687696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373224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058752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567578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253106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76193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47461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132989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00653" y="36347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286348" y="1905000"/>
            <a:ext cx="0" cy="5600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86348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54795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54795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771786" y="2465070"/>
            <a:ext cx="1029123" cy="104013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71786" y="318516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364475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50003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6558829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244357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929885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438712" y="31661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124240" y="28460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633066" y="25260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318594" y="22059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6004122" y="18859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771786" y="29946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157481" y="350520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57481" y="4465320"/>
            <a:ext cx="0" cy="32004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925928" y="35052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925928" y="478536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642919" y="3825240"/>
            <a:ext cx="1029123" cy="640080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642919" y="4145280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235608" y="476631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921136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429963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115491" y="444627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7801018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8309845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995373" y="412623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504199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89727" y="380619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875255" y="3486150"/>
            <a:ext cx="38100" cy="38100"/>
          </a:xfrm>
          <a:prstGeom prst="ellipse">
            <a:avLst/>
          </a:prstGeom>
          <a:solidFill>
            <a:srgbClr val="2A78D6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642919" y="395478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63" name="Shape 6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Continuous color scale (a Color row)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047848" y="5041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479648" y="452628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44373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479648" y="392176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38328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9648" y="331724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047848" y="3228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479648" y="271272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7848" y="26238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479648" y="2108200"/>
            <a:ext cx="5562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47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31748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5654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9561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34679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737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479648" y="5130800"/>
            <a:ext cx="5562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9648" y="2108200"/>
            <a:ext cx="0" cy="30226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479648" y="1936750"/>
            <a:ext cx="53975" cy="88900"/>
          </a:xfrm>
          <a:prstGeom prst="rect">
            <a:avLst/>
          </a:prstGeom>
          <a:solidFill>
            <a:srgbClr val="EFF2FA"/>
          </a:solidFill>
          <a:ln/>
        </p:spPr>
      </p:sp>
      <p:sp>
        <p:nvSpPr>
          <p:cNvPr id="23" name="Shape 21"/>
          <p:cNvSpPr/>
          <p:nvPr/>
        </p:nvSpPr>
        <p:spPr>
          <a:xfrm>
            <a:off x="3527273" y="1936750"/>
            <a:ext cx="53975" cy="88900"/>
          </a:xfrm>
          <a:prstGeom prst="rect">
            <a:avLst/>
          </a:prstGeom>
          <a:solidFill>
            <a:srgbClr val="EAEFF9"/>
          </a:solidFill>
          <a:ln/>
        </p:spPr>
      </p:sp>
      <p:sp>
        <p:nvSpPr>
          <p:cNvPr id="24" name="Shape 22"/>
          <p:cNvSpPr/>
          <p:nvPr/>
        </p:nvSpPr>
        <p:spPr>
          <a:xfrm>
            <a:off x="3574898" y="1936750"/>
            <a:ext cx="53975" cy="88900"/>
          </a:xfrm>
          <a:prstGeom prst="rect">
            <a:avLst/>
          </a:prstGeom>
          <a:solidFill>
            <a:srgbClr val="E6EBF7"/>
          </a:solidFill>
          <a:ln/>
        </p:spPr>
      </p:sp>
      <p:sp>
        <p:nvSpPr>
          <p:cNvPr id="25" name="Shape 23"/>
          <p:cNvSpPr/>
          <p:nvPr/>
        </p:nvSpPr>
        <p:spPr>
          <a:xfrm>
            <a:off x="3622523" y="1936750"/>
            <a:ext cx="53975" cy="88900"/>
          </a:xfrm>
          <a:prstGeom prst="rect">
            <a:avLst/>
          </a:prstGeom>
          <a:solidFill>
            <a:srgbClr val="E1E7F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70148" y="1936750"/>
            <a:ext cx="53975" cy="88900"/>
          </a:xfrm>
          <a:prstGeom prst="rect">
            <a:avLst/>
          </a:prstGeom>
          <a:solidFill>
            <a:srgbClr val="DCE3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717773" y="1936750"/>
            <a:ext cx="53975" cy="88900"/>
          </a:xfrm>
          <a:prstGeom prst="rect">
            <a:avLst/>
          </a:prstGeom>
          <a:solidFill>
            <a:srgbClr val="D8DFF3"/>
          </a:solidFill>
          <a:ln/>
        </p:spPr>
      </p:sp>
      <p:sp>
        <p:nvSpPr>
          <p:cNvPr id="28" name="Shape 26"/>
          <p:cNvSpPr/>
          <p:nvPr/>
        </p:nvSpPr>
        <p:spPr>
          <a:xfrm>
            <a:off x="3765398" y="1936750"/>
            <a:ext cx="53975" cy="88900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29" name="Shape 27"/>
          <p:cNvSpPr/>
          <p:nvPr/>
        </p:nvSpPr>
        <p:spPr>
          <a:xfrm>
            <a:off x="3813023" y="1936750"/>
            <a:ext cx="53975" cy="88900"/>
          </a:xfrm>
          <a:prstGeom prst="rect">
            <a:avLst/>
          </a:prstGeom>
          <a:solidFill>
            <a:srgbClr val="CDD7F0"/>
          </a:solidFill>
          <a:ln/>
        </p:spPr>
      </p:sp>
      <p:sp>
        <p:nvSpPr>
          <p:cNvPr id="30" name="Shape 28"/>
          <p:cNvSpPr/>
          <p:nvPr/>
        </p:nvSpPr>
        <p:spPr>
          <a:xfrm>
            <a:off x="3860648" y="1936750"/>
            <a:ext cx="53975" cy="88900"/>
          </a:xfrm>
          <a:prstGeom prst="rect">
            <a:avLst/>
          </a:prstGeom>
          <a:solidFill>
            <a:srgbClr val="C8D3EF"/>
          </a:solidFill>
          <a:ln/>
        </p:spPr>
      </p:sp>
      <p:sp>
        <p:nvSpPr>
          <p:cNvPr id="31" name="Shape 29"/>
          <p:cNvSpPr/>
          <p:nvPr/>
        </p:nvSpPr>
        <p:spPr>
          <a:xfrm>
            <a:off x="3908273" y="1936750"/>
            <a:ext cx="53975" cy="88900"/>
          </a:xfrm>
          <a:prstGeom prst="rect">
            <a:avLst/>
          </a:prstGeom>
          <a:solidFill>
            <a:srgbClr val="C2CFED"/>
          </a:solidFill>
          <a:ln/>
        </p:spPr>
      </p:sp>
      <p:sp>
        <p:nvSpPr>
          <p:cNvPr id="32" name="Shape 30"/>
          <p:cNvSpPr/>
          <p:nvPr/>
        </p:nvSpPr>
        <p:spPr>
          <a:xfrm>
            <a:off x="3955898" y="1936750"/>
            <a:ext cx="53975" cy="88900"/>
          </a:xfrm>
          <a:prstGeom prst="rect">
            <a:avLst/>
          </a:prstGeom>
          <a:solidFill>
            <a:srgbClr val="BCCA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003523" y="1936750"/>
            <a:ext cx="53975" cy="88900"/>
          </a:xfrm>
          <a:prstGeom prst="rect">
            <a:avLst/>
          </a:prstGeom>
          <a:solidFill>
            <a:srgbClr val="B6C5EA"/>
          </a:solidFill>
          <a:ln/>
        </p:spPr>
      </p:sp>
      <p:sp>
        <p:nvSpPr>
          <p:cNvPr id="34" name="Shape 32"/>
          <p:cNvSpPr/>
          <p:nvPr/>
        </p:nvSpPr>
        <p:spPr>
          <a:xfrm>
            <a:off x="4051148" y="1936750"/>
            <a:ext cx="53975" cy="889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35" name="Shape 33"/>
          <p:cNvSpPr/>
          <p:nvPr/>
        </p:nvSpPr>
        <p:spPr>
          <a:xfrm>
            <a:off x="4098773" y="1936750"/>
            <a:ext cx="53975" cy="88900"/>
          </a:xfrm>
          <a:prstGeom prst="rect">
            <a:avLst/>
          </a:prstGeom>
          <a:solidFill>
            <a:srgbClr val="A9BCE7"/>
          </a:solidFill>
          <a:ln/>
        </p:spPr>
      </p:sp>
      <p:sp>
        <p:nvSpPr>
          <p:cNvPr id="36" name="Shape 34"/>
          <p:cNvSpPr/>
          <p:nvPr/>
        </p:nvSpPr>
        <p:spPr>
          <a:xfrm>
            <a:off x="4146398" y="1936750"/>
            <a:ext cx="53975" cy="88900"/>
          </a:xfrm>
          <a:prstGeom prst="rect">
            <a:avLst/>
          </a:prstGeom>
          <a:solidFill>
            <a:srgbClr val="A2B7E6"/>
          </a:solidFill>
          <a:ln/>
        </p:spPr>
      </p:sp>
      <p:sp>
        <p:nvSpPr>
          <p:cNvPr id="37" name="Shape 35"/>
          <p:cNvSpPr/>
          <p:nvPr/>
        </p:nvSpPr>
        <p:spPr>
          <a:xfrm>
            <a:off x="4194023" y="1936750"/>
            <a:ext cx="53975" cy="88900"/>
          </a:xfrm>
          <a:prstGeom prst="rect">
            <a:avLst/>
          </a:prstGeom>
          <a:solidFill>
            <a:srgbClr val="9BB1E4"/>
          </a:solidFill>
          <a:ln/>
        </p:spPr>
      </p:sp>
      <p:sp>
        <p:nvSpPr>
          <p:cNvPr id="38" name="Shape 36"/>
          <p:cNvSpPr/>
          <p:nvPr/>
        </p:nvSpPr>
        <p:spPr>
          <a:xfrm>
            <a:off x="4241648" y="1936750"/>
            <a:ext cx="53975" cy="88900"/>
          </a:xfrm>
          <a:prstGeom prst="rect">
            <a:avLst/>
          </a:prstGeom>
          <a:solidFill>
            <a:srgbClr val="93ACE2"/>
          </a:solidFill>
          <a:ln/>
        </p:spPr>
      </p:sp>
      <p:sp>
        <p:nvSpPr>
          <p:cNvPr id="39" name="Shape 37"/>
          <p:cNvSpPr/>
          <p:nvPr/>
        </p:nvSpPr>
        <p:spPr>
          <a:xfrm>
            <a:off x="4289273" y="1936750"/>
            <a:ext cx="53975" cy="88900"/>
          </a:xfrm>
          <a:prstGeom prst="rect">
            <a:avLst/>
          </a:prstGeom>
          <a:solidFill>
            <a:srgbClr val="8AA6E1"/>
          </a:solidFill>
          <a:ln/>
        </p:spPr>
      </p:sp>
      <p:sp>
        <p:nvSpPr>
          <p:cNvPr id="40" name="Shape 38"/>
          <p:cNvSpPr/>
          <p:nvPr/>
        </p:nvSpPr>
        <p:spPr>
          <a:xfrm>
            <a:off x="4336898" y="1936750"/>
            <a:ext cx="53975" cy="88900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41" name="Shape 39"/>
          <p:cNvSpPr/>
          <p:nvPr/>
        </p:nvSpPr>
        <p:spPr>
          <a:xfrm>
            <a:off x="4384523" y="1936750"/>
            <a:ext cx="53975" cy="88900"/>
          </a:xfrm>
          <a:prstGeom prst="rect">
            <a:avLst/>
          </a:prstGeom>
          <a:solidFill>
            <a:srgbClr val="779ADE"/>
          </a:solidFill>
          <a:ln/>
        </p:spPr>
      </p:sp>
      <p:sp>
        <p:nvSpPr>
          <p:cNvPr id="42" name="Shape 40"/>
          <p:cNvSpPr/>
          <p:nvPr/>
        </p:nvSpPr>
        <p:spPr>
          <a:xfrm>
            <a:off x="4432148" y="1936750"/>
            <a:ext cx="53975" cy="88900"/>
          </a:xfrm>
          <a:prstGeom prst="rect">
            <a:avLst/>
          </a:prstGeom>
          <a:solidFill>
            <a:srgbClr val="6B93DC"/>
          </a:solidFill>
          <a:ln/>
        </p:spPr>
      </p:sp>
      <p:sp>
        <p:nvSpPr>
          <p:cNvPr id="43" name="Shape 41"/>
          <p:cNvSpPr/>
          <p:nvPr/>
        </p:nvSpPr>
        <p:spPr>
          <a:xfrm>
            <a:off x="4479773" y="1936750"/>
            <a:ext cx="53975" cy="88900"/>
          </a:xfrm>
          <a:prstGeom prst="rect">
            <a:avLst/>
          </a:prstGeom>
          <a:solidFill>
            <a:srgbClr val="5E8CDA"/>
          </a:solidFill>
          <a:ln/>
        </p:spPr>
      </p:sp>
      <p:sp>
        <p:nvSpPr>
          <p:cNvPr id="44" name="Shape 42"/>
          <p:cNvSpPr/>
          <p:nvPr/>
        </p:nvSpPr>
        <p:spPr>
          <a:xfrm>
            <a:off x="4527398" y="1936750"/>
            <a:ext cx="53975" cy="88900"/>
          </a:xfrm>
          <a:prstGeom prst="rect">
            <a:avLst/>
          </a:prstGeom>
          <a:solidFill>
            <a:srgbClr val="4E84D9"/>
          </a:solidFill>
          <a:ln/>
        </p:spPr>
      </p:sp>
      <p:sp>
        <p:nvSpPr>
          <p:cNvPr id="45" name="Shape 43"/>
          <p:cNvSpPr/>
          <p:nvPr/>
        </p:nvSpPr>
        <p:spPr>
          <a:xfrm>
            <a:off x="4575023" y="1936750"/>
            <a:ext cx="53975" cy="88900"/>
          </a:xfrm>
          <a:prstGeom prst="rect">
            <a:avLst/>
          </a:prstGeom>
          <a:solidFill>
            <a:srgbClr val="397CD7"/>
          </a:solidFill>
          <a:ln/>
        </p:spPr>
      </p:sp>
      <p:sp>
        <p:nvSpPr>
          <p:cNvPr id="46" name="Text 44"/>
          <p:cNvSpPr/>
          <p:nvPr/>
        </p:nvSpPr>
        <p:spPr>
          <a:xfrm>
            <a:off x="2971648" y="1917700"/>
            <a:ext cx="4826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Color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479648" y="2032000"/>
            <a:ext cx="1143000" cy="127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750" dirty="0"/>
          </a:p>
        </p:txBody>
      </p:sp>
      <p:sp>
        <p:nvSpPr>
          <p:cNvPr id="49" name="Shape 47"/>
          <p:cNvSpPr/>
          <p:nvPr/>
        </p:nvSpPr>
        <p:spPr>
          <a:xfrm>
            <a:off x="4275938" y="4488180"/>
            <a:ext cx="76200" cy="76200"/>
          </a:xfrm>
          <a:prstGeom prst="ellipse">
            <a:avLst/>
          </a:pr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179860" y="2976880"/>
            <a:ext cx="76200" cy="76200"/>
          </a:xfrm>
          <a:prstGeom prst="ellipse">
            <a:avLst/>
          </a:prstGeom>
          <a:solidFill>
            <a:srgbClr val="D6DE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222848" y="3762756"/>
            <a:ext cx="76200" cy="76200"/>
          </a:xfrm>
          <a:prstGeom prst="ellipse">
            <a:avLst/>
          </a:prstGeom>
          <a:solidFill>
            <a:srgbClr val="BBC9E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7265835" y="2070100"/>
            <a:ext cx="76200" cy="76200"/>
          </a:xfrm>
          <a:prstGeom prst="ellipse">
            <a:avLst/>
          </a:prstGeom>
          <a:solidFill>
            <a:srgbClr val="A5B9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7752563" y="4185920"/>
            <a:ext cx="76200" cy="76200"/>
          </a:xfrm>
          <a:prstGeom prst="ellipse">
            <a:avLst/>
          </a:prstGeom>
          <a:solidFill>
            <a:srgbClr val="7C9DD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8586953" y="26746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527523" y="4971796"/>
            <a:ext cx="76200" cy="76200"/>
          </a:xfrm>
          <a:prstGeom prst="ellipse">
            <a:avLst/>
          </a:prstGeom>
          <a:solidFill>
            <a:srgbClr val="E2E8F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779108" y="3279140"/>
            <a:ext cx="76200" cy="76200"/>
          </a:xfrm>
          <a:prstGeom prst="ellipse">
            <a:avLst/>
          </a:prstGeom>
          <a:solidFill>
            <a:srgbClr val="C4D0E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377538" y="44437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Alpha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5281460" y="293243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Bravo</a:t>
            </a:r>
            <a:endParaRPr lang="en-US" sz="1000" dirty="0"/>
          </a:p>
        </p:txBody>
      </p:sp>
      <p:sp>
        <p:nvSpPr>
          <p:cNvPr id="59" name="Text 57"/>
          <p:cNvSpPr/>
          <p:nvPr/>
        </p:nvSpPr>
        <p:spPr>
          <a:xfrm>
            <a:off x="6324448" y="371830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Core</a:t>
            </a:r>
            <a:endParaRPr lang="en-US" sz="1000" dirty="0"/>
          </a:p>
        </p:txBody>
      </p:sp>
      <p:sp>
        <p:nvSpPr>
          <p:cNvPr id="60" name="Text 58"/>
          <p:cNvSpPr/>
          <p:nvPr/>
        </p:nvSpPr>
        <p:spPr>
          <a:xfrm>
            <a:off x="7119785" y="21717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Delta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7854163" y="414147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Echo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056093" y="26301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Foxtrot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5629123" y="4927346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Golf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6880708" y="323469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Hotel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Smoothed line (Catmull-Rom)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3053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5052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27051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1905000"/>
            <a:ext cx="539242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4216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3416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2616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479648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249993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0339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790685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61030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331376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101722" y="5143500"/>
            <a:ext cx="77034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864820" y="4267331"/>
            <a:ext cx="26988" cy="3796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891809" y="4217203"/>
            <a:ext cx="32443" cy="501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24251" y="4156820"/>
            <a:ext cx="37332" cy="6038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3961584" y="4088085"/>
            <a:ext cx="41658" cy="6873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003242" y="4012905"/>
            <a:ext cx="45420" cy="751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4048662" y="3933183"/>
            <a:ext cx="48617" cy="7972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4097278" y="3850824"/>
            <a:ext cx="51250" cy="82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4148528" y="3767733"/>
            <a:ext cx="53319" cy="830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4201847" y="3685813"/>
            <a:ext cx="54823" cy="8191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4256670" y="3606971"/>
            <a:ext cx="55764" cy="7884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4312433" y="3533109"/>
            <a:ext cx="56140" cy="7386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4368573" y="3466133"/>
            <a:ext cx="55952" cy="669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4424525" y="3407947"/>
            <a:ext cx="55199" cy="581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4479724" y="3360455"/>
            <a:ext cx="53883" cy="4749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4533607" y="3325563"/>
            <a:ext cx="52002" cy="34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4585609" y="3305175"/>
            <a:ext cx="49557" cy="203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flipV="1">
            <a:off x="4635166" y="3301659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683313" y="3301659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31459" y="3314551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779606" y="3341508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27753" y="3380184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75899" y="3428237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924046" y="3483322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4972192" y="3543095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020339" y="3605213"/>
            <a:ext cx="48147" cy="6211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068486" y="3667330"/>
            <a:ext cx="48147" cy="5977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116632" y="3727103"/>
            <a:ext cx="48147" cy="5508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64779" y="3782188"/>
            <a:ext cx="48147" cy="4805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212925" y="3830241"/>
            <a:ext cx="48147" cy="386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261072" y="3868917"/>
            <a:ext cx="48147" cy="269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5309219" y="3895874"/>
            <a:ext cx="48147" cy="128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5357365" y="3905250"/>
            <a:ext cx="48147" cy="351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5405512" y="3883763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5453658" y="3845868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5501805" y="3793908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5549952" y="3730228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5598098" y="3657172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646245" y="3577084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5694392" y="3492308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5742538" y="3405188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5790685" y="3318067"/>
            <a:ext cx="48147" cy="87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5838831" y="3233291"/>
            <a:ext cx="48147" cy="8477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5886978" y="3153203"/>
            <a:ext cx="48147" cy="800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5935125" y="3080147"/>
            <a:ext cx="48147" cy="7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5983271" y="3016467"/>
            <a:ext cx="48147" cy="6368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6031418" y="2964507"/>
            <a:ext cx="48147" cy="5196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 flipV="1">
            <a:off x="6079564" y="2926612"/>
            <a:ext cx="48147" cy="378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6127711" y="2905125"/>
            <a:ext cx="48147" cy="2148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6175858" y="2901389"/>
            <a:ext cx="48147" cy="373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6224004" y="2901389"/>
            <a:ext cx="48147" cy="1229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6272151" y="2913681"/>
            <a:ext cx="48147" cy="2606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6320297" y="2939744"/>
            <a:ext cx="48147" cy="375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368444" y="2977322"/>
            <a:ext cx="48147" cy="4683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6416591" y="3024158"/>
            <a:ext cx="48147" cy="538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6464737" y="3077998"/>
            <a:ext cx="48147" cy="5858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6512884" y="3136585"/>
            <a:ext cx="48147" cy="6107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561030" y="3197662"/>
            <a:ext cx="48147" cy="613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6609177" y="3258973"/>
            <a:ext cx="48147" cy="5929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657324" y="3318263"/>
            <a:ext cx="48147" cy="5501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705470" y="3373274"/>
            <a:ext cx="48147" cy="4847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753617" y="3421752"/>
            <a:ext cx="48147" cy="3968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801763" y="3461440"/>
            <a:ext cx="48147" cy="2864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849910" y="3490081"/>
            <a:ext cx="48147" cy="1533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6898057" y="3505200"/>
            <a:ext cx="48147" cy="2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6946203" y="3488211"/>
            <a:ext cx="48147" cy="169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6994350" y="3456170"/>
            <a:ext cx="48147" cy="32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 flipV="1">
            <a:off x="7042497" y="3411219"/>
            <a:ext cx="48147" cy="4495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 flipV="1">
            <a:off x="7090643" y="3355494"/>
            <a:ext cx="48147" cy="5572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 flipV="1">
            <a:off x="7138790" y="3291135"/>
            <a:ext cx="48147" cy="643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 flipV="1">
            <a:off x="7186936" y="3220282"/>
            <a:ext cx="48147" cy="7085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 flipV="1">
            <a:off x="7235083" y="3145072"/>
            <a:ext cx="48147" cy="7521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 flipV="1">
            <a:off x="7283230" y="3067645"/>
            <a:ext cx="48147" cy="7742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 flipV="1">
            <a:off x="7331376" y="2990141"/>
            <a:ext cx="48147" cy="7750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 flipV="1">
            <a:off x="7379523" y="2914697"/>
            <a:ext cx="48147" cy="754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 flipV="1">
            <a:off x="7427669" y="2843452"/>
            <a:ext cx="48147" cy="712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 flipV="1">
            <a:off x="7475816" y="2778547"/>
            <a:ext cx="48147" cy="6490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 flipV="1">
            <a:off x="7523963" y="2722119"/>
            <a:ext cx="48147" cy="564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 flipV="1">
            <a:off x="7572109" y="2676307"/>
            <a:ext cx="48147" cy="4581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 flipV="1">
            <a:off x="7620256" y="2643251"/>
            <a:ext cx="48147" cy="3305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 flipV="1">
            <a:off x="7668402" y="2625090"/>
            <a:ext cx="48147" cy="1816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 flipV="1">
            <a:off x="7716549" y="2621564"/>
            <a:ext cx="49557" cy="352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7766106" y="2621564"/>
            <a:ext cx="52002" cy="844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7818108" y="2630012"/>
            <a:ext cx="53883" cy="1895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7871991" y="2648970"/>
            <a:ext cx="55199" cy="2800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927190" y="2676971"/>
            <a:ext cx="55952" cy="3558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983142" y="2712552"/>
            <a:ext cx="56140" cy="416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8039282" y="2754247"/>
            <a:ext cx="55764" cy="463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8095045" y="2800590"/>
            <a:ext cx="54823" cy="49528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8149868" y="2850118"/>
            <a:ext cx="53319" cy="5124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8203187" y="2901365"/>
            <a:ext cx="51250" cy="51501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8254437" y="2952865"/>
            <a:ext cx="48617" cy="5028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303054" y="3003155"/>
            <a:ext cx="45420" cy="47613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8348473" y="3050768"/>
            <a:ext cx="41658" cy="43472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8390131" y="3094240"/>
            <a:ext cx="37332" cy="37866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8427464" y="3132106"/>
            <a:ext cx="32443" cy="30795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8459906" y="3162901"/>
            <a:ext cx="26988" cy="22259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3834340" y="42748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4604686" y="327469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375032" y="387477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145378" y="2874645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915723" y="34747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7686069" y="259461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8456415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3864820" y="4495441"/>
            <a:ext cx="26988" cy="98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3891809" y="4483447"/>
            <a:ext cx="32443" cy="1199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3924251" y="4469578"/>
            <a:ext cx="37332" cy="138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3961584" y="4454069"/>
            <a:ext cx="41658" cy="1551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4003242" y="4437152"/>
            <a:ext cx="45420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4048662" y="4419064"/>
            <a:ext cx="48617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4097278" y="4400038"/>
            <a:ext cx="51250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4148528" y="4380309"/>
            <a:ext cx="5331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 flipV="1">
            <a:off x="4201847" y="4360112"/>
            <a:ext cx="54823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 flipV="1">
            <a:off x="4256670" y="4339679"/>
            <a:ext cx="55764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 flipV="1">
            <a:off x="4312433" y="4319247"/>
            <a:ext cx="56140" cy="20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4368573" y="4299049"/>
            <a:ext cx="55952" cy="201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4424525" y="4279320"/>
            <a:ext cx="55199" cy="19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4479724" y="4260294"/>
            <a:ext cx="53883" cy="190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4533607" y="4242206"/>
            <a:ext cx="52002" cy="18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4585609" y="4225290"/>
            <a:ext cx="49557" cy="169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4635166" y="4208603"/>
            <a:ext cx="48147" cy="1668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4683313" y="4191184"/>
            <a:ext cx="48147" cy="174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4731459" y="4173238"/>
            <a:ext cx="48147" cy="179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4779606" y="4154969"/>
            <a:ext cx="48147" cy="1826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 flipV="1">
            <a:off x="4827753" y="4136583"/>
            <a:ext cx="48147" cy="183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 flipV="1">
            <a:off x="4875899" y="4118284"/>
            <a:ext cx="48147" cy="182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4924046" y="4100279"/>
            <a:ext cx="48147" cy="1800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4972192" y="4082772"/>
            <a:ext cx="48147" cy="17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5020339" y="4065968"/>
            <a:ext cx="48147" cy="1680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5068486" y="4050073"/>
            <a:ext cx="48147" cy="1589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5116632" y="4035291"/>
            <a:ext cx="48147" cy="1478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5164779" y="4021827"/>
            <a:ext cx="48147" cy="1346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5212925" y="4009887"/>
            <a:ext cx="48147" cy="119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5261072" y="3999676"/>
            <a:ext cx="48147" cy="1021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5309219" y="3991398"/>
            <a:ext cx="48147" cy="827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 flipV="1">
            <a:off x="5357365" y="3985260"/>
            <a:ext cx="48147" cy="61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 flipV="1">
            <a:off x="5405512" y="3982276"/>
            <a:ext cx="48147" cy="29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453658" y="3982276"/>
            <a:ext cx="48147" cy="6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501805" y="3982955"/>
            <a:ext cx="48147" cy="37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5549952" y="3986740"/>
            <a:ext cx="48147" cy="633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5598098" y="3993073"/>
            <a:ext cx="48147" cy="832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5646245" y="4001400"/>
            <a:ext cx="48147" cy="97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5694392" y="4011162"/>
            <a:ext cx="48147" cy="106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5742538" y="4021803"/>
            <a:ext cx="48147" cy="109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5790685" y="4032766"/>
            <a:ext cx="48147" cy="1072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5838831" y="4043495"/>
            <a:ext cx="48147" cy="993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5886978" y="4053433"/>
            <a:ext cx="48147" cy="859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5935125" y="4062023"/>
            <a:ext cx="48147" cy="668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5983271" y="4068708"/>
            <a:ext cx="48147" cy="42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6031418" y="4072932"/>
            <a:ext cx="48147" cy="12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6079564" y="4071770"/>
            <a:ext cx="48147" cy="236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6127711" y="4065270"/>
            <a:ext cx="48147" cy="65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6175858" y="4054561"/>
            <a:ext cx="48147" cy="107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6224004" y="4040228"/>
            <a:ext cx="48147" cy="143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6272151" y="4022711"/>
            <a:ext cx="48147" cy="1751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6320297" y="4002450"/>
            <a:ext cx="48147" cy="2026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6368444" y="3979883"/>
            <a:ext cx="48147" cy="225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6416591" y="3955452"/>
            <a:ext cx="48147" cy="244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6464737" y="3929594"/>
            <a:ext cx="48147" cy="2585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 flipV="1">
            <a:off x="6512884" y="3902750"/>
            <a:ext cx="48147" cy="2684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 flipV="1">
            <a:off x="6561030" y="3875359"/>
            <a:ext cx="48147" cy="273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 flipV="1">
            <a:off x="6609177" y="3847860"/>
            <a:ext cx="48147" cy="2749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 flipV="1">
            <a:off x="6657324" y="3820694"/>
            <a:ext cx="48147" cy="2716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 flipV="1">
            <a:off x="6705470" y="3794299"/>
            <a:ext cx="48147" cy="26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6753617" y="3769115"/>
            <a:ext cx="48147" cy="251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6801763" y="3745582"/>
            <a:ext cx="48147" cy="2353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6849910" y="3724138"/>
            <a:ext cx="48147" cy="2144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6898057" y="3705225"/>
            <a:ext cx="48147" cy="189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6946203" y="3688841"/>
            <a:ext cx="48147" cy="1638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6994350" y="3674479"/>
            <a:ext cx="48147" cy="1436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7042497" y="3661816"/>
            <a:ext cx="48147" cy="1266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7090643" y="3650531"/>
            <a:ext cx="48147" cy="1128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7138790" y="3640300"/>
            <a:ext cx="48147" cy="102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 flipV="1">
            <a:off x="7186936" y="3630802"/>
            <a:ext cx="48147" cy="94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 flipV="1">
            <a:off x="7235083" y="3621714"/>
            <a:ext cx="48147" cy="908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 flipV="1">
            <a:off x="7283230" y="3612713"/>
            <a:ext cx="48147" cy="90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7331376" y="3603479"/>
            <a:ext cx="48147" cy="923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7379523" y="3593688"/>
            <a:ext cx="48147" cy="97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7427669" y="3583017"/>
            <a:ext cx="48147" cy="1067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7475816" y="3571146"/>
            <a:ext cx="48147" cy="1187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7523963" y="3557751"/>
            <a:ext cx="48147" cy="1339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7572109" y="3542509"/>
            <a:ext cx="48147" cy="1524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7620256" y="3525100"/>
            <a:ext cx="48147" cy="1740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7668402" y="3505200"/>
            <a:ext cx="48147" cy="199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7716549" y="3482009"/>
            <a:ext cx="49557" cy="2319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 flipV="1">
            <a:off x="7766106" y="3455311"/>
            <a:ext cx="52002" cy="2669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 flipV="1">
            <a:off x="7818108" y="3425664"/>
            <a:ext cx="53883" cy="2964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 flipV="1">
            <a:off x="7871991" y="3393624"/>
            <a:ext cx="55199" cy="32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6" name="Shape 204"/>
          <p:cNvSpPr/>
          <p:nvPr/>
        </p:nvSpPr>
        <p:spPr>
          <a:xfrm flipV="1">
            <a:off x="7927190" y="3359747"/>
            <a:ext cx="55952" cy="3387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7" name="Shape 205"/>
          <p:cNvSpPr/>
          <p:nvPr/>
        </p:nvSpPr>
        <p:spPr>
          <a:xfrm flipV="1">
            <a:off x="7983142" y="3324591"/>
            <a:ext cx="56140" cy="3515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8" name="Shape 206"/>
          <p:cNvSpPr/>
          <p:nvPr/>
        </p:nvSpPr>
        <p:spPr>
          <a:xfrm flipV="1">
            <a:off x="8039282" y="3288713"/>
            <a:ext cx="55764" cy="3587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09" name="Shape 207"/>
          <p:cNvSpPr/>
          <p:nvPr/>
        </p:nvSpPr>
        <p:spPr>
          <a:xfrm flipV="1">
            <a:off x="8095045" y="3252668"/>
            <a:ext cx="54823" cy="36045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 flipV="1">
            <a:off x="8149868" y="3217015"/>
            <a:ext cx="53319" cy="3565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 flipV="1">
            <a:off x="8203187" y="3182308"/>
            <a:ext cx="51250" cy="3470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2" name="Shape 210"/>
          <p:cNvSpPr/>
          <p:nvPr/>
        </p:nvSpPr>
        <p:spPr>
          <a:xfrm flipV="1">
            <a:off x="8254437" y="3149106"/>
            <a:ext cx="48617" cy="3320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 flipV="1">
            <a:off x="8303054" y="3117964"/>
            <a:ext cx="45420" cy="3114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 flipV="1">
            <a:off x="8348473" y="3089440"/>
            <a:ext cx="41658" cy="285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5" name="Shape 213"/>
          <p:cNvSpPr/>
          <p:nvPr/>
        </p:nvSpPr>
        <p:spPr>
          <a:xfrm flipV="1">
            <a:off x="8390131" y="3064090"/>
            <a:ext cx="37332" cy="2535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6" name="Shape 214"/>
          <p:cNvSpPr/>
          <p:nvPr/>
        </p:nvSpPr>
        <p:spPr>
          <a:xfrm flipV="1">
            <a:off x="8427464" y="3042471"/>
            <a:ext cx="32443" cy="21619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 flipV="1">
            <a:off x="8459906" y="3025140"/>
            <a:ext cx="26988" cy="17331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3834340" y="44748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4604686" y="419481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375032" y="395478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6145378" y="403479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6915723" y="3674745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686069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8456415" y="29946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3479648" y="5105400"/>
            <a:ext cx="53924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6" name="Text 224"/>
          <p:cNvSpPr/>
          <p:nvPr/>
        </p:nvSpPr>
        <p:spPr>
          <a:xfrm>
            <a:off x="8922868" y="293941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227" name="Text 225"/>
          <p:cNvSpPr/>
          <p:nvPr/>
        </p:nvSpPr>
        <p:spPr>
          <a:xfrm>
            <a:off x="8922868" y="3110865"/>
            <a:ext cx="2209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Waterfall with grouping spacers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8257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81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Price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3306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83562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588098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0573" y="5143500"/>
            <a:ext cx="752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198660" y="3270504"/>
            <a:ext cx="501650" cy="183489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3122460" y="40927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00310" y="3270504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951135" y="2971800"/>
            <a:ext cx="501650" cy="29870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874935" y="302590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452785" y="2971800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703610" y="2779776"/>
            <a:ext cx="501650" cy="19202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4627410" y="278053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+9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205260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456085" y="2779776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5957735" y="2779776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2" name="Shape 20"/>
          <p:cNvSpPr/>
          <p:nvPr/>
        </p:nvSpPr>
        <p:spPr>
          <a:xfrm>
            <a:off x="6208560" y="2779776"/>
            <a:ext cx="501650" cy="25603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32360" y="2812542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710210" y="3035808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5" name="Shape 23"/>
          <p:cNvSpPr/>
          <p:nvPr/>
        </p:nvSpPr>
        <p:spPr>
          <a:xfrm>
            <a:off x="6961035" y="3035808"/>
            <a:ext cx="501650" cy="85344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6" name="Text 24"/>
          <p:cNvSpPr/>
          <p:nvPr/>
        </p:nvSpPr>
        <p:spPr>
          <a:xfrm>
            <a:off x="6884835" y="2851658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462685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8" name="Shape 26"/>
          <p:cNvSpPr/>
          <p:nvPr/>
        </p:nvSpPr>
        <p:spPr>
          <a:xfrm>
            <a:off x="7713510" y="3121152"/>
            <a:ext cx="50165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215160" y="3121152"/>
            <a:ext cx="250825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30" name="Shape 28"/>
          <p:cNvSpPr/>
          <p:nvPr/>
        </p:nvSpPr>
        <p:spPr>
          <a:xfrm>
            <a:off x="8465985" y="3121152"/>
            <a:ext cx="501650" cy="1984248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1" name="Text 29"/>
          <p:cNvSpPr/>
          <p:nvPr/>
        </p:nvSpPr>
        <p:spPr>
          <a:xfrm>
            <a:off x="8389785" y="4018026"/>
            <a:ext cx="6540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Gantt with auto-summary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0928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0448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962074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57274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514861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210061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067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762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047848" y="2019300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3047848" y="2143579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719845" y="2203269"/>
            <a:ext cx="124222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4719845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62074" y="2203269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74848" y="2608036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409288" y="2471057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9845" y="2614386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3072493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Interviews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409288" y="2935514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030402" y="3078843"/>
            <a:ext cx="93167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047848" y="3412671"/>
            <a:ext cx="6096000" cy="439057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3" name="Text 21"/>
          <p:cNvSpPr/>
          <p:nvPr/>
        </p:nvSpPr>
        <p:spPr>
          <a:xfrm>
            <a:off x="3047848" y="3536950"/>
            <a:ext cx="6096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Build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962074" y="3596640"/>
            <a:ext cx="248445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5" name="Shape 23"/>
          <p:cNvSpPr/>
          <p:nvPr/>
        </p:nvSpPr>
        <p:spPr>
          <a:xfrm>
            <a:off x="5962074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446533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74848" y="4001407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Backend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409288" y="3864429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62074" y="4007757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4465864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Frontend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4409288" y="4328886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83189" y="4472214"/>
            <a:ext cx="155278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Text 31"/>
          <p:cNvSpPr/>
          <p:nvPr/>
        </p:nvSpPr>
        <p:spPr>
          <a:xfrm>
            <a:off x="3174848" y="4930321"/>
            <a:ext cx="11582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409288" y="4793343"/>
            <a:ext cx="46583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825418" y="4936671"/>
            <a:ext cx="621115" cy="177800"/>
          </a:xfrm>
          <a:prstGeom prst="rect">
            <a:avLst/>
          </a:prstGeom>
          <a:solidFill>
            <a:srgbClr val="2A78D6"/>
          </a:solidFill>
          <a:ln/>
        </p:spPr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Notched boxplots (median CI)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415214" y="3825240"/>
            <a:ext cx="0" cy="37338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415214" y="48120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183662" y="38252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83662" y="51054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900653" y="4198620"/>
            <a:ext cx="1029123" cy="613410"/>
          </a:xfrm>
          <a:custGeom>
            <a:avLst/>
            <a:gdLst/>
            <a:ahLst/>
            <a:cxnLst/>
            <a:rect l="l" t="t" r="r" b="b"/>
            <a:pathLst>
              <a:path w="1029123" h="613410">
                <a:moveTo>
                  <a:pt x="0" y="0"/>
                </a:moveTo>
                <a:lnTo>
                  <a:pt x="1029123" y="0"/>
                </a:lnTo>
                <a:lnTo>
                  <a:pt x="1029123" y="15496"/>
                </a:lnTo>
                <a:lnTo>
                  <a:pt x="771843" y="320040"/>
                </a:lnTo>
                <a:lnTo>
                  <a:pt x="1029123" y="613410"/>
                </a:lnTo>
                <a:lnTo>
                  <a:pt x="1029123" y="613410"/>
                </a:lnTo>
                <a:lnTo>
                  <a:pt x="0" y="613410"/>
                </a:lnTo>
                <a:lnTo>
                  <a:pt x="0" y="613410"/>
                </a:lnTo>
                <a:lnTo>
                  <a:pt x="257281" y="320040"/>
                </a:lnTo>
                <a:lnTo>
                  <a:pt x="0" y="15496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57933" y="451866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0653" y="432816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286348" y="3291840"/>
            <a:ext cx="0" cy="48006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348" y="4491990"/>
            <a:ext cx="0" cy="18669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54795" y="329184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054795" y="467868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771786" y="3771900"/>
            <a:ext cx="1029123" cy="720090"/>
          </a:xfrm>
          <a:custGeom>
            <a:avLst/>
            <a:gdLst/>
            <a:ahLst/>
            <a:cxnLst/>
            <a:rect l="l" t="t" r="r" b="b"/>
            <a:pathLst>
              <a:path w="1029123" h="720090">
                <a:moveTo>
                  <a:pt x="0" y="0"/>
                </a:moveTo>
                <a:lnTo>
                  <a:pt x="1029123" y="0"/>
                </a:lnTo>
                <a:lnTo>
                  <a:pt x="1029123" y="69211"/>
                </a:lnTo>
                <a:lnTo>
                  <a:pt x="771843" y="426720"/>
                </a:lnTo>
                <a:lnTo>
                  <a:pt x="1029123" y="720090"/>
                </a:lnTo>
                <a:lnTo>
                  <a:pt x="1029123" y="720090"/>
                </a:lnTo>
                <a:lnTo>
                  <a:pt x="0" y="720090"/>
                </a:lnTo>
                <a:lnTo>
                  <a:pt x="0" y="720090"/>
                </a:lnTo>
                <a:lnTo>
                  <a:pt x="257281" y="426720"/>
                </a:lnTo>
                <a:lnTo>
                  <a:pt x="0" y="69211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29067" y="419862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771786" y="400812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8157481" y="1905000"/>
            <a:ext cx="0" cy="66675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7481" y="3745230"/>
            <a:ext cx="0" cy="29337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25928" y="19050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925928" y="403860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642919" y="2571750"/>
            <a:ext cx="1029123" cy="1173480"/>
          </a:xfrm>
          <a:custGeom>
            <a:avLst/>
            <a:gdLst/>
            <a:ahLst/>
            <a:cxnLst/>
            <a:rect l="l" t="t" r="r" b="b"/>
            <a:pathLst>
              <a:path w="1029123" h="1173480">
                <a:moveTo>
                  <a:pt x="0" y="0"/>
                </a:moveTo>
                <a:lnTo>
                  <a:pt x="1029123" y="0"/>
                </a:lnTo>
                <a:lnTo>
                  <a:pt x="1029123" y="137483"/>
                </a:lnTo>
                <a:lnTo>
                  <a:pt x="771842" y="720090"/>
                </a:lnTo>
                <a:lnTo>
                  <a:pt x="1029123" y="1173480"/>
                </a:lnTo>
                <a:lnTo>
                  <a:pt x="1029123" y="1173480"/>
                </a:lnTo>
                <a:lnTo>
                  <a:pt x="0" y="1173480"/>
                </a:lnTo>
                <a:lnTo>
                  <a:pt x="0" y="1173480"/>
                </a:lnTo>
                <a:lnTo>
                  <a:pt x="257281" y="720090"/>
                </a:lnTo>
                <a:lnTo>
                  <a:pt x="0" y="13748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00200" y="3291840"/>
            <a:ext cx="514562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42919" y="3101340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peer range + us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03114" y="3101340"/>
            <a:ext cx="985468" cy="1137920"/>
          </a:xfrm>
          <a:custGeom>
            <a:avLst/>
            <a:gdLst/>
            <a:ahLst/>
            <a:cxnLst/>
            <a:rect l="l" t="t" r="r" b="b"/>
            <a:pathLst>
              <a:path w="985468" h="113792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13792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2514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0" y="56896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45618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617646" y="1963420"/>
            <a:ext cx="2956403" cy="3413760"/>
          </a:xfrm>
          <a:custGeom>
            <a:avLst/>
            <a:gdLst/>
            <a:ahLst/>
            <a:cxnLst/>
            <a:rect l="l" t="t" r="r" b="b"/>
            <a:pathLst>
              <a:path w="2956403" h="3413760">
                <a:moveTo>
                  <a:pt x="1478201" y="0"/>
                </a:moveTo>
                <a:lnTo>
                  <a:pt x="2956403" y="853440"/>
                </a:lnTo>
                <a:lnTo>
                  <a:pt x="2956403" y="2560320"/>
                </a:lnTo>
                <a:lnTo>
                  <a:pt x="1478201" y="3413760"/>
                </a:lnTo>
                <a:lnTo>
                  <a:pt x="0" y="2560320"/>
                </a:lnTo>
                <a:lnTo>
                  <a:pt x="0" y="85344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188722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6.0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993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93673" y="28321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3673" y="43307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30418" y="51689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864013" y="36703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72902" y="43307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864013" y="2959100"/>
            <a:ext cx="1231835" cy="71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67162" y="2832100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095848" y="25323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0" y="568960"/>
                </a:moveTo>
                <a:lnTo>
                  <a:pt x="492734" y="853440"/>
                </a:lnTo>
                <a:lnTo>
                  <a:pt x="985468" y="568960"/>
                </a:lnTo>
                <a:lnTo>
                  <a:pt x="0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6588581" y="3101340"/>
            <a:ext cx="492734" cy="1137920"/>
          </a:xfrm>
          <a:custGeom>
            <a:avLst/>
            <a:gdLst/>
            <a:ahLst/>
            <a:cxnLst/>
            <a:rect l="l" t="t" r="r" b="b"/>
            <a:pathLst>
              <a:path w="492734" h="1137920">
                <a:moveTo>
                  <a:pt x="0" y="284480"/>
                </a:moveTo>
                <a:lnTo>
                  <a:pt x="0" y="853440"/>
                </a:lnTo>
                <a:lnTo>
                  <a:pt x="492734" y="1137920"/>
                </a:lnTo>
                <a:lnTo>
                  <a:pt x="492734" y="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>
            <a:off x="6095848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492734" y="0"/>
                </a:moveTo>
                <a:lnTo>
                  <a:pt x="0" y="568960"/>
                </a:lnTo>
                <a:lnTo>
                  <a:pt x="0" y="853440"/>
                </a:lnTo>
                <a:lnTo>
                  <a:pt x="985468" y="2844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>
            <a:off x="5110380" y="3954780"/>
            <a:ext cx="985468" cy="853440"/>
          </a:xfrm>
          <a:custGeom>
            <a:avLst/>
            <a:gdLst/>
            <a:ahLst/>
            <a:cxnLst/>
            <a:rect l="l" t="t" r="r" b="b"/>
            <a:pathLst>
              <a:path w="985468" h="853440">
                <a:moveTo>
                  <a:pt x="985468" y="568960"/>
                </a:moveTo>
                <a:lnTo>
                  <a:pt x="492734" y="0"/>
                </a:lnTo>
                <a:lnTo>
                  <a:pt x="0" y="284480"/>
                </a:lnTo>
                <a:lnTo>
                  <a:pt x="985468" y="85344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>
            <a:off x="5110380" y="3243580"/>
            <a:ext cx="492734" cy="995680"/>
          </a:xfrm>
          <a:custGeom>
            <a:avLst/>
            <a:gdLst/>
            <a:ahLst/>
            <a:cxnLst/>
            <a:rect l="l" t="t" r="r" b="b"/>
            <a:pathLst>
              <a:path w="492734" h="995680">
                <a:moveTo>
                  <a:pt x="492734" y="711200"/>
                </a:moveTo>
                <a:lnTo>
                  <a:pt x="492734" y="142240"/>
                </a:lnTo>
                <a:lnTo>
                  <a:pt x="246367" y="0"/>
                </a:lnTo>
                <a:lnTo>
                  <a:pt x="0" y="99568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5356747" y="2532380"/>
            <a:ext cx="739101" cy="853440"/>
          </a:xfrm>
          <a:custGeom>
            <a:avLst/>
            <a:gdLst/>
            <a:ahLst/>
            <a:cxnLst/>
            <a:rect l="l" t="t" r="r" b="b"/>
            <a:pathLst>
              <a:path w="739101" h="853440">
                <a:moveTo>
                  <a:pt x="246367" y="853440"/>
                </a:moveTo>
                <a:lnTo>
                  <a:pt x="739101" y="568960"/>
                </a:lnTo>
                <a:lnTo>
                  <a:pt x="739101" y="0"/>
                </a:lnTo>
                <a:lnTo>
                  <a:pt x="0" y="711200"/>
                </a:lnTo>
                <a:close/>
              </a:path>
            </a:pathLst>
          </a:custGeom>
          <a:solidFill>
            <a:srgbClr val="52514E">
              <a:alpha val="16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5110380" y="2532380"/>
            <a:ext cx="1970935" cy="2275840"/>
          </a:xfrm>
          <a:custGeom>
            <a:avLst/>
            <a:gdLst/>
            <a:ahLst/>
            <a:cxnLst/>
            <a:rect l="l" t="t" r="r" b="b"/>
            <a:pathLst>
              <a:path w="1970935" h="2275840">
                <a:moveTo>
                  <a:pt x="985468" y="0"/>
                </a:moveTo>
                <a:lnTo>
                  <a:pt x="1970935" y="568960"/>
                </a:lnTo>
                <a:lnTo>
                  <a:pt x="1970935" y="1706880"/>
                </a:lnTo>
                <a:lnTo>
                  <a:pt x="985468" y="2275840"/>
                </a:lnTo>
                <a:lnTo>
                  <a:pt x="0" y="1706880"/>
                </a:lnTo>
                <a:lnTo>
                  <a:pt x="246367" y="71120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603114" y="3101340"/>
            <a:ext cx="985468" cy="1422400"/>
          </a:xfrm>
          <a:custGeom>
            <a:avLst/>
            <a:gdLst/>
            <a:ahLst/>
            <a:cxnLst/>
            <a:rect l="l" t="t" r="r" b="b"/>
            <a:pathLst>
              <a:path w="985468" h="1422400">
                <a:moveTo>
                  <a:pt x="492734" y="0"/>
                </a:moveTo>
                <a:lnTo>
                  <a:pt x="985468" y="284480"/>
                </a:lnTo>
                <a:lnTo>
                  <a:pt x="985468" y="853440"/>
                </a:lnTo>
                <a:lnTo>
                  <a:pt x="492734" y="1422400"/>
                </a:lnTo>
                <a:lnTo>
                  <a:pt x="0" y="853440"/>
                </a:lnTo>
                <a:lnTo>
                  <a:pt x="0" y="284480"/>
                </a:lnTo>
                <a:close/>
              </a:path>
            </a:pathLst>
          </a:custGeom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864013" y="2816860"/>
            <a:ext cx="2217302" cy="1564640"/>
          </a:xfrm>
          <a:custGeom>
            <a:avLst/>
            <a:gdLst/>
            <a:ahLst/>
            <a:cxnLst/>
            <a:rect l="l" t="t" r="r" b="b"/>
            <a:pathLst>
              <a:path w="2217302" h="1564640">
                <a:moveTo>
                  <a:pt x="1231835" y="0"/>
                </a:moveTo>
                <a:lnTo>
                  <a:pt x="2217302" y="284480"/>
                </a:lnTo>
                <a:lnTo>
                  <a:pt x="2217302" y="1422400"/>
                </a:lnTo>
                <a:lnTo>
                  <a:pt x="1231835" y="1422400"/>
                </a:lnTo>
                <a:lnTo>
                  <a:pt x="0" y="1564640"/>
                </a:lnTo>
                <a:lnTo>
                  <a:pt x="246367" y="284480"/>
                </a:lnTo>
                <a:close/>
              </a:path>
            </a:pathLst>
          </a:custGeom>
          <a:solidFill>
            <a:srgbClr val="008300">
              <a:alpha val="18000"/>
            </a:srgbClr>
          </a:solidFill>
          <a:ln w="20320">
            <a:solidFill>
              <a:srgbClr val="0083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065368" y="27863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050835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050835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065368" y="420878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833533" y="435102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79900" y="3070860"/>
            <a:ext cx="60960" cy="60960"/>
          </a:xfrm>
          <a:prstGeom prst="ellipse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52514E"/>
          </a:solidFill>
          <a:ln/>
        </p:spPr>
      </p:sp>
      <p:sp>
        <p:nvSpPr>
          <p:cNvPr id="37" name="Text 35"/>
          <p:cNvSpPr/>
          <p:nvPr/>
        </p:nvSpPr>
        <p:spPr>
          <a:xfrm>
            <a:off x="3174848" y="18034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Peer range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01304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9" name="Text 37"/>
          <p:cNvSpPr/>
          <p:nvPr/>
        </p:nvSpPr>
        <p:spPr>
          <a:xfrm>
            <a:off x="4140048" y="180340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Long tail collapsed into Other (otherBucket)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8004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527648" y="5143500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361114" y="4289213"/>
            <a:ext cx="1151467" cy="81618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10314" y="4602057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61114" y="3840311"/>
            <a:ext cx="1151467" cy="44890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10314" y="3969512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61114" y="3473027"/>
            <a:ext cx="1151467" cy="367284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10314" y="356141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61114" y="3350599"/>
            <a:ext cx="1151467" cy="122428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361114" y="3166957"/>
            <a:ext cx="1151467" cy="183642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10314" y="316352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73248" y="2982807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88314" y="4166785"/>
            <a:ext cx="1151467" cy="938615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37514" y="4540843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46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88314" y="3636264"/>
            <a:ext cx="1151467" cy="530521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37514" y="380627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88314" y="3289385"/>
            <a:ext cx="1151467" cy="34687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37514" y="3367574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088314" y="3146552"/>
            <a:ext cx="1151467" cy="142833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88314" y="2922101"/>
            <a:ext cx="1151467" cy="224451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37514" y="2939076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00448" y="273795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107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815514" y="4044357"/>
            <a:ext cx="1151467" cy="106104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64714" y="447962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815514" y="3411813"/>
            <a:ext cx="1151467" cy="63254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764714" y="363283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815514" y="3024124"/>
            <a:ext cx="1151467" cy="387689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64714" y="3122718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815514" y="2860887"/>
            <a:ext cx="1151467" cy="163237"/>
          </a:xfrm>
          <a:prstGeom prst="rect">
            <a:avLst/>
          </a:prstGeom>
          <a:solidFill>
            <a:srgbClr val="0083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764714" y="2847255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815514" y="2616031"/>
            <a:ext cx="1151467" cy="244856"/>
          </a:xfrm>
          <a:prstGeom prst="rect">
            <a:avLst/>
          </a:prstGeom>
          <a:solidFill>
            <a:srgbClr val="4A3AA7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764714" y="2643209"/>
            <a:ext cx="12530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27648" y="2431881"/>
            <a:ext cx="17272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073248" y="5105400"/>
            <a:ext cx="5181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8305648" y="265273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8305648" y="285678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305648" y="3132243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Consumer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8305648" y="3642360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SMB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305648" y="4489154"/>
            <a:ext cx="8382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Enterprise</a:t>
            </a:r>
            <a:endParaRPr lang="en-US" sz="10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Calendar heatmap (daily commits)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006600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047848" y="2877457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Wed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3047848" y="3748314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3047848" y="4619171"/>
            <a:ext cx="241300" cy="435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3327248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068962" y="1803400"/>
            <a:ext cx="217714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3327248" y="2006600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10" name="Shape 8"/>
          <p:cNvSpPr/>
          <p:nvPr/>
        </p:nvSpPr>
        <p:spPr>
          <a:xfrm>
            <a:off x="3327248" y="2442029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11" name="Shape 9"/>
          <p:cNvSpPr/>
          <p:nvPr/>
        </p:nvSpPr>
        <p:spPr>
          <a:xfrm>
            <a:off x="3327248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12" name="Shape 10"/>
          <p:cNvSpPr/>
          <p:nvPr/>
        </p:nvSpPr>
        <p:spPr>
          <a:xfrm>
            <a:off x="3327248" y="3312886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13" name="Shape 11"/>
          <p:cNvSpPr/>
          <p:nvPr/>
        </p:nvSpPr>
        <p:spPr>
          <a:xfrm>
            <a:off x="3327248" y="3748314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14" name="Shape 12"/>
          <p:cNvSpPr/>
          <p:nvPr/>
        </p:nvSpPr>
        <p:spPr>
          <a:xfrm>
            <a:off x="3327248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5" name="Shape 13"/>
          <p:cNvSpPr/>
          <p:nvPr/>
        </p:nvSpPr>
        <p:spPr>
          <a:xfrm>
            <a:off x="3327248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6" name="Shape 14"/>
          <p:cNvSpPr/>
          <p:nvPr/>
        </p:nvSpPr>
        <p:spPr>
          <a:xfrm>
            <a:off x="3762676" y="2006600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17" name="Shape 15"/>
          <p:cNvSpPr/>
          <p:nvPr/>
        </p:nvSpPr>
        <p:spPr>
          <a:xfrm>
            <a:off x="3762676" y="2442029"/>
            <a:ext cx="416379" cy="416379"/>
          </a:xfrm>
          <a:prstGeom prst="rect">
            <a:avLst/>
          </a:prstGeom>
          <a:solidFill>
            <a:srgbClr val="E6EBF8"/>
          </a:solidFill>
          <a:ln/>
        </p:spPr>
      </p:sp>
      <p:sp>
        <p:nvSpPr>
          <p:cNvPr id="18" name="Shape 16"/>
          <p:cNvSpPr/>
          <p:nvPr/>
        </p:nvSpPr>
        <p:spPr>
          <a:xfrm>
            <a:off x="3762676" y="2877457"/>
            <a:ext cx="416379" cy="416379"/>
          </a:xfrm>
          <a:prstGeom prst="rect">
            <a:avLst/>
          </a:prstGeom>
          <a:solidFill>
            <a:srgbClr val="5D8BDA"/>
          </a:solidFill>
          <a:ln/>
        </p:spPr>
      </p:sp>
      <p:sp>
        <p:nvSpPr>
          <p:cNvPr id="19" name="Shape 17"/>
          <p:cNvSpPr/>
          <p:nvPr/>
        </p:nvSpPr>
        <p:spPr>
          <a:xfrm>
            <a:off x="3762676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20" name="Shape 18"/>
          <p:cNvSpPr/>
          <p:nvPr/>
        </p:nvSpPr>
        <p:spPr>
          <a:xfrm>
            <a:off x="3762676" y="3748314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21" name="Shape 19"/>
          <p:cNvSpPr/>
          <p:nvPr/>
        </p:nvSpPr>
        <p:spPr>
          <a:xfrm>
            <a:off x="3762676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2" name="Shape 20"/>
          <p:cNvSpPr/>
          <p:nvPr/>
        </p:nvSpPr>
        <p:spPr>
          <a:xfrm>
            <a:off x="3762676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3" name="Shape 21"/>
          <p:cNvSpPr/>
          <p:nvPr/>
        </p:nvSpPr>
        <p:spPr>
          <a:xfrm>
            <a:off x="4198105" y="2006600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24" name="Shape 22"/>
          <p:cNvSpPr/>
          <p:nvPr/>
        </p:nvSpPr>
        <p:spPr>
          <a:xfrm>
            <a:off x="4198105" y="2442029"/>
            <a:ext cx="416379" cy="416379"/>
          </a:xfrm>
          <a:prstGeom prst="rect">
            <a:avLst/>
          </a:prstGeom>
          <a:solidFill>
            <a:srgbClr val="7A9CDE"/>
          </a:solidFill>
          <a:ln/>
        </p:spPr>
      </p:sp>
      <p:sp>
        <p:nvSpPr>
          <p:cNvPr id="25" name="Shape 23"/>
          <p:cNvSpPr/>
          <p:nvPr/>
        </p:nvSpPr>
        <p:spPr>
          <a:xfrm>
            <a:off x="4198105" y="2877457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26" name="Shape 24"/>
          <p:cNvSpPr/>
          <p:nvPr/>
        </p:nvSpPr>
        <p:spPr>
          <a:xfrm>
            <a:off x="4198105" y="3312886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27" name="Shape 25"/>
          <p:cNvSpPr/>
          <p:nvPr/>
        </p:nvSpPr>
        <p:spPr>
          <a:xfrm>
            <a:off x="4198105" y="3748314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28" name="Shape 26"/>
          <p:cNvSpPr/>
          <p:nvPr/>
        </p:nvSpPr>
        <p:spPr>
          <a:xfrm>
            <a:off x="4198105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29" name="Shape 27"/>
          <p:cNvSpPr/>
          <p:nvPr/>
        </p:nvSpPr>
        <p:spPr>
          <a:xfrm>
            <a:off x="4198105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0" name="Shape 28"/>
          <p:cNvSpPr/>
          <p:nvPr/>
        </p:nvSpPr>
        <p:spPr>
          <a:xfrm>
            <a:off x="4633533" y="2006600"/>
            <a:ext cx="416379" cy="416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633533" y="2442029"/>
            <a:ext cx="416379" cy="416379"/>
          </a:xfrm>
          <a:prstGeom prst="rect">
            <a:avLst/>
          </a:prstGeom>
          <a:solidFill>
            <a:srgbClr val="CFD8F1"/>
          </a:solidFill>
          <a:ln/>
        </p:spPr>
      </p:sp>
      <p:sp>
        <p:nvSpPr>
          <p:cNvPr id="32" name="Shape 30"/>
          <p:cNvSpPr/>
          <p:nvPr/>
        </p:nvSpPr>
        <p:spPr>
          <a:xfrm>
            <a:off x="4633533" y="2877457"/>
            <a:ext cx="416379" cy="416379"/>
          </a:xfrm>
          <a:prstGeom prst="rect">
            <a:avLst/>
          </a:prstGeom>
          <a:solidFill>
            <a:srgbClr val="B3C3E9"/>
          </a:solidFill>
          <a:ln/>
        </p:spPr>
      </p:sp>
      <p:sp>
        <p:nvSpPr>
          <p:cNvPr id="33" name="Shape 31"/>
          <p:cNvSpPr/>
          <p:nvPr/>
        </p:nvSpPr>
        <p:spPr>
          <a:xfrm>
            <a:off x="4633533" y="3312886"/>
            <a:ext cx="416379" cy="416379"/>
          </a:xfrm>
          <a:prstGeom prst="rect">
            <a:avLst/>
          </a:prstGeom>
          <a:solidFill>
            <a:srgbClr val="90AAE2"/>
          </a:solidFill>
          <a:ln/>
        </p:spPr>
      </p:sp>
      <p:sp>
        <p:nvSpPr>
          <p:cNvPr id="34" name="Shape 32"/>
          <p:cNvSpPr/>
          <p:nvPr/>
        </p:nvSpPr>
        <p:spPr>
          <a:xfrm>
            <a:off x="4633533" y="3748314"/>
            <a:ext cx="416379" cy="416379"/>
          </a:xfrm>
          <a:prstGeom prst="rect">
            <a:avLst/>
          </a:prstGeom>
          <a:solidFill>
            <a:srgbClr val="DBE2F4"/>
          </a:solidFill>
          <a:ln/>
        </p:spPr>
      </p:sp>
      <p:sp>
        <p:nvSpPr>
          <p:cNvPr id="35" name="Shape 33"/>
          <p:cNvSpPr/>
          <p:nvPr/>
        </p:nvSpPr>
        <p:spPr>
          <a:xfrm>
            <a:off x="4633533" y="4183743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6" name="Shape 34"/>
          <p:cNvSpPr/>
          <p:nvPr/>
        </p:nvSpPr>
        <p:spPr>
          <a:xfrm>
            <a:off x="4633533" y="4619171"/>
            <a:ext cx="416379" cy="416379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37" name="Shape 35"/>
          <p:cNvSpPr/>
          <p:nvPr/>
        </p:nvSpPr>
        <p:spPr>
          <a:xfrm>
            <a:off x="5068962" y="2006600"/>
            <a:ext cx="416379" cy="416379"/>
          </a:xfrm>
          <a:prstGeom prst="rect">
            <a:avLst/>
          </a:prstGeom>
          <a:solidFill>
            <a:srgbClr val="C2CEED"/>
          </a:solidFill>
          <a:ln/>
        </p:spPr>
      </p:sp>
      <p:sp>
        <p:nvSpPr>
          <p:cNvPr id="38" name="Shape 36"/>
          <p:cNvSpPr/>
          <p:nvPr/>
        </p:nvSpPr>
        <p:spPr>
          <a:xfrm>
            <a:off x="5068962" y="2442029"/>
            <a:ext cx="416379" cy="416379"/>
          </a:xfrm>
          <a:prstGeom prst="rect">
            <a:avLst/>
          </a:prstGeom>
          <a:solidFill>
            <a:srgbClr val="A3B7E6"/>
          </a:solidFill>
          <a:ln/>
        </p:spPr>
      </p:sp>
      <p:sp>
        <p:nvSpPr>
          <p:cNvPr id="39" name="Text 37"/>
          <p:cNvSpPr/>
          <p:nvPr/>
        </p:nvSpPr>
        <p:spPr>
          <a:xfrm>
            <a:off x="2946248" y="5118100"/>
            <a:ext cx="3302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327248" y="5118100"/>
            <a:ext cx="348343" cy="348343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41" name="Shape 39"/>
          <p:cNvSpPr/>
          <p:nvPr/>
        </p:nvSpPr>
        <p:spPr>
          <a:xfrm>
            <a:off x="3688290" y="5118100"/>
            <a:ext cx="348343" cy="348343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42" name="Shape 40"/>
          <p:cNvSpPr/>
          <p:nvPr/>
        </p:nvSpPr>
        <p:spPr>
          <a:xfrm>
            <a:off x="4049333" y="5118100"/>
            <a:ext cx="348343" cy="348343"/>
          </a:xfrm>
          <a:prstGeom prst="rect">
            <a:avLst/>
          </a:prstGeom>
          <a:solidFill>
            <a:srgbClr val="DDE4F5"/>
          </a:solidFill>
          <a:ln/>
        </p:spPr>
      </p:sp>
      <p:sp>
        <p:nvSpPr>
          <p:cNvPr id="43" name="Shape 41"/>
          <p:cNvSpPr/>
          <p:nvPr/>
        </p:nvSpPr>
        <p:spPr>
          <a:xfrm>
            <a:off x="4410376" y="5118100"/>
            <a:ext cx="348343" cy="348343"/>
          </a:xfrm>
          <a:prstGeom prst="rect">
            <a:avLst/>
          </a:prstGeom>
          <a:solidFill>
            <a:srgbClr val="D2DBF2"/>
          </a:solidFill>
          <a:ln/>
        </p:spPr>
      </p:sp>
      <p:sp>
        <p:nvSpPr>
          <p:cNvPr id="44" name="Shape 42"/>
          <p:cNvSpPr/>
          <p:nvPr/>
        </p:nvSpPr>
        <p:spPr>
          <a:xfrm>
            <a:off x="4771419" y="5118100"/>
            <a:ext cx="348343" cy="348343"/>
          </a:xfrm>
          <a:prstGeom prst="rect">
            <a:avLst/>
          </a:prstGeom>
          <a:solidFill>
            <a:srgbClr val="C7D2EE"/>
          </a:solidFill>
          <a:ln/>
        </p:spPr>
      </p:sp>
      <p:sp>
        <p:nvSpPr>
          <p:cNvPr id="45" name="Shape 43"/>
          <p:cNvSpPr/>
          <p:nvPr/>
        </p:nvSpPr>
        <p:spPr>
          <a:xfrm>
            <a:off x="5132462" y="5118100"/>
            <a:ext cx="348343" cy="348343"/>
          </a:xfrm>
          <a:prstGeom prst="rect">
            <a:avLst/>
          </a:prstGeom>
          <a:solidFill>
            <a:srgbClr val="BAC8EB"/>
          </a:solidFill>
          <a:ln/>
        </p:spPr>
      </p:sp>
      <p:sp>
        <p:nvSpPr>
          <p:cNvPr id="46" name="Shape 44"/>
          <p:cNvSpPr/>
          <p:nvPr/>
        </p:nvSpPr>
        <p:spPr>
          <a:xfrm>
            <a:off x="5493505" y="5118100"/>
            <a:ext cx="348343" cy="348343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47" name="Shape 45"/>
          <p:cNvSpPr/>
          <p:nvPr/>
        </p:nvSpPr>
        <p:spPr>
          <a:xfrm>
            <a:off x="5854548" y="5118100"/>
            <a:ext cx="348343" cy="348343"/>
          </a:xfrm>
          <a:prstGeom prst="rect">
            <a:avLst/>
          </a:prstGeom>
          <a:solidFill>
            <a:srgbClr val="9CB3E4"/>
          </a:solidFill>
          <a:ln/>
        </p:spPr>
      </p:sp>
      <p:sp>
        <p:nvSpPr>
          <p:cNvPr id="48" name="Shape 46"/>
          <p:cNvSpPr/>
          <p:nvPr/>
        </p:nvSpPr>
        <p:spPr>
          <a:xfrm>
            <a:off x="6215590" y="5118100"/>
            <a:ext cx="348343" cy="348343"/>
          </a:xfrm>
          <a:prstGeom prst="rect">
            <a:avLst/>
          </a:prstGeom>
          <a:solidFill>
            <a:srgbClr val="8BA6E1"/>
          </a:solidFill>
          <a:ln/>
        </p:spPr>
      </p:sp>
      <p:sp>
        <p:nvSpPr>
          <p:cNvPr id="49" name="Shape 47"/>
          <p:cNvSpPr/>
          <p:nvPr/>
        </p:nvSpPr>
        <p:spPr>
          <a:xfrm>
            <a:off x="6576633" y="5118100"/>
            <a:ext cx="348343" cy="348343"/>
          </a:xfrm>
          <a:prstGeom prst="rect">
            <a:avLst/>
          </a:prstGeom>
          <a:solidFill>
            <a:srgbClr val="7599DD"/>
          </a:solidFill>
          <a:ln/>
        </p:spPr>
      </p:sp>
      <p:sp>
        <p:nvSpPr>
          <p:cNvPr id="50" name="Shape 48"/>
          <p:cNvSpPr/>
          <p:nvPr/>
        </p:nvSpPr>
        <p:spPr>
          <a:xfrm>
            <a:off x="6937676" y="5118100"/>
            <a:ext cx="348343" cy="348343"/>
          </a:xfrm>
          <a:prstGeom prst="rect">
            <a:avLst/>
          </a:prstGeom>
          <a:solidFill>
            <a:srgbClr val="598ADA"/>
          </a:solidFill>
          <a:ln/>
        </p:spPr>
      </p:sp>
      <p:sp>
        <p:nvSpPr>
          <p:cNvPr id="51" name="Shape 49"/>
          <p:cNvSpPr/>
          <p:nvPr/>
        </p:nvSpPr>
        <p:spPr>
          <a:xfrm>
            <a:off x="7298719" y="5118100"/>
            <a:ext cx="348343" cy="3483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Text 50"/>
          <p:cNvSpPr/>
          <p:nvPr/>
        </p:nvSpPr>
        <p:spPr>
          <a:xfrm>
            <a:off x="7685162" y="5118100"/>
            <a:ext cx="381000" cy="34834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More</a:t>
            </a:r>
            <a:endParaRPr lang="en-US" sz="8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Butterfly with stacked flanks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" name="Text 2"/>
          <p:cNvSpPr/>
          <p:nvPr/>
        </p:nvSpPr>
        <p:spPr>
          <a:xfrm>
            <a:off x="360664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FT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30768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" name="Text 4"/>
          <p:cNvSpPr/>
          <p:nvPr/>
        </p:nvSpPr>
        <p:spPr>
          <a:xfrm>
            <a:off x="4434688" y="1803400"/>
            <a:ext cx="6248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Women PT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135728" y="1847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8" name="Text 6"/>
          <p:cNvSpPr/>
          <p:nvPr/>
        </p:nvSpPr>
        <p:spPr>
          <a:xfrm>
            <a:off x="526272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FT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826608" y="18478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0" name="Text 8"/>
          <p:cNvSpPr/>
          <p:nvPr/>
        </p:nvSpPr>
        <p:spPr>
          <a:xfrm>
            <a:off x="5953608" y="1803400"/>
            <a:ext cx="48768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 PT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848198" y="226187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&lt;30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196846" y="2140373"/>
            <a:ext cx="65135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196846" y="2261870"/>
            <a:ext cx="65135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04709" y="2140373"/>
            <a:ext cx="592138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" name="Text 13"/>
          <p:cNvSpPr/>
          <p:nvPr/>
        </p:nvSpPr>
        <p:spPr>
          <a:xfrm>
            <a:off x="4604709" y="226187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343498" y="2140373"/>
            <a:ext cx="71056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Text 15"/>
          <p:cNvSpPr/>
          <p:nvPr/>
        </p:nvSpPr>
        <p:spPr>
          <a:xfrm>
            <a:off x="6343498" y="226187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7054063" y="2140373"/>
            <a:ext cx="414496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9" name="Text 17"/>
          <p:cNvSpPr/>
          <p:nvPr/>
        </p:nvSpPr>
        <p:spPr>
          <a:xfrm>
            <a:off x="7054063" y="226187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848198" y="291211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30–39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841564" y="2790613"/>
            <a:ext cx="100663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4841564" y="2912110"/>
            <a:ext cx="100663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042178" y="2790613"/>
            <a:ext cx="79938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042178" y="2912110"/>
            <a:ext cx="79938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270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43498" y="2790613"/>
            <a:ext cx="1243489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" name="Text 24"/>
          <p:cNvSpPr/>
          <p:nvPr/>
        </p:nvSpPr>
        <p:spPr>
          <a:xfrm>
            <a:off x="6343498" y="2912110"/>
            <a:ext cx="12434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586986" y="2790613"/>
            <a:ext cx="68095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28" name="Text 26"/>
          <p:cNvSpPr/>
          <p:nvPr/>
        </p:nvSpPr>
        <p:spPr>
          <a:xfrm>
            <a:off x="7586986" y="2912110"/>
            <a:ext cx="68095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230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848198" y="356235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40–49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959991" y="3440853"/>
            <a:ext cx="888206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959991" y="3562350"/>
            <a:ext cx="88820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249426" y="3440853"/>
            <a:ext cx="710565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3" name="Text 31"/>
          <p:cNvSpPr/>
          <p:nvPr/>
        </p:nvSpPr>
        <p:spPr>
          <a:xfrm>
            <a:off x="4249426" y="3562350"/>
            <a:ext cx="71056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43498" y="3440853"/>
            <a:ext cx="1184275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Text 33"/>
          <p:cNvSpPr/>
          <p:nvPr/>
        </p:nvSpPr>
        <p:spPr>
          <a:xfrm>
            <a:off x="6343498" y="3562350"/>
            <a:ext cx="118427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27773" y="3440853"/>
            <a:ext cx="592138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7" name="Text 35"/>
          <p:cNvSpPr/>
          <p:nvPr/>
        </p:nvSpPr>
        <p:spPr>
          <a:xfrm>
            <a:off x="7527773" y="3562350"/>
            <a:ext cx="5921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848198" y="421259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50–59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315274" y="4091093"/>
            <a:ext cx="532924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5315274" y="4212590"/>
            <a:ext cx="53292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180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00778" y="4091093"/>
            <a:ext cx="414496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42" name="Text 40"/>
          <p:cNvSpPr/>
          <p:nvPr/>
        </p:nvSpPr>
        <p:spPr>
          <a:xfrm>
            <a:off x="4900778" y="4212590"/>
            <a:ext cx="41449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140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343498" y="4091093"/>
            <a:ext cx="828992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44" name="Text 42"/>
          <p:cNvSpPr/>
          <p:nvPr/>
        </p:nvSpPr>
        <p:spPr>
          <a:xfrm>
            <a:off x="6343498" y="4212590"/>
            <a:ext cx="828992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280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7172490" y="4091093"/>
            <a:ext cx="384889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46" name="Text 44"/>
          <p:cNvSpPr/>
          <p:nvPr/>
        </p:nvSpPr>
        <p:spPr>
          <a:xfrm>
            <a:off x="7172490" y="4212590"/>
            <a:ext cx="3848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130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5848198" y="4862830"/>
            <a:ext cx="4953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60+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5670556" y="4741333"/>
            <a:ext cx="177641" cy="433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492915" y="4741333"/>
            <a:ext cx="177641" cy="4334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0" name="Shape 48"/>
          <p:cNvSpPr/>
          <p:nvPr/>
        </p:nvSpPr>
        <p:spPr>
          <a:xfrm>
            <a:off x="6343498" y="4741333"/>
            <a:ext cx="325676" cy="4334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1" name="Text 49"/>
          <p:cNvSpPr/>
          <p:nvPr/>
        </p:nvSpPr>
        <p:spPr>
          <a:xfrm>
            <a:off x="6343498" y="4862830"/>
            <a:ext cx="3256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669173" y="4741333"/>
            <a:ext cx="148034" cy="43349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3" name="Shape 51"/>
          <p:cNvSpPr/>
          <p:nvPr/>
        </p:nvSpPr>
        <p:spPr>
          <a:xfrm>
            <a:off x="58481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343498" y="2032000"/>
            <a:ext cx="0" cy="32512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with per-spoke scales (mixed KPIs)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757652" y="3314700"/>
            <a:ext cx="676391" cy="643286"/>
          </a:xfrm>
          <a:custGeom>
            <a:avLst/>
            <a:gdLst/>
            <a:ahLst/>
            <a:cxnLst/>
            <a:rect l="l" t="t" r="r" b="b"/>
            <a:pathLst>
              <a:path w="676391" h="643286">
                <a:moveTo>
                  <a:pt x="338196" y="0"/>
                </a:moveTo>
                <a:lnTo>
                  <a:pt x="676391" y="245714"/>
                </a:lnTo>
                <a:lnTo>
                  <a:pt x="547212" y="643286"/>
                </a:lnTo>
                <a:lnTo>
                  <a:pt x="129179" y="643286"/>
                </a:lnTo>
                <a:lnTo>
                  <a:pt x="0" y="24571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19456" y="2959100"/>
            <a:ext cx="1352783" cy="1286573"/>
          </a:xfrm>
          <a:custGeom>
            <a:avLst/>
            <a:gdLst/>
            <a:ahLst/>
            <a:cxnLst/>
            <a:rect l="l" t="t" r="r" b="b"/>
            <a:pathLst>
              <a:path w="1352783" h="1286573">
                <a:moveTo>
                  <a:pt x="676391" y="0"/>
                </a:moveTo>
                <a:lnTo>
                  <a:pt x="1352783" y="491427"/>
                </a:lnTo>
                <a:lnTo>
                  <a:pt x="1094424" y="1286573"/>
                </a:lnTo>
                <a:lnTo>
                  <a:pt x="258359" y="1286573"/>
                </a:lnTo>
                <a:lnTo>
                  <a:pt x="0" y="49142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81261" y="2603500"/>
            <a:ext cx="2029174" cy="1929859"/>
          </a:xfrm>
          <a:custGeom>
            <a:avLst/>
            <a:gdLst/>
            <a:ahLst/>
            <a:cxnLst/>
            <a:rect l="l" t="t" r="r" b="b"/>
            <a:pathLst>
              <a:path w="2029174" h="1929859">
                <a:moveTo>
                  <a:pt x="1014587" y="0"/>
                </a:moveTo>
                <a:lnTo>
                  <a:pt x="2029174" y="737141"/>
                </a:lnTo>
                <a:lnTo>
                  <a:pt x="1641636" y="1929859"/>
                </a:lnTo>
                <a:lnTo>
                  <a:pt x="387538" y="1929859"/>
                </a:lnTo>
                <a:lnTo>
                  <a:pt x="0" y="737141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2188849" y="257314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095848" y="2247900"/>
            <a:ext cx="0" cy="1422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727548" y="1993900"/>
            <a:ext cx="736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$m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 flipV="1">
            <a:off x="6095848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21101" y="3118307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95848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976703" y="4793793"/>
            <a:ext cx="5308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 flipV="1">
            <a:off x="5259782" y="3670300"/>
            <a:ext cx="836066" cy="11507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46973" y="4793793"/>
            <a:ext cx="6680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Headcount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743065" y="3230754"/>
            <a:ext cx="1352783" cy="439546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071154" y="3118307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Uptime 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49849" y="2569087"/>
            <a:ext cx="2379033" cy="2251959"/>
          </a:xfrm>
          <a:custGeom>
            <a:avLst/>
            <a:gdLst/>
            <a:ahLst/>
            <a:cxnLst/>
            <a:rect l="l" t="t" r="r" b="b"/>
            <a:pathLst>
              <a:path w="2379033" h="2251959">
                <a:moveTo>
                  <a:pt x="1345999" y="0"/>
                </a:moveTo>
                <a:lnTo>
                  <a:pt x="2379033" y="765560"/>
                </a:lnTo>
                <a:lnTo>
                  <a:pt x="2182064" y="2251959"/>
                </a:lnTo>
                <a:lnTo>
                  <a:pt x="652676" y="2055490"/>
                </a:lnTo>
                <a:lnTo>
                  <a:pt x="0" y="663871"/>
                </a:lnTo>
                <a:close/>
              </a:path>
            </a:pathLst>
          </a:custGeom>
          <a:solidFill>
            <a:srgbClr val="2A78D6">
              <a:alpha val="18000"/>
            </a:srgbClr>
          </a:solidFill>
          <a:ln w="20320">
            <a:solidFill>
              <a:srgbClr val="2A78D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065368" y="253860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098402" y="330416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901433" y="4790566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372045" y="4594097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19369" y="3202479"/>
            <a:ext cx="60960" cy="609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743065" y="2247900"/>
            <a:ext cx="2705566" cy="2573146"/>
          </a:xfrm>
          <a:custGeom>
            <a:avLst/>
            <a:gdLst/>
            <a:ahLst/>
            <a:cxnLst/>
            <a:rect l="l" t="t" r="r" b="b"/>
            <a:pathLst>
              <a:path w="2705566" h="2573146">
                <a:moveTo>
                  <a:pt x="1352783" y="0"/>
                </a:moveTo>
                <a:lnTo>
                  <a:pt x="2705566" y="982854"/>
                </a:lnTo>
                <a:lnTo>
                  <a:pt x="1875324" y="2141616"/>
                </a:lnTo>
                <a:lnTo>
                  <a:pt x="516717" y="2573146"/>
                </a:lnTo>
                <a:lnTo>
                  <a:pt x="0" y="982854"/>
                </a:lnTo>
                <a:close/>
              </a:path>
            </a:pathLst>
          </a:custGeom>
          <a:solidFill>
            <a:srgbClr val="1BAF7A">
              <a:alpha val="18000"/>
            </a:srgbClr>
          </a:solidFill>
          <a:ln w="20320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065368" y="2217420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418150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587909" y="435903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229302" y="4790566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712585" y="3200274"/>
            <a:ext cx="60960" cy="60960"/>
          </a:xfrm>
          <a:prstGeom prst="ellipse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47848" y="1847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601568" y="1847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2" name="Text 30"/>
          <p:cNvSpPr/>
          <p:nvPr/>
        </p:nvSpPr>
        <p:spPr>
          <a:xfrm>
            <a:off x="3728568" y="1803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Missing-data bridge (bridgeGaps)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44653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8252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318516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479648" y="254508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47964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30980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13996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970118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00274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630431" y="5143500"/>
            <a:ext cx="8301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4246" y="379476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894726" y="2865120"/>
            <a:ext cx="1660313" cy="96012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524559" y="283464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555039" y="2865120"/>
            <a:ext cx="1660313" cy="320040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184873" y="315468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7215353" y="2033016"/>
            <a:ext cx="830157" cy="1152144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015029" y="2002536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479648" y="510540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11388" y="1947291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Floating range columns (transparent base)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5437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835498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216623" y="5143500"/>
            <a:ext cx="138112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303435" y="2705100"/>
            <a:ext cx="920750" cy="16002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252635" y="340995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4560" y="2545080"/>
            <a:ext cx="920750" cy="14401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3760" y="316992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065685" y="2225040"/>
            <a:ext cx="920750" cy="19202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014885" y="308991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446810" y="2385060"/>
            <a:ext cx="920750" cy="128016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96010" y="2929890"/>
            <a:ext cx="102235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073248" y="5105400"/>
            <a:ext cx="55245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48548" y="2939415"/>
            <a:ext cx="49530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Range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waterfall bridge + %-of-total 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0765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0798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0831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0864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089748" y="5143500"/>
            <a:ext cx="10033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End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0464" y="2971800"/>
            <a:ext cx="668867" cy="21336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Text 8"/>
          <p:cNvSpPr/>
          <p:nvPr/>
        </p:nvSpPr>
        <p:spPr>
          <a:xfrm>
            <a:off x="3164264" y="39433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909331" y="297180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2" name="Shape 10"/>
          <p:cNvSpPr/>
          <p:nvPr/>
        </p:nvSpPr>
        <p:spPr>
          <a:xfrm>
            <a:off x="4243764" y="2545080"/>
            <a:ext cx="668867" cy="4267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4167564" y="26631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126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5" name="Shape 13"/>
          <p:cNvSpPr/>
          <p:nvPr/>
        </p:nvSpPr>
        <p:spPr>
          <a:xfrm>
            <a:off x="5247064" y="2545080"/>
            <a:ext cx="668867" cy="32004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6" name="Text 14"/>
          <p:cNvSpPr/>
          <p:nvPr/>
        </p:nvSpPr>
        <p:spPr>
          <a:xfrm>
            <a:off x="5170864" y="26098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15931" y="28651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8" name="Shape 16"/>
          <p:cNvSpPr/>
          <p:nvPr/>
        </p:nvSpPr>
        <p:spPr>
          <a:xfrm>
            <a:off x="6250364" y="2331720"/>
            <a:ext cx="668867" cy="5334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6174164" y="250317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+25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919231" y="233172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1" name="Shape 19"/>
          <p:cNvSpPr/>
          <p:nvPr/>
        </p:nvSpPr>
        <p:spPr>
          <a:xfrm>
            <a:off x="7253664" y="2331720"/>
            <a:ext cx="668867" cy="213360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2" name="Text 20"/>
          <p:cNvSpPr/>
          <p:nvPr/>
        </p:nvSpPr>
        <p:spPr>
          <a:xfrm>
            <a:off x="7177464" y="234315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-10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22531" y="2545080"/>
            <a:ext cx="33443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4" name="Shape 22"/>
          <p:cNvSpPr/>
          <p:nvPr/>
        </p:nvSpPr>
        <p:spPr>
          <a:xfrm>
            <a:off x="8256964" y="2545080"/>
            <a:ext cx="668867" cy="2560320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25" name="Text 23"/>
          <p:cNvSpPr/>
          <p:nvPr/>
        </p:nvSpPr>
        <p:spPr>
          <a:xfrm>
            <a:off x="8180764" y="3729990"/>
            <a:ext cx="82126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073248" y="5105400"/>
            <a:ext cx="6019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1844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9118448" y="437642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9118448" y="373634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118448" y="309626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118448" y="245618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911844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544418" y="251460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193898" y="23355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 flipV="1">
            <a:off x="3574898" y="2417064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547718" y="2386584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197198" y="2207514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4578198" y="2417064"/>
            <a:ext cx="1003300" cy="256032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551018" y="264261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00498" y="246354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 flipV="1">
            <a:off x="5581498" y="2289048"/>
            <a:ext cx="1003300" cy="384048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554318" y="2258568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203798" y="207949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6584798" y="2289048"/>
            <a:ext cx="1003300" cy="192024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557618" y="2450592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207098" y="2271522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 flipV="1">
            <a:off x="7588098" y="2353056"/>
            <a:ext cx="1003300" cy="128016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560918" y="2322576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210398" y="21435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43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3848" y="2149856"/>
            <a:ext cx="457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073248" y="3268980"/>
            <a:ext cx="1589741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047848" y="409194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073248" y="2044700"/>
            <a:ext cx="1589741" cy="122428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047848" y="256159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022448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688389" y="3137807"/>
            <a:ext cx="2225638" cy="1967593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2989" y="402635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88389" y="2044700"/>
            <a:ext cx="2225638" cy="1093107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2989" y="2496004"/>
            <a:ext cx="2276438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637589" y="186055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939426" y="3881120"/>
            <a:ext cx="1589741" cy="12242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914026" y="439801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939426" y="2044700"/>
            <a:ext cx="1589741" cy="183642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914026" y="2867660"/>
            <a:ext cx="1640541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888626" y="186055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Mekko base + overlaid line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3022448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(29%)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637589" y="5143500"/>
            <a:ext cx="2327238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(41%)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888626" y="5143500"/>
            <a:ext cx="1691341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(29%)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45592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79968" y="287718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B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579968" y="4407535"/>
            <a:ext cx="56388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Prod A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5456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554568" y="425132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554568" y="348615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554568" y="2720975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554568" y="19558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3837638" y="270287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487118" y="252380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3868118" y="2427288"/>
            <a:ext cx="1933089" cy="30607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70728" y="2396808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420208" y="221773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801208" y="2427288"/>
            <a:ext cx="1933089" cy="956469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703817" y="3353276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353297" y="3174206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579968" y="3180556"/>
            <a:ext cx="5638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%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Combo: independent line axes (mixed KPIs)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2008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6918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13753" y="5143500"/>
            <a:ext cx="134683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97720" y="5041392"/>
            <a:ext cx="897890" cy="640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44555" y="5028590"/>
            <a:ext cx="897890" cy="7681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991390" y="5033391"/>
            <a:ext cx="897890" cy="72009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38225" y="5009388"/>
            <a:ext cx="897890" cy="9601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11388" y="4933950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 flipV="1">
            <a:off x="3746665" y="3505200"/>
            <a:ext cx="1346835" cy="160020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063020" y="34747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12500" y="32956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93500" y="3505200"/>
            <a:ext cx="1346835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9855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059335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V="1">
            <a:off x="6440335" y="2438400"/>
            <a:ext cx="1346835" cy="13868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756690" y="24079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06170" y="2228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511388" y="22352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716185" y="50749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365665" y="48958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1,200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 flipV="1">
            <a:off x="3746665" y="3905250"/>
            <a:ext cx="1346835" cy="12001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63020" y="38747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712500" y="36957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1,500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5093500" y="3905250"/>
            <a:ext cx="1346835" cy="4000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9855" y="427482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059335" y="40957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1,400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V="1">
            <a:off x="6440335" y="2305050"/>
            <a:ext cx="1346835" cy="2000250"/>
          </a:xfrm>
          <a:prstGeom prst="line">
            <a:avLst/>
          </a:prstGeom>
          <a:noFill/>
          <a:ln w="2540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756690" y="2274570"/>
            <a:ext cx="60960" cy="6096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406170" y="209550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1,900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11388" y="203200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Orders k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Hexagonal tile map (US)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152384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22386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8427586" y="182880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397588" y="182880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7708240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678243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8187804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157806" y="221839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667368" y="221839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FE6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637370" y="228355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37370" y="244230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63194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8E0F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01950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601950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151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8151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59107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6107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070639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40641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550203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20205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029767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99769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509331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5EAF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79333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79333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468458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96AEE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438461" y="267315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438461" y="283190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7948022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918024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8427586" y="260799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97588" y="260799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87173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841732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35129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2129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83085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00860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5310421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80423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5789985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759987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9549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FD9F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39551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6239551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6749113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719115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7228677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DDE4F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198679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7198679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7708240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CAD5E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678243" y="3062751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7678243" y="3221501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800" dirty="0"/>
          </a:p>
        </p:txBody>
      </p:sp>
      <p:sp>
        <p:nvSpPr>
          <p:cNvPr id="58" name="Shape 56"/>
          <p:cNvSpPr/>
          <p:nvPr/>
        </p:nvSpPr>
        <p:spPr>
          <a:xfrm>
            <a:off x="8187804" y="2997594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157806" y="2997594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3152384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22386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3122386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363194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01950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411151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08151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91076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9EE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561078" y="3452349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1000" dirty="0"/>
          </a:p>
        </p:txBody>
      </p:sp>
      <p:sp>
        <p:nvSpPr>
          <p:cNvPr id="69" name="Text 67"/>
          <p:cNvSpPr/>
          <p:nvPr/>
        </p:nvSpPr>
        <p:spPr>
          <a:xfrm>
            <a:off x="4561078" y="3611099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5070639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4064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1000" dirty="0"/>
          </a:p>
        </p:txBody>
      </p:sp>
      <p:sp>
        <p:nvSpPr>
          <p:cNvPr id="72" name="Shape 70"/>
          <p:cNvSpPr/>
          <p:nvPr/>
        </p:nvSpPr>
        <p:spPr>
          <a:xfrm>
            <a:off x="5550203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520205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1000" dirty="0"/>
          </a:p>
        </p:txBody>
      </p:sp>
      <p:sp>
        <p:nvSpPr>
          <p:cNvPr id="74" name="Shape 72"/>
          <p:cNvSpPr/>
          <p:nvPr/>
        </p:nvSpPr>
        <p:spPr>
          <a:xfrm>
            <a:off x="6029767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999769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1000" dirty="0"/>
          </a:p>
        </p:txBody>
      </p:sp>
      <p:sp>
        <p:nvSpPr>
          <p:cNvPr id="76" name="Shape 74"/>
          <p:cNvSpPr/>
          <p:nvPr/>
        </p:nvSpPr>
        <p:spPr>
          <a:xfrm>
            <a:off x="6509331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479333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1000" dirty="0"/>
          </a:p>
        </p:txBody>
      </p:sp>
      <p:sp>
        <p:nvSpPr>
          <p:cNvPr id="78" name="Shape 76"/>
          <p:cNvSpPr/>
          <p:nvPr/>
        </p:nvSpPr>
        <p:spPr>
          <a:xfrm>
            <a:off x="6988895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958897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1000" dirty="0"/>
          </a:p>
        </p:txBody>
      </p:sp>
      <p:sp>
        <p:nvSpPr>
          <p:cNvPr id="80" name="Shape 78"/>
          <p:cNvSpPr/>
          <p:nvPr/>
        </p:nvSpPr>
        <p:spPr>
          <a:xfrm>
            <a:off x="7468458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438461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1000" dirty="0"/>
          </a:p>
        </p:txBody>
      </p:sp>
      <p:sp>
        <p:nvSpPr>
          <p:cNvPr id="82" name="Shape 80"/>
          <p:cNvSpPr/>
          <p:nvPr/>
        </p:nvSpPr>
        <p:spPr>
          <a:xfrm>
            <a:off x="7948022" y="3387192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918024" y="3387192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1000" dirty="0"/>
          </a:p>
        </p:txBody>
      </p:sp>
      <p:sp>
        <p:nvSpPr>
          <p:cNvPr id="84" name="Shape 82"/>
          <p:cNvSpPr/>
          <p:nvPr/>
        </p:nvSpPr>
        <p:spPr>
          <a:xfrm>
            <a:off x="4351294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EF1F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1296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1000" dirty="0"/>
          </a:p>
        </p:txBody>
      </p:sp>
      <p:sp>
        <p:nvSpPr>
          <p:cNvPr id="86" name="Text 84"/>
          <p:cNvSpPr/>
          <p:nvPr/>
        </p:nvSpPr>
        <p:spPr>
          <a:xfrm>
            <a:off x="4321296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83085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860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5310421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280423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5789985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5759987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1000" dirty="0"/>
          </a:p>
        </p:txBody>
      </p:sp>
      <p:sp>
        <p:nvSpPr>
          <p:cNvPr id="93" name="Shape 91"/>
          <p:cNvSpPr/>
          <p:nvPr/>
        </p:nvSpPr>
        <p:spPr>
          <a:xfrm>
            <a:off x="6269549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6239551" y="3776790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6749113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8EDF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19115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1000" dirty="0"/>
          </a:p>
        </p:txBody>
      </p:sp>
      <p:sp>
        <p:nvSpPr>
          <p:cNvPr id="97" name="Text 95"/>
          <p:cNvSpPr/>
          <p:nvPr/>
        </p:nvSpPr>
        <p:spPr>
          <a:xfrm>
            <a:off x="6719115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98" name="Shape 96"/>
          <p:cNvSpPr/>
          <p:nvPr/>
        </p:nvSpPr>
        <p:spPr>
          <a:xfrm>
            <a:off x="7228677" y="3776790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F1F4F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7198679" y="3841947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1000" dirty="0"/>
          </a:p>
        </p:txBody>
      </p:sp>
      <p:sp>
        <p:nvSpPr>
          <p:cNvPr id="100" name="Text 98"/>
          <p:cNvSpPr/>
          <p:nvPr/>
        </p:nvSpPr>
        <p:spPr>
          <a:xfrm>
            <a:off x="7198679" y="4000697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00" dirty="0"/>
          </a:p>
        </p:txBody>
      </p:sp>
      <p:sp>
        <p:nvSpPr>
          <p:cNvPr id="101" name="Shape 99"/>
          <p:cNvSpPr/>
          <p:nvPr/>
        </p:nvSpPr>
        <p:spPr>
          <a:xfrm>
            <a:off x="4591076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87A4E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561078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1000" dirty="0"/>
          </a:p>
        </p:txBody>
      </p:sp>
      <p:sp>
        <p:nvSpPr>
          <p:cNvPr id="103" name="Text 101"/>
          <p:cNvSpPr/>
          <p:nvPr/>
        </p:nvSpPr>
        <p:spPr>
          <a:xfrm>
            <a:off x="4561078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95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5070639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040641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1000" dirty="0"/>
          </a:p>
        </p:txBody>
      </p:sp>
      <p:sp>
        <p:nvSpPr>
          <p:cNvPr id="106" name="Shape 104"/>
          <p:cNvSpPr/>
          <p:nvPr/>
        </p:nvSpPr>
        <p:spPr>
          <a:xfrm>
            <a:off x="5550203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520205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1000" dirty="0"/>
          </a:p>
        </p:txBody>
      </p:sp>
      <p:sp>
        <p:nvSpPr>
          <p:cNvPr id="108" name="Shape 106"/>
          <p:cNvSpPr/>
          <p:nvPr/>
        </p:nvSpPr>
        <p:spPr>
          <a:xfrm>
            <a:off x="6029767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5999769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1000" dirty="0"/>
          </a:p>
        </p:txBody>
      </p:sp>
      <p:sp>
        <p:nvSpPr>
          <p:cNvPr id="110" name="Shape 108"/>
          <p:cNvSpPr/>
          <p:nvPr/>
        </p:nvSpPr>
        <p:spPr>
          <a:xfrm>
            <a:off x="6509331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CF0F9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479333" y="4231545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1000" dirty="0"/>
          </a:p>
        </p:txBody>
      </p:sp>
      <p:sp>
        <p:nvSpPr>
          <p:cNvPr id="112" name="Text 110"/>
          <p:cNvSpPr/>
          <p:nvPr/>
        </p:nvSpPr>
        <p:spPr>
          <a:xfrm>
            <a:off x="6479333" y="4390295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800" dirty="0"/>
          </a:p>
        </p:txBody>
      </p:sp>
      <p:sp>
        <p:nvSpPr>
          <p:cNvPr id="113" name="Shape 111"/>
          <p:cNvSpPr/>
          <p:nvPr/>
        </p:nvSpPr>
        <p:spPr>
          <a:xfrm>
            <a:off x="6988895" y="4166388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958897" y="4166388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1000" dirty="0"/>
          </a:p>
        </p:txBody>
      </p:sp>
      <p:sp>
        <p:nvSpPr>
          <p:cNvPr id="115" name="Shape 113"/>
          <p:cNvSpPr/>
          <p:nvPr/>
        </p:nvSpPr>
        <p:spPr>
          <a:xfrm>
            <a:off x="3392166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E6E6E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3362168" y="4555986"/>
            <a:ext cx="447814" cy="44781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1000" dirty="0"/>
          </a:p>
        </p:txBody>
      </p:sp>
      <p:sp>
        <p:nvSpPr>
          <p:cNvPr id="117" name="Shape 115"/>
          <p:cNvSpPr/>
          <p:nvPr/>
        </p:nvSpPr>
        <p:spPr>
          <a:xfrm>
            <a:off x="6749113" y="4555986"/>
            <a:ext cx="387818" cy="447814"/>
          </a:xfrm>
          <a:custGeom>
            <a:avLst/>
            <a:gdLst/>
            <a:ahLst/>
            <a:cxnLst/>
            <a:rect l="l" t="t" r="r" b="b"/>
            <a:pathLst>
              <a:path w="387818" h="447814">
                <a:moveTo>
                  <a:pt x="193909" y="0"/>
                </a:moveTo>
                <a:lnTo>
                  <a:pt x="0" y="111953"/>
                </a:lnTo>
                <a:lnTo>
                  <a:pt x="0" y="335860"/>
                </a:lnTo>
                <a:lnTo>
                  <a:pt x="193909" y="447814"/>
                </a:lnTo>
                <a:lnTo>
                  <a:pt x="387818" y="335860"/>
                </a:lnTo>
                <a:lnTo>
                  <a:pt x="387818" y="111953"/>
                </a:lnTo>
                <a:close/>
              </a:path>
            </a:pathLst>
          </a:custGeom>
          <a:solidFill>
            <a:srgbClr val="AEC0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719115" y="4621143"/>
            <a:ext cx="44781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1000" dirty="0"/>
          </a:p>
        </p:txBody>
      </p:sp>
      <p:sp>
        <p:nvSpPr>
          <p:cNvPr id="119" name="Text 117"/>
          <p:cNvSpPr/>
          <p:nvPr/>
        </p:nvSpPr>
        <p:spPr>
          <a:xfrm>
            <a:off x="6719115" y="4779893"/>
            <a:ext cx="44781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74</a:t>
            </a:r>
            <a:endParaRPr lang="en-US" sz="800" dirty="0"/>
          </a:p>
        </p:txBody>
      </p:sp>
      <p:sp>
        <p:nvSpPr>
          <p:cNvPr id="120" name="Shape 118"/>
          <p:cNvSpPr/>
          <p:nvPr/>
        </p:nvSpPr>
        <p:spPr>
          <a:xfrm>
            <a:off x="3122386" y="5067300"/>
            <a:ext cx="69850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185886" y="5067300"/>
            <a:ext cx="69850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249386" y="5067300"/>
            <a:ext cx="69850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312886" y="5067300"/>
            <a:ext cx="69850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6386" y="5067300"/>
            <a:ext cx="69850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439886" y="5067300"/>
            <a:ext cx="69850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126" name="Shape 124"/>
          <p:cNvSpPr/>
          <p:nvPr/>
        </p:nvSpPr>
        <p:spPr>
          <a:xfrm>
            <a:off x="3503386" y="5067300"/>
            <a:ext cx="69850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127" name="Shape 125"/>
          <p:cNvSpPr/>
          <p:nvPr/>
        </p:nvSpPr>
        <p:spPr>
          <a:xfrm>
            <a:off x="3566886" y="5067300"/>
            <a:ext cx="69850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128" name="Shape 126"/>
          <p:cNvSpPr/>
          <p:nvPr/>
        </p:nvSpPr>
        <p:spPr>
          <a:xfrm>
            <a:off x="3630386" y="5067300"/>
            <a:ext cx="69850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129" name="Shape 127"/>
          <p:cNvSpPr/>
          <p:nvPr/>
        </p:nvSpPr>
        <p:spPr>
          <a:xfrm>
            <a:off x="3693886" y="5067300"/>
            <a:ext cx="69850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130" name="Shape 128"/>
          <p:cNvSpPr/>
          <p:nvPr/>
        </p:nvSpPr>
        <p:spPr>
          <a:xfrm>
            <a:off x="3757386" y="5067300"/>
            <a:ext cx="69850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131" name="Shape 129"/>
          <p:cNvSpPr/>
          <p:nvPr/>
        </p:nvSpPr>
        <p:spPr>
          <a:xfrm>
            <a:off x="3820886" y="5067300"/>
            <a:ext cx="69850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884386" y="5067300"/>
            <a:ext cx="69850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947886" y="5067300"/>
            <a:ext cx="69850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011386" y="5067300"/>
            <a:ext cx="69850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074886" y="5067300"/>
            <a:ext cx="69850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138386" y="5067300"/>
            <a:ext cx="69850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201886" y="5067300"/>
            <a:ext cx="69850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265386" y="5067300"/>
            <a:ext cx="69850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328886" y="5067300"/>
            <a:ext cx="69850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392386" y="5067300"/>
            <a:ext cx="69850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455886" y="5067300"/>
            <a:ext cx="69850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519386" y="5067300"/>
            <a:ext cx="69850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582886" y="5067300"/>
            <a:ext cx="69850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4" name="Text 142"/>
          <p:cNvSpPr/>
          <p:nvPr/>
        </p:nvSpPr>
        <p:spPr>
          <a:xfrm>
            <a:off x="3122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850" dirty="0"/>
          </a:p>
        </p:txBody>
      </p:sp>
      <p:sp>
        <p:nvSpPr>
          <p:cNvPr id="145" name="Text 143"/>
          <p:cNvSpPr/>
          <p:nvPr/>
        </p:nvSpPr>
        <p:spPr>
          <a:xfrm>
            <a:off x="3884386" y="5187950"/>
            <a:ext cx="762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850" dirty="0"/>
          </a:p>
        </p:txBody>
      </p:sp>
      <p:sp>
        <p:nvSpPr>
          <p:cNvPr id="146" name="Shape 144"/>
          <p:cNvSpPr/>
          <p:nvPr/>
        </p:nvSpPr>
        <p:spPr>
          <a:xfrm>
            <a:off x="4773386" y="5067300"/>
            <a:ext cx="114300" cy="114300"/>
          </a:xfrm>
          <a:prstGeom prst="rect">
            <a:avLst/>
          </a:prstGeom>
          <a:solidFill>
            <a:srgbClr val="E6E6E6"/>
          </a:solidFill>
          <a:ln/>
        </p:spPr>
      </p:sp>
      <p:sp>
        <p:nvSpPr>
          <p:cNvPr id="147" name="Text 145"/>
          <p:cNvSpPr/>
          <p:nvPr/>
        </p:nvSpPr>
        <p:spPr>
          <a:xfrm>
            <a:off x="4913086" y="5041900"/>
            <a:ext cx="76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data</a:t>
            </a:r>
            <a:endParaRPr lang="en-US" sz="8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Tile map with per-region mini-bars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06660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" name="Text 2"/>
          <p:cNvSpPr/>
          <p:nvPr/>
        </p:nvSpPr>
        <p:spPr>
          <a:xfrm>
            <a:off x="3706660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AK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8115941" y="1828800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" name="Text 4"/>
          <p:cNvSpPr/>
          <p:nvPr/>
        </p:nvSpPr>
        <p:spPr>
          <a:xfrm>
            <a:off x="8115941" y="1850946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314254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" name="Text 6"/>
          <p:cNvSpPr/>
          <p:nvPr/>
        </p:nvSpPr>
        <p:spPr>
          <a:xfrm>
            <a:off x="7314254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VT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715098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" name="Text 8"/>
          <p:cNvSpPr/>
          <p:nvPr/>
        </p:nvSpPr>
        <p:spPr>
          <a:xfrm>
            <a:off x="7715098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8115941" y="2229644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" name="Text 10"/>
          <p:cNvSpPr/>
          <p:nvPr/>
        </p:nvSpPr>
        <p:spPr>
          <a:xfrm>
            <a:off x="8115941" y="2251789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10750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148104" y="2909461"/>
            <a:ext cx="65623" cy="3844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4220077" y="2901771"/>
            <a:ext cx="65623" cy="4613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" name="Shape 14"/>
          <p:cNvSpPr/>
          <p:nvPr/>
        </p:nvSpPr>
        <p:spPr>
          <a:xfrm>
            <a:off x="4292051" y="2897927"/>
            <a:ext cx="65623" cy="499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364024" y="2886393"/>
            <a:ext cx="65623" cy="61516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8" name="Text 16"/>
          <p:cNvSpPr/>
          <p:nvPr/>
        </p:nvSpPr>
        <p:spPr>
          <a:xfrm>
            <a:off x="410750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50834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0" name="Text 18"/>
          <p:cNvSpPr/>
          <p:nvPr/>
        </p:nvSpPr>
        <p:spPr>
          <a:xfrm>
            <a:off x="450834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90919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2" name="Text 20"/>
          <p:cNvSpPr/>
          <p:nvPr/>
        </p:nvSpPr>
        <p:spPr>
          <a:xfrm>
            <a:off x="490919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310035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4" name="Text 22"/>
          <p:cNvSpPr/>
          <p:nvPr/>
        </p:nvSpPr>
        <p:spPr>
          <a:xfrm>
            <a:off x="5310035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SD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5710879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6" name="Text 24"/>
          <p:cNvSpPr/>
          <p:nvPr/>
        </p:nvSpPr>
        <p:spPr>
          <a:xfrm>
            <a:off x="5710879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MN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6111723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8" name="Text 26"/>
          <p:cNvSpPr/>
          <p:nvPr/>
        </p:nvSpPr>
        <p:spPr>
          <a:xfrm>
            <a:off x="6111723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WI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512566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0" name="Text 28"/>
          <p:cNvSpPr/>
          <p:nvPr/>
        </p:nvSpPr>
        <p:spPr>
          <a:xfrm>
            <a:off x="6512566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314254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2" name="Shape 30"/>
          <p:cNvSpPr/>
          <p:nvPr/>
        </p:nvSpPr>
        <p:spPr>
          <a:xfrm>
            <a:off x="7354854" y="2878703"/>
            <a:ext cx="65623" cy="692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7426827" y="2871014"/>
            <a:ext cx="65623" cy="768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34" name="Shape 32"/>
          <p:cNvSpPr/>
          <p:nvPr/>
        </p:nvSpPr>
        <p:spPr>
          <a:xfrm>
            <a:off x="7498801" y="2863324"/>
            <a:ext cx="65623" cy="8458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5" name="Shape 33"/>
          <p:cNvSpPr/>
          <p:nvPr/>
        </p:nvSpPr>
        <p:spPr>
          <a:xfrm>
            <a:off x="7570774" y="2847945"/>
            <a:ext cx="65623" cy="99963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36" name="Text 34"/>
          <p:cNvSpPr/>
          <p:nvPr/>
        </p:nvSpPr>
        <p:spPr>
          <a:xfrm>
            <a:off x="7314254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NY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7715098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38" name="Text 36"/>
          <p:cNvSpPr/>
          <p:nvPr/>
        </p:nvSpPr>
        <p:spPr>
          <a:xfrm>
            <a:off x="7715098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CT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8115941" y="2630488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0" name="Text 38"/>
          <p:cNvSpPr/>
          <p:nvPr/>
        </p:nvSpPr>
        <p:spPr>
          <a:xfrm>
            <a:off x="8115941" y="2652633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10750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2" name="Text 40"/>
          <p:cNvSpPr/>
          <p:nvPr/>
        </p:nvSpPr>
        <p:spPr>
          <a:xfrm>
            <a:off x="410750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450834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4" name="Text 42"/>
          <p:cNvSpPr/>
          <p:nvPr/>
        </p:nvSpPr>
        <p:spPr>
          <a:xfrm>
            <a:off x="450834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909191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6" name="Text 44"/>
          <p:cNvSpPr/>
          <p:nvPr/>
        </p:nvSpPr>
        <p:spPr>
          <a:xfrm>
            <a:off x="4909191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WY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5310035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8" name="Text 46"/>
          <p:cNvSpPr/>
          <p:nvPr/>
        </p:nvSpPr>
        <p:spPr>
          <a:xfrm>
            <a:off x="5310035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5710879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0" name="Text 48"/>
          <p:cNvSpPr/>
          <p:nvPr/>
        </p:nvSpPr>
        <p:spPr>
          <a:xfrm>
            <a:off x="5710879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IA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111723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2" name="Shape 50"/>
          <p:cNvSpPr/>
          <p:nvPr/>
        </p:nvSpPr>
        <p:spPr>
          <a:xfrm>
            <a:off x="6152323" y="3302615"/>
            <a:ext cx="65623" cy="461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6224296" y="3294926"/>
            <a:ext cx="65623" cy="5382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54" name="Shape 52"/>
          <p:cNvSpPr/>
          <p:nvPr/>
        </p:nvSpPr>
        <p:spPr>
          <a:xfrm>
            <a:off x="6296269" y="3291081"/>
            <a:ext cx="65623" cy="576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55" name="Shape 53"/>
          <p:cNvSpPr/>
          <p:nvPr/>
        </p:nvSpPr>
        <p:spPr>
          <a:xfrm>
            <a:off x="6368243" y="3279547"/>
            <a:ext cx="65623" cy="69205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56" name="Text 54"/>
          <p:cNvSpPr/>
          <p:nvPr/>
        </p:nvSpPr>
        <p:spPr>
          <a:xfrm>
            <a:off x="6111723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6512566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58" name="Text 56"/>
          <p:cNvSpPr/>
          <p:nvPr/>
        </p:nvSpPr>
        <p:spPr>
          <a:xfrm>
            <a:off x="6512566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</a:t>
            </a:r>
            <a:endParaRPr lang="en-US" sz="850" dirty="0"/>
          </a:p>
        </p:txBody>
      </p:sp>
      <p:sp>
        <p:nvSpPr>
          <p:cNvPr id="59" name="Shape 57"/>
          <p:cNvSpPr/>
          <p:nvPr/>
        </p:nvSpPr>
        <p:spPr>
          <a:xfrm>
            <a:off x="6913410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0" name="Text 58"/>
          <p:cNvSpPr/>
          <p:nvPr/>
        </p:nvSpPr>
        <p:spPr>
          <a:xfrm>
            <a:off x="6913410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OH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7314254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2" name="Text 60"/>
          <p:cNvSpPr/>
          <p:nvPr/>
        </p:nvSpPr>
        <p:spPr>
          <a:xfrm>
            <a:off x="7314254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</a:t>
            </a:r>
            <a:endParaRPr lang="en-US" sz="850" dirty="0"/>
          </a:p>
        </p:txBody>
      </p:sp>
      <p:sp>
        <p:nvSpPr>
          <p:cNvPr id="63" name="Shape 61"/>
          <p:cNvSpPr/>
          <p:nvPr/>
        </p:nvSpPr>
        <p:spPr>
          <a:xfrm>
            <a:off x="7715098" y="3031331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4" name="Text 62"/>
          <p:cNvSpPr/>
          <p:nvPr/>
        </p:nvSpPr>
        <p:spPr>
          <a:xfrm>
            <a:off x="7715098" y="3053477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NJ</a:t>
            </a:r>
            <a:endParaRPr lang="en-US" sz="850" dirty="0"/>
          </a:p>
        </p:txBody>
      </p:sp>
      <p:sp>
        <p:nvSpPr>
          <p:cNvPr id="65" name="Shape 63"/>
          <p:cNvSpPr/>
          <p:nvPr/>
        </p:nvSpPr>
        <p:spPr>
          <a:xfrm>
            <a:off x="370666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66" name="Shape 64"/>
          <p:cNvSpPr/>
          <p:nvPr/>
        </p:nvSpPr>
        <p:spPr>
          <a:xfrm>
            <a:off x="3747260" y="3634254"/>
            <a:ext cx="65623" cy="1153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819234" y="3615030"/>
            <a:ext cx="65623" cy="1345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68" name="Shape 66"/>
          <p:cNvSpPr/>
          <p:nvPr/>
        </p:nvSpPr>
        <p:spPr>
          <a:xfrm>
            <a:off x="3891207" y="3595807"/>
            <a:ext cx="65623" cy="1537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69" name="Shape 67"/>
          <p:cNvSpPr/>
          <p:nvPr/>
        </p:nvSpPr>
        <p:spPr>
          <a:xfrm>
            <a:off x="3963180" y="3565049"/>
            <a:ext cx="65623" cy="184547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70" name="Text 68"/>
          <p:cNvSpPr/>
          <p:nvPr/>
        </p:nvSpPr>
        <p:spPr>
          <a:xfrm>
            <a:off x="370666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410750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2" name="Text 70"/>
          <p:cNvSpPr/>
          <p:nvPr/>
        </p:nvSpPr>
        <p:spPr>
          <a:xfrm>
            <a:off x="410750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</a:t>
            </a:r>
            <a:endParaRPr lang="en-US" sz="850" dirty="0"/>
          </a:p>
        </p:txBody>
      </p:sp>
      <p:sp>
        <p:nvSpPr>
          <p:cNvPr id="73" name="Shape 71"/>
          <p:cNvSpPr/>
          <p:nvPr/>
        </p:nvSpPr>
        <p:spPr>
          <a:xfrm>
            <a:off x="450834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4" name="Text 72"/>
          <p:cNvSpPr/>
          <p:nvPr/>
        </p:nvSpPr>
        <p:spPr>
          <a:xfrm>
            <a:off x="450834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UT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4909191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6" name="Text 74"/>
          <p:cNvSpPr/>
          <p:nvPr/>
        </p:nvSpPr>
        <p:spPr>
          <a:xfrm>
            <a:off x="4909191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</a:t>
            </a:r>
            <a:endParaRPr lang="en-US" sz="850" dirty="0"/>
          </a:p>
        </p:txBody>
      </p:sp>
      <p:sp>
        <p:nvSpPr>
          <p:cNvPr id="77" name="Shape 75"/>
          <p:cNvSpPr/>
          <p:nvPr/>
        </p:nvSpPr>
        <p:spPr>
          <a:xfrm>
            <a:off x="5310035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78" name="Text 76"/>
          <p:cNvSpPr/>
          <p:nvPr/>
        </p:nvSpPr>
        <p:spPr>
          <a:xfrm>
            <a:off x="5310035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KS</a:t>
            </a:r>
            <a:endParaRPr lang="en-US" sz="850" dirty="0"/>
          </a:p>
        </p:txBody>
      </p:sp>
      <p:sp>
        <p:nvSpPr>
          <p:cNvPr id="79" name="Shape 77"/>
          <p:cNvSpPr/>
          <p:nvPr/>
        </p:nvSpPr>
        <p:spPr>
          <a:xfrm>
            <a:off x="5710879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0" name="Text 78"/>
          <p:cNvSpPr/>
          <p:nvPr/>
        </p:nvSpPr>
        <p:spPr>
          <a:xfrm>
            <a:off x="5710879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111723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2" name="Text 80"/>
          <p:cNvSpPr/>
          <p:nvPr/>
        </p:nvSpPr>
        <p:spPr>
          <a:xfrm>
            <a:off x="6111723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KY</a:t>
            </a:r>
            <a:endParaRPr lang="en-US" sz="850" dirty="0"/>
          </a:p>
        </p:txBody>
      </p:sp>
      <p:sp>
        <p:nvSpPr>
          <p:cNvPr id="83" name="Shape 81"/>
          <p:cNvSpPr/>
          <p:nvPr/>
        </p:nvSpPr>
        <p:spPr>
          <a:xfrm>
            <a:off x="6512566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4" name="Text 82"/>
          <p:cNvSpPr/>
          <p:nvPr/>
        </p:nvSpPr>
        <p:spPr>
          <a:xfrm>
            <a:off x="6512566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WV</a:t>
            </a:r>
            <a:endParaRPr lang="en-US" sz="850" dirty="0"/>
          </a:p>
        </p:txBody>
      </p:sp>
      <p:sp>
        <p:nvSpPr>
          <p:cNvPr id="85" name="Shape 83"/>
          <p:cNvSpPr/>
          <p:nvPr/>
        </p:nvSpPr>
        <p:spPr>
          <a:xfrm>
            <a:off x="6913410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6" name="Text 84"/>
          <p:cNvSpPr/>
          <p:nvPr/>
        </p:nvSpPr>
        <p:spPr>
          <a:xfrm>
            <a:off x="6913410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7314254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88" name="Text 86"/>
          <p:cNvSpPr/>
          <p:nvPr/>
        </p:nvSpPr>
        <p:spPr>
          <a:xfrm>
            <a:off x="7314254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</a:t>
            </a:r>
            <a:endParaRPr lang="en-US" sz="850" dirty="0"/>
          </a:p>
        </p:txBody>
      </p:sp>
      <p:sp>
        <p:nvSpPr>
          <p:cNvPr id="89" name="Shape 87"/>
          <p:cNvSpPr/>
          <p:nvPr/>
        </p:nvSpPr>
        <p:spPr>
          <a:xfrm>
            <a:off x="7715098" y="3432175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0" name="Text 88"/>
          <p:cNvSpPr/>
          <p:nvPr/>
        </p:nvSpPr>
        <p:spPr>
          <a:xfrm>
            <a:off x="7715098" y="3454321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</a:t>
            </a:r>
            <a:endParaRPr lang="en-US" sz="850" dirty="0"/>
          </a:p>
        </p:txBody>
      </p:sp>
      <p:sp>
        <p:nvSpPr>
          <p:cNvPr id="91" name="Shape 89"/>
          <p:cNvSpPr/>
          <p:nvPr/>
        </p:nvSpPr>
        <p:spPr>
          <a:xfrm>
            <a:off x="4508348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2" name="Text 90"/>
          <p:cNvSpPr/>
          <p:nvPr/>
        </p:nvSpPr>
        <p:spPr>
          <a:xfrm>
            <a:off x="4508348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</a:t>
            </a:r>
            <a:endParaRPr lang="en-US" sz="850" dirty="0"/>
          </a:p>
        </p:txBody>
      </p:sp>
      <p:sp>
        <p:nvSpPr>
          <p:cNvPr id="93" name="Shape 91"/>
          <p:cNvSpPr/>
          <p:nvPr/>
        </p:nvSpPr>
        <p:spPr>
          <a:xfrm>
            <a:off x="4909191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4" name="Text 92"/>
          <p:cNvSpPr/>
          <p:nvPr/>
        </p:nvSpPr>
        <p:spPr>
          <a:xfrm>
            <a:off x="4909191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NM</a:t>
            </a:r>
            <a:endParaRPr lang="en-US" sz="850" dirty="0"/>
          </a:p>
        </p:txBody>
      </p:sp>
      <p:sp>
        <p:nvSpPr>
          <p:cNvPr id="95" name="Shape 93"/>
          <p:cNvSpPr/>
          <p:nvPr/>
        </p:nvSpPr>
        <p:spPr>
          <a:xfrm>
            <a:off x="5310035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6" name="Text 94"/>
          <p:cNvSpPr/>
          <p:nvPr/>
        </p:nvSpPr>
        <p:spPr>
          <a:xfrm>
            <a:off x="5310035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OK</a:t>
            </a:r>
            <a:endParaRPr lang="en-US" sz="850" dirty="0"/>
          </a:p>
        </p:txBody>
      </p:sp>
      <p:sp>
        <p:nvSpPr>
          <p:cNvPr id="97" name="Shape 95"/>
          <p:cNvSpPr/>
          <p:nvPr/>
        </p:nvSpPr>
        <p:spPr>
          <a:xfrm>
            <a:off x="5710879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98" name="Text 96"/>
          <p:cNvSpPr/>
          <p:nvPr/>
        </p:nvSpPr>
        <p:spPr>
          <a:xfrm>
            <a:off x="5710879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</a:t>
            </a:r>
            <a:endParaRPr lang="en-US" sz="850" dirty="0"/>
          </a:p>
        </p:txBody>
      </p:sp>
      <p:sp>
        <p:nvSpPr>
          <p:cNvPr id="99" name="Shape 97"/>
          <p:cNvSpPr/>
          <p:nvPr/>
        </p:nvSpPr>
        <p:spPr>
          <a:xfrm>
            <a:off x="6111723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0" name="Text 98"/>
          <p:cNvSpPr/>
          <p:nvPr/>
        </p:nvSpPr>
        <p:spPr>
          <a:xfrm>
            <a:off x="6111723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TN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512566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2" name="Text 100"/>
          <p:cNvSpPr/>
          <p:nvPr/>
        </p:nvSpPr>
        <p:spPr>
          <a:xfrm>
            <a:off x="6512566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</a:t>
            </a:r>
            <a:endParaRPr lang="en-US" sz="850" dirty="0"/>
          </a:p>
        </p:txBody>
      </p:sp>
      <p:sp>
        <p:nvSpPr>
          <p:cNvPr id="103" name="Shape 101"/>
          <p:cNvSpPr/>
          <p:nvPr/>
        </p:nvSpPr>
        <p:spPr>
          <a:xfrm>
            <a:off x="6913410" y="3833019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4" name="Text 102"/>
          <p:cNvSpPr/>
          <p:nvPr/>
        </p:nvSpPr>
        <p:spPr>
          <a:xfrm>
            <a:off x="6913410" y="3855164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NC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4909191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06" name="Shape 104"/>
          <p:cNvSpPr/>
          <p:nvPr/>
        </p:nvSpPr>
        <p:spPr>
          <a:xfrm>
            <a:off x="4949792" y="4474389"/>
            <a:ext cx="65623" cy="7689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021765" y="4455165"/>
            <a:ext cx="65623" cy="9611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5093738" y="4443631"/>
            <a:ext cx="65623" cy="10765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09" name="Shape 107"/>
          <p:cNvSpPr/>
          <p:nvPr/>
        </p:nvSpPr>
        <p:spPr>
          <a:xfrm>
            <a:off x="5165712" y="4428252"/>
            <a:ext cx="65623" cy="123031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10" name="Text 108"/>
          <p:cNvSpPr/>
          <p:nvPr/>
        </p:nvSpPr>
        <p:spPr>
          <a:xfrm>
            <a:off x="4909191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TX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5310035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2" name="Text 110"/>
          <p:cNvSpPr/>
          <p:nvPr/>
        </p:nvSpPr>
        <p:spPr>
          <a:xfrm>
            <a:off x="5310035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</a:t>
            </a:r>
            <a:endParaRPr lang="en-US" sz="850" dirty="0"/>
          </a:p>
        </p:txBody>
      </p:sp>
      <p:sp>
        <p:nvSpPr>
          <p:cNvPr id="113" name="Shape 111"/>
          <p:cNvSpPr/>
          <p:nvPr/>
        </p:nvSpPr>
        <p:spPr>
          <a:xfrm>
            <a:off x="5710879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4" name="Text 112"/>
          <p:cNvSpPr/>
          <p:nvPr/>
        </p:nvSpPr>
        <p:spPr>
          <a:xfrm>
            <a:off x="5710879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MS</a:t>
            </a:r>
            <a:endParaRPr lang="en-US" sz="850" dirty="0"/>
          </a:p>
        </p:txBody>
      </p:sp>
      <p:sp>
        <p:nvSpPr>
          <p:cNvPr id="115" name="Shape 113"/>
          <p:cNvSpPr/>
          <p:nvPr/>
        </p:nvSpPr>
        <p:spPr>
          <a:xfrm>
            <a:off x="6111723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6" name="Text 114"/>
          <p:cNvSpPr/>
          <p:nvPr/>
        </p:nvSpPr>
        <p:spPr>
          <a:xfrm>
            <a:off x="6111723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</a:t>
            </a:r>
            <a:endParaRPr lang="en-US" sz="850" dirty="0"/>
          </a:p>
        </p:txBody>
      </p:sp>
      <p:sp>
        <p:nvSpPr>
          <p:cNvPr id="117" name="Shape 115"/>
          <p:cNvSpPr/>
          <p:nvPr/>
        </p:nvSpPr>
        <p:spPr>
          <a:xfrm>
            <a:off x="6512566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18" name="Text 116"/>
          <p:cNvSpPr/>
          <p:nvPr/>
        </p:nvSpPr>
        <p:spPr>
          <a:xfrm>
            <a:off x="6512566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</a:t>
            </a:r>
            <a:endParaRPr lang="en-US" sz="850" dirty="0"/>
          </a:p>
        </p:txBody>
      </p:sp>
      <p:sp>
        <p:nvSpPr>
          <p:cNvPr id="119" name="Shape 117"/>
          <p:cNvSpPr/>
          <p:nvPr/>
        </p:nvSpPr>
        <p:spPr>
          <a:xfrm>
            <a:off x="6913410" y="4233863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0" name="Text 118"/>
          <p:cNvSpPr/>
          <p:nvPr/>
        </p:nvSpPr>
        <p:spPr>
          <a:xfrm>
            <a:off x="6913410" y="4256008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</a:t>
            </a:r>
            <a:endParaRPr lang="en-US" sz="850" dirty="0"/>
          </a:p>
        </p:txBody>
      </p:sp>
      <p:sp>
        <p:nvSpPr>
          <p:cNvPr id="121" name="Shape 119"/>
          <p:cNvSpPr/>
          <p:nvPr/>
        </p:nvSpPr>
        <p:spPr>
          <a:xfrm>
            <a:off x="3706660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2" name="Text 120"/>
          <p:cNvSpPr/>
          <p:nvPr/>
        </p:nvSpPr>
        <p:spPr>
          <a:xfrm>
            <a:off x="3706660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HI</a:t>
            </a:r>
            <a:endParaRPr lang="en-US" sz="850" dirty="0"/>
          </a:p>
        </p:txBody>
      </p:sp>
      <p:sp>
        <p:nvSpPr>
          <p:cNvPr id="123" name="Shape 121"/>
          <p:cNvSpPr/>
          <p:nvPr/>
        </p:nvSpPr>
        <p:spPr>
          <a:xfrm>
            <a:off x="6512566" y="4634706"/>
            <a:ext cx="369094" cy="369094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553167" y="4894456"/>
            <a:ext cx="65623" cy="576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625140" y="4886767"/>
            <a:ext cx="65623" cy="653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697113" y="4879077"/>
            <a:ext cx="65623" cy="730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769087" y="4867543"/>
            <a:ext cx="65623" cy="84584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28" name="Text 126"/>
          <p:cNvSpPr/>
          <p:nvPr/>
        </p:nvSpPr>
        <p:spPr>
          <a:xfrm>
            <a:off x="6512566" y="4656852"/>
            <a:ext cx="369094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</a:t>
            </a:r>
            <a:endParaRPr lang="en-US" sz="850" dirty="0"/>
          </a:p>
        </p:txBody>
      </p:sp>
      <p:sp>
        <p:nvSpPr>
          <p:cNvPr id="129" name="Shape 127"/>
          <p:cNvSpPr/>
          <p:nvPr/>
        </p:nvSpPr>
        <p:spPr>
          <a:xfrm>
            <a:off x="3706660" y="51117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0" name="Text 128"/>
          <p:cNvSpPr/>
          <p:nvPr/>
        </p:nvSpPr>
        <p:spPr>
          <a:xfrm>
            <a:off x="383366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850" dirty="0"/>
          </a:p>
        </p:txBody>
      </p:sp>
      <p:sp>
        <p:nvSpPr>
          <p:cNvPr id="131" name="Shape 129"/>
          <p:cNvSpPr/>
          <p:nvPr/>
        </p:nvSpPr>
        <p:spPr>
          <a:xfrm>
            <a:off x="4123220" y="51117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Text 130"/>
          <p:cNvSpPr/>
          <p:nvPr/>
        </p:nvSpPr>
        <p:spPr>
          <a:xfrm>
            <a:off x="425022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850" dirty="0"/>
          </a:p>
        </p:txBody>
      </p:sp>
      <p:sp>
        <p:nvSpPr>
          <p:cNvPr id="133" name="Shape 131"/>
          <p:cNvSpPr/>
          <p:nvPr/>
        </p:nvSpPr>
        <p:spPr>
          <a:xfrm>
            <a:off x="4539780" y="51117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134" name="Text 132"/>
          <p:cNvSpPr/>
          <p:nvPr/>
        </p:nvSpPr>
        <p:spPr>
          <a:xfrm>
            <a:off x="466678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850" dirty="0"/>
          </a:p>
        </p:txBody>
      </p:sp>
      <p:sp>
        <p:nvSpPr>
          <p:cNvPr id="135" name="Shape 133"/>
          <p:cNvSpPr/>
          <p:nvPr/>
        </p:nvSpPr>
        <p:spPr>
          <a:xfrm>
            <a:off x="4956340" y="5111750"/>
            <a:ext cx="88900" cy="88900"/>
          </a:xfrm>
          <a:prstGeom prst="rect">
            <a:avLst/>
          </a:prstGeom>
          <a:solidFill>
            <a:srgbClr val="008300"/>
          </a:solidFill>
          <a:ln/>
        </p:spPr>
      </p:sp>
      <p:sp>
        <p:nvSpPr>
          <p:cNvPr id="136" name="Text 134"/>
          <p:cNvSpPr/>
          <p:nvPr/>
        </p:nvSpPr>
        <p:spPr>
          <a:xfrm>
            <a:off x="5083340" y="5073650"/>
            <a:ext cx="2133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8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100% chart with negative segments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79648" y="606552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479648" y="329184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479648" y="1905000"/>
            <a:ext cx="498094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047848" y="59766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-0.5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45897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32029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0.5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479648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139961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00274" y="5143500"/>
            <a:ext cx="16603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56366" y="3014472"/>
            <a:ext cx="1106876" cy="1664208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705566" y="375132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60%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756366" y="1905000"/>
            <a:ext cx="1106876" cy="1109472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05566" y="236448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40%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56366" y="4678680"/>
            <a:ext cx="1106876" cy="416052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5566" y="4791456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16680" y="2990353"/>
            <a:ext cx="1106876" cy="168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65880" y="373926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61%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416680" y="1905000"/>
            <a:ext cx="1106876" cy="108535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65880" y="2352427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39%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16680" y="4678680"/>
            <a:ext cx="1106876" cy="24119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365880" y="4704025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-9%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7076993" y="2971800"/>
            <a:ext cx="1106876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26193" y="37299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62%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7076993" y="1905000"/>
            <a:ext cx="1106876" cy="106680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026193" y="234315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076993" y="4678680"/>
            <a:ext cx="1106876" cy="426720"/>
          </a:xfrm>
          <a:prstGeom prst="rect">
            <a:avLst/>
          </a:prstGeom>
          <a:solidFill>
            <a:srgbClr val="EDA10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026193" y="4796790"/>
            <a:ext cx="1208476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-15%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479648" y="4678680"/>
            <a:ext cx="49809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511388" y="235267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Renewal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511388" y="37395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511388" y="480631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Returns</a:t>
            </a:r>
            <a:endParaRPr lang="en-US" sz="10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Semi-circle gauge (market share)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2667000"/>
                </a:moveTo>
                <a:lnTo>
                  <a:pt x="13726" y="2396770"/>
                </a:lnTo>
                <a:lnTo>
                  <a:pt x="54761" y="2129322"/>
                </a:lnTo>
                <a:lnTo>
                  <a:pt x="122684" y="1867408"/>
                </a:lnTo>
                <a:lnTo>
                  <a:pt x="216796" y="1613725"/>
                </a:lnTo>
                <a:lnTo>
                  <a:pt x="336127" y="1370882"/>
                </a:lnTo>
                <a:lnTo>
                  <a:pt x="479450" y="1141381"/>
                </a:lnTo>
                <a:lnTo>
                  <a:pt x="645289" y="927582"/>
                </a:lnTo>
                <a:lnTo>
                  <a:pt x="831938" y="731687"/>
                </a:lnTo>
                <a:lnTo>
                  <a:pt x="1037474" y="555712"/>
                </a:lnTo>
                <a:lnTo>
                  <a:pt x="1259783" y="401469"/>
                </a:lnTo>
                <a:lnTo>
                  <a:pt x="1496577" y="270544"/>
                </a:lnTo>
                <a:lnTo>
                  <a:pt x="1745418" y="164286"/>
                </a:lnTo>
                <a:lnTo>
                  <a:pt x="2003744" y="83789"/>
                </a:lnTo>
                <a:lnTo>
                  <a:pt x="2282312" y="1168737"/>
                </a:lnTo>
                <a:lnTo>
                  <a:pt x="2132482" y="1215426"/>
                </a:lnTo>
                <a:lnTo>
                  <a:pt x="1988155" y="1277056"/>
                </a:lnTo>
                <a:lnTo>
                  <a:pt x="1850814" y="1352992"/>
                </a:lnTo>
                <a:lnTo>
                  <a:pt x="1721875" y="1442453"/>
                </a:lnTo>
                <a:lnTo>
                  <a:pt x="1602664" y="1544519"/>
                </a:lnTo>
                <a:lnTo>
                  <a:pt x="1494408" y="1658138"/>
                </a:lnTo>
                <a:lnTo>
                  <a:pt x="1398221" y="1782141"/>
                </a:lnTo>
                <a:lnTo>
                  <a:pt x="1315094" y="1915252"/>
                </a:lnTo>
                <a:lnTo>
                  <a:pt x="1245882" y="2056100"/>
                </a:lnTo>
                <a:lnTo>
                  <a:pt x="1191297" y="2203237"/>
                </a:lnTo>
                <a:lnTo>
                  <a:pt x="1151901" y="2355147"/>
                </a:lnTo>
                <a:lnTo>
                  <a:pt x="1128101" y="2510267"/>
                </a:lnTo>
                <a:lnTo>
                  <a:pt x="1120140" y="26670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923277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445944" y="2716356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 42%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2003744" y="83789"/>
                </a:moveTo>
                <a:lnTo>
                  <a:pt x="2258987" y="31395"/>
                </a:lnTo>
                <a:lnTo>
                  <a:pt x="2518124" y="4158"/>
                </a:lnTo>
                <a:lnTo>
                  <a:pt x="2778682" y="2339"/>
                </a:lnTo>
                <a:lnTo>
                  <a:pt x="3038175" y="25955"/>
                </a:lnTo>
                <a:lnTo>
                  <a:pt x="3294124" y="74780"/>
                </a:lnTo>
                <a:lnTo>
                  <a:pt x="3544087" y="148348"/>
                </a:lnTo>
                <a:lnTo>
                  <a:pt x="3785679" y="245957"/>
                </a:lnTo>
                <a:lnTo>
                  <a:pt x="4016592" y="366676"/>
                </a:lnTo>
                <a:lnTo>
                  <a:pt x="4234623" y="509352"/>
                </a:lnTo>
                <a:lnTo>
                  <a:pt x="3576221" y="1415564"/>
                </a:lnTo>
                <a:lnTo>
                  <a:pt x="3449763" y="1332812"/>
                </a:lnTo>
                <a:lnTo>
                  <a:pt x="3315834" y="1262795"/>
                </a:lnTo>
                <a:lnTo>
                  <a:pt x="3175711" y="1206182"/>
                </a:lnTo>
                <a:lnTo>
                  <a:pt x="3030732" y="1163512"/>
                </a:lnTo>
                <a:lnTo>
                  <a:pt x="2882281" y="1135194"/>
                </a:lnTo>
                <a:lnTo>
                  <a:pt x="2731776" y="1121497"/>
                </a:lnTo>
                <a:lnTo>
                  <a:pt x="2580652" y="1122552"/>
                </a:lnTo>
                <a:lnTo>
                  <a:pt x="2430352" y="1138349"/>
                </a:lnTo>
                <a:lnTo>
                  <a:pt x="2282312" y="1168737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6597973" y="1807652"/>
            <a:ext cx="13089" cy="68613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14632" y="169369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A 28%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4234623" y="509352"/>
                </a:moveTo>
                <a:lnTo>
                  <a:pt x="4430719" y="666454"/>
                </a:lnTo>
                <a:lnTo>
                  <a:pt x="4611159" y="841313"/>
                </a:lnTo>
                <a:lnTo>
                  <a:pt x="4774343" y="1032377"/>
                </a:lnTo>
                <a:lnTo>
                  <a:pt x="4918823" y="1237950"/>
                </a:lnTo>
                <a:lnTo>
                  <a:pt x="5043314" y="1456207"/>
                </a:lnTo>
                <a:lnTo>
                  <a:pt x="5146714" y="1685212"/>
                </a:lnTo>
                <a:lnTo>
                  <a:pt x="4105234" y="2097563"/>
                </a:lnTo>
                <a:lnTo>
                  <a:pt x="4045262" y="1964740"/>
                </a:lnTo>
                <a:lnTo>
                  <a:pt x="3973057" y="1838151"/>
                </a:lnTo>
                <a:lnTo>
                  <a:pt x="3889259" y="1718919"/>
                </a:lnTo>
                <a:lnTo>
                  <a:pt x="3794612" y="1608101"/>
                </a:lnTo>
                <a:lnTo>
                  <a:pt x="3689957" y="1506683"/>
                </a:lnTo>
                <a:lnTo>
                  <a:pt x="3576221" y="1415564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213226" y="2823281"/>
            <a:ext cx="55192" cy="42812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3471" y="2716356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Rival B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428848" y="18415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5146714" y="1685212"/>
                </a:moveTo>
                <a:lnTo>
                  <a:pt x="5228103" y="1922931"/>
                </a:lnTo>
                <a:lnTo>
                  <a:pt x="5286760" y="2167254"/>
                </a:lnTo>
                <a:lnTo>
                  <a:pt x="5322164" y="2416013"/>
                </a:lnTo>
                <a:lnTo>
                  <a:pt x="5334000" y="2667000"/>
                </a:lnTo>
                <a:lnTo>
                  <a:pt x="4213860" y="2667000"/>
                </a:lnTo>
                <a:lnTo>
                  <a:pt x="4206995" y="2521428"/>
                </a:lnTo>
                <a:lnTo>
                  <a:pt x="4186461" y="2377147"/>
                </a:lnTo>
                <a:lnTo>
                  <a:pt x="4152440" y="2235440"/>
                </a:lnTo>
                <a:lnTo>
                  <a:pt x="4105234" y="2097563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8728083" y="3993286"/>
            <a:ext cx="68613" cy="13089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815408" y="3894466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Others 12%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428848" y="4292600"/>
            <a:ext cx="5334000" cy="254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7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Pareto chart (defect causes)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7324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Scratches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97113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Dents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86902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Misalign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6691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Cracks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66480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Paint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562698" y="5143500"/>
            <a:ext cx="8978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22896" y="2545080"/>
            <a:ext cx="598593" cy="25603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72096" y="37299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120786" y="3398520"/>
            <a:ext cx="598593" cy="17068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069986" y="41567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18676" y="4145280"/>
            <a:ext cx="598593" cy="9601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67876" y="453009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16566" y="4465320"/>
            <a:ext cx="598593" cy="64008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65766" y="469011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814456" y="4785360"/>
            <a:ext cx="598593" cy="32004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63656" y="485013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712346" y="4892040"/>
            <a:ext cx="598593" cy="21336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661546" y="4903470"/>
            <a:ext cx="7001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3248" y="5105400"/>
            <a:ext cx="538734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511388" y="4843145"/>
            <a:ext cx="63246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Defects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485988" y="5016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485988" y="34163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485988" y="1816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491713" y="379476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141193" y="361569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3522193" y="2970733"/>
            <a:ext cx="897890" cy="854507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389603" y="29402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39083" y="2761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67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 flipV="1">
            <a:off x="4420083" y="2490673"/>
            <a:ext cx="897890" cy="48006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287493" y="246019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936973" y="22811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5317973" y="2170633"/>
            <a:ext cx="897890" cy="32004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185383" y="214015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834863" y="19610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 flipV="1">
            <a:off x="6215863" y="2010613"/>
            <a:ext cx="897890" cy="160020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083273" y="1980133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732753" y="180106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97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 flipV="1">
            <a:off x="7113753" y="1905000"/>
            <a:ext cx="897890" cy="105613"/>
          </a:xfrm>
          <a:prstGeom prst="line">
            <a:avLst/>
          </a:prstGeom>
          <a:noFill/>
          <a:ln w="25400">
            <a:solidFill>
              <a:srgbClr val="1BAF7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981163" y="1874520"/>
            <a:ext cx="60960" cy="60960"/>
          </a:xfrm>
          <a:prstGeom prst="rect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630643" y="1695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511388" y="1631950"/>
            <a:ext cx="6324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Cumulative %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Bump chart (brand rank by year)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21548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40166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58784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77402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60208" y="1803400"/>
            <a:ext cx="101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909668" y="278765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095848" y="2006600"/>
            <a:ext cx="1186180" cy="78105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282028" y="2006600"/>
            <a:ext cx="1186180" cy="0"/>
          </a:xfrm>
          <a:prstGeom prst="line">
            <a:avLst/>
          </a:prstGeom>
          <a:noFill/>
          <a:ln w="44450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7268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85886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045048" y="273685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23122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17408" y="1955800"/>
            <a:ext cx="101600" cy="101600"/>
          </a:xfrm>
          <a:prstGeom prst="ellipse">
            <a:avLst/>
          </a:prstGeom>
          <a:solidFill>
            <a:srgbClr val="2A78D6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04784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8531708" y="19113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3723488" y="200660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909668" y="2006600"/>
            <a:ext cx="1186180" cy="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95848" y="2006600"/>
            <a:ext cx="1186180" cy="156210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67268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85886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45048" y="19558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231228" y="351790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417408" y="2736850"/>
            <a:ext cx="101600" cy="101600"/>
          </a:xfrm>
          <a:prstGeom prst="ellipse">
            <a:avLst/>
          </a:prstGeom>
          <a:solidFill>
            <a:srgbClr val="1BAF7A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4784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31708" y="26924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723488" y="3568700"/>
            <a:ext cx="1186180" cy="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095848" y="2787650"/>
            <a:ext cx="1186180" cy="156210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282028" y="2787650"/>
            <a:ext cx="1186180" cy="781050"/>
          </a:xfrm>
          <a:prstGeom prst="line">
            <a:avLst/>
          </a:prstGeom>
          <a:noFill/>
          <a:ln w="44450">
            <a:solidFill>
              <a:srgbClr val="EDA1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67268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85886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45048" y="42989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231228" y="273685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8417408" y="3517900"/>
            <a:ext cx="101600" cy="101600"/>
          </a:xfrm>
          <a:prstGeom prst="ellipse">
            <a:avLst/>
          </a:prstGeom>
          <a:solidFill>
            <a:srgbClr val="EDA1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04784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31708" y="34734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723488" y="4349750"/>
            <a:ext cx="1186180" cy="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490966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095848" y="356870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0083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7268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85886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045048" y="35179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231228" y="429895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417408" y="5080000"/>
            <a:ext cx="101600" cy="101600"/>
          </a:xfrm>
          <a:prstGeom prst="ellipse">
            <a:avLst/>
          </a:prstGeom>
          <a:solidFill>
            <a:srgbClr val="0083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84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853170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Umbrella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372348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90966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095848" y="5130800"/>
            <a:ext cx="1186180" cy="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7282028" y="4349750"/>
            <a:ext cx="1186180" cy="781050"/>
          </a:xfrm>
          <a:prstGeom prst="line">
            <a:avLst/>
          </a:prstGeom>
          <a:noFill/>
          <a:ln w="44450">
            <a:solidFill>
              <a:srgbClr val="4A3AA7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367268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485886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04504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231228" y="508000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417408" y="4298950"/>
            <a:ext cx="101600" cy="101600"/>
          </a:xfrm>
          <a:prstGeom prst="ellipse">
            <a:avLst/>
          </a:prstGeom>
          <a:solidFill>
            <a:srgbClr val="4A3AA7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047848" y="503555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8531708" y="4254500"/>
            <a:ext cx="612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4A3AA7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(line)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87156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0788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94420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8052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16848" y="1879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5304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6676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60308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66394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767572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47848" y="20552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25971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31390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Culture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47848" y="3680883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Innovation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047848" y="4222750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4764617"/>
            <a:ext cx="7366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Talent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535520" y="21200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616800" y="20552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72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 flipV="1">
            <a:off x="6840576" y="2150533"/>
            <a:ext cx="725424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810096" y="26619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91376" y="25971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58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840576" y="2692400"/>
            <a:ext cx="113995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950048" y="32037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31328" y="31390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 flipV="1">
            <a:off x="7203288" y="3234267"/>
            <a:ext cx="77724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72808" y="3745653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254088" y="3680883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203288" y="3776133"/>
            <a:ext cx="1295400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468208" y="4287520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8549488" y="4222750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 flipV="1">
            <a:off x="6322416" y="4318000"/>
            <a:ext cx="2176272" cy="541867"/>
          </a:xfrm>
          <a:prstGeom prst="line">
            <a:avLst/>
          </a:prstGeom>
          <a:noFill/>
          <a:ln w="25400">
            <a:solidFill>
              <a:srgbClr val="2A78D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291936" y="4829387"/>
            <a:ext cx="60960" cy="60960"/>
          </a:xfrm>
          <a:prstGeom prst="rect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373216" y="4764617"/>
            <a:ext cx="381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Horizontal profile chart (stacked area)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97634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32317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670013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016848" y="2057400"/>
            <a:ext cx="0" cy="3073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2470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467154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01837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7365213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712048" y="5156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047848" y="226949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047848" y="288417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047848" y="349885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047848" y="411353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047848" y="4728210"/>
            <a:ext cx="5308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29508" y="18732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375650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320388" y="18732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" name="Text 18"/>
          <p:cNvSpPr/>
          <p:nvPr/>
        </p:nvSpPr>
        <p:spPr>
          <a:xfrm>
            <a:off x="4447388" y="18288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29508" y="184150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20"/>
          <p:cNvSpPr/>
          <p:nvPr/>
        </p:nvSpPr>
        <p:spPr>
          <a:xfrm>
            <a:off x="375650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Retail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320388" y="184150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4" name="Text 22"/>
          <p:cNvSpPr/>
          <p:nvPr/>
        </p:nvSpPr>
        <p:spPr>
          <a:xfrm>
            <a:off x="4447388" y="1803400"/>
            <a:ext cx="4876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Online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629508" y="2364740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3629508" y="2412023"/>
            <a:ext cx="281022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3629508" y="2459306"/>
            <a:ext cx="288792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3629508" y="2506589"/>
            <a:ext cx="296562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3629508" y="2553872"/>
            <a:ext cx="304332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3629508" y="2601155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3629508" y="2648438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3629508" y="2695722"/>
            <a:ext cx="327643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3629508" y="2743005"/>
            <a:ext cx="335413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3629508" y="2790288"/>
            <a:ext cx="343183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3629508" y="2837571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3629508" y="2884854"/>
            <a:ext cx="35872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3629508" y="2932137"/>
            <a:ext cx="36649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3629508" y="2979420"/>
            <a:ext cx="3639045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3629508" y="3026703"/>
            <a:ext cx="35095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3629508" y="3073986"/>
            <a:ext cx="338003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3629508" y="3121269"/>
            <a:ext cx="325053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3629508" y="3168552"/>
            <a:ext cx="312103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3629508" y="3215835"/>
            <a:ext cx="29915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3629508" y="3263118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3629508" y="3310402"/>
            <a:ext cx="273252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3629508" y="3357685"/>
            <a:ext cx="260301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3629508" y="3404968"/>
            <a:ext cx="247351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3629508" y="3452251"/>
            <a:ext cx="234401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3629508" y="3499534"/>
            <a:ext cx="22145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3629508" y="3546817"/>
            <a:ext cx="208500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3629508" y="3594100"/>
            <a:ext cx="20668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3629508" y="3641383"/>
            <a:ext cx="21601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3629508" y="3688666"/>
            <a:ext cx="225335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3629508" y="3735949"/>
            <a:ext cx="234660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3629508" y="3783232"/>
            <a:ext cx="243984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3629508" y="3830515"/>
            <a:ext cx="253308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3629508" y="3877798"/>
            <a:ext cx="262632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3629508" y="3925082"/>
            <a:ext cx="271957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3629508" y="3972365"/>
            <a:ext cx="281281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3629508" y="4019648"/>
            <a:ext cx="290605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3629508" y="4066931"/>
            <a:ext cx="299929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3629508" y="4114214"/>
            <a:ext cx="309254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3629508" y="4161497"/>
            <a:ext cx="31857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3629508" y="4208780"/>
            <a:ext cx="319873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3629508" y="4256063"/>
            <a:ext cx="313139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3629508" y="4303346"/>
            <a:ext cx="3064050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3629508" y="4350629"/>
            <a:ext cx="2996708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3629508" y="4397912"/>
            <a:ext cx="292936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3629508" y="4445195"/>
            <a:ext cx="286202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3629508" y="4492478"/>
            <a:ext cx="2794683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3629508" y="4539762"/>
            <a:ext cx="2727341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3629508" y="4587045"/>
            <a:ext cx="2659999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3629508" y="4634328"/>
            <a:ext cx="2592657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3629508" y="4681611"/>
            <a:ext cx="2525316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3629508" y="4728894"/>
            <a:ext cx="2457974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3629508" y="4776177"/>
            <a:ext cx="2390632" cy="536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362029" y="2364740"/>
            <a:ext cx="16705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8" name="Shape 76"/>
          <p:cNvSpPr/>
          <p:nvPr/>
        </p:nvSpPr>
        <p:spPr>
          <a:xfrm>
            <a:off x="6439731" y="2412023"/>
            <a:ext cx="164469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79" name="Shape 77"/>
          <p:cNvSpPr/>
          <p:nvPr/>
        </p:nvSpPr>
        <p:spPr>
          <a:xfrm>
            <a:off x="6517433" y="2459306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0" name="Shape 78"/>
          <p:cNvSpPr/>
          <p:nvPr/>
        </p:nvSpPr>
        <p:spPr>
          <a:xfrm>
            <a:off x="6595135" y="2506589"/>
            <a:ext cx="15928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1" name="Shape 79"/>
          <p:cNvSpPr/>
          <p:nvPr/>
        </p:nvSpPr>
        <p:spPr>
          <a:xfrm>
            <a:off x="6672837" y="2553872"/>
            <a:ext cx="15669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2" name="Shape 80"/>
          <p:cNvSpPr/>
          <p:nvPr/>
        </p:nvSpPr>
        <p:spPr>
          <a:xfrm>
            <a:off x="6750539" y="2601155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3" name="Shape 81"/>
          <p:cNvSpPr/>
          <p:nvPr/>
        </p:nvSpPr>
        <p:spPr>
          <a:xfrm>
            <a:off x="6828241" y="2648438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4" name="Shape 82"/>
          <p:cNvSpPr/>
          <p:nvPr/>
        </p:nvSpPr>
        <p:spPr>
          <a:xfrm>
            <a:off x="6905943" y="2695722"/>
            <a:ext cx="14892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5" name="Shape 83"/>
          <p:cNvSpPr/>
          <p:nvPr/>
        </p:nvSpPr>
        <p:spPr>
          <a:xfrm>
            <a:off x="6983645" y="2743005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6" name="Shape 84"/>
          <p:cNvSpPr/>
          <p:nvPr/>
        </p:nvSpPr>
        <p:spPr>
          <a:xfrm>
            <a:off x="7061347" y="2790288"/>
            <a:ext cx="14374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7" name="Shape 85"/>
          <p:cNvSpPr/>
          <p:nvPr/>
        </p:nvSpPr>
        <p:spPr>
          <a:xfrm>
            <a:off x="7139049" y="2837571"/>
            <a:ext cx="141158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8" name="Shape 86"/>
          <p:cNvSpPr/>
          <p:nvPr/>
        </p:nvSpPr>
        <p:spPr>
          <a:xfrm>
            <a:off x="7216751" y="2884854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89" name="Shape 87"/>
          <p:cNvSpPr/>
          <p:nvPr/>
        </p:nvSpPr>
        <p:spPr>
          <a:xfrm>
            <a:off x="7294453" y="2932137"/>
            <a:ext cx="135978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0" name="Shape 88"/>
          <p:cNvSpPr/>
          <p:nvPr/>
        </p:nvSpPr>
        <p:spPr>
          <a:xfrm>
            <a:off x="7268552" y="2979420"/>
            <a:ext cx="13856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1" name="Shape 89"/>
          <p:cNvSpPr/>
          <p:nvPr/>
        </p:nvSpPr>
        <p:spPr>
          <a:xfrm>
            <a:off x="7139049" y="3026703"/>
            <a:ext cx="146338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2" name="Shape 90"/>
          <p:cNvSpPr/>
          <p:nvPr/>
        </p:nvSpPr>
        <p:spPr>
          <a:xfrm>
            <a:off x="7009545" y="3073986"/>
            <a:ext cx="15410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3" name="Shape 91"/>
          <p:cNvSpPr/>
          <p:nvPr/>
        </p:nvSpPr>
        <p:spPr>
          <a:xfrm>
            <a:off x="6880042" y="3121269"/>
            <a:ext cx="161879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4" name="Shape 92"/>
          <p:cNvSpPr/>
          <p:nvPr/>
        </p:nvSpPr>
        <p:spPr>
          <a:xfrm>
            <a:off x="6750539" y="3168552"/>
            <a:ext cx="169649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5" name="Shape 93"/>
          <p:cNvSpPr/>
          <p:nvPr/>
        </p:nvSpPr>
        <p:spPr>
          <a:xfrm>
            <a:off x="6621035" y="3215835"/>
            <a:ext cx="177419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6" name="Shape 94"/>
          <p:cNvSpPr/>
          <p:nvPr/>
        </p:nvSpPr>
        <p:spPr>
          <a:xfrm>
            <a:off x="6491532" y="3263118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7" name="Shape 95"/>
          <p:cNvSpPr/>
          <p:nvPr/>
        </p:nvSpPr>
        <p:spPr>
          <a:xfrm>
            <a:off x="6362029" y="3310402"/>
            <a:ext cx="192960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8" name="Shape 96"/>
          <p:cNvSpPr/>
          <p:nvPr/>
        </p:nvSpPr>
        <p:spPr>
          <a:xfrm>
            <a:off x="6232525" y="3357685"/>
            <a:ext cx="200730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99" name="Shape 97"/>
          <p:cNvSpPr/>
          <p:nvPr/>
        </p:nvSpPr>
        <p:spPr>
          <a:xfrm>
            <a:off x="6103022" y="3404968"/>
            <a:ext cx="208500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0" name="Shape 98"/>
          <p:cNvSpPr/>
          <p:nvPr/>
        </p:nvSpPr>
        <p:spPr>
          <a:xfrm>
            <a:off x="5973519" y="3452251"/>
            <a:ext cx="216270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1" name="Shape 99"/>
          <p:cNvSpPr/>
          <p:nvPr/>
        </p:nvSpPr>
        <p:spPr>
          <a:xfrm>
            <a:off x="5844015" y="3499534"/>
            <a:ext cx="224040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714512" y="3546817"/>
            <a:ext cx="231811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5696381" y="3594100"/>
            <a:ext cx="232329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5789624" y="3641383"/>
            <a:ext cx="225594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5882866" y="3688666"/>
            <a:ext cx="218860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5976109" y="3735949"/>
            <a:ext cx="212126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6069351" y="3783232"/>
            <a:ext cx="205392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162593" y="3830515"/>
            <a:ext cx="198658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6255836" y="3877798"/>
            <a:ext cx="191924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6349078" y="3925082"/>
            <a:ext cx="185189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6442321" y="3972365"/>
            <a:ext cx="178455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535563" y="4019648"/>
            <a:ext cx="1717215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28806" y="4066931"/>
            <a:ext cx="164987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6722048" y="4114214"/>
            <a:ext cx="158253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6815290" y="4161497"/>
            <a:ext cx="151518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6828241" y="4208780"/>
            <a:ext cx="150223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760899" y="4256063"/>
            <a:ext cx="154368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6693557" y="4303346"/>
            <a:ext cx="158512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6626215" y="4350629"/>
            <a:ext cx="1626562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6558874" y="4397912"/>
            <a:ext cx="1668003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6491532" y="4445195"/>
            <a:ext cx="1709444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6424190" y="4492478"/>
            <a:ext cx="1750886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6356848" y="4539762"/>
            <a:ext cx="1792327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6289507" y="4587045"/>
            <a:ext cx="1833768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6222165" y="4634328"/>
            <a:ext cx="1875209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154823" y="4681611"/>
            <a:ext cx="1916650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087481" y="4728894"/>
            <a:ext cx="1958091" cy="53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020140" y="4776177"/>
            <a:ext cx="1999532" cy="53633"/>
          </a:xfrm>
          <a:prstGeom prst="rect">
            <a:avLst/>
          </a:prstGeom>
          <a:solidFill>
            <a:srgbClr val="1BAF7A"/>
          </a:solidFill>
          <a:ln/>
        </p:spPr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Two-level treemap (region |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3248" y="1828800"/>
            <a:ext cx="2146300" cy="3467100"/>
          </a:xfrm>
          <a:prstGeom prst="rect">
            <a:avLst/>
          </a:prstGeom>
          <a:solidFill>
            <a:srgbClr val="EFF2FA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1348" y="1841500"/>
            <a:ext cx="20828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098648" y="2019300"/>
            <a:ext cx="2095500" cy="1553972"/>
          </a:xfrm>
          <a:prstGeom prst="rect">
            <a:avLst/>
          </a:prstGeom>
          <a:solidFill>
            <a:srgbClr val="7297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136748" y="20447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136748" y="2197100"/>
            <a:ext cx="20320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3098648" y="3585972"/>
            <a:ext cx="1284654" cy="1684528"/>
          </a:xfrm>
          <a:prstGeom prst="rect">
            <a:avLst/>
          </a:prstGeom>
          <a:solidFill>
            <a:srgbClr val="92AB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136748" y="36113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136748" y="3763772"/>
            <a:ext cx="1221154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396001" y="3585972"/>
            <a:ext cx="798146" cy="1684528"/>
          </a:xfrm>
          <a:prstGeom prst="rect">
            <a:avLst/>
          </a:prstGeom>
          <a:solidFill>
            <a:srgbClr val="AABCE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34101" y="36113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434101" y="3763772"/>
            <a:ext cx="734646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232248" y="1828800"/>
            <a:ext cx="2232660" cy="3467100"/>
          </a:xfrm>
          <a:prstGeom prst="rect">
            <a:avLst/>
          </a:prstGeom>
          <a:solidFill>
            <a:srgbClr val="EFF6F2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270348" y="1841500"/>
            <a:ext cx="21691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57648" y="2019300"/>
            <a:ext cx="2181860" cy="1995854"/>
          </a:xfrm>
          <a:prstGeom prst="rect">
            <a:avLst/>
          </a:prstGeom>
          <a:solidFill>
            <a:srgbClr val="6FBE9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295748" y="20447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5295748" y="2197100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257648" y="4027854"/>
            <a:ext cx="2181860" cy="1242646"/>
          </a:xfrm>
          <a:prstGeom prst="rect">
            <a:avLst/>
          </a:prstGeom>
          <a:solidFill>
            <a:srgbClr val="90C9A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95748" y="40532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5295748" y="4205654"/>
            <a:ext cx="21183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7477608" y="1828800"/>
            <a:ext cx="1628140" cy="3467100"/>
          </a:xfrm>
          <a:prstGeom prst="rect">
            <a:avLst/>
          </a:prstGeom>
          <a:solidFill>
            <a:srgbClr val="FDF5EF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15708" y="1841500"/>
            <a:ext cx="15646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7503008" y="2019300"/>
            <a:ext cx="1577340" cy="1533358"/>
          </a:xfrm>
          <a:prstGeom prst="rect">
            <a:avLst/>
          </a:prstGeom>
          <a:solidFill>
            <a:srgbClr val="F0B36C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541108" y="20447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7541108" y="2197100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7503008" y="3565358"/>
            <a:ext cx="1577340" cy="1018005"/>
          </a:xfrm>
          <a:prstGeom prst="rect">
            <a:avLst/>
          </a:prstGeom>
          <a:solidFill>
            <a:srgbClr val="F2C08E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541108" y="35907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7541108" y="3743158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7503008" y="4596063"/>
            <a:ext cx="1577340" cy="674437"/>
          </a:xfrm>
          <a:prstGeom prst="rect">
            <a:avLst/>
          </a:prstGeom>
          <a:solidFill>
            <a:srgbClr val="F4CDA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541108" y="46214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541108" y="4773863"/>
            <a:ext cx="15138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8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Sunburst (region → product)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21080" y="0"/>
                </a:moveTo>
                <a:lnTo>
                  <a:pt x="1126551" y="5462"/>
                </a:lnTo>
                <a:lnTo>
                  <a:pt x="1230893" y="21789"/>
                </a:lnTo>
                <a:lnTo>
                  <a:pt x="1332991" y="48807"/>
                </a:lnTo>
                <a:lnTo>
                  <a:pt x="1431752" y="86226"/>
                </a:lnTo>
                <a:lnTo>
                  <a:pt x="1526120" y="133646"/>
                </a:lnTo>
                <a:lnTo>
                  <a:pt x="1615085" y="190560"/>
                </a:lnTo>
                <a:lnTo>
                  <a:pt x="1697694" y="256360"/>
                </a:lnTo>
                <a:lnTo>
                  <a:pt x="1773066" y="330340"/>
                </a:lnTo>
                <a:lnTo>
                  <a:pt x="1840392" y="411710"/>
                </a:lnTo>
                <a:lnTo>
                  <a:pt x="1898954" y="499599"/>
                </a:lnTo>
                <a:lnTo>
                  <a:pt x="1948123" y="593067"/>
                </a:lnTo>
                <a:lnTo>
                  <a:pt x="1987375" y="691114"/>
                </a:lnTo>
                <a:lnTo>
                  <a:pt x="2016290" y="792691"/>
                </a:lnTo>
                <a:lnTo>
                  <a:pt x="2034558" y="896712"/>
                </a:lnTo>
                <a:lnTo>
                  <a:pt x="2041983" y="1002062"/>
                </a:lnTo>
                <a:lnTo>
                  <a:pt x="2038486" y="1107617"/>
                </a:lnTo>
                <a:lnTo>
                  <a:pt x="2024106" y="1212245"/>
                </a:lnTo>
                <a:lnTo>
                  <a:pt x="1998994" y="1314829"/>
                </a:lnTo>
                <a:lnTo>
                  <a:pt x="1963421" y="1414270"/>
                </a:lnTo>
                <a:lnTo>
                  <a:pt x="1917766" y="1509504"/>
                </a:lnTo>
                <a:lnTo>
                  <a:pt x="1862519" y="1599513"/>
                </a:lnTo>
                <a:lnTo>
                  <a:pt x="1798270" y="1683334"/>
                </a:lnTo>
                <a:lnTo>
                  <a:pt x="1725706" y="1760070"/>
                </a:lnTo>
                <a:lnTo>
                  <a:pt x="1396880" y="1415208"/>
                </a:lnTo>
                <a:lnTo>
                  <a:pt x="1435581" y="1374282"/>
                </a:lnTo>
                <a:lnTo>
                  <a:pt x="1469847" y="1329578"/>
                </a:lnTo>
                <a:lnTo>
                  <a:pt x="1499313" y="1281573"/>
                </a:lnTo>
                <a:lnTo>
                  <a:pt x="1523662" y="1230781"/>
                </a:lnTo>
                <a:lnTo>
                  <a:pt x="1542634" y="1177746"/>
                </a:lnTo>
                <a:lnTo>
                  <a:pt x="1556027" y="1123035"/>
                </a:lnTo>
                <a:lnTo>
                  <a:pt x="1563697" y="1067233"/>
                </a:lnTo>
                <a:lnTo>
                  <a:pt x="1565562" y="1010937"/>
                </a:lnTo>
                <a:lnTo>
                  <a:pt x="1561601" y="954750"/>
                </a:lnTo>
                <a:lnTo>
                  <a:pt x="1551859" y="899273"/>
                </a:lnTo>
                <a:lnTo>
                  <a:pt x="1536438" y="845098"/>
                </a:lnTo>
                <a:lnTo>
                  <a:pt x="1515503" y="792807"/>
                </a:lnTo>
                <a:lnTo>
                  <a:pt x="1489279" y="742957"/>
                </a:lnTo>
                <a:lnTo>
                  <a:pt x="1458047" y="696083"/>
                </a:lnTo>
                <a:lnTo>
                  <a:pt x="1422139" y="652685"/>
                </a:lnTo>
                <a:lnTo>
                  <a:pt x="1381941" y="613229"/>
                </a:lnTo>
                <a:lnTo>
                  <a:pt x="1337882" y="578136"/>
                </a:lnTo>
                <a:lnTo>
                  <a:pt x="1290435" y="547782"/>
                </a:lnTo>
                <a:lnTo>
                  <a:pt x="1240105" y="522491"/>
                </a:lnTo>
                <a:lnTo>
                  <a:pt x="1187433" y="502534"/>
                </a:lnTo>
                <a:lnTo>
                  <a:pt x="1132980" y="488125"/>
                </a:lnTo>
                <a:lnTo>
                  <a:pt x="1077331" y="479417"/>
                </a:lnTo>
                <a:lnTo>
                  <a:pt x="1021080" y="476504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680614" y="3188852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01800" y="0"/>
                </a:moveTo>
                <a:lnTo>
                  <a:pt x="1878222" y="9169"/>
                </a:lnTo>
                <a:lnTo>
                  <a:pt x="2052742" y="36578"/>
                </a:lnTo>
                <a:lnTo>
                  <a:pt x="2223481" y="81932"/>
                </a:lnTo>
                <a:lnTo>
                  <a:pt x="2388598" y="144741"/>
                </a:lnTo>
                <a:lnTo>
                  <a:pt x="2546315" y="224330"/>
                </a:lnTo>
                <a:lnTo>
                  <a:pt x="2694930" y="319839"/>
                </a:lnTo>
                <a:lnTo>
                  <a:pt x="2832844" y="430241"/>
                </a:lnTo>
                <a:lnTo>
                  <a:pt x="2958570" y="554345"/>
                </a:lnTo>
                <a:lnTo>
                  <a:pt x="3070752" y="690814"/>
                </a:lnTo>
                <a:lnTo>
                  <a:pt x="3168183" y="838177"/>
                </a:lnTo>
                <a:lnTo>
                  <a:pt x="3249812" y="994847"/>
                </a:lnTo>
                <a:lnTo>
                  <a:pt x="2630607" y="1277628"/>
                </a:lnTo>
                <a:lnTo>
                  <a:pt x="2581630" y="1183626"/>
                </a:lnTo>
                <a:lnTo>
                  <a:pt x="2523171" y="1095208"/>
                </a:lnTo>
                <a:lnTo>
                  <a:pt x="2455862" y="1013327"/>
                </a:lnTo>
                <a:lnTo>
                  <a:pt x="2380426" y="938864"/>
                </a:lnTo>
                <a:lnTo>
                  <a:pt x="2297678" y="872624"/>
                </a:lnTo>
                <a:lnTo>
                  <a:pt x="2208509" y="815318"/>
                </a:lnTo>
                <a:lnTo>
                  <a:pt x="2113879" y="767565"/>
                </a:lnTo>
                <a:lnTo>
                  <a:pt x="2014809" y="729879"/>
                </a:lnTo>
                <a:lnTo>
                  <a:pt x="1912365" y="702667"/>
                </a:lnTo>
                <a:lnTo>
                  <a:pt x="1807653" y="686222"/>
                </a:lnTo>
                <a:lnTo>
                  <a:pt x="1701800" y="680720"/>
                </a:lnTo>
                <a:close/>
              </a:path>
            </a:pathLst>
          </a:custGeom>
          <a:solidFill>
            <a:srgbClr val="7599D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063973" y="1973367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249812" y="994847"/>
                </a:moveTo>
                <a:lnTo>
                  <a:pt x="3310002" y="1145196"/>
                </a:lnTo>
                <a:lnTo>
                  <a:pt x="3355629" y="1300585"/>
                </a:lnTo>
                <a:lnTo>
                  <a:pt x="3386278" y="1459609"/>
                </a:lnTo>
                <a:lnTo>
                  <a:pt x="3401672" y="1620825"/>
                </a:lnTo>
                <a:lnTo>
                  <a:pt x="3401672" y="1782775"/>
                </a:lnTo>
                <a:lnTo>
                  <a:pt x="3386278" y="1943991"/>
                </a:lnTo>
                <a:lnTo>
                  <a:pt x="3355629" y="2103015"/>
                </a:lnTo>
                <a:lnTo>
                  <a:pt x="3310002" y="2258404"/>
                </a:lnTo>
                <a:lnTo>
                  <a:pt x="2666721" y="2035763"/>
                </a:lnTo>
                <a:lnTo>
                  <a:pt x="2694097" y="1942529"/>
                </a:lnTo>
                <a:lnTo>
                  <a:pt x="2712487" y="1847115"/>
                </a:lnTo>
                <a:lnTo>
                  <a:pt x="2721723" y="1750385"/>
                </a:lnTo>
                <a:lnTo>
                  <a:pt x="2721723" y="1653215"/>
                </a:lnTo>
                <a:lnTo>
                  <a:pt x="2712487" y="1556485"/>
                </a:lnTo>
                <a:lnTo>
                  <a:pt x="2694097" y="1461071"/>
                </a:lnTo>
                <a:lnTo>
                  <a:pt x="2666721" y="1367837"/>
                </a:lnTo>
                <a:lnTo>
                  <a:pt x="2630607" y="1277628"/>
                </a:lnTo>
                <a:close/>
              </a:path>
            </a:pathLst>
          </a:custGeom>
          <a:solidFill>
            <a:srgbClr val="94ADE2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884519" y="339459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3310002" y="2258404"/>
                </a:moveTo>
                <a:lnTo>
                  <a:pt x="3249812" y="2408753"/>
                </a:lnTo>
                <a:lnTo>
                  <a:pt x="3175602" y="2552700"/>
                </a:lnTo>
                <a:lnTo>
                  <a:pt x="3088045" y="2688941"/>
                </a:lnTo>
                <a:lnTo>
                  <a:pt x="2987935" y="2816242"/>
                </a:lnTo>
                <a:lnTo>
                  <a:pt x="2876176" y="2933451"/>
                </a:lnTo>
                <a:lnTo>
                  <a:pt x="2406426" y="2440790"/>
                </a:lnTo>
                <a:lnTo>
                  <a:pt x="2473481" y="2370465"/>
                </a:lnTo>
                <a:lnTo>
                  <a:pt x="2533547" y="2294085"/>
                </a:lnTo>
                <a:lnTo>
                  <a:pt x="2586081" y="2212340"/>
                </a:lnTo>
                <a:lnTo>
                  <a:pt x="2630607" y="2125972"/>
                </a:lnTo>
                <a:lnTo>
                  <a:pt x="2666721" y="2035763"/>
                </a:lnTo>
                <a:close/>
              </a:path>
            </a:pathLst>
          </a:custGeom>
          <a:solidFill>
            <a:srgbClr val="ACBEE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02280" y="444792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725706" y="1760070"/>
                </a:moveTo>
                <a:lnTo>
                  <a:pt x="1645883" y="1828685"/>
                </a:lnTo>
                <a:lnTo>
                  <a:pt x="1559419" y="1888718"/>
                </a:lnTo>
                <a:lnTo>
                  <a:pt x="1467235" y="1939530"/>
                </a:lnTo>
                <a:lnTo>
                  <a:pt x="1370310" y="1980581"/>
                </a:lnTo>
                <a:lnTo>
                  <a:pt x="1269673" y="2011436"/>
                </a:lnTo>
                <a:lnTo>
                  <a:pt x="1166395" y="2031767"/>
                </a:lnTo>
                <a:lnTo>
                  <a:pt x="1061572" y="2041357"/>
                </a:lnTo>
                <a:lnTo>
                  <a:pt x="956319" y="2040104"/>
                </a:lnTo>
                <a:lnTo>
                  <a:pt x="851754" y="2028022"/>
                </a:lnTo>
                <a:lnTo>
                  <a:pt x="748989" y="2005240"/>
                </a:lnTo>
                <a:lnTo>
                  <a:pt x="649115" y="1971999"/>
                </a:lnTo>
                <a:lnTo>
                  <a:pt x="553194" y="1928652"/>
                </a:lnTo>
                <a:lnTo>
                  <a:pt x="462245" y="1875661"/>
                </a:lnTo>
                <a:lnTo>
                  <a:pt x="377235" y="1813588"/>
                </a:lnTo>
                <a:lnTo>
                  <a:pt x="299067" y="1743093"/>
                </a:lnTo>
                <a:lnTo>
                  <a:pt x="228572" y="1664925"/>
                </a:lnTo>
                <a:lnTo>
                  <a:pt x="166499" y="1579915"/>
                </a:lnTo>
                <a:lnTo>
                  <a:pt x="113508" y="1488966"/>
                </a:lnTo>
                <a:lnTo>
                  <a:pt x="70161" y="1393045"/>
                </a:lnTo>
                <a:lnTo>
                  <a:pt x="36920" y="1293171"/>
                </a:lnTo>
                <a:lnTo>
                  <a:pt x="14138" y="1190406"/>
                </a:lnTo>
                <a:lnTo>
                  <a:pt x="2056" y="1085841"/>
                </a:lnTo>
                <a:lnTo>
                  <a:pt x="803" y="980588"/>
                </a:lnTo>
                <a:lnTo>
                  <a:pt x="10393" y="875765"/>
                </a:lnTo>
                <a:lnTo>
                  <a:pt x="482047" y="943579"/>
                </a:lnTo>
                <a:lnTo>
                  <a:pt x="476932" y="999484"/>
                </a:lnTo>
                <a:lnTo>
                  <a:pt x="477600" y="1055619"/>
                </a:lnTo>
                <a:lnTo>
                  <a:pt x="484044" y="1111387"/>
                </a:lnTo>
                <a:lnTo>
                  <a:pt x="496195" y="1166195"/>
                </a:lnTo>
                <a:lnTo>
                  <a:pt x="513923" y="1219461"/>
                </a:lnTo>
                <a:lnTo>
                  <a:pt x="537042" y="1270619"/>
                </a:lnTo>
                <a:lnTo>
                  <a:pt x="565304" y="1319125"/>
                </a:lnTo>
                <a:lnTo>
                  <a:pt x="598409" y="1364464"/>
                </a:lnTo>
                <a:lnTo>
                  <a:pt x="636007" y="1406153"/>
                </a:lnTo>
                <a:lnTo>
                  <a:pt x="677696" y="1443751"/>
                </a:lnTo>
                <a:lnTo>
                  <a:pt x="723035" y="1476856"/>
                </a:lnTo>
                <a:lnTo>
                  <a:pt x="771541" y="1505118"/>
                </a:lnTo>
                <a:lnTo>
                  <a:pt x="822699" y="1528237"/>
                </a:lnTo>
                <a:lnTo>
                  <a:pt x="875965" y="1545965"/>
                </a:lnTo>
                <a:lnTo>
                  <a:pt x="930773" y="1558116"/>
                </a:lnTo>
                <a:lnTo>
                  <a:pt x="986541" y="1564560"/>
                </a:lnTo>
                <a:lnTo>
                  <a:pt x="1042676" y="1565228"/>
                </a:lnTo>
                <a:lnTo>
                  <a:pt x="1098581" y="1560113"/>
                </a:lnTo>
                <a:lnTo>
                  <a:pt x="1153663" y="1549270"/>
                </a:lnTo>
                <a:lnTo>
                  <a:pt x="1207336" y="1532814"/>
                </a:lnTo>
                <a:lnTo>
                  <a:pt x="1259029" y="1510920"/>
                </a:lnTo>
                <a:lnTo>
                  <a:pt x="1308194" y="1483820"/>
                </a:lnTo>
                <a:lnTo>
                  <a:pt x="1354308" y="1451803"/>
                </a:lnTo>
                <a:lnTo>
                  <a:pt x="1396880" y="1415208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78563" y="4175605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2876176" y="2933451"/>
                </a:moveTo>
                <a:lnTo>
                  <a:pt x="2745272" y="3046155"/>
                </a:lnTo>
                <a:lnTo>
                  <a:pt x="2603617" y="3145008"/>
                </a:lnTo>
                <a:lnTo>
                  <a:pt x="2452670" y="3228993"/>
                </a:lnTo>
                <a:lnTo>
                  <a:pt x="2293987" y="3297243"/>
                </a:lnTo>
                <a:lnTo>
                  <a:pt x="2129204" y="3349055"/>
                </a:lnTo>
                <a:lnTo>
                  <a:pt x="1960016" y="3383896"/>
                </a:lnTo>
                <a:lnTo>
                  <a:pt x="1788169" y="3401407"/>
                </a:lnTo>
                <a:lnTo>
                  <a:pt x="1615431" y="3401407"/>
                </a:lnTo>
                <a:lnTo>
                  <a:pt x="1443584" y="3383896"/>
                </a:lnTo>
                <a:lnTo>
                  <a:pt x="1274396" y="3349055"/>
                </a:lnTo>
                <a:lnTo>
                  <a:pt x="1109613" y="3297243"/>
                </a:lnTo>
                <a:lnTo>
                  <a:pt x="950930" y="3228993"/>
                </a:lnTo>
                <a:lnTo>
                  <a:pt x="799983" y="3145008"/>
                </a:lnTo>
                <a:lnTo>
                  <a:pt x="658328" y="3046155"/>
                </a:lnTo>
                <a:lnTo>
                  <a:pt x="527424" y="2933451"/>
                </a:lnTo>
                <a:lnTo>
                  <a:pt x="997174" y="2440790"/>
                </a:lnTo>
                <a:lnTo>
                  <a:pt x="1075717" y="2508413"/>
                </a:lnTo>
                <a:lnTo>
                  <a:pt x="1160710" y="2567725"/>
                </a:lnTo>
                <a:lnTo>
                  <a:pt x="1251278" y="2618116"/>
                </a:lnTo>
                <a:lnTo>
                  <a:pt x="1346488" y="2659066"/>
                </a:lnTo>
                <a:lnTo>
                  <a:pt x="1445358" y="2690153"/>
                </a:lnTo>
                <a:lnTo>
                  <a:pt x="1546870" y="2711058"/>
                </a:lnTo>
                <a:lnTo>
                  <a:pt x="1649979" y="2721564"/>
                </a:lnTo>
                <a:lnTo>
                  <a:pt x="1753621" y="2721564"/>
                </a:lnTo>
                <a:lnTo>
                  <a:pt x="1856730" y="2711058"/>
                </a:lnTo>
                <a:lnTo>
                  <a:pt x="1958242" y="2690153"/>
                </a:lnTo>
                <a:lnTo>
                  <a:pt x="2057112" y="2659066"/>
                </a:lnTo>
                <a:lnTo>
                  <a:pt x="2152322" y="2618116"/>
                </a:lnTo>
                <a:lnTo>
                  <a:pt x="2242890" y="2567725"/>
                </a:lnTo>
                <a:lnTo>
                  <a:pt x="2327883" y="2508413"/>
                </a:lnTo>
                <a:lnTo>
                  <a:pt x="2406426" y="2440790"/>
                </a:lnTo>
                <a:close/>
              </a:path>
            </a:pathLst>
          </a:custGeom>
          <a:solidFill>
            <a:srgbClr val="72BF9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753583" y="5270500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527424" y="2933451"/>
                </a:moveTo>
                <a:lnTo>
                  <a:pt x="415665" y="2816242"/>
                </a:lnTo>
                <a:lnTo>
                  <a:pt x="315555" y="2688941"/>
                </a:lnTo>
                <a:lnTo>
                  <a:pt x="227998" y="2552700"/>
                </a:lnTo>
                <a:lnTo>
                  <a:pt x="153788" y="2408753"/>
                </a:lnTo>
                <a:lnTo>
                  <a:pt x="93598" y="2258404"/>
                </a:lnTo>
                <a:lnTo>
                  <a:pt x="47971" y="2103015"/>
                </a:lnTo>
                <a:lnTo>
                  <a:pt x="17322" y="1943991"/>
                </a:lnTo>
                <a:lnTo>
                  <a:pt x="1928" y="1782775"/>
                </a:lnTo>
                <a:lnTo>
                  <a:pt x="1928" y="1620825"/>
                </a:lnTo>
                <a:lnTo>
                  <a:pt x="17322" y="1459609"/>
                </a:lnTo>
                <a:lnTo>
                  <a:pt x="691113" y="1556485"/>
                </a:lnTo>
                <a:lnTo>
                  <a:pt x="681877" y="1653215"/>
                </a:lnTo>
                <a:lnTo>
                  <a:pt x="681877" y="1750385"/>
                </a:lnTo>
                <a:lnTo>
                  <a:pt x="691113" y="1847115"/>
                </a:lnTo>
                <a:lnTo>
                  <a:pt x="709503" y="1942529"/>
                </a:lnTo>
                <a:lnTo>
                  <a:pt x="736879" y="2035763"/>
                </a:lnTo>
                <a:lnTo>
                  <a:pt x="772993" y="2125972"/>
                </a:lnTo>
                <a:lnTo>
                  <a:pt x="817519" y="2212340"/>
                </a:lnTo>
                <a:lnTo>
                  <a:pt x="870053" y="2294085"/>
                </a:lnTo>
                <a:lnTo>
                  <a:pt x="930119" y="2370465"/>
                </a:lnTo>
                <a:lnTo>
                  <a:pt x="997174" y="2440790"/>
                </a:lnTo>
                <a:close/>
              </a:path>
            </a:pathLst>
          </a:custGeom>
          <a:solidFill>
            <a:srgbClr val="92CAA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86491" y="4065481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5074768" y="2547620"/>
            <a:ext cx="2042160" cy="2042160"/>
          </a:xfrm>
          <a:custGeom>
            <a:avLst/>
            <a:gdLst/>
            <a:ahLst/>
            <a:cxnLst/>
            <a:rect l="l" t="t" r="r" b="b"/>
            <a:pathLst>
              <a:path w="2042160" h="2042160">
                <a:moveTo>
                  <a:pt x="10393" y="875765"/>
                </a:moveTo>
                <a:lnTo>
                  <a:pt x="30443" y="773609"/>
                </a:lnTo>
                <a:lnTo>
                  <a:pt x="60790" y="674026"/>
                </a:lnTo>
                <a:lnTo>
                  <a:pt x="101119" y="578050"/>
                </a:lnTo>
                <a:lnTo>
                  <a:pt x="151011" y="486679"/>
                </a:lnTo>
                <a:lnTo>
                  <a:pt x="209947" y="400864"/>
                </a:lnTo>
                <a:lnTo>
                  <a:pt x="277315" y="321495"/>
                </a:lnTo>
                <a:lnTo>
                  <a:pt x="352415" y="249399"/>
                </a:lnTo>
                <a:lnTo>
                  <a:pt x="434465" y="185325"/>
                </a:lnTo>
                <a:lnTo>
                  <a:pt x="522613" y="129937"/>
                </a:lnTo>
                <a:lnTo>
                  <a:pt x="615943" y="83814"/>
                </a:lnTo>
                <a:lnTo>
                  <a:pt x="713484" y="47433"/>
                </a:lnTo>
                <a:lnTo>
                  <a:pt x="814222" y="21173"/>
                </a:lnTo>
                <a:lnTo>
                  <a:pt x="917111" y="5307"/>
                </a:lnTo>
                <a:lnTo>
                  <a:pt x="1021080" y="0"/>
                </a:lnTo>
                <a:lnTo>
                  <a:pt x="1021080" y="476504"/>
                </a:lnTo>
                <a:lnTo>
                  <a:pt x="965630" y="479334"/>
                </a:lnTo>
                <a:lnTo>
                  <a:pt x="910756" y="487796"/>
                </a:lnTo>
                <a:lnTo>
                  <a:pt x="857029" y="501802"/>
                </a:lnTo>
                <a:lnTo>
                  <a:pt x="805007" y="521205"/>
                </a:lnTo>
                <a:lnTo>
                  <a:pt x="755231" y="545804"/>
                </a:lnTo>
                <a:lnTo>
                  <a:pt x="708219" y="575344"/>
                </a:lnTo>
                <a:lnTo>
                  <a:pt x="664459" y="609517"/>
                </a:lnTo>
                <a:lnTo>
                  <a:pt x="624406" y="647968"/>
                </a:lnTo>
                <a:lnTo>
                  <a:pt x="588476" y="690298"/>
                </a:lnTo>
                <a:lnTo>
                  <a:pt x="557043" y="736066"/>
                </a:lnTo>
                <a:lnTo>
                  <a:pt x="530434" y="784797"/>
                </a:lnTo>
                <a:lnTo>
                  <a:pt x="508925" y="835984"/>
                </a:lnTo>
                <a:lnTo>
                  <a:pt x="492740" y="889096"/>
                </a:lnTo>
                <a:lnTo>
                  <a:pt x="482047" y="94357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41218" y="2888178"/>
            <a:ext cx="28397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17322" y="1459609"/>
                </a:moveTo>
                <a:lnTo>
                  <a:pt x="47971" y="1300585"/>
                </a:lnTo>
                <a:lnTo>
                  <a:pt x="93598" y="1145196"/>
                </a:lnTo>
                <a:lnTo>
                  <a:pt x="153788" y="994847"/>
                </a:lnTo>
                <a:lnTo>
                  <a:pt x="227998" y="850900"/>
                </a:lnTo>
                <a:lnTo>
                  <a:pt x="315555" y="714659"/>
                </a:lnTo>
                <a:lnTo>
                  <a:pt x="415665" y="587358"/>
                </a:lnTo>
                <a:lnTo>
                  <a:pt x="527424" y="470149"/>
                </a:lnTo>
                <a:lnTo>
                  <a:pt x="649817" y="364095"/>
                </a:lnTo>
                <a:lnTo>
                  <a:pt x="781737" y="270155"/>
                </a:lnTo>
                <a:lnTo>
                  <a:pt x="1149762" y="842813"/>
                </a:lnTo>
                <a:lnTo>
                  <a:pt x="1070610" y="899177"/>
                </a:lnTo>
                <a:lnTo>
                  <a:pt x="997174" y="962810"/>
                </a:lnTo>
                <a:lnTo>
                  <a:pt x="930119" y="1033135"/>
                </a:lnTo>
                <a:lnTo>
                  <a:pt x="870053" y="1109515"/>
                </a:lnTo>
                <a:lnTo>
                  <a:pt x="817519" y="1191260"/>
                </a:lnTo>
                <a:lnTo>
                  <a:pt x="772993" y="1277628"/>
                </a:lnTo>
                <a:lnTo>
                  <a:pt x="736879" y="1367837"/>
                </a:lnTo>
                <a:lnTo>
                  <a:pt x="709503" y="1461071"/>
                </a:lnTo>
                <a:lnTo>
                  <a:pt x="691113" y="1556485"/>
                </a:lnTo>
                <a:close/>
              </a:path>
            </a:pathLst>
          </a:custGeom>
          <a:solidFill>
            <a:srgbClr val="F0B56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7150" y="2511674"/>
            <a:ext cx="34226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394048" y="1866900"/>
            <a:ext cx="3403600" cy="3403600"/>
          </a:xfrm>
          <a:custGeom>
            <a:avLst/>
            <a:gdLst/>
            <a:ahLst/>
            <a:cxnLst/>
            <a:rect l="l" t="t" r="r" b="b"/>
            <a:pathLst>
              <a:path w="3403600" h="3403600">
                <a:moveTo>
                  <a:pt x="781737" y="270155"/>
                </a:moveTo>
                <a:lnTo>
                  <a:pt x="921990" y="189180"/>
                </a:lnTo>
                <a:lnTo>
                  <a:pt x="1069305" y="121903"/>
                </a:lnTo>
                <a:lnTo>
                  <a:pt x="1222348" y="68935"/>
                </a:lnTo>
                <a:lnTo>
                  <a:pt x="1379732" y="30754"/>
                </a:lnTo>
                <a:lnTo>
                  <a:pt x="1540034" y="7706"/>
                </a:lnTo>
                <a:lnTo>
                  <a:pt x="1701800" y="0"/>
                </a:lnTo>
                <a:lnTo>
                  <a:pt x="1701800" y="680720"/>
                </a:lnTo>
                <a:lnTo>
                  <a:pt x="1604740" y="685344"/>
                </a:lnTo>
                <a:lnTo>
                  <a:pt x="1508559" y="699172"/>
                </a:lnTo>
                <a:lnTo>
                  <a:pt x="1414129" y="722081"/>
                </a:lnTo>
                <a:lnTo>
                  <a:pt x="1322303" y="753862"/>
                </a:lnTo>
                <a:lnTo>
                  <a:pt x="1233914" y="794228"/>
                </a:lnTo>
                <a:lnTo>
                  <a:pt x="1149762" y="842813"/>
                </a:lnTo>
                <a:close/>
              </a:path>
            </a:pathLst>
          </a:custGeom>
          <a:solidFill>
            <a:srgbClr val="F2C29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74205" y="1761636"/>
            <a:ext cx="51714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Hardware</a:t>
            </a:r>
            <a:endParaRPr lang="en-US" sz="8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Response-time distribution (ms)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API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Batch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29338" y="4245559"/>
            <a:ext cx="1571752" cy="337109"/>
          </a:xfrm>
          <a:custGeom>
            <a:avLst/>
            <a:gdLst/>
            <a:ahLst/>
            <a:cxnLst/>
            <a:rect l="l" t="t" r="r" b="b"/>
            <a:pathLst>
              <a:path w="1571752" h="337109">
                <a:moveTo>
                  <a:pt x="962595" y="337109"/>
                </a:moveTo>
                <a:lnTo>
                  <a:pt x="1002677" y="328681"/>
                </a:lnTo>
                <a:lnTo>
                  <a:pt x="1046833" y="320253"/>
                </a:lnTo>
                <a:lnTo>
                  <a:pt x="1094256" y="311826"/>
                </a:lnTo>
                <a:lnTo>
                  <a:pt x="1143910" y="303398"/>
                </a:lnTo>
                <a:lnTo>
                  <a:pt x="1194597" y="294970"/>
                </a:lnTo>
                <a:lnTo>
                  <a:pt x="1245039" y="286542"/>
                </a:lnTo>
                <a:lnTo>
                  <a:pt x="1293979" y="278115"/>
                </a:lnTo>
                <a:lnTo>
                  <a:pt x="1340269" y="269687"/>
                </a:lnTo>
                <a:lnTo>
                  <a:pt x="1382953" y="261259"/>
                </a:lnTo>
                <a:lnTo>
                  <a:pt x="1421320" y="252832"/>
                </a:lnTo>
                <a:lnTo>
                  <a:pt x="1454936" y="244404"/>
                </a:lnTo>
                <a:lnTo>
                  <a:pt x="1483640" y="235976"/>
                </a:lnTo>
                <a:lnTo>
                  <a:pt x="1507512" y="227548"/>
                </a:lnTo>
                <a:lnTo>
                  <a:pt x="1526831" y="219121"/>
                </a:lnTo>
                <a:lnTo>
                  <a:pt x="1542009" y="210693"/>
                </a:lnTo>
                <a:lnTo>
                  <a:pt x="1553528" y="202265"/>
                </a:lnTo>
                <a:lnTo>
                  <a:pt x="1561873" y="193838"/>
                </a:lnTo>
                <a:lnTo>
                  <a:pt x="1567484" y="185410"/>
                </a:lnTo>
                <a:lnTo>
                  <a:pt x="1570704" y="176982"/>
                </a:lnTo>
                <a:lnTo>
                  <a:pt x="1571752" y="168554"/>
                </a:lnTo>
                <a:lnTo>
                  <a:pt x="1570704" y="160127"/>
                </a:lnTo>
                <a:lnTo>
                  <a:pt x="1567484" y="151699"/>
                </a:lnTo>
                <a:lnTo>
                  <a:pt x="1561873" y="143271"/>
                </a:lnTo>
                <a:lnTo>
                  <a:pt x="1553528" y="134844"/>
                </a:lnTo>
                <a:lnTo>
                  <a:pt x="1542009" y="126416"/>
                </a:lnTo>
                <a:lnTo>
                  <a:pt x="1526831" y="117988"/>
                </a:lnTo>
                <a:lnTo>
                  <a:pt x="1507512" y="109560"/>
                </a:lnTo>
                <a:lnTo>
                  <a:pt x="1483640" y="101133"/>
                </a:lnTo>
                <a:lnTo>
                  <a:pt x="1454936" y="92705"/>
                </a:lnTo>
                <a:lnTo>
                  <a:pt x="1421320" y="84277"/>
                </a:lnTo>
                <a:lnTo>
                  <a:pt x="1382953" y="75849"/>
                </a:lnTo>
                <a:lnTo>
                  <a:pt x="1340269" y="67422"/>
                </a:lnTo>
                <a:lnTo>
                  <a:pt x="1293979" y="58994"/>
                </a:lnTo>
                <a:lnTo>
                  <a:pt x="1245039" y="50566"/>
                </a:lnTo>
                <a:lnTo>
                  <a:pt x="1194597" y="42139"/>
                </a:lnTo>
                <a:lnTo>
                  <a:pt x="1143910" y="33711"/>
                </a:lnTo>
                <a:lnTo>
                  <a:pt x="1094256" y="25283"/>
                </a:lnTo>
                <a:lnTo>
                  <a:pt x="1046833" y="16855"/>
                </a:lnTo>
                <a:lnTo>
                  <a:pt x="1002677" y="8428"/>
                </a:lnTo>
                <a:lnTo>
                  <a:pt x="962595" y="0"/>
                </a:lnTo>
                <a:lnTo>
                  <a:pt x="609157" y="0"/>
                </a:lnTo>
                <a:lnTo>
                  <a:pt x="569075" y="8428"/>
                </a:lnTo>
                <a:lnTo>
                  <a:pt x="524919" y="16855"/>
                </a:lnTo>
                <a:lnTo>
                  <a:pt x="477496" y="25283"/>
                </a:lnTo>
                <a:lnTo>
                  <a:pt x="427842" y="33711"/>
                </a:lnTo>
                <a:lnTo>
                  <a:pt x="377155" y="42139"/>
                </a:lnTo>
                <a:lnTo>
                  <a:pt x="326713" y="50566"/>
                </a:lnTo>
                <a:lnTo>
                  <a:pt x="277773" y="58994"/>
                </a:lnTo>
                <a:lnTo>
                  <a:pt x="231483" y="67422"/>
                </a:lnTo>
                <a:lnTo>
                  <a:pt x="188799" y="75849"/>
                </a:lnTo>
                <a:lnTo>
                  <a:pt x="150432" y="84277"/>
                </a:lnTo>
                <a:lnTo>
                  <a:pt x="116816" y="92705"/>
                </a:lnTo>
                <a:lnTo>
                  <a:pt x="88112" y="101133"/>
                </a:lnTo>
                <a:lnTo>
                  <a:pt x="64240" y="109560"/>
                </a:lnTo>
                <a:lnTo>
                  <a:pt x="44921" y="117988"/>
                </a:lnTo>
                <a:lnTo>
                  <a:pt x="29743" y="126416"/>
                </a:lnTo>
                <a:lnTo>
                  <a:pt x="18224" y="134844"/>
                </a:lnTo>
                <a:lnTo>
                  <a:pt x="9879" y="143271"/>
                </a:lnTo>
                <a:lnTo>
                  <a:pt x="4268" y="151699"/>
                </a:lnTo>
                <a:lnTo>
                  <a:pt x="1048" y="160127"/>
                </a:lnTo>
                <a:lnTo>
                  <a:pt x="0" y="168554"/>
                </a:lnTo>
                <a:lnTo>
                  <a:pt x="1048" y="176982"/>
                </a:lnTo>
                <a:lnTo>
                  <a:pt x="4268" y="185410"/>
                </a:lnTo>
                <a:lnTo>
                  <a:pt x="9879" y="193838"/>
                </a:lnTo>
                <a:lnTo>
                  <a:pt x="18224" y="202265"/>
                </a:lnTo>
                <a:lnTo>
                  <a:pt x="29743" y="210693"/>
                </a:lnTo>
                <a:lnTo>
                  <a:pt x="44921" y="219121"/>
                </a:lnTo>
                <a:lnTo>
                  <a:pt x="64240" y="227548"/>
                </a:lnTo>
                <a:lnTo>
                  <a:pt x="88112" y="235976"/>
                </a:lnTo>
                <a:lnTo>
                  <a:pt x="116816" y="244404"/>
                </a:lnTo>
                <a:lnTo>
                  <a:pt x="150432" y="252832"/>
                </a:lnTo>
                <a:lnTo>
                  <a:pt x="188799" y="261259"/>
                </a:lnTo>
                <a:lnTo>
                  <a:pt x="231483" y="269687"/>
                </a:lnTo>
                <a:lnTo>
                  <a:pt x="277773" y="278115"/>
                </a:lnTo>
                <a:lnTo>
                  <a:pt x="326713" y="286542"/>
                </a:lnTo>
                <a:lnTo>
                  <a:pt x="377155" y="294970"/>
                </a:lnTo>
                <a:lnTo>
                  <a:pt x="427842" y="303398"/>
                </a:lnTo>
                <a:lnTo>
                  <a:pt x="477496" y="311826"/>
                </a:lnTo>
                <a:lnTo>
                  <a:pt x="524919" y="320253"/>
                </a:lnTo>
                <a:lnTo>
                  <a:pt x="569075" y="328681"/>
                </a:lnTo>
                <a:lnTo>
                  <a:pt x="609157" y="337109"/>
                </a:lnTo>
                <a:close/>
              </a:path>
            </a:pathLst>
          </a:custGeom>
          <a:solidFill>
            <a:srgbClr val="D8DFF3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140158" y="4414114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500472" y="3580158"/>
            <a:ext cx="1571752" cy="739794"/>
          </a:xfrm>
          <a:custGeom>
            <a:avLst/>
            <a:gdLst/>
            <a:ahLst/>
            <a:cxnLst/>
            <a:rect l="l" t="t" r="r" b="b"/>
            <a:pathLst>
              <a:path w="1571752" h="739794">
                <a:moveTo>
                  <a:pt x="965914" y="739794"/>
                </a:moveTo>
                <a:lnTo>
                  <a:pt x="1008771" y="721300"/>
                </a:lnTo>
                <a:lnTo>
                  <a:pt x="1056028" y="702805"/>
                </a:lnTo>
                <a:lnTo>
                  <a:pt x="1106669" y="684310"/>
                </a:lnTo>
                <a:lnTo>
                  <a:pt x="1159413" y="665815"/>
                </a:lnTo>
                <a:lnTo>
                  <a:pt x="1212801" y="647320"/>
                </a:lnTo>
                <a:lnTo>
                  <a:pt x="1265323" y="628825"/>
                </a:lnTo>
                <a:lnTo>
                  <a:pt x="1315540" y="610330"/>
                </a:lnTo>
                <a:lnTo>
                  <a:pt x="1362202" y="591836"/>
                </a:lnTo>
                <a:lnTo>
                  <a:pt x="1404342" y="573341"/>
                </a:lnTo>
                <a:lnTo>
                  <a:pt x="1441327" y="554846"/>
                </a:lnTo>
                <a:lnTo>
                  <a:pt x="1472874" y="536351"/>
                </a:lnTo>
                <a:lnTo>
                  <a:pt x="1499020" y="517856"/>
                </a:lnTo>
                <a:lnTo>
                  <a:pt x="1520072" y="499361"/>
                </a:lnTo>
                <a:lnTo>
                  <a:pt x="1536529" y="480866"/>
                </a:lnTo>
                <a:lnTo>
                  <a:pt x="1548998" y="462372"/>
                </a:lnTo>
                <a:lnTo>
                  <a:pt x="1558122" y="443877"/>
                </a:lnTo>
                <a:lnTo>
                  <a:pt x="1564505" y="425382"/>
                </a:lnTo>
                <a:lnTo>
                  <a:pt x="1568668" y="406887"/>
                </a:lnTo>
                <a:lnTo>
                  <a:pt x="1571002" y="388392"/>
                </a:lnTo>
                <a:lnTo>
                  <a:pt x="1571752" y="369897"/>
                </a:lnTo>
                <a:lnTo>
                  <a:pt x="1571002" y="351402"/>
                </a:lnTo>
                <a:lnTo>
                  <a:pt x="1568668" y="332908"/>
                </a:lnTo>
                <a:lnTo>
                  <a:pt x="1564505" y="314413"/>
                </a:lnTo>
                <a:lnTo>
                  <a:pt x="1558122" y="295918"/>
                </a:lnTo>
                <a:lnTo>
                  <a:pt x="1548998" y="277423"/>
                </a:lnTo>
                <a:lnTo>
                  <a:pt x="1536529" y="258928"/>
                </a:lnTo>
                <a:lnTo>
                  <a:pt x="1520072" y="240433"/>
                </a:lnTo>
                <a:lnTo>
                  <a:pt x="1499020" y="221938"/>
                </a:lnTo>
                <a:lnTo>
                  <a:pt x="1472874" y="203443"/>
                </a:lnTo>
                <a:lnTo>
                  <a:pt x="1441327" y="184949"/>
                </a:lnTo>
                <a:lnTo>
                  <a:pt x="1404342" y="166454"/>
                </a:lnTo>
                <a:lnTo>
                  <a:pt x="1362202" y="147959"/>
                </a:lnTo>
                <a:lnTo>
                  <a:pt x="1315540" y="129464"/>
                </a:lnTo>
                <a:lnTo>
                  <a:pt x="1265323" y="110969"/>
                </a:lnTo>
                <a:lnTo>
                  <a:pt x="1212801" y="92474"/>
                </a:lnTo>
                <a:lnTo>
                  <a:pt x="1159413" y="73979"/>
                </a:lnTo>
                <a:lnTo>
                  <a:pt x="1106669" y="55485"/>
                </a:lnTo>
                <a:lnTo>
                  <a:pt x="1056028" y="36990"/>
                </a:lnTo>
                <a:lnTo>
                  <a:pt x="1008771" y="18495"/>
                </a:lnTo>
                <a:lnTo>
                  <a:pt x="965914" y="0"/>
                </a:lnTo>
                <a:lnTo>
                  <a:pt x="605838" y="0"/>
                </a:lnTo>
                <a:lnTo>
                  <a:pt x="562981" y="18495"/>
                </a:lnTo>
                <a:lnTo>
                  <a:pt x="515724" y="36990"/>
                </a:lnTo>
                <a:lnTo>
                  <a:pt x="465083" y="55485"/>
                </a:lnTo>
                <a:lnTo>
                  <a:pt x="412339" y="73979"/>
                </a:lnTo>
                <a:lnTo>
                  <a:pt x="358951" y="92474"/>
                </a:lnTo>
                <a:lnTo>
                  <a:pt x="306429" y="110969"/>
                </a:lnTo>
                <a:lnTo>
                  <a:pt x="256212" y="129464"/>
                </a:lnTo>
                <a:lnTo>
                  <a:pt x="209550" y="147959"/>
                </a:lnTo>
                <a:lnTo>
                  <a:pt x="167410" y="166454"/>
                </a:lnTo>
                <a:lnTo>
                  <a:pt x="130425" y="184949"/>
                </a:lnTo>
                <a:lnTo>
                  <a:pt x="98878" y="203443"/>
                </a:lnTo>
                <a:lnTo>
                  <a:pt x="72732" y="221938"/>
                </a:lnTo>
                <a:lnTo>
                  <a:pt x="51680" y="240433"/>
                </a:lnTo>
                <a:lnTo>
                  <a:pt x="35223" y="258928"/>
                </a:lnTo>
                <a:lnTo>
                  <a:pt x="22754" y="277423"/>
                </a:lnTo>
                <a:lnTo>
                  <a:pt x="13630" y="295918"/>
                </a:lnTo>
                <a:lnTo>
                  <a:pt x="7247" y="314413"/>
                </a:lnTo>
                <a:lnTo>
                  <a:pt x="3084" y="332908"/>
                </a:lnTo>
                <a:lnTo>
                  <a:pt x="750" y="351402"/>
                </a:lnTo>
                <a:lnTo>
                  <a:pt x="0" y="369897"/>
                </a:lnTo>
                <a:lnTo>
                  <a:pt x="750" y="388392"/>
                </a:lnTo>
                <a:lnTo>
                  <a:pt x="3084" y="406887"/>
                </a:lnTo>
                <a:lnTo>
                  <a:pt x="7247" y="425382"/>
                </a:lnTo>
                <a:lnTo>
                  <a:pt x="13630" y="443877"/>
                </a:lnTo>
                <a:lnTo>
                  <a:pt x="22754" y="462372"/>
                </a:lnTo>
                <a:lnTo>
                  <a:pt x="35223" y="480866"/>
                </a:lnTo>
                <a:lnTo>
                  <a:pt x="51680" y="499361"/>
                </a:lnTo>
                <a:lnTo>
                  <a:pt x="72732" y="517856"/>
                </a:lnTo>
                <a:lnTo>
                  <a:pt x="98878" y="536351"/>
                </a:lnTo>
                <a:lnTo>
                  <a:pt x="130425" y="554846"/>
                </a:lnTo>
                <a:lnTo>
                  <a:pt x="167410" y="573341"/>
                </a:lnTo>
                <a:lnTo>
                  <a:pt x="209550" y="591836"/>
                </a:lnTo>
                <a:lnTo>
                  <a:pt x="256212" y="610330"/>
                </a:lnTo>
                <a:lnTo>
                  <a:pt x="306429" y="628825"/>
                </a:lnTo>
                <a:lnTo>
                  <a:pt x="358951" y="647320"/>
                </a:lnTo>
                <a:lnTo>
                  <a:pt x="412339" y="665815"/>
                </a:lnTo>
                <a:lnTo>
                  <a:pt x="465083" y="684310"/>
                </a:lnTo>
                <a:lnTo>
                  <a:pt x="515724" y="702805"/>
                </a:lnTo>
                <a:lnTo>
                  <a:pt x="562981" y="721300"/>
                </a:lnTo>
                <a:lnTo>
                  <a:pt x="605838" y="739794"/>
                </a:lnTo>
                <a:close/>
              </a:path>
            </a:pathLst>
          </a:custGeom>
          <a:solidFill>
            <a:srgbClr val="D8E9E0"/>
          </a:solidFill>
          <a:ln w="12700">
            <a:solidFill>
              <a:srgbClr val="1BAF7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011291" y="3950056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71605" y="1905000"/>
            <a:ext cx="1571752" cy="1550674"/>
          </a:xfrm>
          <a:custGeom>
            <a:avLst/>
            <a:gdLst/>
            <a:ahLst/>
            <a:cxnLst/>
            <a:rect l="l" t="t" r="r" b="b"/>
            <a:pathLst>
              <a:path w="1571752" h="1550674">
                <a:moveTo>
                  <a:pt x="965927" y="1550674"/>
                </a:moveTo>
                <a:lnTo>
                  <a:pt x="1002391" y="1511907"/>
                </a:lnTo>
                <a:lnTo>
                  <a:pt x="1042182" y="1473140"/>
                </a:lnTo>
                <a:lnTo>
                  <a:pt x="1084703" y="1434373"/>
                </a:lnTo>
                <a:lnTo>
                  <a:pt x="1129197" y="1395607"/>
                </a:lnTo>
                <a:lnTo>
                  <a:pt x="1174788" y="1356840"/>
                </a:lnTo>
                <a:lnTo>
                  <a:pt x="1220535" y="1318073"/>
                </a:lnTo>
                <a:lnTo>
                  <a:pt x="1265484" y="1279306"/>
                </a:lnTo>
                <a:lnTo>
                  <a:pt x="1308732" y="1240539"/>
                </a:lnTo>
                <a:lnTo>
                  <a:pt x="1349479" y="1201772"/>
                </a:lnTo>
                <a:lnTo>
                  <a:pt x="1387073" y="1163006"/>
                </a:lnTo>
                <a:lnTo>
                  <a:pt x="1421038" y="1124239"/>
                </a:lnTo>
                <a:lnTo>
                  <a:pt x="1451085" y="1085472"/>
                </a:lnTo>
                <a:lnTo>
                  <a:pt x="1477112" y="1046705"/>
                </a:lnTo>
                <a:lnTo>
                  <a:pt x="1499187" y="1007938"/>
                </a:lnTo>
                <a:lnTo>
                  <a:pt x="1517513" y="969171"/>
                </a:lnTo>
                <a:lnTo>
                  <a:pt x="1532402" y="930404"/>
                </a:lnTo>
                <a:lnTo>
                  <a:pt x="1544228" y="891638"/>
                </a:lnTo>
                <a:lnTo>
                  <a:pt x="1553395" y="852871"/>
                </a:lnTo>
                <a:lnTo>
                  <a:pt x="1560302" y="814104"/>
                </a:lnTo>
                <a:lnTo>
                  <a:pt x="1565316" y="775337"/>
                </a:lnTo>
                <a:lnTo>
                  <a:pt x="1568748" y="736570"/>
                </a:lnTo>
                <a:lnTo>
                  <a:pt x="1570840" y="697803"/>
                </a:lnTo>
                <a:lnTo>
                  <a:pt x="1571752" y="659036"/>
                </a:lnTo>
                <a:lnTo>
                  <a:pt x="1571559" y="620270"/>
                </a:lnTo>
                <a:lnTo>
                  <a:pt x="1570244" y="581503"/>
                </a:lnTo>
                <a:lnTo>
                  <a:pt x="1567703" y="542736"/>
                </a:lnTo>
                <a:lnTo>
                  <a:pt x="1563745" y="503969"/>
                </a:lnTo>
                <a:lnTo>
                  <a:pt x="1558103" y="465202"/>
                </a:lnTo>
                <a:lnTo>
                  <a:pt x="1550444" y="426435"/>
                </a:lnTo>
                <a:lnTo>
                  <a:pt x="1540387" y="387669"/>
                </a:lnTo>
                <a:lnTo>
                  <a:pt x="1527527" y="348902"/>
                </a:lnTo>
                <a:lnTo>
                  <a:pt x="1511468" y="310135"/>
                </a:lnTo>
                <a:lnTo>
                  <a:pt x="1491852" y="271368"/>
                </a:lnTo>
                <a:lnTo>
                  <a:pt x="1468402" y="232601"/>
                </a:lnTo>
                <a:lnTo>
                  <a:pt x="1440958" y="193834"/>
                </a:lnTo>
                <a:lnTo>
                  <a:pt x="1409510" y="155067"/>
                </a:lnTo>
                <a:lnTo>
                  <a:pt x="1374225" y="116301"/>
                </a:lnTo>
                <a:lnTo>
                  <a:pt x="1335456" y="77534"/>
                </a:lnTo>
                <a:lnTo>
                  <a:pt x="1293744" y="38767"/>
                </a:lnTo>
                <a:lnTo>
                  <a:pt x="1249800" y="0"/>
                </a:lnTo>
                <a:lnTo>
                  <a:pt x="321952" y="0"/>
                </a:lnTo>
                <a:lnTo>
                  <a:pt x="278008" y="38767"/>
                </a:lnTo>
                <a:lnTo>
                  <a:pt x="236296" y="77534"/>
                </a:lnTo>
                <a:lnTo>
                  <a:pt x="197527" y="116301"/>
                </a:lnTo>
                <a:lnTo>
                  <a:pt x="162242" y="155067"/>
                </a:lnTo>
                <a:lnTo>
                  <a:pt x="130794" y="193834"/>
                </a:lnTo>
                <a:lnTo>
                  <a:pt x="103350" y="232601"/>
                </a:lnTo>
                <a:lnTo>
                  <a:pt x="79900" y="271368"/>
                </a:lnTo>
                <a:lnTo>
                  <a:pt x="60284" y="310135"/>
                </a:lnTo>
                <a:lnTo>
                  <a:pt x="44225" y="348902"/>
                </a:lnTo>
                <a:lnTo>
                  <a:pt x="31365" y="387669"/>
                </a:lnTo>
                <a:lnTo>
                  <a:pt x="21308" y="426435"/>
                </a:lnTo>
                <a:lnTo>
                  <a:pt x="13649" y="465202"/>
                </a:lnTo>
                <a:lnTo>
                  <a:pt x="8007" y="503969"/>
                </a:lnTo>
                <a:lnTo>
                  <a:pt x="4049" y="542736"/>
                </a:lnTo>
                <a:lnTo>
                  <a:pt x="1508" y="581503"/>
                </a:lnTo>
                <a:lnTo>
                  <a:pt x="193" y="620270"/>
                </a:lnTo>
                <a:lnTo>
                  <a:pt x="0" y="659036"/>
                </a:lnTo>
                <a:lnTo>
                  <a:pt x="912" y="697803"/>
                </a:lnTo>
                <a:lnTo>
                  <a:pt x="3004" y="736570"/>
                </a:lnTo>
                <a:lnTo>
                  <a:pt x="6436" y="775337"/>
                </a:lnTo>
                <a:lnTo>
                  <a:pt x="11450" y="814104"/>
                </a:lnTo>
                <a:lnTo>
                  <a:pt x="18357" y="852871"/>
                </a:lnTo>
                <a:lnTo>
                  <a:pt x="27524" y="891638"/>
                </a:lnTo>
                <a:lnTo>
                  <a:pt x="39350" y="930404"/>
                </a:lnTo>
                <a:lnTo>
                  <a:pt x="54239" y="969171"/>
                </a:lnTo>
                <a:lnTo>
                  <a:pt x="72565" y="1007938"/>
                </a:lnTo>
                <a:lnTo>
                  <a:pt x="94640" y="1046705"/>
                </a:lnTo>
                <a:lnTo>
                  <a:pt x="120667" y="1085472"/>
                </a:lnTo>
                <a:lnTo>
                  <a:pt x="150714" y="1124239"/>
                </a:lnTo>
                <a:lnTo>
                  <a:pt x="184679" y="1163006"/>
                </a:lnTo>
                <a:lnTo>
                  <a:pt x="222273" y="1201772"/>
                </a:lnTo>
                <a:lnTo>
                  <a:pt x="263020" y="1240539"/>
                </a:lnTo>
                <a:lnTo>
                  <a:pt x="306268" y="1279306"/>
                </a:lnTo>
                <a:lnTo>
                  <a:pt x="351217" y="1318073"/>
                </a:lnTo>
                <a:lnTo>
                  <a:pt x="396964" y="1356840"/>
                </a:lnTo>
                <a:lnTo>
                  <a:pt x="442555" y="1395607"/>
                </a:lnTo>
                <a:lnTo>
                  <a:pt x="487049" y="1434373"/>
                </a:lnTo>
                <a:lnTo>
                  <a:pt x="529570" y="1473140"/>
                </a:lnTo>
                <a:lnTo>
                  <a:pt x="569361" y="1511907"/>
                </a:lnTo>
                <a:lnTo>
                  <a:pt x="605825" y="1550674"/>
                </a:lnTo>
                <a:close/>
              </a:path>
            </a:pathLst>
          </a:custGeom>
          <a:solidFill>
            <a:srgbClr val="F9E6D7"/>
          </a:solidFill>
          <a:ln w="12700">
            <a:solidFill>
              <a:srgbClr val="EDA10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882424" y="2551481"/>
            <a:ext cx="550113" cy="0"/>
          </a:xfrm>
          <a:prstGeom prst="line">
            <a:avLst/>
          </a:prstGeom>
          <a:noFill/>
          <a:ln w="22225">
            <a:solidFill>
              <a:srgbClr val="0B0B0B"/>
            </a:solidFill>
            <a:prstDash val="solid"/>
          </a:ln>
        </p:spPr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price — last two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3949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2882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4796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0409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D2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6023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D3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1636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D4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7250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D5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28634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D6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84768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D7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40902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D8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97036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D9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531708" y="5143500"/>
            <a:ext cx="5613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D10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760318" y="339852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19983" y="361188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4321658" y="275844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181323" y="297180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82998" y="254508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742663" y="297180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444338" y="233172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304003" y="254508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60056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8653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67018" y="254508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426683" y="2758440"/>
            <a:ext cx="280670" cy="64008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128358" y="275844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988023" y="2971800"/>
            <a:ext cx="280670" cy="42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89698" y="2118360"/>
            <a:ext cx="0" cy="106680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7549363" y="2331720"/>
            <a:ext cx="28067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1A9E6E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251038" y="190500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10703" y="233172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12378" y="2118360"/>
            <a:ext cx="0" cy="853440"/>
          </a:xfrm>
          <a:prstGeom prst="line">
            <a:avLst/>
          </a:prstGeom>
          <a:noFill/>
          <a:ln w="12700">
            <a:solidFill>
              <a:srgbClr val="0B0B0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72043" y="2545080"/>
            <a:ext cx="280670" cy="213360"/>
          </a:xfrm>
          <a:prstGeom prst="rect">
            <a:avLst/>
          </a:prstGeom>
          <a:solidFill>
            <a:srgbClr val="E34948"/>
          </a:solidFill>
          <a:ln w="6350">
            <a:solidFill>
              <a:srgbClr val="E34948"/>
            </a:solidFill>
            <a:prstDash val="solid"/>
          </a:ln>
        </p:spPr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 plan — critical path highlighted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42122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11642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95983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65503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843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63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8037043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32243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006600"/>
            <a:ext cx="0" cy="3251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1803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1822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728949" y="21886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1–3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27241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21228" y="25484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44391" y="2730500"/>
            <a:ext cx="153860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3–8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2660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421228" y="30903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82996" y="3272367"/>
            <a:ext cx="18463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8–14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3807883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Copywriting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421228" y="3632200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Text 25"/>
          <p:cNvSpPr/>
          <p:nvPr/>
        </p:nvSpPr>
        <p:spPr>
          <a:xfrm>
            <a:off x="4344391" y="3814233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2539848" y="4349750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421228" y="4174067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29322" y="4356100"/>
            <a:ext cx="1230884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14–18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539848" y="4891617"/>
            <a:ext cx="8051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421228" y="4715933"/>
            <a:ext cx="61544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solidFill>
            <a:srgbClr val="2A78D6"/>
          </a:solidFill>
          <a:ln w="22225">
            <a:solidFill>
              <a:srgbClr val="E3494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960206" y="4897967"/>
            <a:ext cx="615442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18–20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344391" y="2277533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318991" y="28194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rot="5400000">
            <a:off x="4225011" y="27660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39" name="Shape 37"/>
          <p:cNvSpPr/>
          <p:nvPr/>
        </p:nvSpPr>
        <p:spPr>
          <a:xfrm>
            <a:off x="5882996" y="28194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857596" y="33612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rot="5400000">
            <a:off x="5763616" y="33079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2" name="Shape 40"/>
          <p:cNvSpPr/>
          <p:nvPr/>
        </p:nvSpPr>
        <p:spPr>
          <a:xfrm>
            <a:off x="4344391" y="2277533"/>
            <a:ext cx="0" cy="16256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318991" y="390313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rot="5400000">
            <a:off x="4242791" y="385868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45" name="Shape 43"/>
          <p:cNvSpPr/>
          <p:nvPr/>
        </p:nvSpPr>
        <p:spPr>
          <a:xfrm>
            <a:off x="7729322" y="3361267"/>
            <a:ext cx="0" cy="1083733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7703922" y="4445000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rot="5400000">
            <a:off x="7609942" y="4391660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8960206" y="4445000"/>
            <a:ext cx="0" cy="541867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934806" y="4986867"/>
            <a:ext cx="25400" cy="0"/>
          </a:xfrm>
          <a:prstGeom prst="line">
            <a:avLst/>
          </a:prstGeom>
          <a:noFill/>
          <a:ln w="22225">
            <a:solidFill>
              <a:srgbClr val="E34948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rot="5400000">
            <a:off x="8840826" y="4933527"/>
            <a:ext cx="106680" cy="106680"/>
          </a:xfrm>
          <a:prstGeom prst="triangle">
            <a:avLst/>
          </a:prstGeom>
          <a:solidFill>
            <a:srgbClr val="E34948"/>
          </a:solidFill>
          <a:ln/>
        </p:spPr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524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Assay reproducibility (mean ± SD)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5016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3047848" y="437642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3047848" y="373634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047848" y="309626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047848" y="245618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3047848" y="1816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110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3479648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A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350781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B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221914" y="5143500"/>
            <a:ext cx="187113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Lot 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15214" y="2407290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415214" y="2842003"/>
            <a:ext cx="0" cy="144904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183662" y="2407290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183662" y="2986908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900653" y="2552195"/>
            <a:ext cx="1029123" cy="289809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900653" y="269709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900653" y="250659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98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286348" y="2696642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286348" y="3177387"/>
            <a:ext cx="0" cy="160248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054795" y="269664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054795" y="333763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771786" y="2856891"/>
            <a:ext cx="1029123" cy="320497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71786" y="3017139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771786" y="2826639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157481" y="2596482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157481" y="4007565"/>
            <a:ext cx="0" cy="470361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925928" y="2596482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7925928" y="4477926"/>
            <a:ext cx="463106" cy="0"/>
          </a:xfrm>
          <a:prstGeom prst="line">
            <a:avLst/>
          </a:prstGeom>
          <a:noFill/>
          <a:ln w="9525">
            <a:solidFill>
              <a:srgbClr val="A5A49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7642919" y="3066843"/>
            <a:ext cx="1029123" cy="940722"/>
          </a:xfrm>
          <a:prstGeom prst="rect">
            <a:avLst/>
          </a:prstGeom>
          <a:solidFill>
            <a:srgbClr val="E5EAF7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642919" y="3537204"/>
            <a:ext cx="1029123" cy="0"/>
          </a:xfrm>
          <a:prstGeom prst="line">
            <a:avLst/>
          </a:prstGeom>
          <a:noFill/>
          <a:ln w="22225">
            <a:solidFill>
              <a:srgbClr val="2A78D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42919" y="3346704"/>
            <a:ext cx="1029123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9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479648" y="5105400"/>
            <a:ext cx="56134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047848" y="1778000"/>
            <a:ext cx="6096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KPI sparklines — last 12 weeks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047848" y="22923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Signups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 flipV="1">
            <a:off x="3629508" y="2577592"/>
            <a:ext cx="474980" cy="3454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4488" y="2577592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4579468" y="2525776"/>
            <a:ext cx="474980" cy="69088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54448" y="252577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5529428" y="2439416"/>
            <a:ext cx="474980" cy="10363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004408" y="243941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6479388" y="233578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954368" y="2335784"/>
            <a:ext cx="474980" cy="51816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7429348" y="2266696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04328" y="2266696"/>
            <a:ext cx="474980" cy="17272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8379308" y="2163064"/>
            <a:ext cx="474980" cy="120904"/>
          </a:xfrm>
          <a:prstGeom prst="line">
            <a:avLst/>
          </a:prstGeom>
          <a:noFill/>
          <a:ln w="15875">
            <a:solidFill>
              <a:srgbClr val="2A78D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05378" y="25880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830158" y="21389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17" name="Shape 15"/>
          <p:cNvSpPr/>
          <p:nvPr/>
        </p:nvSpPr>
        <p:spPr>
          <a:xfrm>
            <a:off x="8827618" y="2136394"/>
            <a:ext cx="53340" cy="5334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8" name="Text 16"/>
          <p:cNvSpPr/>
          <p:nvPr/>
        </p:nvSpPr>
        <p:spPr>
          <a:xfrm>
            <a:off x="8905088" y="20678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2A78D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92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047848" y="30797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flipV="1">
            <a:off x="3629508" y="337912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4104488" y="3338299"/>
            <a:ext cx="474980" cy="40825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79468" y="3338299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5054448" y="3277062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529428" y="3277062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6004408" y="3195412"/>
            <a:ext cx="474980" cy="10206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6479388" y="3134175"/>
            <a:ext cx="474980" cy="61237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954368" y="3134175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7429348" y="3032113"/>
            <a:ext cx="474980" cy="122474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7904328" y="2950464"/>
            <a:ext cx="474980" cy="81649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379308" y="2950464"/>
            <a:ext cx="474980" cy="20412"/>
          </a:xfrm>
          <a:prstGeom prst="line">
            <a:avLst/>
          </a:prstGeom>
          <a:noFill/>
          <a:ln w="15875">
            <a:solidFill>
              <a:srgbClr val="1BAF7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605378" y="33754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32" name="Shape 30"/>
          <p:cNvSpPr/>
          <p:nvPr/>
        </p:nvSpPr>
        <p:spPr>
          <a:xfrm>
            <a:off x="8355178" y="29263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33" name="Shape 31"/>
          <p:cNvSpPr/>
          <p:nvPr/>
        </p:nvSpPr>
        <p:spPr>
          <a:xfrm>
            <a:off x="8827618" y="2944206"/>
            <a:ext cx="53340" cy="53340"/>
          </a:xfrm>
          <a:prstGeom prst="ellipse">
            <a:avLst/>
          </a:prstGeom>
          <a:solidFill>
            <a:srgbClr val="1BAF7A"/>
          </a:solidFill>
          <a:ln/>
        </p:spPr>
      </p:sp>
      <p:sp>
        <p:nvSpPr>
          <p:cNvPr id="34" name="Text 32"/>
          <p:cNvSpPr/>
          <p:nvPr/>
        </p:nvSpPr>
        <p:spPr>
          <a:xfrm>
            <a:off x="8905088" y="2875626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AF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3047848" y="3867150"/>
            <a:ext cx="5054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 %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629508" y="3737864"/>
            <a:ext cx="468745" cy="56134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4098253" y="3775287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566999" y="3775287"/>
            <a:ext cx="468745" cy="93557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5035744" y="383142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504489" y="3831421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73235" y="3943689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6441980" y="3962400"/>
            <a:ext cx="468745" cy="18711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910726" y="3962400"/>
            <a:ext cx="468745" cy="112268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7379471" y="4074668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848217" y="4112091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8316962" y="4149513"/>
            <a:ext cx="468745" cy="37423"/>
          </a:xfrm>
          <a:prstGeom prst="line">
            <a:avLst/>
          </a:prstGeom>
          <a:noFill/>
          <a:ln w="15875">
            <a:solidFill>
              <a:srgbClr val="EDA10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761578" y="41628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48" name="Shape 46"/>
          <p:cNvSpPr/>
          <p:nvPr/>
        </p:nvSpPr>
        <p:spPr>
          <a:xfrm>
            <a:off x="3605378" y="37137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49" name="Shape 47"/>
          <p:cNvSpPr/>
          <p:nvPr/>
        </p:nvSpPr>
        <p:spPr>
          <a:xfrm>
            <a:off x="8759038" y="4160266"/>
            <a:ext cx="53340" cy="53340"/>
          </a:xfrm>
          <a:prstGeom prst="ellipse">
            <a:avLst/>
          </a:prstGeom>
          <a:solidFill>
            <a:srgbClr val="EDA100"/>
          </a:solidFill>
          <a:ln/>
        </p:spPr>
      </p:sp>
      <p:sp>
        <p:nvSpPr>
          <p:cNvPr id="50" name="Text 48"/>
          <p:cNvSpPr/>
          <p:nvPr/>
        </p:nvSpPr>
        <p:spPr>
          <a:xfrm>
            <a:off x="8836508" y="4091686"/>
            <a:ext cx="3073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EDA1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2.7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047848" y="4654550"/>
            <a:ext cx="2311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 flipV="1">
            <a:off x="3355188" y="4938410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3855106" y="4938410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4355024" y="4884522"/>
            <a:ext cx="499918" cy="71852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 flipV="1">
            <a:off x="4854942" y="4830633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5354860" y="4794707"/>
            <a:ext cx="499918" cy="35926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854779" y="479470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6354697" y="4722856"/>
            <a:ext cx="499918" cy="89814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6854615" y="4668967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7354533" y="4668967"/>
            <a:ext cx="499918" cy="17963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7854451" y="4579153"/>
            <a:ext cx="499918" cy="107777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8354369" y="4525264"/>
            <a:ext cx="499918" cy="53889"/>
          </a:xfrm>
          <a:prstGeom prst="line">
            <a:avLst/>
          </a:prstGeom>
          <a:noFill/>
          <a:ln w="15875">
            <a:solidFill>
              <a:srgbClr val="0083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3331058" y="4950206"/>
            <a:ext cx="48260" cy="48260"/>
          </a:xfrm>
          <a:prstGeom prst="ellipse">
            <a:avLst/>
          </a:prstGeom>
          <a:solidFill>
            <a:srgbClr val="E34948"/>
          </a:solidFill>
          <a:ln/>
        </p:spPr>
      </p:sp>
      <p:sp>
        <p:nvSpPr>
          <p:cNvPr id="64" name="Shape 62"/>
          <p:cNvSpPr/>
          <p:nvPr/>
        </p:nvSpPr>
        <p:spPr>
          <a:xfrm>
            <a:off x="8830158" y="4501134"/>
            <a:ext cx="48260" cy="48260"/>
          </a:xfrm>
          <a:prstGeom prst="ellipse">
            <a:avLst/>
          </a:prstGeom>
          <a:solidFill>
            <a:srgbClr val="1A9E6E"/>
          </a:solidFill>
          <a:ln/>
        </p:spPr>
      </p:sp>
      <p:sp>
        <p:nvSpPr>
          <p:cNvPr id="65" name="Shape 63"/>
          <p:cNvSpPr/>
          <p:nvPr/>
        </p:nvSpPr>
        <p:spPr>
          <a:xfrm>
            <a:off x="8827618" y="4498594"/>
            <a:ext cx="53340" cy="53340"/>
          </a:xfrm>
          <a:prstGeom prst="ellipse">
            <a:avLst/>
          </a:prstGeom>
          <a:solidFill>
            <a:srgbClr val="008300"/>
          </a:solidFill>
          <a:ln/>
        </p:spPr>
      </p:sp>
      <p:sp>
        <p:nvSpPr>
          <p:cNvPr id="66" name="Text 64"/>
          <p:cNvSpPr/>
          <p:nvPr/>
        </p:nvSpPr>
        <p:spPr>
          <a:xfrm>
            <a:off x="8905088" y="4430014"/>
            <a:ext cx="238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83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428848" y="1397000"/>
            <a:ext cx="533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sales (radial bars)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121758" y="2594610"/>
            <a:ext cx="1948180" cy="194818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251841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4444848" y="1917700"/>
            <a:ext cx="3302000" cy="3302000"/>
          </a:xfrm>
          <a:prstGeom prst="ellipse">
            <a:avLst/>
          </a:pr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18415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5257140" y="2729992"/>
            <a:ext cx="1677416" cy="1677416"/>
          </a:xfrm>
          <a:custGeom>
            <a:avLst/>
            <a:gdLst/>
            <a:ahLst/>
            <a:cxnLst/>
            <a:rect l="l" t="t" r="r" b="b"/>
            <a:pathLst>
              <a:path w="1677416" h="1677416">
                <a:moveTo>
                  <a:pt x="878217" y="931"/>
                </a:moveTo>
                <a:lnTo>
                  <a:pt x="960608" y="8906"/>
                </a:lnTo>
                <a:lnTo>
                  <a:pt x="1041813" y="24964"/>
                </a:lnTo>
                <a:lnTo>
                  <a:pt x="1121039" y="48948"/>
                </a:lnTo>
                <a:lnTo>
                  <a:pt x="1197515" y="80626"/>
                </a:lnTo>
                <a:lnTo>
                  <a:pt x="1270495" y="119687"/>
                </a:lnTo>
                <a:lnTo>
                  <a:pt x="1339270" y="165753"/>
                </a:lnTo>
                <a:lnTo>
                  <a:pt x="1403169" y="218373"/>
                </a:lnTo>
                <a:lnTo>
                  <a:pt x="1038714" y="618904"/>
                </a:lnTo>
                <a:lnTo>
                  <a:pt x="1016073" y="600259"/>
                </a:lnTo>
                <a:lnTo>
                  <a:pt x="991703" y="583937"/>
                </a:lnTo>
                <a:lnTo>
                  <a:pt x="965844" y="570096"/>
                </a:lnTo>
                <a:lnTo>
                  <a:pt x="938746" y="558872"/>
                </a:lnTo>
                <a:lnTo>
                  <a:pt x="910674" y="550373"/>
                </a:lnTo>
                <a:lnTo>
                  <a:pt x="881901" y="544684"/>
                </a:lnTo>
                <a:lnTo>
                  <a:pt x="852707" y="541858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56818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54067" y="2526919"/>
            <a:ext cx="2083562" cy="2083562"/>
          </a:xfrm>
          <a:custGeom>
            <a:avLst/>
            <a:gdLst/>
            <a:ahLst/>
            <a:cxnLst/>
            <a:rect l="l" t="t" r="r" b="b"/>
            <a:pathLst>
              <a:path w="2083562" h="2083562">
                <a:moveTo>
                  <a:pt x="1812315" y="340649"/>
                </a:moveTo>
                <a:lnTo>
                  <a:pt x="1877676" y="420020"/>
                </a:lnTo>
                <a:lnTo>
                  <a:pt x="1934895" y="505447"/>
                </a:lnTo>
                <a:lnTo>
                  <a:pt x="1983415" y="596098"/>
                </a:lnTo>
                <a:lnTo>
                  <a:pt x="2022762" y="691091"/>
                </a:lnTo>
                <a:lnTo>
                  <a:pt x="2052554" y="789499"/>
                </a:lnTo>
                <a:lnTo>
                  <a:pt x="2072500" y="890365"/>
                </a:lnTo>
                <a:lnTo>
                  <a:pt x="2082405" y="992706"/>
                </a:lnTo>
                <a:lnTo>
                  <a:pt x="1338631" y="1027782"/>
                </a:lnTo>
                <a:lnTo>
                  <a:pt x="1335805" y="998588"/>
                </a:lnTo>
                <a:lnTo>
                  <a:pt x="1330116" y="969815"/>
                </a:lnTo>
                <a:lnTo>
                  <a:pt x="1321617" y="941743"/>
                </a:lnTo>
                <a:lnTo>
                  <a:pt x="1310393" y="914645"/>
                </a:lnTo>
                <a:lnTo>
                  <a:pt x="1296552" y="888786"/>
                </a:lnTo>
                <a:lnTo>
                  <a:pt x="1280230" y="864416"/>
                </a:lnTo>
                <a:lnTo>
                  <a:pt x="1261585" y="841775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691572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392522" y="2865374"/>
            <a:ext cx="1406652" cy="1406652"/>
          </a:xfrm>
          <a:custGeom>
            <a:avLst/>
            <a:gdLst/>
            <a:ahLst/>
            <a:cxnLst/>
            <a:rect l="l" t="t" r="r" b="b"/>
            <a:pathLst>
              <a:path w="1406652" h="1406652">
                <a:moveTo>
                  <a:pt x="1405871" y="736457"/>
                </a:moveTo>
                <a:lnTo>
                  <a:pt x="1399184" y="805550"/>
                </a:lnTo>
                <a:lnTo>
                  <a:pt x="1385718" y="873646"/>
                </a:lnTo>
                <a:lnTo>
                  <a:pt x="1365605" y="940084"/>
                </a:lnTo>
                <a:lnTo>
                  <a:pt x="1339041" y="1004215"/>
                </a:lnTo>
                <a:lnTo>
                  <a:pt x="1306284" y="1065415"/>
                </a:lnTo>
                <a:lnTo>
                  <a:pt x="1267655" y="1123089"/>
                </a:lnTo>
                <a:lnTo>
                  <a:pt x="1223528" y="1176673"/>
                </a:lnTo>
                <a:lnTo>
                  <a:pt x="923130" y="903332"/>
                </a:lnTo>
                <a:lnTo>
                  <a:pt x="941775" y="880691"/>
                </a:lnTo>
                <a:lnTo>
                  <a:pt x="958097" y="856321"/>
                </a:lnTo>
                <a:lnTo>
                  <a:pt x="971938" y="830462"/>
                </a:lnTo>
                <a:lnTo>
                  <a:pt x="983162" y="803364"/>
                </a:lnTo>
                <a:lnTo>
                  <a:pt x="991661" y="775292"/>
                </a:lnTo>
                <a:lnTo>
                  <a:pt x="997350" y="746519"/>
                </a:lnTo>
                <a:lnTo>
                  <a:pt x="1000176" y="717325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691572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850994" y="2323846"/>
            <a:ext cx="2489708" cy="2489708"/>
          </a:xfrm>
          <a:custGeom>
            <a:avLst/>
            <a:gdLst/>
            <a:ahLst/>
            <a:cxnLst/>
            <a:rect l="l" t="t" r="r" b="b"/>
            <a:pathLst>
              <a:path w="2489708" h="2489708">
                <a:moveTo>
                  <a:pt x="2082656" y="2165587"/>
                </a:moveTo>
                <a:lnTo>
                  <a:pt x="1987814" y="2243689"/>
                </a:lnTo>
                <a:lnTo>
                  <a:pt x="1885735" y="2312062"/>
                </a:lnTo>
                <a:lnTo>
                  <a:pt x="1777413" y="2370039"/>
                </a:lnTo>
                <a:lnTo>
                  <a:pt x="1663904" y="2417056"/>
                </a:lnTo>
                <a:lnTo>
                  <a:pt x="1546313" y="2452655"/>
                </a:lnTo>
                <a:lnTo>
                  <a:pt x="1425785" y="2476489"/>
                </a:lnTo>
                <a:lnTo>
                  <a:pt x="1303495" y="2488326"/>
                </a:lnTo>
                <a:lnTo>
                  <a:pt x="1258853" y="1541704"/>
                </a:lnTo>
                <a:lnTo>
                  <a:pt x="1288047" y="1538878"/>
                </a:lnTo>
                <a:lnTo>
                  <a:pt x="1316820" y="1533189"/>
                </a:lnTo>
                <a:lnTo>
                  <a:pt x="1344892" y="1524690"/>
                </a:lnTo>
                <a:lnTo>
                  <a:pt x="1371990" y="1513466"/>
                </a:lnTo>
                <a:lnTo>
                  <a:pt x="1397849" y="1499625"/>
                </a:lnTo>
                <a:lnTo>
                  <a:pt x="1422219" y="1483303"/>
                </a:lnTo>
                <a:lnTo>
                  <a:pt x="1444860" y="1464658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56818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59299" y="2432152"/>
            <a:ext cx="2273097" cy="2273097"/>
          </a:xfrm>
          <a:custGeom>
            <a:avLst/>
            <a:gdLst/>
            <a:ahLst/>
            <a:cxnLst/>
            <a:rect l="l" t="t" r="r" b="b"/>
            <a:pathLst>
              <a:path w="2273097" h="2273097">
                <a:moveTo>
                  <a:pt x="1083010" y="2271835"/>
                </a:moveTo>
                <a:lnTo>
                  <a:pt x="971359" y="2261028"/>
                </a:lnTo>
                <a:lnTo>
                  <a:pt x="861318" y="2239268"/>
                </a:lnTo>
                <a:lnTo>
                  <a:pt x="753957" y="2206766"/>
                </a:lnTo>
                <a:lnTo>
                  <a:pt x="650323" y="2163840"/>
                </a:lnTo>
                <a:lnTo>
                  <a:pt x="551426" y="2110906"/>
                </a:lnTo>
                <a:lnTo>
                  <a:pt x="458228" y="2048482"/>
                </a:lnTo>
                <a:lnTo>
                  <a:pt x="371637" y="1977175"/>
                </a:lnTo>
                <a:lnTo>
                  <a:pt x="936543" y="1356352"/>
                </a:lnTo>
                <a:lnTo>
                  <a:pt x="959184" y="1374997"/>
                </a:lnTo>
                <a:lnTo>
                  <a:pt x="983553" y="1391320"/>
                </a:lnTo>
                <a:lnTo>
                  <a:pt x="1009412" y="1405160"/>
                </a:lnTo>
                <a:lnTo>
                  <a:pt x="1036510" y="1416385"/>
                </a:lnTo>
                <a:lnTo>
                  <a:pt x="1064582" y="1424883"/>
                </a:lnTo>
                <a:lnTo>
                  <a:pt x="1093355" y="1430573"/>
                </a:lnTo>
                <a:lnTo>
                  <a:pt x="1122549" y="1433398"/>
                </a:lnTo>
                <a:close/>
              </a:path>
            </a:pathLst>
          </a:custGeom>
          <a:solidFill>
            <a:srgbClr val="4A3AA7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78337" y="507552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148834" y="2621686"/>
            <a:ext cx="1894027" cy="1894027"/>
          </a:xfrm>
          <a:custGeom>
            <a:avLst/>
            <a:gdLst/>
            <a:ahLst/>
            <a:cxnLst/>
            <a:rect l="l" t="t" r="r" b="b"/>
            <a:pathLst>
              <a:path w="1894027" h="1894027">
                <a:moveTo>
                  <a:pt x="246573" y="1584366"/>
                </a:moveTo>
                <a:lnTo>
                  <a:pt x="187157" y="1512215"/>
                </a:lnTo>
                <a:lnTo>
                  <a:pt x="135143" y="1434559"/>
                </a:lnTo>
                <a:lnTo>
                  <a:pt x="91037" y="1352154"/>
                </a:lnTo>
                <a:lnTo>
                  <a:pt x="55269" y="1265803"/>
                </a:lnTo>
                <a:lnTo>
                  <a:pt x="28188" y="1176346"/>
                </a:lnTo>
                <a:lnTo>
                  <a:pt x="10056" y="1084655"/>
                </a:lnTo>
                <a:lnTo>
                  <a:pt x="1051" y="991624"/>
                </a:lnTo>
                <a:lnTo>
                  <a:pt x="650164" y="961013"/>
                </a:lnTo>
                <a:lnTo>
                  <a:pt x="652989" y="990207"/>
                </a:lnTo>
                <a:lnTo>
                  <a:pt x="658679" y="1018980"/>
                </a:lnTo>
                <a:lnTo>
                  <a:pt x="667177" y="1047052"/>
                </a:lnTo>
                <a:lnTo>
                  <a:pt x="678402" y="1074150"/>
                </a:lnTo>
                <a:lnTo>
                  <a:pt x="692242" y="1100009"/>
                </a:lnTo>
                <a:lnTo>
                  <a:pt x="708565" y="1124378"/>
                </a:lnTo>
                <a:lnTo>
                  <a:pt x="727210" y="1147019"/>
                </a:lnTo>
                <a:close/>
              </a:path>
            </a:pathLst>
          </a:custGeom>
          <a:solidFill>
            <a:srgbClr val="E34948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43583" y="4140771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15612" y="2188464"/>
            <a:ext cx="2760472" cy="2760472"/>
          </a:xfrm>
          <a:custGeom>
            <a:avLst/>
            <a:gdLst/>
            <a:ahLst/>
            <a:cxnLst/>
            <a:rect l="l" t="t" r="r" b="b"/>
            <a:pathLst>
              <a:path w="2760472" h="2760472">
                <a:moveTo>
                  <a:pt x="1532" y="1315218"/>
                </a:moveTo>
                <a:lnTo>
                  <a:pt x="14656" y="1179628"/>
                </a:lnTo>
                <a:lnTo>
                  <a:pt x="41082" y="1045993"/>
                </a:lnTo>
                <a:lnTo>
                  <a:pt x="80553" y="915613"/>
                </a:lnTo>
                <a:lnTo>
                  <a:pt x="132683" y="789759"/>
                </a:lnTo>
                <a:lnTo>
                  <a:pt x="196966" y="669657"/>
                </a:lnTo>
                <a:lnTo>
                  <a:pt x="272774" y="556476"/>
                </a:lnTo>
                <a:lnTo>
                  <a:pt x="359371" y="451320"/>
                </a:lnTo>
                <a:lnTo>
                  <a:pt x="1160432" y="1180230"/>
                </a:lnTo>
                <a:lnTo>
                  <a:pt x="1141787" y="1202871"/>
                </a:lnTo>
                <a:lnTo>
                  <a:pt x="1125465" y="1227241"/>
                </a:lnTo>
                <a:lnTo>
                  <a:pt x="1111624" y="1253100"/>
                </a:lnTo>
                <a:lnTo>
                  <a:pt x="1100400" y="1280198"/>
                </a:lnTo>
                <a:lnTo>
                  <a:pt x="1091901" y="1308270"/>
                </a:lnTo>
                <a:lnTo>
                  <a:pt x="1086212" y="1337043"/>
                </a:lnTo>
                <a:lnTo>
                  <a:pt x="1083386" y="1366237"/>
                </a:lnTo>
                <a:close/>
              </a:path>
            </a:pathLst>
          </a:custGeom>
          <a:solidFill>
            <a:srgbClr val="E87BA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243583" y="2818829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324831" y="2797683"/>
            <a:ext cx="1542034" cy="1542034"/>
          </a:xfrm>
          <a:custGeom>
            <a:avLst/>
            <a:gdLst/>
            <a:ahLst/>
            <a:cxnLst/>
            <a:rect l="l" t="t" r="r" b="b"/>
            <a:pathLst>
              <a:path w="1542034" h="1542034">
                <a:moveTo>
                  <a:pt x="252113" y="200749"/>
                </a:moveTo>
                <a:lnTo>
                  <a:pt x="310855" y="152375"/>
                </a:lnTo>
                <a:lnTo>
                  <a:pt x="374079" y="110027"/>
                </a:lnTo>
                <a:lnTo>
                  <a:pt x="441169" y="74118"/>
                </a:lnTo>
                <a:lnTo>
                  <a:pt x="511473" y="44998"/>
                </a:lnTo>
                <a:lnTo>
                  <a:pt x="584305" y="22949"/>
                </a:lnTo>
                <a:lnTo>
                  <a:pt x="658955" y="8187"/>
                </a:lnTo>
                <a:lnTo>
                  <a:pt x="734697" y="856"/>
                </a:lnTo>
                <a:lnTo>
                  <a:pt x="757018" y="474167"/>
                </a:lnTo>
                <a:lnTo>
                  <a:pt x="727824" y="476993"/>
                </a:lnTo>
                <a:lnTo>
                  <a:pt x="699051" y="482682"/>
                </a:lnTo>
                <a:lnTo>
                  <a:pt x="670979" y="491181"/>
                </a:lnTo>
                <a:lnTo>
                  <a:pt x="643881" y="502405"/>
                </a:lnTo>
                <a:lnTo>
                  <a:pt x="618022" y="516246"/>
                </a:lnTo>
                <a:lnTo>
                  <a:pt x="593652" y="532568"/>
                </a:lnTo>
                <a:lnTo>
                  <a:pt x="571011" y="551213"/>
                </a:lnTo>
                <a:close/>
              </a:path>
            </a:pathLst>
          </a:custGeom>
          <a:solidFill>
            <a:srgbClr val="EB683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78337" y="1884075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Aug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Team capability (stacked radar)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5648574" y="3153833"/>
            <a:ext cx="894547" cy="1032933"/>
          </a:xfrm>
          <a:custGeom>
            <a:avLst/>
            <a:gdLst/>
            <a:ahLst/>
            <a:cxnLst/>
            <a:rect l="l" t="t" r="r" b="b"/>
            <a:pathLst>
              <a:path w="894547" h="1032933">
                <a:moveTo>
                  <a:pt x="447273" y="0"/>
                </a:moveTo>
                <a:lnTo>
                  <a:pt x="894547" y="258233"/>
                </a:lnTo>
                <a:lnTo>
                  <a:pt x="894547" y="774700"/>
                </a:lnTo>
                <a:lnTo>
                  <a:pt x="447273" y="1032933"/>
                </a:lnTo>
                <a:lnTo>
                  <a:pt x="0" y="774700"/>
                </a:lnTo>
                <a:lnTo>
                  <a:pt x="0" y="258233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133948" y="3077633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5201301" y="2637367"/>
            <a:ext cx="1789093" cy="2065867"/>
          </a:xfrm>
          <a:custGeom>
            <a:avLst/>
            <a:gdLst/>
            <a:ahLst/>
            <a:cxnLst/>
            <a:rect l="l" t="t" r="r" b="b"/>
            <a:pathLst>
              <a:path w="1789093" h="2065867">
                <a:moveTo>
                  <a:pt x="894547" y="0"/>
                </a:moveTo>
                <a:lnTo>
                  <a:pt x="1789093" y="516467"/>
                </a:lnTo>
                <a:lnTo>
                  <a:pt x="1789093" y="1549400"/>
                </a:lnTo>
                <a:lnTo>
                  <a:pt x="894547" y="2065867"/>
                </a:lnTo>
                <a:lnTo>
                  <a:pt x="0" y="1549400"/>
                </a:lnTo>
                <a:lnTo>
                  <a:pt x="0" y="516467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133948" y="2561167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54028" y="2120900"/>
            <a:ext cx="2683640" cy="3098800"/>
          </a:xfrm>
          <a:custGeom>
            <a:avLst/>
            <a:gdLst/>
            <a:ahLst/>
            <a:cxnLst/>
            <a:rect l="l" t="t" r="r" b="b"/>
            <a:pathLst>
              <a:path w="2683640" h="3098800">
                <a:moveTo>
                  <a:pt x="1341820" y="0"/>
                </a:moveTo>
                <a:lnTo>
                  <a:pt x="2683640" y="774700"/>
                </a:lnTo>
                <a:lnTo>
                  <a:pt x="2683640" y="2324100"/>
                </a:lnTo>
                <a:lnTo>
                  <a:pt x="1341820" y="3098800"/>
                </a:lnTo>
                <a:lnTo>
                  <a:pt x="0" y="2324100"/>
                </a:lnTo>
                <a:lnTo>
                  <a:pt x="0" y="774700"/>
                </a:lnTo>
                <a:close/>
              </a:path>
            </a:pathLst>
          </a:custGeom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33948" y="2044700"/>
            <a:ext cx="4318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6095848" y="21209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96128" y="18669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Strategy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V="1">
            <a:off x="609584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03658" y="2768600"/>
            <a:ext cx="5994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584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03658" y="4394200"/>
            <a:ext cx="46228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095848" y="3670300"/>
            <a:ext cx="0" cy="15494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33288" y="5295900"/>
            <a:ext cx="3251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 flipV="1">
            <a:off x="4754028" y="36703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4337" y="4394200"/>
            <a:ext cx="3937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Comms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54028" y="2895600"/>
            <a:ext cx="1341820" cy="7747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31497" y="2768600"/>
            <a:ext cx="2565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5738029" y="3257127"/>
            <a:ext cx="805092" cy="671407"/>
          </a:xfrm>
          <a:custGeom>
            <a:avLst/>
            <a:gdLst/>
            <a:ahLst/>
            <a:cxnLst/>
            <a:rect l="l" t="t" r="r" b="b"/>
            <a:pathLst>
              <a:path w="805092" h="671407">
                <a:moveTo>
                  <a:pt x="357819" y="0"/>
                </a:moveTo>
                <a:lnTo>
                  <a:pt x="626183" y="258233"/>
                </a:lnTo>
                <a:lnTo>
                  <a:pt x="805092" y="671407"/>
                </a:lnTo>
                <a:lnTo>
                  <a:pt x="357819" y="619760"/>
                </a:lnTo>
                <a:lnTo>
                  <a:pt x="0" y="619760"/>
                </a:lnTo>
                <a:lnTo>
                  <a:pt x="89455" y="25823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lnTo>
                  <a:pt x="357819" y="413173"/>
                </a:lnTo>
                <a:close/>
              </a:path>
            </a:pathLst>
          </a:custGeom>
          <a:solidFill>
            <a:srgbClr val="2A78D6">
              <a:alpha val="55000"/>
            </a:srgbClr>
          </a:solidFill>
          <a:ln w="15240">
            <a:solidFill>
              <a:srgbClr val="2A78D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469665" y="2947247"/>
            <a:ext cx="1252365" cy="1446107"/>
          </a:xfrm>
          <a:custGeom>
            <a:avLst/>
            <a:gdLst/>
            <a:ahLst/>
            <a:cxnLst/>
            <a:rect l="l" t="t" r="r" b="b"/>
            <a:pathLst>
              <a:path w="1252365" h="1446107">
                <a:moveTo>
                  <a:pt x="626183" y="0"/>
                </a:moveTo>
                <a:lnTo>
                  <a:pt x="1252365" y="361527"/>
                </a:lnTo>
                <a:lnTo>
                  <a:pt x="1252365" y="1084580"/>
                </a:lnTo>
                <a:lnTo>
                  <a:pt x="626183" y="1446107"/>
                </a:lnTo>
                <a:lnTo>
                  <a:pt x="0" y="1084580"/>
                </a:lnTo>
                <a:lnTo>
                  <a:pt x="0" y="361527"/>
                </a:lnTo>
                <a:lnTo>
                  <a:pt x="357819" y="568113"/>
                </a:lnTo>
                <a:lnTo>
                  <a:pt x="268364" y="929640"/>
                </a:lnTo>
                <a:lnTo>
                  <a:pt x="626183" y="929640"/>
                </a:lnTo>
                <a:lnTo>
                  <a:pt x="1073456" y="981287"/>
                </a:lnTo>
                <a:lnTo>
                  <a:pt x="894547" y="568113"/>
                </a:lnTo>
                <a:lnTo>
                  <a:pt x="626183" y="309880"/>
                </a:lnTo>
                <a:close/>
              </a:path>
            </a:pathLst>
          </a:custGeom>
          <a:solidFill>
            <a:srgbClr val="1BAF7A">
              <a:alpha val="55000"/>
            </a:srgbClr>
          </a:solidFill>
          <a:ln w="15240">
            <a:solidFill>
              <a:srgbClr val="1BAF7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2392" y="2740660"/>
            <a:ext cx="1968002" cy="1962573"/>
          </a:xfrm>
          <a:custGeom>
            <a:avLst/>
            <a:gdLst/>
            <a:ahLst/>
            <a:cxnLst/>
            <a:rect l="l" t="t" r="r" b="b"/>
            <a:pathLst>
              <a:path w="1968002" h="1962573">
                <a:moveTo>
                  <a:pt x="1073456" y="0"/>
                </a:moveTo>
                <a:lnTo>
                  <a:pt x="1968002" y="413173"/>
                </a:lnTo>
                <a:lnTo>
                  <a:pt x="1968002" y="1446107"/>
                </a:lnTo>
                <a:lnTo>
                  <a:pt x="1073456" y="1962573"/>
                </a:lnTo>
                <a:lnTo>
                  <a:pt x="0" y="1549400"/>
                </a:lnTo>
                <a:lnTo>
                  <a:pt x="268364" y="464820"/>
                </a:lnTo>
                <a:lnTo>
                  <a:pt x="447273" y="568113"/>
                </a:lnTo>
                <a:lnTo>
                  <a:pt x="447273" y="1291167"/>
                </a:lnTo>
                <a:lnTo>
                  <a:pt x="1073456" y="1652693"/>
                </a:lnTo>
                <a:lnTo>
                  <a:pt x="1699638" y="1291167"/>
                </a:lnTo>
                <a:lnTo>
                  <a:pt x="1699638" y="568113"/>
                </a:lnTo>
                <a:lnTo>
                  <a:pt x="1073456" y="206587"/>
                </a:lnTo>
                <a:close/>
              </a:path>
            </a:pathLst>
          </a:custGeom>
          <a:solidFill>
            <a:srgbClr val="EDA100">
              <a:alpha val="55000"/>
            </a:srgbClr>
          </a:solidFill>
          <a:ln w="15240">
            <a:solidFill>
              <a:srgbClr val="EDA10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174848" y="1720850"/>
            <a:ext cx="88900" cy="889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3301848" y="1676400"/>
            <a:ext cx="4191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Alice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3797148" y="1720850"/>
            <a:ext cx="88900" cy="889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7" name="Text 25"/>
          <p:cNvSpPr/>
          <p:nvPr/>
        </p:nvSpPr>
        <p:spPr>
          <a:xfrm>
            <a:off x="3924148" y="1676400"/>
            <a:ext cx="2819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Bob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282288" y="1720850"/>
            <a:ext cx="88900" cy="8890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" name="Text 27"/>
          <p:cNvSpPr/>
          <p:nvPr/>
        </p:nvSpPr>
        <p:spPr>
          <a:xfrm>
            <a:off x="4409288" y="1676400"/>
            <a:ext cx="35052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share (angle = revenue, radius = margin)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4482948" y="1955800"/>
            <a:ext cx="3225800" cy="3225800"/>
          </a:xfrm>
          <a:custGeom>
            <a:avLst/>
            <a:gdLst/>
            <a:ahLst/>
            <a:cxnLst/>
            <a:rect l="l" t="t" r="r" b="b"/>
            <a:pathLst>
              <a:path w="3225800" h="3225800">
                <a:moveTo>
                  <a:pt x="1612900" y="0"/>
                </a:moveTo>
                <a:lnTo>
                  <a:pt x="1781494" y="8836"/>
                </a:lnTo>
                <a:lnTo>
                  <a:pt x="1948241" y="35246"/>
                </a:lnTo>
                <a:lnTo>
                  <a:pt x="2111314" y="78941"/>
                </a:lnTo>
                <a:lnTo>
                  <a:pt x="2268926" y="139443"/>
                </a:lnTo>
                <a:lnTo>
                  <a:pt x="2419350" y="216088"/>
                </a:lnTo>
                <a:lnTo>
                  <a:pt x="2560939" y="308036"/>
                </a:lnTo>
                <a:lnTo>
                  <a:pt x="2692141" y="414282"/>
                </a:lnTo>
                <a:lnTo>
                  <a:pt x="2811518" y="533659"/>
                </a:lnTo>
                <a:lnTo>
                  <a:pt x="2917764" y="664861"/>
                </a:lnTo>
                <a:lnTo>
                  <a:pt x="3009712" y="806450"/>
                </a:lnTo>
                <a:lnTo>
                  <a:pt x="3086357" y="956874"/>
                </a:lnTo>
                <a:lnTo>
                  <a:pt x="3146859" y="1114486"/>
                </a:lnTo>
                <a:lnTo>
                  <a:pt x="3190554" y="1277559"/>
                </a:lnTo>
                <a:lnTo>
                  <a:pt x="3216964" y="1444306"/>
                </a:lnTo>
                <a:lnTo>
                  <a:pt x="3225800" y="1612900"/>
                </a:lnTo>
                <a:lnTo>
                  <a:pt x="3216964" y="1781494"/>
                </a:lnTo>
                <a:lnTo>
                  <a:pt x="3190554" y="1948241"/>
                </a:lnTo>
                <a:lnTo>
                  <a:pt x="3146859" y="2111314"/>
                </a:lnTo>
                <a:lnTo>
                  <a:pt x="3086357" y="2268926"/>
                </a:lnTo>
                <a:lnTo>
                  <a:pt x="3009712" y="2419350"/>
                </a:lnTo>
                <a:lnTo>
                  <a:pt x="2917764" y="2560939"/>
                </a:lnTo>
                <a:lnTo>
                  <a:pt x="2811518" y="2692141"/>
                </a:lnTo>
                <a:lnTo>
                  <a:pt x="2692141" y="2811518"/>
                </a:lnTo>
                <a:lnTo>
                  <a:pt x="2560939" y="2917764"/>
                </a:lnTo>
                <a:lnTo>
                  <a:pt x="2419350" y="3009712"/>
                </a:lnTo>
                <a:lnTo>
                  <a:pt x="2268926" y="3086357"/>
                </a:lnTo>
                <a:lnTo>
                  <a:pt x="2111314" y="3146859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lnTo>
                  <a:pt x="1612900" y="1612900"/>
                </a:lnTo>
                <a:close/>
              </a:path>
            </a:pathLst>
          </a:cu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7701434" y="3303473"/>
            <a:ext cx="68990" cy="1092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89239" y="3205243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EMEA 45%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796567" y="2269419"/>
            <a:ext cx="2598561" cy="2598561"/>
          </a:xfrm>
          <a:custGeom>
            <a:avLst/>
            <a:gdLst/>
            <a:ahLst/>
            <a:cxnLst/>
            <a:rect l="l" t="t" r="r" b="b"/>
            <a:pathLst>
              <a:path w="2598561" h="2598561">
                <a:moveTo>
                  <a:pt x="1700780" y="2534970"/>
                </a:moveTo>
                <a:lnTo>
                  <a:pt x="1569416" y="2570169"/>
                </a:lnTo>
                <a:lnTo>
                  <a:pt x="1435092" y="2591444"/>
                </a:lnTo>
                <a:lnTo>
                  <a:pt x="1299281" y="2598561"/>
                </a:lnTo>
                <a:lnTo>
                  <a:pt x="1163469" y="2591444"/>
                </a:lnTo>
                <a:lnTo>
                  <a:pt x="1029145" y="2570169"/>
                </a:lnTo>
                <a:lnTo>
                  <a:pt x="897781" y="2534970"/>
                </a:lnTo>
                <a:lnTo>
                  <a:pt x="770816" y="2486232"/>
                </a:lnTo>
                <a:lnTo>
                  <a:pt x="649640" y="2424491"/>
                </a:lnTo>
                <a:lnTo>
                  <a:pt x="535583" y="2350421"/>
                </a:lnTo>
                <a:lnTo>
                  <a:pt x="429892" y="2264834"/>
                </a:lnTo>
                <a:lnTo>
                  <a:pt x="333727" y="2168669"/>
                </a:lnTo>
                <a:lnTo>
                  <a:pt x="248141" y="2062979"/>
                </a:lnTo>
                <a:lnTo>
                  <a:pt x="174071" y="1948921"/>
                </a:lnTo>
                <a:lnTo>
                  <a:pt x="112329" y="1827746"/>
                </a:lnTo>
                <a:lnTo>
                  <a:pt x="63591" y="1700780"/>
                </a:lnTo>
                <a:lnTo>
                  <a:pt x="28392" y="1569416"/>
                </a:lnTo>
                <a:lnTo>
                  <a:pt x="7118" y="1435092"/>
                </a:lnTo>
                <a:lnTo>
                  <a:pt x="0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lnTo>
                  <a:pt x="1299281" y="1299281"/>
                </a:lnTo>
                <a:close/>
              </a:path>
            </a:pathLst>
          </a:cu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5283628" y="4630115"/>
            <a:ext cx="41057" cy="5651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98671" y="4606786"/>
            <a:ext cx="87376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Americas 30%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662159" y="2135011"/>
            <a:ext cx="2867378" cy="2867378"/>
          </a:xfrm>
          <a:custGeom>
            <a:avLst/>
            <a:gdLst/>
            <a:ahLst/>
            <a:cxnLst/>
            <a:rect l="l" t="t" r="r" b="b"/>
            <a:pathLst>
              <a:path w="2867378" h="2867378">
                <a:moveTo>
                  <a:pt x="0" y="1433689"/>
                </a:moveTo>
                <a:lnTo>
                  <a:pt x="7571" y="1286543"/>
                </a:lnTo>
                <a:lnTo>
                  <a:pt x="30205" y="1140951"/>
                </a:lnTo>
                <a:lnTo>
                  <a:pt x="67661" y="998450"/>
                </a:lnTo>
                <a:lnTo>
                  <a:pt x="119546" y="860547"/>
                </a:lnTo>
                <a:lnTo>
                  <a:pt x="185310" y="728697"/>
                </a:lnTo>
                <a:lnTo>
                  <a:pt x="264259" y="604293"/>
                </a:lnTo>
                <a:lnTo>
                  <a:pt x="355560" y="488649"/>
                </a:lnTo>
                <a:lnTo>
                  <a:pt x="458247" y="382986"/>
                </a:lnTo>
                <a:lnTo>
                  <a:pt x="571237" y="288420"/>
                </a:lnTo>
                <a:lnTo>
                  <a:pt x="693336" y="205951"/>
                </a:lnTo>
                <a:lnTo>
                  <a:pt x="823254" y="136448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lnTo>
                  <a:pt x="1433689" y="1433689"/>
                </a:lnTo>
                <a:close/>
              </a:path>
            </a:pathLst>
          </a:cu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15645" y="2756259"/>
            <a:ext cx="58976" cy="3742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0120" y="2650801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APAC 18%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0975" y="2403828"/>
            <a:ext cx="2329744" cy="2329744"/>
          </a:xfrm>
          <a:custGeom>
            <a:avLst/>
            <a:gdLst/>
            <a:ahLst/>
            <a:cxnLst/>
            <a:rect l="l" t="t" r="r" b="b"/>
            <a:pathLst>
              <a:path w="2329744" h="2329744">
                <a:moveTo>
                  <a:pt x="668894" y="110864"/>
                </a:moveTo>
                <a:lnTo>
                  <a:pt x="763407" y="71367"/>
                </a:lnTo>
                <a:lnTo>
                  <a:pt x="861025" y="40326"/>
                </a:lnTo>
                <a:lnTo>
                  <a:pt x="960993" y="17981"/>
                </a:lnTo>
                <a:lnTo>
                  <a:pt x="1062537" y="4504"/>
                </a:lnTo>
                <a:lnTo>
                  <a:pt x="1164872" y="0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lnTo>
                  <a:pt x="1164872" y="1164872"/>
                </a:lnTo>
                <a:close/>
              </a:path>
            </a:pathLst>
          </a:cu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23731" y="2351320"/>
            <a:ext cx="15237" cy="68168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220135" y="2237479"/>
            <a:ext cx="599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LatAm 7%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174848" y="1397000"/>
            <a:ext cx="584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Correlation matrix — size = magnitude, +/− marks the direction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361934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69376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6818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4260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917028" y="1676400"/>
            <a:ext cx="10744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174848" y="186690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835248" y="186690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961232" y="199288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11" name="Shape 9"/>
          <p:cNvSpPr/>
          <p:nvPr/>
        </p:nvSpPr>
        <p:spPr>
          <a:xfrm>
            <a:off x="4942919" y="190015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12" name="Shape 10"/>
          <p:cNvSpPr/>
          <p:nvPr/>
        </p:nvSpPr>
        <p:spPr>
          <a:xfrm>
            <a:off x="5055602" y="201283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055081" y="193789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14" name="Shape 12"/>
          <p:cNvSpPr/>
          <p:nvPr/>
        </p:nvSpPr>
        <p:spPr>
          <a:xfrm>
            <a:off x="6152667" y="203548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5" name="Shape 13"/>
          <p:cNvSpPr/>
          <p:nvPr/>
        </p:nvSpPr>
        <p:spPr>
          <a:xfrm>
            <a:off x="7150757" y="195915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16" name="Shape 14"/>
          <p:cNvSpPr/>
          <p:nvPr/>
        </p:nvSpPr>
        <p:spPr>
          <a:xfrm>
            <a:off x="7239841" y="204823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84373" y="191834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18" name="Shape 16"/>
          <p:cNvSpPr/>
          <p:nvPr/>
        </p:nvSpPr>
        <p:spPr>
          <a:xfrm>
            <a:off x="8289779" y="210280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9" name="Text 17"/>
          <p:cNvSpPr/>
          <p:nvPr/>
        </p:nvSpPr>
        <p:spPr>
          <a:xfrm>
            <a:off x="3174848" y="250952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868499" y="2542771"/>
            <a:ext cx="563418" cy="563418"/>
          </a:xfrm>
          <a:prstGeom prst="rect">
            <a:avLst/>
          </a:prstGeom>
          <a:solidFill>
            <a:srgbClr val="81A0DF"/>
          </a:solidFill>
          <a:ln/>
        </p:spPr>
      </p:sp>
      <p:sp>
        <p:nvSpPr>
          <p:cNvPr id="21" name="Shape 19"/>
          <p:cNvSpPr/>
          <p:nvPr/>
        </p:nvSpPr>
        <p:spPr>
          <a:xfrm>
            <a:off x="3981182" y="2655455"/>
            <a:ext cx="338051" cy="338051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9668" y="250952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5035652" y="263550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6035533" y="256096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25" name="Shape 23"/>
          <p:cNvSpPr/>
          <p:nvPr/>
        </p:nvSpPr>
        <p:spPr>
          <a:xfrm>
            <a:off x="6140939" y="266637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7273869" y="272488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27" name="Shape 25"/>
          <p:cNvSpPr/>
          <p:nvPr/>
        </p:nvSpPr>
        <p:spPr>
          <a:xfrm>
            <a:off x="7313708" y="276472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28" name="Shape 26"/>
          <p:cNvSpPr/>
          <p:nvPr/>
        </p:nvSpPr>
        <p:spPr>
          <a:xfrm>
            <a:off x="8275377" y="265196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29" name="Shape 27"/>
          <p:cNvSpPr/>
          <p:nvPr/>
        </p:nvSpPr>
        <p:spPr>
          <a:xfrm>
            <a:off x="8344381" y="277272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0" name="Text 28"/>
          <p:cNvSpPr/>
          <p:nvPr/>
        </p:nvSpPr>
        <p:spPr>
          <a:xfrm>
            <a:off x="3174848" y="315214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Head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906241" y="3223133"/>
            <a:ext cx="487934" cy="487934"/>
          </a:xfrm>
          <a:prstGeom prst="rect">
            <a:avLst/>
          </a:prstGeom>
          <a:solidFill>
            <a:srgbClr val="ACBEE8"/>
          </a:solidFill>
          <a:ln/>
        </p:spPr>
      </p:sp>
      <p:sp>
        <p:nvSpPr>
          <p:cNvPr id="32" name="Shape 30"/>
          <p:cNvSpPr/>
          <p:nvPr/>
        </p:nvSpPr>
        <p:spPr>
          <a:xfrm>
            <a:off x="4003827" y="3320720"/>
            <a:ext cx="292760" cy="292760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3" name="Shape 31"/>
          <p:cNvSpPr/>
          <p:nvPr/>
        </p:nvSpPr>
        <p:spPr>
          <a:xfrm>
            <a:off x="4961113" y="3203586"/>
            <a:ext cx="527029" cy="527029"/>
          </a:xfrm>
          <a:prstGeom prst="rect">
            <a:avLst/>
          </a:prstGeom>
          <a:solidFill>
            <a:srgbClr val="98B0E3"/>
          </a:solidFill>
          <a:ln/>
        </p:spPr>
      </p:sp>
      <p:sp>
        <p:nvSpPr>
          <p:cNvPr id="34" name="Shape 32"/>
          <p:cNvSpPr/>
          <p:nvPr/>
        </p:nvSpPr>
        <p:spPr>
          <a:xfrm>
            <a:off x="5066519" y="3308991"/>
            <a:ext cx="316217" cy="316217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5" name="Shape 33"/>
          <p:cNvSpPr/>
          <p:nvPr/>
        </p:nvSpPr>
        <p:spPr>
          <a:xfrm>
            <a:off x="5984088" y="315214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6110072" y="327812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7232613" y="332624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288955" y="338258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8307033" y="332624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40" name="Shape 38"/>
          <p:cNvSpPr/>
          <p:nvPr/>
        </p:nvSpPr>
        <p:spPr>
          <a:xfrm>
            <a:off x="8363375" y="342484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41" name="Text 39"/>
          <p:cNvSpPr/>
          <p:nvPr/>
        </p:nvSpPr>
        <p:spPr>
          <a:xfrm>
            <a:off x="3174848" y="379476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NPS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927497" y="3887010"/>
            <a:ext cx="445421" cy="445421"/>
          </a:xfrm>
          <a:prstGeom prst="rect">
            <a:avLst/>
          </a:prstGeom>
          <a:solidFill>
            <a:srgbClr val="BDCBEC"/>
          </a:solidFill>
          <a:ln/>
        </p:spPr>
      </p:sp>
      <p:sp>
        <p:nvSpPr>
          <p:cNvPr id="43" name="Shape 41"/>
          <p:cNvSpPr/>
          <p:nvPr/>
        </p:nvSpPr>
        <p:spPr>
          <a:xfrm>
            <a:off x="4016581" y="3976094"/>
            <a:ext cx="267252" cy="267252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4" name="Shape 42"/>
          <p:cNvSpPr/>
          <p:nvPr/>
        </p:nvSpPr>
        <p:spPr>
          <a:xfrm>
            <a:off x="5125029" y="4010121"/>
            <a:ext cx="199198" cy="199198"/>
          </a:xfrm>
          <a:prstGeom prst="rect">
            <a:avLst/>
          </a:prstGeom>
          <a:solidFill>
            <a:srgbClr val="F4F6FB"/>
          </a:solidFill>
          <a:ln/>
        </p:spPr>
      </p:sp>
      <p:sp>
        <p:nvSpPr>
          <p:cNvPr id="45" name="Shape 43"/>
          <p:cNvSpPr/>
          <p:nvPr/>
        </p:nvSpPr>
        <p:spPr>
          <a:xfrm>
            <a:off x="5164868" y="4049961"/>
            <a:ext cx="119519" cy="119519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6" name="Shape 44"/>
          <p:cNvSpPr/>
          <p:nvPr/>
        </p:nvSpPr>
        <p:spPr>
          <a:xfrm>
            <a:off x="6158193" y="3968866"/>
            <a:ext cx="281709" cy="281709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47" name="Shape 45"/>
          <p:cNvSpPr/>
          <p:nvPr/>
        </p:nvSpPr>
        <p:spPr>
          <a:xfrm>
            <a:off x="6214535" y="4025207"/>
            <a:ext cx="169025" cy="169025"/>
          </a:xfrm>
          <a:prstGeom prst="plus">
            <a:avLst/>
          </a:prstGeom>
          <a:solidFill>
            <a:srgbClr val="0B0B0B"/>
          </a:solidFill>
          <a:ln/>
        </p:spPr>
      </p:sp>
      <p:sp>
        <p:nvSpPr>
          <p:cNvPr id="48" name="Shape 46"/>
          <p:cNvSpPr/>
          <p:nvPr/>
        </p:nvSpPr>
        <p:spPr>
          <a:xfrm>
            <a:off x="7058508" y="379476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7184492" y="392074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149090" y="381092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51" name="Shape 49"/>
          <p:cNvSpPr/>
          <p:nvPr/>
        </p:nvSpPr>
        <p:spPr>
          <a:xfrm>
            <a:off x="8268609" y="402008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Text 50"/>
          <p:cNvSpPr/>
          <p:nvPr/>
        </p:nvSpPr>
        <p:spPr>
          <a:xfrm>
            <a:off x="3174848" y="4437380"/>
            <a:ext cx="393700" cy="642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Churn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3886693" y="4488826"/>
            <a:ext cx="527029" cy="527029"/>
          </a:xfrm>
          <a:prstGeom prst="rect">
            <a:avLst/>
          </a:prstGeom>
          <a:solidFill>
            <a:srgbClr val="EC9F9F"/>
          </a:solidFill>
          <a:ln/>
        </p:spPr>
      </p:sp>
      <p:sp>
        <p:nvSpPr>
          <p:cNvPr id="54" name="Shape 52"/>
          <p:cNvSpPr/>
          <p:nvPr/>
        </p:nvSpPr>
        <p:spPr>
          <a:xfrm>
            <a:off x="3992099" y="4673286"/>
            <a:ext cx="316217" cy="158109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5" name="Shape 53"/>
          <p:cNvSpPr/>
          <p:nvPr/>
        </p:nvSpPr>
        <p:spPr>
          <a:xfrm>
            <a:off x="5052117" y="4579829"/>
            <a:ext cx="345021" cy="345021"/>
          </a:xfrm>
          <a:prstGeom prst="rect">
            <a:avLst/>
          </a:prstGeom>
          <a:solidFill>
            <a:srgbClr val="F7DDDD"/>
          </a:solidFill>
          <a:ln/>
        </p:spPr>
      </p:sp>
      <p:sp>
        <p:nvSpPr>
          <p:cNvPr id="56" name="Shape 54"/>
          <p:cNvSpPr/>
          <p:nvPr/>
        </p:nvSpPr>
        <p:spPr>
          <a:xfrm>
            <a:off x="5121121" y="4700587"/>
            <a:ext cx="207013" cy="103506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7" name="Shape 55"/>
          <p:cNvSpPr/>
          <p:nvPr/>
        </p:nvSpPr>
        <p:spPr>
          <a:xfrm>
            <a:off x="6158193" y="4611486"/>
            <a:ext cx="281709" cy="281709"/>
          </a:xfrm>
          <a:prstGeom prst="rect">
            <a:avLst/>
          </a:prstGeom>
          <a:solidFill>
            <a:srgbClr val="FAE9E9"/>
          </a:solidFill>
          <a:ln/>
        </p:spPr>
      </p:sp>
      <p:sp>
        <p:nvSpPr>
          <p:cNvPr id="58" name="Shape 56"/>
          <p:cNvSpPr/>
          <p:nvPr/>
        </p:nvSpPr>
        <p:spPr>
          <a:xfrm>
            <a:off x="6214535" y="4710084"/>
            <a:ext cx="169025" cy="84513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59" name="Shape 57"/>
          <p:cNvSpPr/>
          <p:nvPr/>
        </p:nvSpPr>
        <p:spPr>
          <a:xfrm>
            <a:off x="7074670" y="4453543"/>
            <a:ext cx="597595" cy="597595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0" name="Shape 58"/>
          <p:cNvSpPr/>
          <p:nvPr/>
        </p:nvSpPr>
        <p:spPr>
          <a:xfrm>
            <a:off x="7194189" y="4662701"/>
            <a:ext cx="358557" cy="17927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1" name="Shape 59"/>
          <p:cNvSpPr/>
          <p:nvPr/>
        </p:nvSpPr>
        <p:spPr>
          <a:xfrm>
            <a:off x="8132928" y="4437380"/>
            <a:ext cx="629920" cy="62992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8258912" y="4563364"/>
            <a:ext cx="377952" cy="377952"/>
          </a:xfrm>
          <a:prstGeom prst="plus">
            <a:avLst/>
          </a:prstGeom>
          <a:solidFill>
            <a:srgbClr val="FFFFFF"/>
          </a:solidFill>
          <a:ln/>
        </p:spPr>
      </p:sp>
      <p:sp>
        <p:nvSpPr>
          <p:cNvPr id="63" name="Shape 61"/>
          <p:cNvSpPr/>
          <p:nvPr/>
        </p:nvSpPr>
        <p:spPr>
          <a:xfrm>
            <a:off x="3619348" y="5156200"/>
            <a:ext cx="80433" cy="114300"/>
          </a:xfrm>
          <a:prstGeom prst="rect">
            <a:avLst/>
          </a:prstGeom>
          <a:solidFill>
            <a:srgbClr val="E66F6F"/>
          </a:solidFill>
          <a:ln/>
        </p:spPr>
      </p:sp>
      <p:sp>
        <p:nvSpPr>
          <p:cNvPr id="64" name="Shape 62"/>
          <p:cNvSpPr/>
          <p:nvPr/>
        </p:nvSpPr>
        <p:spPr>
          <a:xfrm>
            <a:off x="3693431" y="5156200"/>
            <a:ext cx="80433" cy="114300"/>
          </a:xfrm>
          <a:prstGeom prst="rect">
            <a:avLst/>
          </a:prstGeom>
          <a:solidFill>
            <a:srgbClr val="E88685"/>
          </a:solidFill>
          <a:ln/>
        </p:spPr>
      </p:sp>
      <p:sp>
        <p:nvSpPr>
          <p:cNvPr id="65" name="Shape 63"/>
          <p:cNvSpPr/>
          <p:nvPr/>
        </p:nvSpPr>
        <p:spPr>
          <a:xfrm>
            <a:off x="3767514" y="5156200"/>
            <a:ext cx="80433" cy="114300"/>
          </a:xfrm>
          <a:prstGeom prst="rect">
            <a:avLst/>
          </a:prstGeom>
          <a:solidFill>
            <a:srgbClr val="EB9898"/>
          </a:solidFill>
          <a:ln/>
        </p:spPr>
      </p:sp>
      <p:sp>
        <p:nvSpPr>
          <p:cNvPr id="66" name="Shape 64"/>
          <p:cNvSpPr/>
          <p:nvPr/>
        </p:nvSpPr>
        <p:spPr>
          <a:xfrm>
            <a:off x="3841598" y="5156200"/>
            <a:ext cx="80433" cy="114300"/>
          </a:xfrm>
          <a:prstGeom prst="rect">
            <a:avLst/>
          </a:prstGeom>
          <a:solidFill>
            <a:srgbClr val="EDA8A8"/>
          </a:solidFill>
          <a:ln/>
        </p:spPr>
      </p:sp>
      <p:sp>
        <p:nvSpPr>
          <p:cNvPr id="67" name="Shape 65"/>
          <p:cNvSpPr/>
          <p:nvPr/>
        </p:nvSpPr>
        <p:spPr>
          <a:xfrm>
            <a:off x="3915681" y="5156200"/>
            <a:ext cx="80433" cy="114300"/>
          </a:xfrm>
          <a:prstGeom prst="rect">
            <a:avLst/>
          </a:prstGeom>
          <a:solidFill>
            <a:srgbClr val="F0B6B6"/>
          </a:solidFill>
          <a:ln/>
        </p:spPr>
      </p:sp>
      <p:sp>
        <p:nvSpPr>
          <p:cNvPr id="68" name="Shape 66"/>
          <p:cNvSpPr/>
          <p:nvPr/>
        </p:nvSpPr>
        <p:spPr>
          <a:xfrm>
            <a:off x="3989764" y="5156200"/>
            <a:ext cx="80433" cy="114300"/>
          </a:xfrm>
          <a:prstGeom prst="rect">
            <a:avLst/>
          </a:prstGeom>
          <a:solidFill>
            <a:srgbClr val="F2C3C3"/>
          </a:solidFill>
          <a:ln/>
        </p:spPr>
      </p:sp>
      <p:sp>
        <p:nvSpPr>
          <p:cNvPr id="69" name="Shape 67"/>
          <p:cNvSpPr/>
          <p:nvPr/>
        </p:nvSpPr>
        <p:spPr>
          <a:xfrm>
            <a:off x="4063848" y="5156200"/>
            <a:ext cx="80433" cy="114300"/>
          </a:xfrm>
          <a:prstGeom prst="rect">
            <a:avLst/>
          </a:prstGeom>
          <a:solidFill>
            <a:srgbClr val="F4CFCF"/>
          </a:solidFill>
          <a:ln/>
        </p:spPr>
      </p:sp>
      <p:sp>
        <p:nvSpPr>
          <p:cNvPr id="70" name="Shape 68"/>
          <p:cNvSpPr/>
          <p:nvPr/>
        </p:nvSpPr>
        <p:spPr>
          <a:xfrm>
            <a:off x="4137931" y="5156200"/>
            <a:ext cx="80433" cy="114300"/>
          </a:xfrm>
          <a:prstGeom prst="rect">
            <a:avLst/>
          </a:prstGeom>
          <a:solidFill>
            <a:srgbClr val="F6DADA"/>
          </a:solidFill>
          <a:ln/>
        </p:spPr>
      </p:sp>
      <p:sp>
        <p:nvSpPr>
          <p:cNvPr id="71" name="Shape 69"/>
          <p:cNvSpPr/>
          <p:nvPr/>
        </p:nvSpPr>
        <p:spPr>
          <a:xfrm>
            <a:off x="4212014" y="5156200"/>
            <a:ext cx="80433" cy="114300"/>
          </a:xfrm>
          <a:prstGeom prst="rect">
            <a:avLst/>
          </a:prstGeom>
          <a:solidFill>
            <a:srgbClr val="F9E4E4"/>
          </a:solidFill>
          <a:ln/>
        </p:spPr>
      </p:sp>
      <p:sp>
        <p:nvSpPr>
          <p:cNvPr id="72" name="Shape 70"/>
          <p:cNvSpPr/>
          <p:nvPr/>
        </p:nvSpPr>
        <p:spPr>
          <a:xfrm>
            <a:off x="4286098" y="5156200"/>
            <a:ext cx="80433" cy="114300"/>
          </a:xfrm>
          <a:prstGeom prst="rect">
            <a:avLst/>
          </a:prstGeom>
          <a:solidFill>
            <a:srgbClr val="FBEEEE"/>
          </a:solidFill>
          <a:ln/>
        </p:spPr>
      </p:sp>
      <p:sp>
        <p:nvSpPr>
          <p:cNvPr id="73" name="Shape 71"/>
          <p:cNvSpPr/>
          <p:nvPr/>
        </p:nvSpPr>
        <p:spPr>
          <a:xfrm>
            <a:off x="4360181" y="5156200"/>
            <a:ext cx="80433" cy="114300"/>
          </a:xfrm>
          <a:prstGeom prst="rect">
            <a:avLst/>
          </a:prstGeom>
          <a:solidFill>
            <a:srgbClr val="FDF7F7"/>
          </a:solidFill>
          <a:ln/>
        </p:spPr>
      </p:sp>
      <p:sp>
        <p:nvSpPr>
          <p:cNvPr id="74" name="Shape 72"/>
          <p:cNvSpPr/>
          <p:nvPr/>
        </p:nvSpPr>
        <p:spPr>
          <a:xfrm>
            <a:off x="4434264" y="5156200"/>
            <a:ext cx="80433" cy="114300"/>
          </a:xfrm>
          <a:prstGeom prst="rect">
            <a:avLst/>
          </a:prstGeom>
          <a:solidFill>
            <a:srgbClr val="FEFEFF"/>
          </a:solidFill>
          <a:ln/>
        </p:spPr>
      </p:sp>
      <p:sp>
        <p:nvSpPr>
          <p:cNvPr id="75" name="Shape 73"/>
          <p:cNvSpPr/>
          <p:nvPr/>
        </p:nvSpPr>
        <p:spPr>
          <a:xfrm>
            <a:off x="4508348" y="5156200"/>
            <a:ext cx="80433" cy="114300"/>
          </a:xfrm>
          <a:prstGeom prst="rect">
            <a:avLst/>
          </a:prstGeom>
          <a:solidFill>
            <a:srgbClr val="F5F7FC"/>
          </a:solidFill>
          <a:ln/>
        </p:spPr>
      </p:sp>
      <p:sp>
        <p:nvSpPr>
          <p:cNvPr id="76" name="Shape 74"/>
          <p:cNvSpPr/>
          <p:nvPr/>
        </p:nvSpPr>
        <p:spPr>
          <a:xfrm>
            <a:off x="4582431" y="5156200"/>
            <a:ext cx="80433" cy="114300"/>
          </a:xfrm>
          <a:prstGeom prst="rect">
            <a:avLst/>
          </a:prstGeom>
          <a:solidFill>
            <a:srgbClr val="EBEEF9"/>
          </a:solidFill>
          <a:ln/>
        </p:spPr>
      </p:sp>
      <p:sp>
        <p:nvSpPr>
          <p:cNvPr id="77" name="Shape 75"/>
          <p:cNvSpPr/>
          <p:nvPr/>
        </p:nvSpPr>
        <p:spPr>
          <a:xfrm>
            <a:off x="4656514" y="5156200"/>
            <a:ext cx="80433" cy="114300"/>
          </a:xfrm>
          <a:prstGeom prst="rect">
            <a:avLst/>
          </a:prstGeom>
          <a:solidFill>
            <a:srgbClr val="E1E6F5"/>
          </a:solidFill>
          <a:ln/>
        </p:spPr>
      </p:sp>
      <p:sp>
        <p:nvSpPr>
          <p:cNvPr id="78" name="Shape 76"/>
          <p:cNvSpPr/>
          <p:nvPr/>
        </p:nvSpPr>
        <p:spPr>
          <a:xfrm>
            <a:off x="4730598" y="5156200"/>
            <a:ext cx="80433" cy="114300"/>
          </a:xfrm>
          <a:prstGeom prst="rect">
            <a:avLst/>
          </a:prstGeom>
          <a:solidFill>
            <a:srgbClr val="D5DDF2"/>
          </a:solidFill>
          <a:ln/>
        </p:spPr>
      </p:sp>
      <p:sp>
        <p:nvSpPr>
          <p:cNvPr id="79" name="Shape 77"/>
          <p:cNvSpPr/>
          <p:nvPr/>
        </p:nvSpPr>
        <p:spPr>
          <a:xfrm>
            <a:off x="4804681" y="5156200"/>
            <a:ext cx="80433" cy="114300"/>
          </a:xfrm>
          <a:prstGeom prst="rect">
            <a:avLst/>
          </a:prstGeom>
          <a:solidFill>
            <a:srgbClr val="CAD4EF"/>
          </a:solidFill>
          <a:ln/>
        </p:spPr>
      </p:sp>
      <p:sp>
        <p:nvSpPr>
          <p:cNvPr id="80" name="Shape 78"/>
          <p:cNvSpPr/>
          <p:nvPr/>
        </p:nvSpPr>
        <p:spPr>
          <a:xfrm>
            <a:off x="4878764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81" name="Shape 79"/>
          <p:cNvSpPr/>
          <p:nvPr/>
        </p:nvSpPr>
        <p:spPr>
          <a:xfrm>
            <a:off x="4952848" y="5156200"/>
            <a:ext cx="80433" cy="114300"/>
          </a:xfrm>
          <a:prstGeom prst="rect">
            <a:avLst/>
          </a:prstGeom>
          <a:solidFill>
            <a:srgbClr val="AFBFE8"/>
          </a:solidFill>
          <a:ln/>
        </p:spPr>
      </p:sp>
      <p:sp>
        <p:nvSpPr>
          <p:cNvPr id="82" name="Shape 80"/>
          <p:cNvSpPr/>
          <p:nvPr/>
        </p:nvSpPr>
        <p:spPr>
          <a:xfrm>
            <a:off x="5026931" y="5156200"/>
            <a:ext cx="80433" cy="114300"/>
          </a:xfrm>
          <a:prstGeom prst="rect">
            <a:avLst/>
          </a:prstGeom>
          <a:solidFill>
            <a:srgbClr val="9FB4E5"/>
          </a:solidFill>
          <a:ln/>
        </p:spPr>
      </p:sp>
      <p:sp>
        <p:nvSpPr>
          <p:cNvPr id="83" name="Shape 81"/>
          <p:cNvSpPr/>
          <p:nvPr/>
        </p:nvSpPr>
        <p:spPr>
          <a:xfrm>
            <a:off x="5101014" y="5156200"/>
            <a:ext cx="80433" cy="114300"/>
          </a:xfrm>
          <a:prstGeom prst="rect">
            <a:avLst/>
          </a:prstGeom>
          <a:solidFill>
            <a:srgbClr val="8DA8E1"/>
          </a:solidFill>
          <a:ln/>
        </p:spPr>
      </p:sp>
      <p:sp>
        <p:nvSpPr>
          <p:cNvPr id="84" name="Shape 82"/>
          <p:cNvSpPr/>
          <p:nvPr/>
        </p:nvSpPr>
        <p:spPr>
          <a:xfrm>
            <a:off x="5175098" y="5156200"/>
            <a:ext cx="80433" cy="114300"/>
          </a:xfrm>
          <a:prstGeom prst="rect">
            <a:avLst/>
          </a:prstGeom>
          <a:solidFill>
            <a:srgbClr val="779ADD"/>
          </a:solidFill>
          <a:ln/>
        </p:spPr>
      </p:sp>
      <p:sp>
        <p:nvSpPr>
          <p:cNvPr id="85" name="Shape 83"/>
          <p:cNvSpPr/>
          <p:nvPr/>
        </p:nvSpPr>
        <p:spPr>
          <a:xfrm>
            <a:off x="5249181" y="5156200"/>
            <a:ext cx="80433" cy="114300"/>
          </a:xfrm>
          <a:prstGeom prst="rect">
            <a:avLst/>
          </a:prstGeom>
          <a:solidFill>
            <a:srgbClr val="5B8ADA"/>
          </a:solidFill>
          <a:ln/>
        </p:spPr>
      </p:sp>
      <p:sp>
        <p:nvSpPr>
          <p:cNvPr id="86" name="Shape 84"/>
          <p:cNvSpPr/>
          <p:nvPr/>
        </p:nvSpPr>
        <p:spPr>
          <a:xfrm>
            <a:off x="532326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Text 85"/>
          <p:cNvSpPr/>
          <p:nvPr/>
        </p:nvSpPr>
        <p:spPr>
          <a:xfrm>
            <a:off x="3619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-0.9</a:t>
            </a:r>
            <a:endParaRPr lang="en-US" sz="850" dirty="0"/>
          </a:p>
        </p:txBody>
      </p:sp>
      <p:sp>
        <p:nvSpPr>
          <p:cNvPr id="88" name="Text 86"/>
          <p:cNvSpPr/>
          <p:nvPr/>
        </p:nvSpPr>
        <p:spPr>
          <a:xfrm>
            <a:off x="450834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850" dirty="0"/>
          </a:p>
        </p:txBody>
      </p:sp>
      <p:sp>
        <p:nvSpPr>
          <p:cNvPr id="89" name="Text 87"/>
          <p:cNvSpPr/>
          <p:nvPr/>
        </p:nvSpPr>
        <p:spPr>
          <a:xfrm>
            <a:off x="4334558" y="5276850"/>
            <a:ext cx="254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85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397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Region KPIs (rows clustered)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1050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31924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6627978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936713" y="1676400"/>
            <a:ext cx="1308735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3428848" y="186690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East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solidFill>
            <a:srgbClr val="7197DD"/>
          </a:solidFill>
          <a:ln/>
        </p:spPr>
      </p:sp>
      <p:sp>
        <p:nvSpPr>
          <p:cNvPr id="9" name="Text 7"/>
          <p:cNvSpPr/>
          <p:nvPr/>
        </p:nvSpPr>
        <p:spPr>
          <a:xfrm>
            <a:off x="401050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78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1" name="Text 9"/>
          <p:cNvSpPr/>
          <p:nvPr/>
        </p:nvSpPr>
        <p:spPr>
          <a:xfrm>
            <a:off x="531924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solidFill>
            <a:srgbClr val="5C8BDA"/>
          </a:solidFill>
          <a:ln/>
        </p:spPr>
      </p:sp>
      <p:sp>
        <p:nvSpPr>
          <p:cNvPr id="13" name="Text 11"/>
          <p:cNvSpPr/>
          <p:nvPr/>
        </p:nvSpPr>
        <p:spPr>
          <a:xfrm>
            <a:off x="6627978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83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7936713" y="186690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428848" y="240241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solidFill>
            <a:srgbClr val="6992DC"/>
          </a:solidFill>
          <a:ln/>
        </p:spPr>
      </p:sp>
      <p:sp>
        <p:nvSpPr>
          <p:cNvPr id="18" name="Text 16"/>
          <p:cNvSpPr/>
          <p:nvPr/>
        </p:nvSpPr>
        <p:spPr>
          <a:xfrm>
            <a:off x="401050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solidFill>
            <a:srgbClr val="618DDB"/>
          </a:solidFill>
          <a:ln/>
        </p:spPr>
      </p:sp>
      <p:sp>
        <p:nvSpPr>
          <p:cNvPr id="20" name="Text 18"/>
          <p:cNvSpPr/>
          <p:nvPr/>
        </p:nvSpPr>
        <p:spPr>
          <a:xfrm>
            <a:off x="531924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82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solidFill>
            <a:srgbClr val="5186D9"/>
          </a:solidFill>
          <a:ln/>
        </p:spPr>
      </p:sp>
      <p:sp>
        <p:nvSpPr>
          <p:cNvPr id="22" name="Text 20"/>
          <p:cNvSpPr/>
          <p:nvPr/>
        </p:nvSpPr>
        <p:spPr>
          <a:xfrm>
            <a:off x="6627978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solidFill>
            <a:srgbClr val="3D7ED7"/>
          </a:solidFill>
          <a:ln/>
        </p:spPr>
      </p:sp>
      <p:sp>
        <p:nvSpPr>
          <p:cNvPr id="24" name="Text 22"/>
          <p:cNvSpPr/>
          <p:nvPr/>
        </p:nvSpPr>
        <p:spPr>
          <a:xfrm>
            <a:off x="7936713" y="240241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88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28848" y="293793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Metro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solidFill>
            <a:srgbClr val="6590DB"/>
          </a:solidFill>
          <a:ln/>
        </p:spPr>
      </p:sp>
      <p:sp>
        <p:nvSpPr>
          <p:cNvPr id="27" name="Text 25"/>
          <p:cNvSpPr/>
          <p:nvPr/>
        </p:nvSpPr>
        <p:spPr>
          <a:xfrm>
            <a:off x="401050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81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solidFill>
            <a:srgbClr val="6D94DC"/>
          </a:solidFill>
          <a:ln/>
        </p:spPr>
      </p:sp>
      <p:sp>
        <p:nvSpPr>
          <p:cNvPr id="29" name="Text 27"/>
          <p:cNvSpPr/>
          <p:nvPr/>
        </p:nvSpPr>
        <p:spPr>
          <a:xfrm>
            <a:off x="531924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solidFill>
            <a:srgbClr val="4B83D8"/>
          </a:solidFill>
          <a:ln/>
        </p:spPr>
      </p:sp>
      <p:sp>
        <p:nvSpPr>
          <p:cNvPr id="31" name="Text 29"/>
          <p:cNvSpPr/>
          <p:nvPr/>
        </p:nvSpPr>
        <p:spPr>
          <a:xfrm>
            <a:off x="6627978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solidFill>
            <a:srgbClr val="4581D8"/>
          </a:solidFill>
          <a:ln/>
        </p:spPr>
      </p:sp>
      <p:sp>
        <p:nvSpPr>
          <p:cNvPr id="33" name="Text 31"/>
          <p:cNvSpPr/>
          <p:nvPr/>
        </p:nvSpPr>
        <p:spPr>
          <a:xfrm>
            <a:off x="7936713" y="293793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428848" y="3473450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Central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solidFill>
            <a:srgbClr val="BBC9EC"/>
          </a:solidFill>
          <a:ln/>
        </p:spPr>
      </p:sp>
      <p:sp>
        <p:nvSpPr>
          <p:cNvPr id="36" name="Text 34"/>
          <p:cNvSpPr/>
          <p:nvPr/>
        </p:nvSpPr>
        <p:spPr>
          <a:xfrm>
            <a:off x="401050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solidFill>
            <a:srgbClr val="B7C6EA"/>
          </a:solidFill>
          <a:ln/>
        </p:spPr>
      </p:sp>
      <p:sp>
        <p:nvSpPr>
          <p:cNvPr id="38" name="Text 36"/>
          <p:cNvSpPr/>
          <p:nvPr/>
        </p:nvSpPr>
        <p:spPr>
          <a:xfrm>
            <a:off x="531924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solidFill>
            <a:srgbClr val="BFCCED"/>
          </a:solidFill>
          <a:ln/>
        </p:spPr>
      </p:sp>
      <p:sp>
        <p:nvSpPr>
          <p:cNvPr id="40" name="Text 38"/>
          <p:cNvSpPr/>
          <p:nvPr/>
        </p:nvSpPr>
        <p:spPr>
          <a:xfrm>
            <a:off x="6627978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48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solidFill>
            <a:srgbClr val="B1C1E9"/>
          </a:solidFill>
          <a:ln/>
        </p:spPr>
      </p:sp>
      <p:sp>
        <p:nvSpPr>
          <p:cNvPr id="42" name="Text 40"/>
          <p:cNvSpPr/>
          <p:nvPr/>
        </p:nvSpPr>
        <p:spPr>
          <a:xfrm>
            <a:off x="7936713" y="3473450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3428848" y="4008967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South</a:t>
            </a:r>
            <a:endParaRPr lang="en-US" sz="1000" dirty="0"/>
          </a:p>
        </p:txBody>
      </p:sp>
      <p:sp>
        <p:nvSpPr>
          <p:cNvPr id="44" name="Shape 42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solidFill>
            <a:srgbClr val="EEF2FA"/>
          </a:solidFill>
          <a:ln/>
        </p:spPr>
      </p:sp>
      <p:sp>
        <p:nvSpPr>
          <p:cNvPr id="45" name="Text 43"/>
          <p:cNvSpPr/>
          <p:nvPr/>
        </p:nvSpPr>
        <p:spPr>
          <a:xfrm>
            <a:off x="401050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47" name="Text 45"/>
          <p:cNvSpPr/>
          <p:nvPr/>
        </p:nvSpPr>
        <p:spPr>
          <a:xfrm>
            <a:off x="531924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solidFill>
            <a:srgbClr val="F0F3FB"/>
          </a:solidFill>
          <a:ln/>
        </p:spPr>
      </p:sp>
      <p:sp>
        <p:nvSpPr>
          <p:cNvPr id="49" name="Text 47"/>
          <p:cNvSpPr/>
          <p:nvPr/>
        </p:nvSpPr>
        <p:spPr>
          <a:xfrm>
            <a:off x="6627978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solidFill>
            <a:srgbClr val="E7ECF8"/>
          </a:solidFill>
          <a:ln/>
        </p:spPr>
      </p:sp>
      <p:sp>
        <p:nvSpPr>
          <p:cNvPr id="51" name="Text 49"/>
          <p:cNvSpPr/>
          <p:nvPr/>
        </p:nvSpPr>
        <p:spPr>
          <a:xfrm>
            <a:off x="7936713" y="4008967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28848" y="4544483"/>
            <a:ext cx="530860" cy="5355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West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solidFill>
            <a:srgbClr val="EBEFF9"/>
          </a:solidFill>
          <a:ln/>
        </p:spPr>
      </p:sp>
      <p:sp>
        <p:nvSpPr>
          <p:cNvPr id="54" name="Text 52"/>
          <p:cNvSpPr/>
          <p:nvPr/>
        </p:nvSpPr>
        <p:spPr>
          <a:xfrm>
            <a:off x="401050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56" name="Text 54"/>
          <p:cNvSpPr/>
          <p:nvPr/>
        </p:nvSpPr>
        <p:spPr>
          <a:xfrm>
            <a:off x="531924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solidFill>
            <a:srgbClr val="E8EDF8"/>
          </a:solidFill>
          <a:ln/>
        </p:spPr>
      </p:sp>
      <p:sp>
        <p:nvSpPr>
          <p:cNvPr id="58" name="Text 56"/>
          <p:cNvSpPr/>
          <p:nvPr/>
        </p:nvSpPr>
        <p:spPr>
          <a:xfrm>
            <a:off x="6627978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solidFill>
            <a:srgbClr val="EDF0FA"/>
          </a:solidFill>
          <a:ln/>
        </p:spPr>
      </p:sp>
      <p:sp>
        <p:nvSpPr>
          <p:cNvPr id="60" name="Text 58"/>
          <p:cNvSpPr/>
          <p:nvPr/>
        </p:nvSpPr>
        <p:spPr>
          <a:xfrm>
            <a:off x="7936713" y="4544483"/>
            <a:ext cx="1296035" cy="52281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4010508" y="5156200"/>
            <a:ext cx="80433" cy="114300"/>
          </a:xfrm>
          <a:prstGeom prst="rect">
            <a:avLst/>
          </a:prstGeom>
          <a:solidFill>
            <a:srgbClr val="F1F4FB"/>
          </a:solidFill>
          <a:ln/>
        </p:spPr>
      </p:sp>
      <p:sp>
        <p:nvSpPr>
          <p:cNvPr id="62" name="Shape 60"/>
          <p:cNvSpPr/>
          <p:nvPr/>
        </p:nvSpPr>
        <p:spPr>
          <a:xfrm>
            <a:off x="4084591" y="5156200"/>
            <a:ext cx="80433" cy="114300"/>
          </a:xfrm>
          <a:prstGeom prst="rect">
            <a:avLst/>
          </a:prstGeom>
          <a:solidFill>
            <a:srgbClr val="ECF0FA"/>
          </a:solidFill>
          <a:ln/>
        </p:spPr>
      </p:sp>
      <p:sp>
        <p:nvSpPr>
          <p:cNvPr id="63" name="Shape 61"/>
          <p:cNvSpPr/>
          <p:nvPr/>
        </p:nvSpPr>
        <p:spPr>
          <a:xfrm>
            <a:off x="4158674" y="5156200"/>
            <a:ext cx="80433" cy="114300"/>
          </a:xfrm>
          <a:prstGeom prst="rect">
            <a:avLst/>
          </a:prstGeom>
          <a:solidFill>
            <a:srgbClr val="E8ECF8"/>
          </a:solidFill>
          <a:ln/>
        </p:spPr>
      </p:sp>
      <p:sp>
        <p:nvSpPr>
          <p:cNvPr id="64" name="Shape 62"/>
          <p:cNvSpPr/>
          <p:nvPr/>
        </p:nvSpPr>
        <p:spPr>
          <a:xfrm>
            <a:off x="4232758" y="5156200"/>
            <a:ext cx="80433" cy="114300"/>
          </a:xfrm>
          <a:prstGeom prst="rect">
            <a:avLst/>
          </a:prstGeom>
          <a:solidFill>
            <a:srgbClr val="E3E9F7"/>
          </a:solidFill>
          <a:ln/>
        </p:spPr>
      </p:sp>
      <p:sp>
        <p:nvSpPr>
          <p:cNvPr id="65" name="Shape 63"/>
          <p:cNvSpPr/>
          <p:nvPr/>
        </p:nvSpPr>
        <p:spPr>
          <a:xfrm>
            <a:off x="4306841" y="5156200"/>
            <a:ext cx="80433" cy="114300"/>
          </a:xfrm>
          <a:prstGeom prst="rect">
            <a:avLst/>
          </a:prstGeom>
          <a:solidFill>
            <a:srgbClr val="DEE5F5"/>
          </a:solidFill>
          <a:ln/>
        </p:spPr>
      </p:sp>
      <p:sp>
        <p:nvSpPr>
          <p:cNvPr id="66" name="Shape 64"/>
          <p:cNvSpPr/>
          <p:nvPr/>
        </p:nvSpPr>
        <p:spPr>
          <a:xfrm>
            <a:off x="4380924" y="5156200"/>
            <a:ext cx="80433" cy="114300"/>
          </a:xfrm>
          <a:prstGeom prst="rect">
            <a:avLst/>
          </a:prstGeom>
          <a:solidFill>
            <a:srgbClr val="D9E0F4"/>
          </a:solidFill>
          <a:ln/>
        </p:spPr>
      </p:sp>
      <p:sp>
        <p:nvSpPr>
          <p:cNvPr id="67" name="Shape 65"/>
          <p:cNvSpPr/>
          <p:nvPr/>
        </p:nvSpPr>
        <p:spPr>
          <a:xfrm>
            <a:off x="4455008" y="5156200"/>
            <a:ext cx="80433" cy="114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68" name="Shape 66"/>
          <p:cNvSpPr/>
          <p:nvPr/>
        </p:nvSpPr>
        <p:spPr>
          <a:xfrm>
            <a:off x="4529091" y="5156200"/>
            <a:ext cx="80433" cy="114300"/>
          </a:xfrm>
          <a:prstGeom prst="rect">
            <a:avLst/>
          </a:prstGeom>
          <a:solidFill>
            <a:srgbClr val="CED8F1"/>
          </a:solidFill>
          <a:ln/>
        </p:spPr>
      </p:sp>
      <p:sp>
        <p:nvSpPr>
          <p:cNvPr id="69" name="Shape 67"/>
          <p:cNvSpPr/>
          <p:nvPr/>
        </p:nvSpPr>
        <p:spPr>
          <a:xfrm>
            <a:off x="4603174" y="5156200"/>
            <a:ext cx="80433" cy="114300"/>
          </a:xfrm>
          <a:prstGeom prst="rect">
            <a:avLst/>
          </a:prstGeom>
          <a:solidFill>
            <a:srgbClr val="C9D4EF"/>
          </a:solidFill>
          <a:ln/>
        </p:spPr>
      </p:sp>
      <p:sp>
        <p:nvSpPr>
          <p:cNvPr id="70" name="Shape 68"/>
          <p:cNvSpPr/>
          <p:nvPr/>
        </p:nvSpPr>
        <p:spPr>
          <a:xfrm>
            <a:off x="4677258" y="5156200"/>
            <a:ext cx="80433" cy="114300"/>
          </a:xfrm>
          <a:prstGeom prst="rect">
            <a:avLst/>
          </a:prstGeom>
          <a:solidFill>
            <a:srgbClr val="C3CFED"/>
          </a:solidFill>
          <a:ln/>
        </p:spPr>
      </p:sp>
      <p:sp>
        <p:nvSpPr>
          <p:cNvPr id="71" name="Shape 69"/>
          <p:cNvSpPr/>
          <p:nvPr/>
        </p:nvSpPr>
        <p:spPr>
          <a:xfrm>
            <a:off x="4751341" y="5156200"/>
            <a:ext cx="80433" cy="114300"/>
          </a:xfrm>
          <a:prstGeom prst="rect">
            <a:avLst/>
          </a:prstGeom>
          <a:solidFill>
            <a:srgbClr val="BDCAEC"/>
          </a:solidFill>
          <a:ln/>
        </p:spPr>
      </p:sp>
      <p:sp>
        <p:nvSpPr>
          <p:cNvPr id="72" name="Shape 70"/>
          <p:cNvSpPr/>
          <p:nvPr/>
        </p:nvSpPr>
        <p:spPr>
          <a:xfrm>
            <a:off x="4825424" y="5156200"/>
            <a:ext cx="80433" cy="114300"/>
          </a:xfrm>
          <a:prstGeom prst="rect">
            <a:avLst/>
          </a:prstGeom>
          <a:solidFill>
            <a:srgbClr val="B6C6EA"/>
          </a:solidFill>
          <a:ln/>
        </p:spPr>
      </p:sp>
      <p:sp>
        <p:nvSpPr>
          <p:cNvPr id="73" name="Shape 71"/>
          <p:cNvSpPr/>
          <p:nvPr/>
        </p:nvSpPr>
        <p:spPr>
          <a:xfrm>
            <a:off x="4899508" y="5156200"/>
            <a:ext cx="80433" cy="114300"/>
          </a:xfrm>
          <a:prstGeom prst="rect">
            <a:avLst/>
          </a:prstGeom>
          <a:solidFill>
            <a:srgbClr val="B0C1E9"/>
          </a:solidFill>
          <a:ln/>
        </p:spPr>
      </p:sp>
      <p:sp>
        <p:nvSpPr>
          <p:cNvPr id="74" name="Shape 72"/>
          <p:cNvSpPr/>
          <p:nvPr/>
        </p:nvSpPr>
        <p:spPr>
          <a:xfrm>
            <a:off x="4973591" y="5156200"/>
            <a:ext cx="80433" cy="114300"/>
          </a:xfrm>
          <a:prstGeom prst="rect">
            <a:avLst/>
          </a:prstGeom>
          <a:solidFill>
            <a:srgbClr val="A9BBE7"/>
          </a:solidFill>
          <a:ln/>
        </p:spPr>
      </p:sp>
      <p:sp>
        <p:nvSpPr>
          <p:cNvPr id="75" name="Shape 73"/>
          <p:cNvSpPr/>
          <p:nvPr/>
        </p:nvSpPr>
        <p:spPr>
          <a:xfrm>
            <a:off x="5047674" y="5156200"/>
            <a:ext cx="80433" cy="114300"/>
          </a:xfrm>
          <a:prstGeom prst="rect">
            <a:avLst/>
          </a:prstGeom>
          <a:solidFill>
            <a:srgbClr val="A1B6E5"/>
          </a:solidFill>
          <a:ln/>
        </p:spPr>
      </p:sp>
      <p:sp>
        <p:nvSpPr>
          <p:cNvPr id="76" name="Shape 74"/>
          <p:cNvSpPr/>
          <p:nvPr/>
        </p:nvSpPr>
        <p:spPr>
          <a:xfrm>
            <a:off x="5121758" y="5156200"/>
            <a:ext cx="80433" cy="114300"/>
          </a:xfrm>
          <a:prstGeom prst="rect">
            <a:avLst/>
          </a:prstGeom>
          <a:solidFill>
            <a:srgbClr val="9AB1E4"/>
          </a:solidFill>
          <a:ln/>
        </p:spPr>
      </p:sp>
      <p:sp>
        <p:nvSpPr>
          <p:cNvPr id="77" name="Shape 75"/>
          <p:cNvSpPr/>
          <p:nvPr/>
        </p:nvSpPr>
        <p:spPr>
          <a:xfrm>
            <a:off x="5195841" y="5156200"/>
            <a:ext cx="80433" cy="114300"/>
          </a:xfrm>
          <a:prstGeom prst="rect">
            <a:avLst/>
          </a:prstGeom>
          <a:solidFill>
            <a:srgbClr val="91ABE2"/>
          </a:solidFill>
          <a:ln/>
        </p:spPr>
      </p:sp>
      <p:sp>
        <p:nvSpPr>
          <p:cNvPr id="78" name="Shape 76"/>
          <p:cNvSpPr/>
          <p:nvPr/>
        </p:nvSpPr>
        <p:spPr>
          <a:xfrm>
            <a:off x="5269924" y="5156200"/>
            <a:ext cx="80433" cy="114300"/>
          </a:xfrm>
          <a:prstGeom prst="rect">
            <a:avLst/>
          </a:prstGeom>
          <a:solidFill>
            <a:srgbClr val="88A5E0"/>
          </a:solidFill>
          <a:ln/>
        </p:spPr>
      </p:sp>
      <p:sp>
        <p:nvSpPr>
          <p:cNvPr id="79" name="Shape 77"/>
          <p:cNvSpPr/>
          <p:nvPr/>
        </p:nvSpPr>
        <p:spPr>
          <a:xfrm>
            <a:off x="5344008" y="5156200"/>
            <a:ext cx="80433" cy="114300"/>
          </a:xfrm>
          <a:prstGeom prst="rect">
            <a:avLst/>
          </a:prstGeom>
          <a:solidFill>
            <a:srgbClr val="7E9EDF"/>
          </a:solidFill>
          <a:ln/>
        </p:spPr>
      </p:sp>
      <p:sp>
        <p:nvSpPr>
          <p:cNvPr id="80" name="Shape 78"/>
          <p:cNvSpPr/>
          <p:nvPr/>
        </p:nvSpPr>
        <p:spPr>
          <a:xfrm>
            <a:off x="5418091" y="5156200"/>
            <a:ext cx="80433" cy="114300"/>
          </a:xfrm>
          <a:prstGeom prst="rect">
            <a:avLst/>
          </a:prstGeom>
          <a:solidFill>
            <a:srgbClr val="7398DD"/>
          </a:solidFill>
          <a:ln/>
        </p:spPr>
      </p:sp>
      <p:sp>
        <p:nvSpPr>
          <p:cNvPr id="81" name="Shape 79"/>
          <p:cNvSpPr/>
          <p:nvPr/>
        </p:nvSpPr>
        <p:spPr>
          <a:xfrm>
            <a:off x="5492174" y="5156200"/>
            <a:ext cx="80433" cy="114300"/>
          </a:xfrm>
          <a:prstGeom prst="rect">
            <a:avLst/>
          </a:prstGeom>
          <a:solidFill>
            <a:srgbClr val="6791DB"/>
          </a:solidFill>
          <a:ln/>
        </p:spPr>
      </p:sp>
      <p:sp>
        <p:nvSpPr>
          <p:cNvPr id="82" name="Shape 80"/>
          <p:cNvSpPr/>
          <p:nvPr/>
        </p:nvSpPr>
        <p:spPr>
          <a:xfrm>
            <a:off x="5566258" y="5156200"/>
            <a:ext cx="80433" cy="114300"/>
          </a:xfrm>
          <a:prstGeom prst="rect">
            <a:avLst/>
          </a:prstGeom>
          <a:solidFill>
            <a:srgbClr val="5889DA"/>
          </a:solidFill>
          <a:ln/>
        </p:spPr>
      </p:sp>
      <p:sp>
        <p:nvSpPr>
          <p:cNvPr id="83" name="Shape 81"/>
          <p:cNvSpPr/>
          <p:nvPr/>
        </p:nvSpPr>
        <p:spPr>
          <a:xfrm>
            <a:off x="5640341" y="5156200"/>
            <a:ext cx="80433" cy="114300"/>
          </a:xfrm>
          <a:prstGeom prst="rect">
            <a:avLst/>
          </a:prstGeom>
          <a:solidFill>
            <a:srgbClr val="4681D8"/>
          </a:solidFill>
          <a:ln/>
        </p:spPr>
      </p:sp>
      <p:sp>
        <p:nvSpPr>
          <p:cNvPr id="84" name="Shape 82"/>
          <p:cNvSpPr/>
          <p:nvPr/>
        </p:nvSpPr>
        <p:spPr>
          <a:xfrm>
            <a:off x="5714424" y="5156200"/>
            <a:ext cx="80433" cy="1143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Text 83"/>
          <p:cNvSpPr/>
          <p:nvPr/>
        </p:nvSpPr>
        <p:spPr>
          <a:xfrm>
            <a:off x="4010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850" dirty="0"/>
          </a:p>
        </p:txBody>
      </p:sp>
      <p:sp>
        <p:nvSpPr>
          <p:cNvPr id="86" name="Text 84"/>
          <p:cNvSpPr/>
          <p:nvPr/>
        </p:nvSpPr>
        <p:spPr>
          <a:xfrm>
            <a:off x="4899508" y="5276850"/>
            <a:ext cx="88900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3375954" y="2670175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375954" y="3205692"/>
            <a:ext cx="1479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3375954" y="267017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3370908" y="2134658"/>
            <a:ext cx="1984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3370908" y="2937933"/>
            <a:ext cx="5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3370908" y="213465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3357394" y="4276725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3357394" y="4812242"/>
            <a:ext cx="333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3357394" y="4276725"/>
            <a:ext cx="0" cy="535517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134294" y="3741208"/>
            <a:ext cx="256454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3134294" y="4544483"/>
            <a:ext cx="22310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3134294" y="3741208"/>
            <a:ext cx="0" cy="803275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2946248" y="2536296"/>
            <a:ext cx="424660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2946248" y="4142846"/>
            <a:ext cx="188046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2946248" y="2536296"/>
            <a:ext cx="0" cy="1606550"/>
          </a:xfrm>
          <a:prstGeom prst="line">
            <a:avLst/>
          </a:prstGeom>
          <a:noFill/>
          <a:ln w="9525">
            <a:solidFill>
              <a:srgbClr val="52514E"/>
            </a:solidFill>
            <a:prstDash val="solid"/>
          </a:ln>
        </p:spPr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mix (stacked area) + margin %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81924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79037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Feb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76150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732628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703754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May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674881" y="5270500"/>
            <a:ext cx="9711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04811" y="4364482"/>
            <a:ext cx="54906" cy="8679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" name="Shape 8"/>
          <p:cNvSpPr/>
          <p:nvPr/>
        </p:nvSpPr>
        <p:spPr>
          <a:xfrm>
            <a:off x="3353367" y="4355846"/>
            <a:ext cx="54906" cy="8765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924" y="4347210"/>
            <a:ext cx="54906" cy="8851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Shape 10"/>
          <p:cNvSpPr/>
          <p:nvPr/>
        </p:nvSpPr>
        <p:spPr>
          <a:xfrm>
            <a:off x="3450480" y="4338574"/>
            <a:ext cx="54906" cy="8938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3" name="Shape 11"/>
          <p:cNvSpPr/>
          <p:nvPr/>
        </p:nvSpPr>
        <p:spPr>
          <a:xfrm>
            <a:off x="3499036" y="4329938"/>
            <a:ext cx="54906" cy="9024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4" name="Shape 12"/>
          <p:cNvSpPr/>
          <p:nvPr/>
        </p:nvSpPr>
        <p:spPr>
          <a:xfrm>
            <a:off x="3547593" y="4321302"/>
            <a:ext cx="54906" cy="9110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Shape 13"/>
          <p:cNvSpPr/>
          <p:nvPr/>
        </p:nvSpPr>
        <p:spPr>
          <a:xfrm>
            <a:off x="3596149" y="4312666"/>
            <a:ext cx="54906" cy="9197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6" name="Shape 14"/>
          <p:cNvSpPr/>
          <p:nvPr/>
        </p:nvSpPr>
        <p:spPr>
          <a:xfrm>
            <a:off x="3644705" y="4304030"/>
            <a:ext cx="54906" cy="9283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7" name="Shape 15"/>
          <p:cNvSpPr/>
          <p:nvPr/>
        </p:nvSpPr>
        <p:spPr>
          <a:xfrm>
            <a:off x="3693262" y="4295394"/>
            <a:ext cx="54906" cy="9370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8" name="Shape 16"/>
          <p:cNvSpPr/>
          <p:nvPr/>
        </p:nvSpPr>
        <p:spPr>
          <a:xfrm>
            <a:off x="3741818" y="4286758"/>
            <a:ext cx="54906" cy="9456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Shape 17"/>
          <p:cNvSpPr/>
          <p:nvPr/>
        </p:nvSpPr>
        <p:spPr>
          <a:xfrm>
            <a:off x="3790374" y="4278122"/>
            <a:ext cx="54906" cy="9542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Shape 18"/>
          <p:cNvSpPr/>
          <p:nvPr/>
        </p:nvSpPr>
        <p:spPr>
          <a:xfrm>
            <a:off x="3838931" y="4269486"/>
            <a:ext cx="54906" cy="9629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1" name="Shape 19"/>
          <p:cNvSpPr/>
          <p:nvPr/>
        </p:nvSpPr>
        <p:spPr>
          <a:xfrm>
            <a:off x="3887487" y="4260850"/>
            <a:ext cx="54906" cy="9715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Shape 20"/>
          <p:cNvSpPr/>
          <p:nvPr/>
        </p:nvSpPr>
        <p:spPr>
          <a:xfrm>
            <a:off x="3936043" y="4252214"/>
            <a:ext cx="54906" cy="9801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Shape 21"/>
          <p:cNvSpPr/>
          <p:nvPr/>
        </p:nvSpPr>
        <p:spPr>
          <a:xfrm>
            <a:off x="3984600" y="4243578"/>
            <a:ext cx="54906" cy="9888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4" name="Shape 22"/>
          <p:cNvSpPr/>
          <p:nvPr/>
        </p:nvSpPr>
        <p:spPr>
          <a:xfrm>
            <a:off x="4033156" y="4234942"/>
            <a:ext cx="54906" cy="99745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Shape 23"/>
          <p:cNvSpPr/>
          <p:nvPr/>
        </p:nvSpPr>
        <p:spPr>
          <a:xfrm>
            <a:off x="4081712" y="4226306"/>
            <a:ext cx="54906" cy="100609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Shape 24"/>
          <p:cNvSpPr/>
          <p:nvPr/>
        </p:nvSpPr>
        <p:spPr>
          <a:xfrm>
            <a:off x="4130269" y="4217670"/>
            <a:ext cx="54906" cy="101473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4178825" y="4209034"/>
            <a:ext cx="54906" cy="102336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8" name="Shape 26"/>
          <p:cNvSpPr/>
          <p:nvPr/>
        </p:nvSpPr>
        <p:spPr>
          <a:xfrm>
            <a:off x="4227381" y="4200398"/>
            <a:ext cx="54906" cy="10320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9" name="Shape 27"/>
          <p:cNvSpPr/>
          <p:nvPr/>
        </p:nvSpPr>
        <p:spPr>
          <a:xfrm>
            <a:off x="4275938" y="4191762"/>
            <a:ext cx="54906" cy="10406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Shape 28"/>
          <p:cNvSpPr/>
          <p:nvPr/>
        </p:nvSpPr>
        <p:spPr>
          <a:xfrm>
            <a:off x="4324494" y="4183126"/>
            <a:ext cx="54906" cy="104927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Shape 29"/>
          <p:cNvSpPr/>
          <p:nvPr/>
        </p:nvSpPr>
        <p:spPr>
          <a:xfrm>
            <a:off x="4373050" y="4174490"/>
            <a:ext cx="54906" cy="105791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2" name="Shape 30"/>
          <p:cNvSpPr/>
          <p:nvPr/>
        </p:nvSpPr>
        <p:spPr>
          <a:xfrm>
            <a:off x="4421607" y="4165854"/>
            <a:ext cx="54906" cy="106654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3" name="Shape 31"/>
          <p:cNvSpPr/>
          <p:nvPr/>
        </p:nvSpPr>
        <p:spPr>
          <a:xfrm>
            <a:off x="4470163" y="4157218"/>
            <a:ext cx="54906" cy="1075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4" name="Shape 32"/>
          <p:cNvSpPr/>
          <p:nvPr/>
        </p:nvSpPr>
        <p:spPr>
          <a:xfrm>
            <a:off x="4518719" y="4148582"/>
            <a:ext cx="54906" cy="10838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Shape 33"/>
          <p:cNvSpPr/>
          <p:nvPr/>
        </p:nvSpPr>
        <p:spPr>
          <a:xfrm>
            <a:off x="4567276" y="4139946"/>
            <a:ext cx="54906" cy="109245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6" name="Shape 34"/>
          <p:cNvSpPr/>
          <p:nvPr/>
        </p:nvSpPr>
        <p:spPr>
          <a:xfrm>
            <a:off x="4615832" y="4131310"/>
            <a:ext cx="54906" cy="110109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7" name="Shape 35"/>
          <p:cNvSpPr/>
          <p:nvPr/>
        </p:nvSpPr>
        <p:spPr>
          <a:xfrm>
            <a:off x="4664388" y="4122674"/>
            <a:ext cx="54906" cy="110972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8" name="Shape 36"/>
          <p:cNvSpPr/>
          <p:nvPr/>
        </p:nvSpPr>
        <p:spPr>
          <a:xfrm>
            <a:off x="4712945" y="4114038"/>
            <a:ext cx="54906" cy="111836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9" name="Shape 37"/>
          <p:cNvSpPr/>
          <p:nvPr/>
        </p:nvSpPr>
        <p:spPr>
          <a:xfrm>
            <a:off x="4761501" y="4105402"/>
            <a:ext cx="54906" cy="11269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Shape 38"/>
          <p:cNvSpPr/>
          <p:nvPr/>
        </p:nvSpPr>
        <p:spPr>
          <a:xfrm>
            <a:off x="4810057" y="4096766"/>
            <a:ext cx="54906" cy="113563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1" name="Shape 39"/>
          <p:cNvSpPr/>
          <p:nvPr/>
        </p:nvSpPr>
        <p:spPr>
          <a:xfrm>
            <a:off x="4858614" y="4088130"/>
            <a:ext cx="54906" cy="114427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2" name="Shape 40"/>
          <p:cNvSpPr/>
          <p:nvPr/>
        </p:nvSpPr>
        <p:spPr>
          <a:xfrm>
            <a:off x="4907170" y="4079494"/>
            <a:ext cx="54906" cy="115290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3" name="Shape 41"/>
          <p:cNvSpPr/>
          <p:nvPr/>
        </p:nvSpPr>
        <p:spPr>
          <a:xfrm>
            <a:off x="4955726" y="4070858"/>
            <a:ext cx="54906" cy="116154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Shape 42"/>
          <p:cNvSpPr/>
          <p:nvPr/>
        </p:nvSpPr>
        <p:spPr>
          <a:xfrm>
            <a:off x="5004283" y="4062222"/>
            <a:ext cx="54906" cy="117017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5" name="Shape 43"/>
          <p:cNvSpPr/>
          <p:nvPr/>
        </p:nvSpPr>
        <p:spPr>
          <a:xfrm>
            <a:off x="5052839" y="4053586"/>
            <a:ext cx="54906" cy="117881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6" name="Shape 44"/>
          <p:cNvSpPr/>
          <p:nvPr/>
        </p:nvSpPr>
        <p:spPr>
          <a:xfrm>
            <a:off x="5101395" y="4044950"/>
            <a:ext cx="54906" cy="118745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7" name="Shape 45"/>
          <p:cNvSpPr/>
          <p:nvPr/>
        </p:nvSpPr>
        <p:spPr>
          <a:xfrm>
            <a:off x="5149952" y="4036314"/>
            <a:ext cx="54906" cy="119608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Shape 46"/>
          <p:cNvSpPr/>
          <p:nvPr/>
        </p:nvSpPr>
        <p:spPr>
          <a:xfrm>
            <a:off x="5198508" y="4027678"/>
            <a:ext cx="54906" cy="120472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9" name="Shape 47"/>
          <p:cNvSpPr/>
          <p:nvPr/>
        </p:nvSpPr>
        <p:spPr>
          <a:xfrm>
            <a:off x="5247064" y="4021201"/>
            <a:ext cx="54906" cy="121119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0" name="Shape 48"/>
          <p:cNvSpPr/>
          <p:nvPr/>
        </p:nvSpPr>
        <p:spPr>
          <a:xfrm>
            <a:off x="5295621" y="4016883"/>
            <a:ext cx="54906" cy="121551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1" name="Shape 49"/>
          <p:cNvSpPr/>
          <p:nvPr/>
        </p:nvSpPr>
        <p:spPr>
          <a:xfrm>
            <a:off x="5344177" y="4012565"/>
            <a:ext cx="54906" cy="121983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5392733" y="4008247"/>
            <a:ext cx="54906" cy="122415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3" name="Shape 51"/>
          <p:cNvSpPr/>
          <p:nvPr/>
        </p:nvSpPr>
        <p:spPr>
          <a:xfrm>
            <a:off x="5441290" y="4003929"/>
            <a:ext cx="54906" cy="122847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4" name="Shape 52"/>
          <p:cNvSpPr/>
          <p:nvPr/>
        </p:nvSpPr>
        <p:spPr>
          <a:xfrm>
            <a:off x="5489846" y="3999611"/>
            <a:ext cx="54906" cy="123278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5" name="Shape 53"/>
          <p:cNvSpPr/>
          <p:nvPr/>
        </p:nvSpPr>
        <p:spPr>
          <a:xfrm>
            <a:off x="5538402" y="3995293"/>
            <a:ext cx="54906" cy="1237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6" name="Shape 54"/>
          <p:cNvSpPr/>
          <p:nvPr/>
        </p:nvSpPr>
        <p:spPr>
          <a:xfrm>
            <a:off x="5586959" y="3990975"/>
            <a:ext cx="54906" cy="124142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7" name="Shape 55"/>
          <p:cNvSpPr/>
          <p:nvPr/>
        </p:nvSpPr>
        <p:spPr>
          <a:xfrm>
            <a:off x="5635515" y="3986657"/>
            <a:ext cx="54906" cy="12457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8" name="Shape 56"/>
          <p:cNvSpPr/>
          <p:nvPr/>
        </p:nvSpPr>
        <p:spPr>
          <a:xfrm>
            <a:off x="5684071" y="3982339"/>
            <a:ext cx="54906" cy="125006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9" name="Shape 57"/>
          <p:cNvSpPr/>
          <p:nvPr/>
        </p:nvSpPr>
        <p:spPr>
          <a:xfrm>
            <a:off x="5732628" y="3978021"/>
            <a:ext cx="54906" cy="125437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0" name="Shape 58"/>
          <p:cNvSpPr/>
          <p:nvPr/>
        </p:nvSpPr>
        <p:spPr>
          <a:xfrm>
            <a:off x="5781184" y="3973703"/>
            <a:ext cx="54906" cy="125869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1" name="Shape 59"/>
          <p:cNvSpPr/>
          <p:nvPr/>
        </p:nvSpPr>
        <p:spPr>
          <a:xfrm>
            <a:off x="5829740" y="3969385"/>
            <a:ext cx="54906" cy="126301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2" name="Shape 60"/>
          <p:cNvSpPr/>
          <p:nvPr/>
        </p:nvSpPr>
        <p:spPr>
          <a:xfrm>
            <a:off x="5878297" y="3965067"/>
            <a:ext cx="54906" cy="12673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3" name="Shape 61"/>
          <p:cNvSpPr/>
          <p:nvPr/>
        </p:nvSpPr>
        <p:spPr>
          <a:xfrm>
            <a:off x="5926853" y="3960749"/>
            <a:ext cx="54906" cy="127165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4" name="Shape 62"/>
          <p:cNvSpPr/>
          <p:nvPr/>
        </p:nvSpPr>
        <p:spPr>
          <a:xfrm>
            <a:off x="5975409" y="3956431"/>
            <a:ext cx="54906" cy="1275969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5" name="Shape 63"/>
          <p:cNvSpPr/>
          <p:nvPr/>
        </p:nvSpPr>
        <p:spPr>
          <a:xfrm>
            <a:off x="6023966" y="3952113"/>
            <a:ext cx="54906" cy="1280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6" name="Shape 64"/>
          <p:cNvSpPr/>
          <p:nvPr/>
        </p:nvSpPr>
        <p:spPr>
          <a:xfrm>
            <a:off x="6072522" y="3947795"/>
            <a:ext cx="54906" cy="1284605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7" name="Shape 65"/>
          <p:cNvSpPr/>
          <p:nvPr/>
        </p:nvSpPr>
        <p:spPr>
          <a:xfrm>
            <a:off x="6121078" y="3943477"/>
            <a:ext cx="54906" cy="12889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8" name="Shape 66"/>
          <p:cNvSpPr/>
          <p:nvPr/>
        </p:nvSpPr>
        <p:spPr>
          <a:xfrm>
            <a:off x="6169635" y="3939159"/>
            <a:ext cx="54906" cy="1293241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69" name="Shape 67"/>
          <p:cNvSpPr/>
          <p:nvPr/>
        </p:nvSpPr>
        <p:spPr>
          <a:xfrm>
            <a:off x="6218191" y="3931602"/>
            <a:ext cx="54906" cy="13007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0" name="Shape 68"/>
          <p:cNvSpPr/>
          <p:nvPr/>
        </p:nvSpPr>
        <p:spPr>
          <a:xfrm>
            <a:off x="6266747" y="3920808"/>
            <a:ext cx="54906" cy="13115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1" name="Shape 69"/>
          <p:cNvSpPr/>
          <p:nvPr/>
        </p:nvSpPr>
        <p:spPr>
          <a:xfrm>
            <a:off x="6315304" y="3910012"/>
            <a:ext cx="54906" cy="132238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2" name="Shape 70"/>
          <p:cNvSpPr/>
          <p:nvPr/>
        </p:nvSpPr>
        <p:spPr>
          <a:xfrm>
            <a:off x="6363860" y="3899218"/>
            <a:ext cx="54906" cy="133318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3" name="Shape 71"/>
          <p:cNvSpPr/>
          <p:nvPr/>
        </p:nvSpPr>
        <p:spPr>
          <a:xfrm>
            <a:off x="6412416" y="3888423"/>
            <a:ext cx="54906" cy="13439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4" name="Shape 72"/>
          <p:cNvSpPr/>
          <p:nvPr/>
        </p:nvSpPr>
        <p:spPr>
          <a:xfrm>
            <a:off x="6460973" y="3877627"/>
            <a:ext cx="54906" cy="13547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5" name="Shape 73"/>
          <p:cNvSpPr/>
          <p:nvPr/>
        </p:nvSpPr>
        <p:spPr>
          <a:xfrm>
            <a:off x="6509529" y="3866832"/>
            <a:ext cx="54906" cy="13655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6" name="Shape 74"/>
          <p:cNvSpPr/>
          <p:nvPr/>
        </p:nvSpPr>
        <p:spPr>
          <a:xfrm>
            <a:off x="6558085" y="3856038"/>
            <a:ext cx="54906" cy="13763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7" name="Shape 75"/>
          <p:cNvSpPr/>
          <p:nvPr/>
        </p:nvSpPr>
        <p:spPr>
          <a:xfrm>
            <a:off x="6606642" y="3845243"/>
            <a:ext cx="54906" cy="13871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8" name="Shape 76"/>
          <p:cNvSpPr/>
          <p:nvPr/>
        </p:nvSpPr>
        <p:spPr>
          <a:xfrm>
            <a:off x="6655198" y="3834447"/>
            <a:ext cx="54906" cy="13979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79" name="Shape 77"/>
          <p:cNvSpPr/>
          <p:nvPr/>
        </p:nvSpPr>
        <p:spPr>
          <a:xfrm>
            <a:off x="6703754" y="3823652"/>
            <a:ext cx="54906" cy="14087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0" name="Shape 78"/>
          <p:cNvSpPr/>
          <p:nvPr/>
        </p:nvSpPr>
        <p:spPr>
          <a:xfrm>
            <a:off x="6752311" y="3812858"/>
            <a:ext cx="54906" cy="14195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1" name="Shape 79"/>
          <p:cNvSpPr/>
          <p:nvPr/>
        </p:nvSpPr>
        <p:spPr>
          <a:xfrm>
            <a:off x="6800867" y="3802062"/>
            <a:ext cx="54906" cy="143033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2" name="Shape 80"/>
          <p:cNvSpPr/>
          <p:nvPr/>
        </p:nvSpPr>
        <p:spPr>
          <a:xfrm>
            <a:off x="6849423" y="3791268"/>
            <a:ext cx="54906" cy="144113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3" name="Shape 81"/>
          <p:cNvSpPr/>
          <p:nvPr/>
        </p:nvSpPr>
        <p:spPr>
          <a:xfrm>
            <a:off x="6897980" y="3780473"/>
            <a:ext cx="54906" cy="14519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4" name="Shape 82"/>
          <p:cNvSpPr/>
          <p:nvPr/>
        </p:nvSpPr>
        <p:spPr>
          <a:xfrm>
            <a:off x="6946536" y="3769678"/>
            <a:ext cx="54906" cy="14627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5" name="Shape 83"/>
          <p:cNvSpPr/>
          <p:nvPr/>
        </p:nvSpPr>
        <p:spPr>
          <a:xfrm>
            <a:off x="6995092" y="3758882"/>
            <a:ext cx="54906" cy="14735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6" name="Shape 84"/>
          <p:cNvSpPr/>
          <p:nvPr/>
        </p:nvSpPr>
        <p:spPr>
          <a:xfrm>
            <a:off x="7043649" y="3748087"/>
            <a:ext cx="54906" cy="14843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7" name="Shape 85"/>
          <p:cNvSpPr/>
          <p:nvPr/>
        </p:nvSpPr>
        <p:spPr>
          <a:xfrm>
            <a:off x="7092205" y="3737293"/>
            <a:ext cx="54906" cy="14951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8" name="Shape 86"/>
          <p:cNvSpPr/>
          <p:nvPr/>
        </p:nvSpPr>
        <p:spPr>
          <a:xfrm>
            <a:off x="7140761" y="3726497"/>
            <a:ext cx="54906" cy="15059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9" name="Shape 87"/>
          <p:cNvSpPr/>
          <p:nvPr/>
        </p:nvSpPr>
        <p:spPr>
          <a:xfrm>
            <a:off x="7189318" y="3715702"/>
            <a:ext cx="54906" cy="151669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0" name="Shape 88"/>
          <p:cNvSpPr/>
          <p:nvPr/>
        </p:nvSpPr>
        <p:spPr>
          <a:xfrm>
            <a:off x="7237874" y="3704908"/>
            <a:ext cx="54906" cy="152749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1" name="Shape 89"/>
          <p:cNvSpPr/>
          <p:nvPr/>
        </p:nvSpPr>
        <p:spPr>
          <a:xfrm>
            <a:off x="7286430" y="3694113"/>
            <a:ext cx="54906" cy="153828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2" name="Shape 90"/>
          <p:cNvSpPr/>
          <p:nvPr/>
        </p:nvSpPr>
        <p:spPr>
          <a:xfrm>
            <a:off x="7334987" y="3683317"/>
            <a:ext cx="54906" cy="154908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3" name="Shape 91"/>
          <p:cNvSpPr/>
          <p:nvPr/>
        </p:nvSpPr>
        <p:spPr>
          <a:xfrm>
            <a:off x="7383543" y="3672523"/>
            <a:ext cx="54906" cy="155987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4" name="Shape 92"/>
          <p:cNvSpPr/>
          <p:nvPr/>
        </p:nvSpPr>
        <p:spPr>
          <a:xfrm>
            <a:off x="7432099" y="3661728"/>
            <a:ext cx="54906" cy="157067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5" name="Shape 93"/>
          <p:cNvSpPr/>
          <p:nvPr/>
        </p:nvSpPr>
        <p:spPr>
          <a:xfrm>
            <a:off x="7480656" y="3650932"/>
            <a:ext cx="54906" cy="158146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6" name="Shape 94"/>
          <p:cNvSpPr/>
          <p:nvPr/>
        </p:nvSpPr>
        <p:spPr>
          <a:xfrm>
            <a:off x="7529212" y="3640138"/>
            <a:ext cx="54906" cy="159226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7" name="Shape 95"/>
          <p:cNvSpPr/>
          <p:nvPr/>
        </p:nvSpPr>
        <p:spPr>
          <a:xfrm>
            <a:off x="7577768" y="3629343"/>
            <a:ext cx="54906" cy="160305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8" name="Shape 96"/>
          <p:cNvSpPr/>
          <p:nvPr/>
        </p:nvSpPr>
        <p:spPr>
          <a:xfrm>
            <a:off x="7626325" y="3618548"/>
            <a:ext cx="54906" cy="161385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99" name="Shape 97"/>
          <p:cNvSpPr/>
          <p:nvPr/>
        </p:nvSpPr>
        <p:spPr>
          <a:xfrm>
            <a:off x="7674881" y="3607752"/>
            <a:ext cx="54906" cy="162464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0" name="Shape 98"/>
          <p:cNvSpPr/>
          <p:nvPr/>
        </p:nvSpPr>
        <p:spPr>
          <a:xfrm>
            <a:off x="7723437" y="3596957"/>
            <a:ext cx="54906" cy="163544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1" name="Shape 99"/>
          <p:cNvSpPr/>
          <p:nvPr/>
        </p:nvSpPr>
        <p:spPr>
          <a:xfrm>
            <a:off x="7771994" y="3586162"/>
            <a:ext cx="54906" cy="164623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2" name="Shape 100"/>
          <p:cNvSpPr/>
          <p:nvPr/>
        </p:nvSpPr>
        <p:spPr>
          <a:xfrm>
            <a:off x="7820550" y="3575368"/>
            <a:ext cx="54906" cy="165703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3" name="Shape 101"/>
          <p:cNvSpPr/>
          <p:nvPr/>
        </p:nvSpPr>
        <p:spPr>
          <a:xfrm>
            <a:off x="7869106" y="3564573"/>
            <a:ext cx="54906" cy="166782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4" name="Shape 102"/>
          <p:cNvSpPr/>
          <p:nvPr/>
        </p:nvSpPr>
        <p:spPr>
          <a:xfrm>
            <a:off x="7917663" y="3553778"/>
            <a:ext cx="54906" cy="167862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5" name="Shape 103"/>
          <p:cNvSpPr/>
          <p:nvPr/>
        </p:nvSpPr>
        <p:spPr>
          <a:xfrm>
            <a:off x="7966219" y="3542982"/>
            <a:ext cx="54906" cy="168941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014775" y="3532187"/>
            <a:ext cx="54906" cy="1700213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7" name="Shape 105"/>
          <p:cNvSpPr/>
          <p:nvPr/>
        </p:nvSpPr>
        <p:spPr>
          <a:xfrm>
            <a:off x="8063332" y="3521393"/>
            <a:ext cx="54906" cy="1711007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8" name="Shape 106"/>
          <p:cNvSpPr/>
          <p:nvPr/>
        </p:nvSpPr>
        <p:spPr>
          <a:xfrm>
            <a:off x="8111888" y="3510598"/>
            <a:ext cx="54906" cy="1721802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04811" y="3717862"/>
            <a:ext cx="54906" cy="64662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53367" y="3711385"/>
            <a:ext cx="54906" cy="64446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3401924" y="3704908"/>
            <a:ext cx="54906" cy="6423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3450480" y="3698430"/>
            <a:ext cx="54906" cy="64014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3499036" y="3691954"/>
            <a:ext cx="54906" cy="63798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3547593" y="3685477"/>
            <a:ext cx="54906" cy="63582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3596149" y="3678999"/>
            <a:ext cx="54906" cy="6336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3644705" y="3672523"/>
            <a:ext cx="54906" cy="63150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693262" y="3666046"/>
            <a:ext cx="54906" cy="6293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741818" y="3659568"/>
            <a:ext cx="54906" cy="62718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3790374" y="3653092"/>
            <a:ext cx="54906" cy="6250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3838931" y="3646615"/>
            <a:ext cx="54906" cy="6228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87487" y="3640138"/>
            <a:ext cx="54906" cy="6207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3936043" y="3633660"/>
            <a:ext cx="54906" cy="6185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3984600" y="3627184"/>
            <a:ext cx="54906" cy="6163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4033156" y="3620706"/>
            <a:ext cx="54906" cy="61423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4081712" y="3614230"/>
            <a:ext cx="54906" cy="6120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6" name="Shape 124"/>
          <p:cNvSpPr/>
          <p:nvPr/>
        </p:nvSpPr>
        <p:spPr>
          <a:xfrm>
            <a:off x="4130269" y="3607753"/>
            <a:ext cx="54906" cy="6099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7" name="Shape 125"/>
          <p:cNvSpPr/>
          <p:nvPr/>
        </p:nvSpPr>
        <p:spPr>
          <a:xfrm>
            <a:off x="4178825" y="3601276"/>
            <a:ext cx="54906" cy="6077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8" name="Shape 126"/>
          <p:cNvSpPr/>
          <p:nvPr/>
        </p:nvSpPr>
        <p:spPr>
          <a:xfrm>
            <a:off x="4227381" y="3594798"/>
            <a:ext cx="54906" cy="60560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29" name="Shape 127"/>
          <p:cNvSpPr/>
          <p:nvPr/>
        </p:nvSpPr>
        <p:spPr>
          <a:xfrm>
            <a:off x="4275938" y="3585083"/>
            <a:ext cx="54906" cy="6066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0" name="Shape 128"/>
          <p:cNvSpPr/>
          <p:nvPr/>
        </p:nvSpPr>
        <p:spPr>
          <a:xfrm>
            <a:off x="4324494" y="3572129"/>
            <a:ext cx="54906" cy="6109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1" name="Shape 129"/>
          <p:cNvSpPr/>
          <p:nvPr/>
        </p:nvSpPr>
        <p:spPr>
          <a:xfrm>
            <a:off x="4373050" y="3559175"/>
            <a:ext cx="54906" cy="61531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2" name="Shape 130"/>
          <p:cNvSpPr/>
          <p:nvPr/>
        </p:nvSpPr>
        <p:spPr>
          <a:xfrm>
            <a:off x="4421607" y="3546221"/>
            <a:ext cx="54906" cy="61963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4470163" y="3533267"/>
            <a:ext cx="54906" cy="62395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518719" y="3520313"/>
            <a:ext cx="54906" cy="6282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5" name="Shape 133"/>
          <p:cNvSpPr/>
          <p:nvPr/>
        </p:nvSpPr>
        <p:spPr>
          <a:xfrm>
            <a:off x="4567276" y="3507359"/>
            <a:ext cx="54906" cy="63258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6" name="Shape 134"/>
          <p:cNvSpPr/>
          <p:nvPr/>
        </p:nvSpPr>
        <p:spPr>
          <a:xfrm>
            <a:off x="4615832" y="3494405"/>
            <a:ext cx="54906" cy="63690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7" name="Shape 135"/>
          <p:cNvSpPr/>
          <p:nvPr/>
        </p:nvSpPr>
        <p:spPr>
          <a:xfrm>
            <a:off x="4664388" y="3481451"/>
            <a:ext cx="54906" cy="64122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8" name="Shape 136"/>
          <p:cNvSpPr/>
          <p:nvPr/>
        </p:nvSpPr>
        <p:spPr>
          <a:xfrm>
            <a:off x="4712945" y="3468497"/>
            <a:ext cx="54906" cy="64554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39" name="Shape 137"/>
          <p:cNvSpPr/>
          <p:nvPr/>
        </p:nvSpPr>
        <p:spPr>
          <a:xfrm>
            <a:off x="4761501" y="3455543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4810057" y="3442589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1" name="Shape 139"/>
          <p:cNvSpPr/>
          <p:nvPr/>
        </p:nvSpPr>
        <p:spPr>
          <a:xfrm>
            <a:off x="4858614" y="3429635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2" name="Shape 140"/>
          <p:cNvSpPr/>
          <p:nvPr/>
        </p:nvSpPr>
        <p:spPr>
          <a:xfrm>
            <a:off x="4907170" y="3416681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3" name="Shape 141"/>
          <p:cNvSpPr/>
          <p:nvPr/>
        </p:nvSpPr>
        <p:spPr>
          <a:xfrm>
            <a:off x="4955726" y="3403727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4" name="Shape 142"/>
          <p:cNvSpPr/>
          <p:nvPr/>
        </p:nvSpPr>
        <p:spPr>
          <a:xfrm>
            <a:off x="5004283" y="3390773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052839" y="3377819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6" name="Shape 144"/>
          <p:cNvSpPr/>
          <p:nvPr/>
        </p:nvSpPr>
        <p:spPr>
          <a:xfrm>
            <a:off x="5101395" y="3364865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5149952" y="3351911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8" name="Shape 146"/>
          <p:cNvSpPr/>
          <p:nvPr/>
        </p:nvSpPr>
        <p:spPr>
          <a:xfrm>
            <a:off x="5198508" y="333895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49" name="Shape 147"/>
          <p:cNvSpPr/>
          <p:nvPr/>
        </p:nvSpPr>
        <p:spPr>
          <a:xfrm>
            <a:off x="5247064" y="3331400"/>
            <a:ext cx="54906" cy="6898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0" name="Shape 148"/>
          <p:cNvSpPr/>
          <p:nvPr/>
        </p:nvSpPr>
        <p:spPr>
          <a:xfrm>
            <a:off x="5295621" y="3329241"/>
            <a:ext cx="54906" cy="6876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1" name="Shape 149"/>
          <p:cNvSpPr/>
          <p:nvPr/>
        </p:nvSpPr>
        <p:spPr>
          <a:xfrm>
            <a:off x="5344177" y="3327082"/>
            <a:ext cx="54906" cy="6854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2" name="Shape 150"/>
          <p:cNvSpPr/>
          <p:nvPr/>
        </p:nvSpPr>
        <p:spPr>
          <a:xfrm>
            <a:off x="5392733" y="3324923"/>
            <a:ext cx="54906" cy="6833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3" name="Shape 151"/>
          <p:cNvSpPr/>
          <p:nvPr/>
        </p:nvSpPr>
        <p:spPr>
          <a:xfrm>
            <a:off x="5441290" y="3322765"/>
            <a:ext cx="54906" cy="6811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489846" y="3320605"/>
            <a:ext cx="54906" cy="6790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5538402" y="3318446"/>
            <a:ext cx="54906" cy="6768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6" name="Shape 154"/>
          <p:cNvSpPr/>
          <p:nvPr/>
        </p:nvSpPr>
        <p:spPr>
          <a:xfrm>
            <a:off x="5586959" y="3316287"/>
            <a:ext cx="54906" cy="6746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7" name="Shape 155"/>
          <p:cNvSpPr/>
          <p:nvPr/>
        </p:nvSpPr>
        <p:spPr>
          <a:xfrm>
            <a:off x="5635515" y="3314128"/>
            <a:ext cx="54906" cy="6725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8" name="Shape 156"/>
          <p:cNvSpPr/>
          <p:nvPr/>
        </p:nvSpPr>
        <p:spPr>
          <a:xfrm>
            <a:off x="5684071" y="3311970"/>
            <a:ext cx="54906" cy="67036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59" name="Shape 157"/>
          <p:cNvSpPr/>
          <p:nvPr/>
        </p:nvSpPr>
        <p:spPr>
          <a:xfrm>
            <a:off x="5732628" y="3309810"/>
            <a:ext cx="54906" cy="6682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0" name="Shape 158"/>
          <p:cNvSpPr/>
          <p:nvPr/>
        </p:nvSpPr>
        <p:spPr>
          <a:xfrm>
            <a:off x="5781184" y="3307652"/>
            <a:ext cx="54906" cy="66605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1" name="Shape 159"/>
          <p:cNvSpPr/>
          <p:nvPr/>
        </p:nvSpPr>
        <p:spPr>
          <a:xfrm>
            <a:off x="5829740" y="3305492"/>
            <a:ext cx="54906" cy="6638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5878297" y="3303333"/>
            <a:ext cx="54906" cy="66173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3" name="Shape 161"/>
          <p:cNvSpPr/>
          <p:nvPr/>
        </p:nvSpPr>
        <p:spPr>
          <a:xfrm>
            <a:off x="5926853" y="3301174"/>
            <a:ext cx="54906" cy="6595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975409" y="3299016"/>
            <a:ext cx="54906" cy="65741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023966" y="3296857"/>
            <a:ext cx="54906" cy="6552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6" name="Shape 164"/>
          <p:cNvSpPr/>
          <p:nvPr/>
        </p:nvSpPr>
        <p:spPr>
          <a:xfrm>
            <a:off x="6072522" y="3294698"/>
            <a:ext cx="54906" cy="65309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7" name="Shape 165"/>
          <p:cNvSpPr/>
          <p:nvPr/>
        </p:nvSpPr>
        <p:spPr>
          <a:xfrm>
            <a:off x="6121078" y="3292538"/>
            <a:ext cx="54906" cy="65093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8" name="Shape 166"/>
          <p:cNvSpPr/>
          <p:nvPr/>
        </p:nvSpPr>
        <p:spPr>
          <a:xfrm>
            <a:off x="6169635" y="3290380"/>
            <a:ext cx="54906" cy="64877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69" name="Shape 167"/>
          <p:cNvSpPr/>
          <p:nvPr/>
        </p:nvSpPr>
        <p:spPr>
          <a:xfrm>
            <a:off x="6218191" y="3281744"/>
            <a:ext cx="54906" cy="64985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6266747" y="3266631"/>
            <a:ext cx="54906" cy="65417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1" name="Shape 169"/>
          <p:cNvSpPr/>
          <p:nvPr/>
        </p:nvSpPr>
        <p:spPr>
          <a:xfrm>
            <a:off x="6315304" y="3251518"/>
            <a:ext cx="54906" cy="65849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2" name="Shape 170"/>
          <p:cNvSpPr/>
          <p:nvPr/>
        </p:nvSpPr>
        <p:spPr>
          <a:xfrm>
            <a:off x="6363860" y="3236404"/>
            <a:ext cx="54906" cy="66281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3" name="Shape 171"/>
          <p:cNvSpPr/>
          <p:nvPr/>
        </p:nvSpPr>
        <p:spPr>
          <a:xfrm>
            <a:off x="6412416" y="3221292"/>
            <a:ext cx="54906" cy="66713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60973" y="3206179"/>
            <a:ext cx="54906" cy="67144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5" name="Shape 173"/>
          <p:cNvSpPr/>
          <p:nvPr/>
        </p:nvSpPr>
        <p:spPr>
          <a:xfrm>
            <a:off x="6509529" y="3191065"/>
            <a:ext cx="54906" cy="67576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6" name="Shape 174"/>
          <p:cNvSpPr/>
          <p:nvPr/>
        </p:nvSpPr>
        <p:spPr>
          <a:xfrm>
            <a:off x="6558085" y="3175952"/>
            <a:ext cx="54906" cy="68008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6606642" y="3160839"/>
            <a:ext cx="54906" cy="68440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8" name="Shape 176"/>
          <p:cNvSpPr/>
          <p:nvPr/>
        </p:nvSpPr>
        <p:spPr>
          <a:xfrm>
            <a:off x="6655198" y="3145727"/>
            <a:ext cx="54906" cy="68872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79" name="Shape 177"/>
          <p:cNvSpPr/>
          <p:nvPr/>
        </p:nvSpPr>
        <p:spPr>
          <a:xfrm>
            <a:off x="6703754" y="3130614"/>
            <a:ext cx="54906" cy="69303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0" name="Shape 178"/>
          <p:cNvSpPr/>
          <p:nvPr/>
        </p:nvSpPr>
        <p:spPr>
          <a:xfrm>
            <a:off x="6752311" y="3115500"/>
            <a:ext cx="54906" cy="69735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1" name="Shape 179"/>
          <p:cNvSpPr/>
          <p:nvPr/>
        </p:nvSpPr>
        <p:spPr>
          <a:xfrm>
            <a:off x="6800867" y="3100388"/>
            <a:ext cx="54906" cy="70167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2" name="Shape 180"/>
          <p:cNvSpPr/>
          <p:nvPr/>
        </p:nvSpPr>
        <p:spPr>
          <a:xfrm>
            <a:off x="6849423" y="3085274"/>
            <a:ext cx="54906" cy="70599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3" name="Shape 181"/>
          <p:cNvSpPr/>
          <p:nvPr/>
        </p:nvSpPr>
        <p:spPr>
          <a:xfrm>
            <a:off x="6897980" y="3070162"/>
            <a:ext cx="54906" cy="71031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946536" y="3055049"/>
            <a:ext cx="54906" cy="7146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6995092" y="3039935"/>
            <a:ext cx="54906" cy="7189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6" name="Shape 184"/>
          <p:cNvSpPr/>
          <p:nvPr/>
        </p:nvSpPr>
        <p:spPr>
          <a:xfrm>
            <a:off x="7043649" y="3024822"/>
            <a:ext cx="54906" cy="72326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7" name="Shape 185"/>
          <p:cNvSpPr/>
          <p:nvPr/>
        </p:nvSpPr>
        <p:spPr>
          <a:xfrm>
            <a:off x="7092205" y="3009709"/>
            <a:ext cx="54906" cy="7275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8" name="Shape 186"/>
          <p:cNvSpPr/>
          <p:nvPr/>
        </p:nvSpPr>
        <p:spPr>
          <a:xfrm>
            <a:off x="7140761" y="2994596"/>
            <a:ext cx="54906" cy="7319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89" name="Shape 187"/>
          <p:cNvSpPr/>
          <p:nvPr/>
        </p:nvSpPr>
        <p:spPr>
          <a:xfrm>
            <a:off x="7189318" y="2980563"/>
            <a:ext cx="54906" cy="73514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0" name="Shape 188"/>
          <p:cNvSpPr/>
          <p:nvPr/>
        </p:nvSpPr>
        <p:spPr>
          <a:xfrm>
            <a:off x="7237874" y="2967609"/>
            <a:ext cx="54906" cy="73729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1" name="Shape 189"/>
          <p:cNvSpPr/>
          <p:nvPr/>
        </p:nvSpPr>
        <p:spPr>
          <a:xfrm>
            <a:off x="7286430" y="2954655"/>
            <a:ext cx="54906" cy="73945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7334987" y="2941701"/>
            <a:ext cx="54906" cy="74161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3" name="Shape 191"/>
          <p:cNvSpPr/>
          <p:nvPr/>
        </p:nvSpPr>
        <p:spPr>
          <a:xfrm>
            <a:off x="7383543" y="2928747"/>
            <a:ext cx="54906" cy="74377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432099" y="2915793"/>
            <a:ext cx="54906" cy="745935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5" name="Shape 193"/>
          <p:cNvSpPr/>
          <p:nvPr/>
        </p:nvSpPr>
        <p:spPr>
          <a:xfrm>
            <a:off x="7480656" y="2902839"/>
            <a:ext cx="54906" cy="74809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6" name="Shape 194"/>
          <p:cNvSpPr/>
          <p:nvPr/>
        </p:nvSpPr>
        <p:spPr>
          <a:xfrm>
            <a:off x="7529212" y="2889885"/>
            <a:ext cx="54906" cy="75025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7" name="Shape 195"/>
          <p:cNvSpPr/>
          <p:nvPr/>
        </p:nvSpPr>
        <p:spPr>
          <a:xfrm>
            <a:off x="7577768" y="2876931"/>
            <a:ext cx="54906" cy="75241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8" name="Shape 196"/>
          <p:cNvSpPr/>
          <p:nvPr/>
        </p:nvSpPr>
        <p:spPr>
          <a:xfrm>
            <a:off x="7626325" y="2863977"/>
            <a:ext cx="54906" cy="75457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199" name="Shape 197"/>
          <p:cNvSpPr/>
          <p:nvPr/>
        </p:nvSpPr>
        <p:spPr>
          <a:xfrm>
            <a:off x="7674881" y="2851023"/>
            <a:ext cx="54906" cy="756729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7723437" y="2838069"/>
            <a:ext cx="54906" cy="758888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1" name="Shape 199"/>
          <p:cNvSpPr/>
          <p:nvPr/>
        </p:nvSpPr>
        <p:spPr>
          <a:xfrm>
            <a:off x="7771994" y="2825115"/>
            <a:ext cx="54906" cy="761047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2" name="Shape 200"/>
          <p:cNvSpPr/>
          <p:nvPr/>
        </p:nvSpPr>
        <p:spPr>
          <a:xfrm>
            <a:off x="7820550" y="2812161"/>
            <a:ext cx="54906" cy="76320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3" name="Shape 201"/>
          <p:cNvSpPr/>
          <p:nvPr/>
        </p:nvSpPr>
        <p:spPr>
          <a:xfrm>
            <a:off x="7869106" y="2799207"/>
            <a:ext cx="54906" cy="765366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917663" y="2786253"/>
            <a:ext cx="54906" cy="767524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5" name="Shape 203"/>
          <p:cNvSpPr/>
          <p:nvPr/>
        </p:nvSpPr>
        <p:spPr>
          <a:xfrm>
            <a:off x="7966219" y="2773299"/>
            <a:ext cx="54906" cy="769683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014775" y="2760345"/>
            <a:ext cx="54906" cy="771842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063332" y="2747391"/>
            <a:ext cx="54906" cy="774001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8" name="Shape 206"/>
          <p:cNvSpPr/>
          <p:nvPr/>
        </p:nvSpPr>
        <p:spPr>
          <a:xfrm>
            <a:off x="8111888" y="2734437"/>
            <a:ext cx="54906" cy="776160"/>
          </a:xfrm>
          <a:prstGeom prst="rect">
            <a:avLst/>
          </a:prstGeom>
          <a:solidFill>
            <a:srgbClr val="1BAF7A"/>
          </a:solidFill>
          <a:ln/>
        </p:spPr>
      </p:sp>
      <p:sp>
        <p:nvSpPr>
          <p:cNvPr id="209" name="Shape 207"/>
          <p:cNvSpPr/>
          <p:nvPr/>
        </p:nvSpPr>
        <p:spPr>
          <a:xfrm>
            <a:off x="3304811" y="3284982"/>
            <a:ext cx="54906" cy="4328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0" name="Shape 208"/>
          <p:cNvSpPr/>
          <p:nvPr/>
        </p:nvSpPr>
        <p:spPr>
          <a:xfrm>
            <a:off x="3353367" y="3276346"/>
            <a:ext cx="54906" cy="43503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1" name="Shape 209"/>
          <p:cNvSpPr/>
          <p:nvPr/>
        </p:nvSpPr>
        <p:spPr>
          <a:xfrm>
            <a:off x="3401924" y="3267710"/>
            <a:ext cx="54906" cy="4371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2" name="Shape 210"/>
          <p:cNvSpPr/>
          <p:nvPr/>
        </p:nvSpPr>
        <p:spPr>
          <a:xfrm>
            <a:off x="3450480" y="3259074"/>
            <a:ext cx="54906" cy="43935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3" name="Shape 211"/>
          <p:cNvSpPr/>
          <p:nvPr/>
        </p:nvSpPr>
        <p:spPr>
          <a:xfrm>
            <a:off x="3499036" y="3250438"/>
            <a:ext cx="54906" cy="44151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4" name="Shape 212"/>
          <p:cNvSpPr/>
          <p:nvPr/>
        </p:nvSpPr>
        <p:spPr>
          <a:xfrm>
            <a:off x="3547593" y="3241802"/>
            <a:ext cx="54906" cy="44367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5" name="Shape 213"/>
          <p:cNvSpPr/>
          <p:nvPr/>
        </p:nvSpPr>
        <p:spPr>
          <a:xfrm>
            <a:off x="3596149" y="3233166"/>
            <a:ext cx="54906" cy="44583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644705" y="3224530"/>
            <a:ext cx="54906" cy="44799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7" name="Shape 215"/>
          <p:cNvSpPr/>
          <p:nvPr/>
        </p:nvSpPr>
        <p:spPr>
          <a:xfrm>
            <a:off x="3693262" y="3215894"/>
            <a:ext cx="54906" cy="4501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8" name="Shape 216"/>
          <p:cNvSpPr/>
          <p:nvPr/>
        </p:nvSpPr>
        <p:spPr>
          <a:xfrm>
            <a:off x="3741818" y="3207258"/>
            <a:ext cx="54906" cy="45231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19" name="Shape 217"/>
          <p:cNvSpPr/>
          <p:nvPr/>
        </p:nvSpPr>
        <p:spPr>
          <a:xfrm>
            <a:off x="3790374" y="3198622"/>
            <a:ext cx="54906" cy="45447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0" name="Shape 218"/>
          <p:cNvSpPr/>
          <p:nvPr/>
        </p:nvSpPr>
        <p:spPr>
          <a:xfrm>
            <a:off x="3838931" y="3189986"/>
            <a:ext cx="54906" cy="45662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1" name="Shape 219"/>
          <p:cNvSpPr/>
          <p:nvPr/>
        </p:nvSpPr>
        <p:spPr>
          <a:xfrm>
            <a:off x="3887487" y="3181350"/>
            <a:ext cx="54906" cy="4587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2" name="Shape 220"/>
          <p:cNvSpPr/>
          <p:nvPr/>
        </p:nvSpPr>
        <p:spPr>
          <a:xfrm>
            <a:off x="3936043" y="3172714"/>
            <a:ext cx="54906" cy="46094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3" name="Shape 221"/>
          <p:cNvSpPr/>
          <p:nvPr/>
        </p:nvSpPr>
        <p:spPr>
          <a:xfrm>
            <a:off x="3984600" y="3164078"/>
            <a:ext cx="54906" cy="46310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4" name="Shape 222"/>
          <p:cNvSpPr/>
          <p:nvPr/>
        </p:nvSpPr>
        <p:spPr>
          <a:xfrm>
            <a:off x="4033156" y="3155442"/>
            <a:ext cx="54906" cy="46526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5" name="Shape 223"/>
          <p:cNvSpPr/>
          <p:nvPr/>
        </p:nvSpPr>
        <p:spPr>
          <a:xfrm>
            <a:off x="4081712" y="3146806"/>
            <a:ext cx="54906" cy="46742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6" name="Shape 224"/>
          <p:cNvSpPr/>
          <p:nvPr/>
        </p:nvSpPr>
        <p:spPr>
          <a:xfrm>
            <a:off x="4130269" y="3138170"/>
            <a:ext cx="54906" cy="46958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7" name="Shape 225"/>
          <p:cNvSpPr/>
          <p:nvPr/>
        </p:nvSpPr>
        <p:spPr>
          <a:xfrm>
            <a:off x="4178825" y="3129534"/>
            <a:ext cx="54906" cy="47174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8" name="Shape 226"/>
          <p:cNvSpPr/>
          <p:nvPr/>
        </p:nvSpPr>
        <p:spPr>
          <a:xfrm>
            <a:off x="4227381" y="3120898"/>
            <a:ext cx="54906" cy="47390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29" name="Shape 227"/>
          <p:cNvSpPr/>
          <p:nvPr/>
        </p:nvSpPr>
        <p:spPr>
          <a:xfrm>
            <a:off x="4275938" y="3109023"/>
            <a:ext cx="54906" cy="47606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0" name="Shape 228"/>
          <p:cNvSpPr/>
          <p:nvPr/>
        </p:nvSpPr>
        <p:spPr>
          <a:xfrm>
            <a:off x="4324494" y="3093910"/>
            <a:ext cx="54906" cy="4782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1" name="Shape 229"/>
          <p:cNvSpPr/>
          <p:nvPr/>
        </p:nvSpPr>
        <p:spPr>
          <a:xfrm>
            <a:off x="4373050" y="3078798"/>
            <a:ext cx="54906" cy="4803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2" name="Shape 230"/>
          <p:cNvSpPr/>
          <p:nvPr/>
        </p:nvSpPr>
        <p:spPr>
          <a:xfrm>
            <a:off x="4421607" y="3063684"/>
            <a:ext cx="54906" cy="4825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3" name="Shape 231"/>
          <p:cNvSpPr/>
          <p:nvPr/>
        </p:nvSpPr>
        <p:spPr>
          <a:xfrm>
            <a:off x="4470163" y="3048571"/>
            <a:ext cx="54906" cy="4846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4" name="Shape 232"/>
          <p:cNvSpPr/>
          <p:nvPr/>
        </p:nvSpPr>
        <p:spPr>
          <a:xfrm>
            <a:off x="4518719" y="3033458"/>
            <a:ext cx="54906" cy="4868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5" name="Shape 233"/>
          <p:cNvSpPr/>
          <p:nvPr/>
        </p:nvSpPr>
        <p:spPr>
          <a:xfrm>
            <a:off x="4567276" y="3018345"/>
            <a:ext cx="54906" cy="48901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6" name="Shape 234"/>
          <p:cNvSpPr/>
          <p:nvPr/>
        </p:nvSpPr>
        <p:spPr>
          <a:xfrm>
            <a:off x="4615832" y="3003233"/>
            <a:ext cx="54906" cy="4911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7" name="Shape 235"/>
          <p:cNvSpPr/>
          <p:nvPr/>
        </p:nvSpPr>
        <p:spPr>
          <a:xfrm>
            <a:off x="4664388" y="2988119"/>
            <a:ext cx="54906" cy="49333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8" name="Shape 236"/>
          <p:cNvSpPr/>
          <p:nvPr/>
        </p:nvSpPr>
        <p:spPr>
          <a:xfrm>
            <a:off x="4712945" y="2973007"/>
            <a:ext cx="54906" cy="49549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39" name="Shape 237"/>
          <p:cNvSpPr/>
          <p:nvPr/>
        </p:nvSpPr>
        <p:spPr>
          <a:xfrm>
            <a:off x="4761501" y="2957893"/>
            <a:ext cx="54906" cy="49765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0" name="Shape 238"/>
          <p:cNvSpPr/>
          <p:nvPr/>
        </p:nvSpPr>
        <p:spPr>
          <a:xfrm>
            <a:off x="4810057" y="2942781"/>
            <a:ext cx="54906" cy="49980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1" name="Shape 239"/>
          <p:cNvSpPr/>
          <p:nvPr/>
        </p:nvSpPr>
        <p:spPr>
          <a:xfrm>
            <a:off x="4858614" y="2927668"/>
            <a:ext cx="54906" cy="50196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2" name="Shape 240"/>
          <p:cNvSpPr/>
          <p:nvPr/>
        </p:nvSpPr>
        <p:spPr>
          <a:xfrm>
            <a:off x="4907170" y="2912555"/>
            <a:ext cx="54906" cy="50412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3" name="Shape 241"/>
          <p:cNvSpPr/>
          <p:nvPr/>
        </p:nvSpPr>
        <p:spPr>
          <a:xfrm>
            <a:off x="4955726" y="2897442"/>
            <a:ext cx="54906" cy="50628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4" name="Shape 242"/>
          <p:cNvSpPr/>
          <p:nvPr/>
        </p:nvSpPr>
        <p:spPr>
          <a:xfrm>
            <a:off x="5004283" y="2882329"/>
            <a:ext cx="54906" cy="50844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5" name="Shape 243"/>
          <p:cNvSpPr/>
          <p:nvPr/>
        </p:nvSpPr>
        <p:spPr>
          <a:xfrm>
            <a:off x="5052839" y="2867216"/>
            <a:ext cx="54906" cy="51060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6" name="Shape 244"/>
          <p:cNvSpPr/>
          <p:nvPr/>
        </p:nvSpPr>
        <p:spPr>
          <a:xfrm>
            <a:off x="5101395" y="2852102"/>
            <a:ext cx="54906" cy="51276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7" name="Shape 245"/>
          <p:cNvSpPr/>
          <p:nvPr/>
        </p:nvSpPr>
        <p:spPr>
          <a:xfrm>
            <a:off x="5149952" y="2836990"/>
            <a:ext cx="54906" cy="51492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8" name="Shape 246"/>
          <p:cNvSpPr/>
          <p:nvPr/>
        </p:nvSpPr>
        <p:spPr>
          <a:xfrm>
            <a:off x="5198508" y="2821877"/>
            <a:ext cx="54906" cy="517080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247064" y="2811082"/>
            <a:ext cx="54906" cy="5203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0" name="Shape 248"/>
          <p:cNvSpPr/>
          <p:nvPr/>
        </p:nvSpPr>
        <p:spPr>
          <a:xfrm>
            <a:off x="5295621" y="2804605"/>
            <a:ext cx="54906" cy="5246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1" name="Shape 249"/>
          <p:cNvSpPr/>
          <p:nvPr/>
        </p:nvSpPr>
        <p:spPr>
          <a:xfrm>
            <a:off x="5344177" y="2798128"/>
            <a:ext cx="54906" cy="5289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2" name="Shape 250"/>
          <p:cNvSpPr/>
          <p:nvPr/>
        </p:nvSpPr>
        <p:spPr>
          <a:xfrm>
            <a:off x="5392733" y="2791651"/>
            <a:ext cx="54906" cy="53327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3" name="Shape 251"/>
          <p:cNvSpPr/>
          <p:nvPr/>
        </p:nvSpPr>
        <p:spPr>
          <a:xfrm>
            <a:off x="5441290" y="2785174"/>
            <a:ext cx="54906" cy="53759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4" name="Shape 252"/>
          <p:cNvSpPr/>
          <p:nvPr/>
        </p:nvSpPr>
        <p:spPr>
          <a:xfrm>
            <a:off x="5489846" y="2778697"/>
            <a:ext cx="54906" cy="5419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5" name="Shape 253"/>
          <p:cNvSpPr/>
          <p:nvPr/>
        </p:nvSpPr>
        <p:spPr>
          <a:xfrm>
            <a:off x="5538402" y="2772220"/>
            <a:ext cx="54906" cy="54622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6" name="Shape 254"/>
          <p:cNvSpPr/>
          <p:nvPr/>
        </p:nvSpPr>
        <p:spPr>
          <a:xfrm>
            <a:off x="5586959" y="2765743"/>
            <a:ext cx="54906" cy="55054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7" name="Shape 255"/>
          <p:cNvSpPr/>
          <p:nvPr/>
        </p:nvSpPr>
        <p:spPr>
          <a:xfrm>
            <a:off x="5635515" y="2759266"/>
            <a:ext cx="54906" cy="55486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8" name="Shape 256"/>
          <p:cNvSpPr/>
          <p:nvPr/>
        </p:nvSpPr>
        <p:spPr>
          <a:xfrm>
            <a:off x="5684071" y="2752788"/>
            <a:ext cx="54906" cy="55918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732628" y="2746312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0" name="Shape 258"/>
          <p:cNvSpPr/>
          <p:nvPr/>
        </p:nvSpPr>
        <p:spPr>
          <a:xfrm>
            <a:off x="5781184" y="2739835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1" name="Shape 259"/>
          <p:cNvSpPr/>
          <p:nvPr/>
        </p:nvSpPr>
        <p:spPr>
          <a:xfrm>
            <a:off x="5829740" y="2733357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2" name="Shape 260"/>
          <p:cNvSpPr/>
          <p:nvPr/>
        </p:nvSpPr>
        <p:spPr>
          <a:xfrm>
            <a:off x="5878297" y="2726880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3" name="Shape 261"/>
          <p:cNvSpPr/>
          <p:nvPr/>
        </p:nvSpPr>
        <p:spPr>
          <a:xfrm>
            <a:off x="5926853" y="2720404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4" name="Shape 262"/>
          <p:cNvSpPr/>
          <p:nvPr/>
        </p:nvSpPr>
        <p:spPr>
          <a:xfrm>
            <a:off x="5975409" y="2713926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5" name="Shape 263"/>
          <p:cNvSpPr/>
          <p:nvPr/>
        </p:nvSpPr>
        <p:spPr>
          <a:xfrm>
            <a:off x="6023966" y="2707449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6" name="Shape 264"/>
          <p:cNvSpPr/>
          <p:nvPr/>
        </p:nvSpPr>
        <p:spPr>
          <a:xfrm>
            <a:off x="6072522" y="2700972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7" name="Shape 265"/>
          <p:cNvSpPr/>
          <p:nvPr/>
        </p:nvSpPr>
        <p:spPr>
          <a:xfrm>
            <a:off x="6121078" y="2694495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8" name="Shape 266"/>
          <p:cNvSpPr/>
          <p:nvPr/>
        </p:nvSpPr>
        <p:spPr>
          <a:xfrm>
            <a:off x="6169635" y="2688018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218191" y="2678303"/>
            <a:ext cx="54906" cy="6034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0" name="Shape 268"/>
          <p:cNvSpPr/>
          <p:nvPr/>
        </p:nvSpPr>
        <p:spPr>
          <a:xfrm>
            <a:off x="6266747" y="2665349"/>
            <a:ext cx="54906" cy="60128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1" name="Shape 269"/>
          <p:cNvSpPr/>
          <p:nvPr/>
        </p:nvSpPr>
        <p:spPr>
          <a:xfrm>
            <a:off x="6315304" y="2652395"/>
            <a:ext cx="54906" cy="5991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2" name="Shape 270"/>
          <p:cNvSpPr/>
          <p:nvPr/>
        </p:nvSpPr>
        <p:spPr>
          <a:xfrm>
            <a:off x="6363860" y="2639441"/>
            <a:ext cx="54906" cy="59696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3" name="Shape 271"/>
          <p:cNvSpPr/>
          <p:nvPr/>
        </p:nvSpPr>
        <p:spPr>
          <a:xfrm>
            <a:off x="6412416" y="2626487"/>
            <a:ext cx="54906" cy="5948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4" name="Shape 272"/>
          <p:cNvSpPr/>
          <p:nvPr/>
        </p:nvSpPr>
        <p:spPr>
          <a:xfrm>
            <a:off x="6460973" y="2613533"/>
            <a:ext cx="54906" cy="59264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5" name="Shape 273"/>
          <p:cNvSpPr/>
          <p:nvPr/>
        </p:nvSpPr>
        <p:spPr>
          <a:xfrm>
            <a:off x="6509529" y="2600579"/>
            <a:ext cx="54906" cy="5904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6" name="Shape 274"/>
          <p:cNvSpPr/>
          <p:nvPr/>
        </p:nvSpPr>
        <p:spPr>
          <a:xfrm>
            <a:off x="6558085" y="2587625"/>
            <a:ext cx="54906" cy="58832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7" name="Shape 275"/>
          <p:cNvSpPr/>
          <p:nvPr/>
        </p:nvSpPr>
        <p:spPr>
          <a:xfrm>
            <a:off x="6606642" y="2574671"/>
            <a:ext cx="54906" cy="5861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8" name="Shape 276"/>
          <p:cNvSpPr/>
          <p:nvPr/>
        </p:nvSpPr>
        <p:spPr>
          <a:xfrm>
            <a:off x="6655198" y="2561717"/>
            <a:ext cx="54906" cy="58400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703754" y="2548763"/>
            <a:ext cx="54906" cy="5818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0" name="Shape 278"/>
          <p:cNvSpPr/>
          <p:nvPr/>
        </p:nvSpPr>
        <p:spPr>
          <a:xfrm>
            <a:off x="6752311" y="2535809"/>
            <a:ext cx="54906" cy="579692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1" name="Shape 279"/>
          <p:cNvSpPr/>
          <p:nvPr/>
        </p:nvSpPr>
        <p:spPr>
          <a:xfrm>
            <a:off x="6800867" y="2522855"/>
            <a:ext cx="54906" cy="5775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2" name="Shape 280"/>
          <p:cNvSpPr/>
          <p:nvPr/>
        </p:nvSpPr>
        <p:spPr>
          <a:xfrm>
            <a:off x="6849423" y="2509901"/>
            <a:ext cx="54906" cy="575374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3" name="Shape 281"/>
          <p:cNvSpPr/>
          <p:nvPr/>
        </p:nvSpPr>
        <p:spPr>
          <a:xfrm>
            <a:off x="6897980" y="2496947"/>
            <a:ext cx="54906" cy="5732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4" name="Shape 282"/>
          <p:cNvSpPr/>
          <p:nvPr/>
        </p:nvSpPr>
        <p:spPr>
          <a:xfrm>
            <a:off x="6946536" y="2483993"/>
            <a:ext cx="54906" cy="57105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5" name="Shape 283"/>
          <p:cNvSpPr/>
          <p:nvPr/>
        </p:nvSpPr>
        <p:spPr>
          <a:xfrm>
            <a:off x="6995092" y="2471039"/>
            <a:ext cx="54906" cy="568896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6" name="Shape 284"/>
          <p:cNvSpPr/>
          <p:nvPr/>
        </p:nvSpPr>
        <p:spPr>
          <a:xfrm>
            <a:off x="7043649" y="2458085"/>
            <a:ext cx="54906" cy="56673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7" name="Shape 285"/>
          <p:cNvSpPr/>
          <p:nvPr/>
        </p:nvSpPr>
        <p:spPr>
          <a:xfrm>
            <a:off x="7092205" y="2445131"/>
            <a:ext cx="54906" cy="564578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8" name="Shape 286"/>
          <p:cNvSpPr/>
          <p:nvPr/>
        </p:nvSpPr>
        <p:spPr>
          <a:xfrm>
            <a:off x="7140761" y="2432177"/>
            <a:ext cx="54906" cy="56241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89" name="Shape 287"/>
          <p:cNvSpPr/>
          <p:nvPr/>
        </p:nvSpPr>
        <p:spPr>
          <a:xfrm>
            <a:off x="7189318" y="2417064"/>
            <a:ext cx="54906" cy="56349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0" name="Shape 288"/>
          <p:cNvSpPr/>
          <p:nvPr/>
        </p:nvSpPr>
        <p:spPr>
          <a:xfrm>
            <a:off x="7237874" y="2399792"/>
            <a:ext cx="54906" cy="56781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1" name="Shape 289"/>
          <p:cNvSpPr/>
          <p:nvPr/>
        </p:nvSpPr>
        <p:spPr>
          <a:xfrm>
            <a:off x="7286430" y="2382520"/>
            <a:ext cx="54906" cy="57213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2" name="Shape 290"/>
          <p:cNvSpPr/>
          <p:nvPr/>
        </p:nvSpPr>
        <p:spPr>
          <a:xfrm>
            <a:off x="7334987" y="2365248"/>
            <a:ext cx="54906" cy="57645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3" name="Shape 291"/>
          <p:cNvSpPr/>
          <p:nvPr/>
        </p:nvSpPr>
        <p:spPr>
          <a:xfrm>
            <a:off x="7383543" y="2347976"/>
            <a:ext cx="54906" cy="58077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4" name="Shape 292"/>
          <p:cNvSpPr/>
          <p:nvPr/>
        </p:nvSpPr>
        <p:spPr>
          <a:xfrm>
            <a:off x="7432099" y="2330704"/>
            <a:ext cx="54906" cy="58508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5" name="Shape 293"/>
          <p:cNvSpPr/>
          <p:nvPr/>
        </p:nvSpPr>
        <p:spPr>
          <a:xfrm>
            <a:off x="7480656" y="2313432"/>
            <a:ext cx="54906" cy="58940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6" name="Shape 294"/>
          <p:cNvSpPr/>
          <p:nvPr/>
        </p:nvSpPr>
        <p:spPr>
          <a:xfrm>
            <a:off x="7529212" y="2296160"/>
            <a:ext cx="54906" cy="59372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7" name="Shape 295"/>
          <p:cNvSpPr/>
          <p:nvPr/>
        </p:nvSpPr>
        <p:spPr>
          <a:xfrm>
            <a:off x="7577768" y="2278888"/>
            <a:ext cx="54906" cy="59804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8" name="Shape 296"/>
          <p:cNvSpPr/>
          <p:nvPr/>
        </p:nvSpPr>
        <p:spPr>
          <a:xfrm>
            <a:off x="7626325" y="2261616"/>
            <a:ext cx="54906" cy="60236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299" name="Shape 297"/>
          <p:cNvSpPr/>
          <p:nvPr/>
        </p:nvSpPr>
        <p:spPr>
          <a:xfrm>
            <a:off x="7674881" y="2244344"/>
            <a:ext cx="54906" cy="60667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0" name="Shape 298"/>
          <p:cNvSpPr/>
          <p:nvPr/>
        </p:nvSpPr>
        <p:spPr>
          <a:xfrm>
            <a:off x="7723437" y="2227072"/>
            <a:ext cx="54906" cy="61099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1" name="Shape 299"/>
          <p:cNvSpPr/>
          <p:nvPr/>
        </p:nvSpPr>
        <p:spPr>
          <a:xfrm>
            <a:off x="7771994" y="2209800"/>
            <a:ext cx="54906" cy="61531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2" name="Shape 300"/>
          <p:cNvSpPr/>
          <p:nvPr/>
        </p:nvSpPr>
        <p:spPr>
          <a:xfrm>
            <a:off x="7820550" y="2192528"/>
            <a:ext cx="54906" cy="61963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3" name="Shape 301"/>
          <p:cNvSpPr/>
          <p:nvPr/>
        </p:nvSpPr>
        <p:spPr>
          <a:xfrm>
            <a:off x="7869106" y="2175256"/>
            <a:ext cx="54906" cy="62395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4" name="Shape 302"/>
          <p:cNvSpPr/>
          <p:nvPr/>
        </p:nvSpPr>
        <p:spPr>
          <a:xfrm>
            <a:off x="7917663" y="2157984"/>
            <a:ext cx="54906" cy="628269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5" name="Shape 303"/>
          <p:cNvSpPr/>
          <p:nvPr/>
        </p:nvSpPr>
        <p:spPr>
          <a:xfrm>
            <a:off x="7966219" y="2140712"/>
            <a:ext cx="54906" cy="632587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6" name="Shape 304"/>
          <p:cNvSpPr/>
          <p:nvPr/>
        </p:nvSpPr>
        <p:spPr>
          <a:xfrm>
            <a:off x="8014775" y="2123440"/>
            <a:ext cx="54906" cy="636905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7" name="Shape 305"/>
          <p:cNvSpPr/>
          <p:nvPr/>
        </p:nvSpPr>
        <p:spPr>
          <a:xfrm>
            <a:off x="8063332" y="2106168"/>
            <a:ext cx="54906" cy="641223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8" name="Shape 306"/>
          <p:cNvSpPr/>
          <p:nvPr/>
        </p:nvSpPr>
        <p:spPr>
          <a:xfrm>
            <a:off x="8111888" y="2088896"/>
            <a:ext cx="54906" cy="645541"/>
          </a:xfrm>
          <a:prstGeom prst="rect">
            <a:avLst/>
          </a:prstGeom>
          <a:solidFill>
            <a:srgbClr val="EDA100"/>
          </a:solidFill>
          <a:ln/>
        </p:spPr>
      </p:sp>
      <p:sp>
        <p:nvSpPr>
          <p:cNvPr id="309" name="Shape 307"/>
          <p:cNvSpPr/>
          <p:nvPr/>
        </p:nvSpPr>
        <p:spPr>
          <a:xfrm>
            <a:off x="2819248" y="5232400"/>
            <a:ext cx="5826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310" name="Text 308"/>
          <p:cNvSpPr/>
          <p:nvPr/>
        </p:nvSpPr>
        <p:spPr>
          <a:xfrm>
            <a:off x="8696808" y="231838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311" name="Text 309"/>
          <p:cNvSpPr/>
          <p:nvPr/>
        </p:nvSpPr>
        <p:spPr>
          <a:xfrm>
            <a:off x="8696808" y="303085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12" name="Text 310"/>
          <p:cNvSpPr/>
          <p:nvPr/>
        </p:nvSpPr>
        <p:spPr>
          <a:xfrm>
            <a:off x="8696808" y="428307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</a:t>
            </a:r>
            <a:endParaRPr lang="en-US" sz="1000" dirty="0"/>
          </a:p>
        </p:txBody>
      </p:sp>
      <p:sp>
        <p:nvSpPr>
          <p:cNvPr id="313" name="Text 311"/>
          <p:cNvSpPr/>
          <p:nvPr/>
        </p:nvSpPr>
        <p:spPr>
          <a:xfrm>
            <a:off x="8671408" y="51435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314" name="Text 312"/>
          <p:cNvSpPr/>
          <p:nvPr/>
        </p:nvSpPr>
        <p:spPr>
          <a:xfrm>
            <a:off x="8671408" y="3992033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315" name="Text 313"/>
          <p:cNvSpPr/>
          <p:nvPr/>
        </p:nvSpPr>
        <p:spPr>
          <a:xfrm>
            <a:off x="8671408" y="2840567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316" name="Text 314"/>
          <p:cNvSpPr/>
          <p:nvPr/>
        </p:nvSpPr>
        <p:spPr>
          <a:xfrm>
            <a:off x="8671408" y="1689100"/>
            <a:ext cx="4318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317" name="Shape 315"/>
          <p:cNvSpPr/>
          <p:nvPr/>
        </p:nvSpPr>
        <p:spPr>
          <a:xfrm>
            <a:off x="3274331" y="266869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8" name="Text 316"/>
          <p:cNvSpPr/>
          <p:nvPr/>
        </p:nvSpPr>
        <p:spPr>
          <a:xfrm>
            <a:off x="2923811" y="248962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1000" dirty="0"/>
          </a:p>
        </p:txBody>
      </p:sp>
      <p:sp>
        <p:nvSpPr>
          <p:cNvPr id="319" name="Shape 317"/>
          <p:cNvSpPr/>
          <p:nvPr/>
        </p:nvSpPr>
        <p:spPr>
          <a:xfrm flipV="1">
            <a:off x="3304811" y="246888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0" name="Shape 318"/>
          <p:cNvSpPr/>
          <p:nvPr/>
        </p:nvSpPr>
        <p:spPr>
          <a:xfrm>
            <a:off x="4245458" y="243840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1" name="Text 319"/>
          <p:cNvSpPr/>
          <p:nvPr/>
        </p:nvSpPr>
        <p:spPr>
          <a:xfrm>
            <a:off x="3894938" y="225933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1000" dirty="0"/>
          </a:p>
        </p:txBody>
      </p:sp>
      <p:sp>
        <p:nvSpPr>
          <p:cNvPr id="322" name="Shape 320"/>
          <p:cNvSpPr/>
          <p:nvPr/>
        </p:nvSpPr>
        <p:spPr>
          <a:xfrm flipV="1">
            <a:off x="4275938" y="2238587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3" name="Shape 321"/>
          <p:cNvSpPr/>
          <p:nvPr/>
        </p:nvSpPr>
        <p:spPr>
          <a:xfrm>
            <a:off x="5216584" y="2208107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4866064" y="20290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1000" dirty="0"/>
          </a:p>
        </p:txBody>
      </p:sp>
      <p:sp>
        <p:nvSpPr>
          <p:cNvPr id="325" name="Shape 323"/>
          <p:cNvSpPr/>
          <p:nvPr/>
        </p:nvSpPr>
        <p:spPr>
          <a:xfrm>
            <a:off x="5247064" y="2238587"/>
            <a:ext cx="971127" cy="115147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6" name="Shape 324"/>
          <p:cNvSpPr/>
          <p:nvPr/>
        </p:nvSpPr>
        <p:spPr>
          <a:xfrm>
            <a:off x="6187711" y="232325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7" name="Text 325"/>
          <p:cNvSpPr/>
          <p:nvPr/>
        </p:nvSpPr>
        <p:spPr>
          <a:xfrm>
            <a:off x="5837191" y="214418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1000" dirty="0"/>
          </a:p>
        </p:txBody>
      </p:sp>
      <p:sp>
        <p:nvSpPr>
          <p:cNvPr id="328" name="Shape 326"/>
          <p:cNvSpPr/>
          <p:nvPr/>
        </p:nvSpPr>
        <p:spPr>
          <a:xfrm flipV="1">
            <a:off x="6218191" y="2008293"/>
            <a:ext cx="971127" cy="345440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29" name="Shape 327"/>
          <p:cNvSpPr/>
          <p:nvPr/>
        </p:nvSpPr>
        <p:spPr>
          <a:xfrm>
            <a:off x="7158838" y="1977813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0" name="Text 328"/>
          <p:cNvSpPr/>
          <p:nvPr/>
        </p:nvSpPr>
        <p:spPr>
          <a:xfrm>
            <a:off x="6808318" y="1798743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331" name="Shape 329"/>
          <p:cNvSpPr/>
          <p:nvPr/>
        </p:nvSpPr>
        <p:spPr>
          <a:xfrm flipV="1">
            <a:off x="7189318" y="1778000"/>
            <a:ext cx="971127" cy="230293"/>
          </a:xfrm>
          <a:prstGeom prst="line">
            <a:avLst/>
          </a:prstGeom>
          <a:noFill/>
          <a:ln w="25400">
            <a:solidFill>
              <a:srgbClr val="008300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8129964" y="1747520"/>
            <a:ext cx="60960" cy="60960"/>
          </a:xfrm>
          <a:prstGeom prst="rect">
            <a:avLst/>
          </a:prstGeom>
          <a:solidFill>
            <a:srgbClr val="0083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3" name="Text 331"/>
          <p:cNvSpPr/>
          <p:nvPr/>
        </p:nvSpPr>
        <p:spPr>
          <a:xfrm>
            <a:off x="7779444" y="156845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334" name="Text 332"/>
          <p:cNvSpPr/>
          <p:nvPr/>
        </p:nvSpPr>
        <p:spPr>
          <a:xfrm>
            <a:off x="8696808" y="1504950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 %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158848" y="1778000"/>
            <a:ext cx="787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Programme plan — cost and effort beside the bars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794862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490062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5706550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01750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618239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3439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9529928" y="2260600"/>
            <a:ext cx="0" cy="2743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225128" y="2057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158848" y="22733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12" name="Text 10"/>
          <p:cNvSpPr/>
          <p:nvPr/>
        </p:nvSpPr>
        <p:spPr>
          <a:xfrm>
            <a:off x="2158848" y="23939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794862" y="2453640"/>
            <a:ext cx="1911689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14" name="Shape 12"/>
          <p:cNvSpPr/>
          <p:nvPr/>
        </p:nvSpPr>
        <p:spPr>
          <a:xfrm>
            <a:off x="3794862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706550" y="2453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285848" y="28511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Research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9606128" y="28511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794862" y="27178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794862" y="28575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0–3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2285848" y="33083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06128" y="33083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794862" y="31750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4941875" y="3314700"/>
            <a:ext cx="7646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3–5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2158848" y="3644900"/>
            <a:ext cx="7874000" cy="431800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7" name="Text 25"/>
          <p:cNvSpPr/>
          <p:nvPr/>
        </p:nvSpPr>
        <p:spPr>
          <a:xfrm>
            <a:off x="2158848" y="3765550"/>
            <a:ext cx="7874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706550" y="3825240"/>
            <a:ext cx="344104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9" name="Shape 27"/>
          <p:cNvSpPr/>
          <p:nvPr/>
        </p:nvSpPr>
        <p:spPr>
          <a:xfrm>
            <a:off x="570655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147590" y="38252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85848" y="42227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9606128" y="42227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794862" y="40894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5706550" y="4229100"/>
            <a:ext cx="2294026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5–11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285848" y="4679950"/>
            <a:ext cx="5410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9606128" y="4679950"/>
            <a:ext cx="35052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Cara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3794862" y="4546600"/>
            <a:ext cx="5735066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0" name="Text 38"/>
          <p:cNvSpPr/>
          <p:nvPr/>
        </p:nvSpPr>
        <p:spPr>
          <a:xfrm>
            <a:off x="8000577" y="4686300"/>
            <a:ext cx="114701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11–14</a:t>
            </a:r>
            <a:endParaRPr lang="en-US" sz="900" dirty="0"/>
          </a:p>
        </p:txBody>
      </p:sp>
      <p:sp>
        <p:nvSpPr>
          <p:cNvPr id="41" name="Text 39"/>
          <p:cNvSpPr/>
          <p:nvPr/>
        </p:nvSpPr>
        <p:spPr>
          <a:xfrm>
            <a:off x="2903068" y="2057400"/>
            <a:ext cx="482854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 k€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903068" y="2393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120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2903068" y="28511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903068" y="33083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75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3068" y="37655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260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2903068" y="42227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191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2903068" y="4679950"/>
            <a:ext cx="48285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3462122" y="2057400"/>
            <a:ext cx="25654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FTE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3462122" y="2393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3462122" y="28511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1" name="Text 49"/>
          <p:cNvSpPr/>
          <p:nvPr/>
        </p:nvSpPr>
        <p:spPr>
          <a:xfrm>
            <a:off x="3462122" y="33083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  <p:sp>
        <p:nvSpPr>
          <p:cNvPr id="52" name="Text 50"/>
          <p:cNvSpPr/>
          <p:nvPr/>
        </p:nvSpPr>
        <p:spPr>
          <a:xfrm>
            <a:off x="3462122" y="37655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3.0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3462122" y="42227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2.0</a:t>
            </a:r>
            <a:endParaRPr lang="en-US" sz="1000" dirty="0"/>
          </a:p>
        </p:txBody>
      </p:sp>
      <p:sp>
        <p:nvSpPr>
          <p:cNvPr id="54" name="Text 52"/>
          <p:cNvSpPr/>
          <p:nvPr/>
        </p:nvSpPr>
        <p:spPr>
          <a:xfrm>
            <a:off x="3462122" y="4679950"/>
            <a:ext cx="2565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1.0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905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Working-day timeline — weekends carry no width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07832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7352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4788149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483349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97970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193170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7865827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561027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9575648" y="2387600"/>
            <a:ext cx="0" cy="2489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270848" y="2184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539848" y="26035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4788149" y="26098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Jan–8 Jan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539848" y="32258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78328" y="30099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9" name="Text 17"/>
          <p:cNvSpPr/>
          <p:nvPr/>
        </p:nvSpPr>
        <p:spPr>
          <a:xfrm>
            <a:off x="5814041" y="3232150"/>
            <a:ext cx="136785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 Jan–15 Jan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2539848" y="38481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078328" y="36322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21"/>
          <p:cNvSpPr/>
          <p:nvPr/>
        </p:nvSpPr>
        <p:spPr>
          <a:xfrm>
            <a:off x="7181898" y="3854450"/>
            <a:ext cx="1025893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Jan–20 Jan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2539848" y="4470400"/>
            <a:ext cx="46228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078328" y="4254500"/>
            <a:ext cx="649732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07791" y="4476750"/>
            <a:ext cx="683928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7" name="Shape 25"/>
          <p:cNvSpPr/>
          <p:nvPr/>
        </p:nvSpPr>
        <p:spPr>
          <a:xfrm>
            <a:off x="5814041" y="26987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788641" y="33210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rot="5400000">
            <a:off x="5712441" y="32766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0" name="Shape 28"/>
          <p:cNvSpPr/>
          <p:nvPr/>
        </p:nvSpPr>
        <p:spPr>
          <a:xfrm>
            <a:off x="7181898" y="33210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156498" y="39433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rot="5400000">
            <a:off x="7080298" y="38989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33" name="Shape 31"/>
          <p:cNvSpPr/>
          <p:nvPr/>
        </p:nvSpPr>
        <p:spPr>
          <a:xfrm>
            <a:off x="8207791" y="3943350"/>
            <a:ext cx="0" cy="62230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182391" y="4565650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 rot="5400000">
            <a:off x="8106191" y="4521200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397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Marginal histograms — distribution beside the relationship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51689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894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4005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7211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6322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95275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8638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184400"/>
            <a:ext cx="56388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0955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9208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3305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7402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1499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559648" y="52832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3225648" y="5257800"/>
            <a:ext cx="5638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2184400"/>
            <a:ext cx="0" cy="30734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930498" y="2072640"/>
            <a:ext cx="692150" cy="7366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1" name="Shape 19"/>
          <p:cNvSpPr/>
          <p:nvPr/>
        </p:nvSpPr>
        <p:spPr>
          <a:xfrm>
            <a:off x="463534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2" name="Shape 20"/>
          <p:cNvSpPr/>
          <p:nvPr/>
        </p:nvSpPr>
        <p:spPr>
          <a:xfrm>
            <a:off x="5340198" y="1778000"/>
            <a:ext cx="692150" cy="36830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3" name="Shape 21"/>
          <p:cNvSpPr/>
          <p:nvPr/>
        </p:nvSpPr>
        <p:spPr>
          <a:xfrm>
            <a:off x="6749898" y="2035810"/>
            <a:ext cx="692150" cy="11049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4" name="Shape 22"/>
          <p:cNvSpPr/>
          <p:nvPr/>
        </p:nvSpPr>
        <p:spPr>
          <a:xfrm>
            <a:off x="7454748" y="1925320"/>
            <a:ext cx="692150" cy="22098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5" name="Shape 23"/>
          <p:cNvSpPr/>
          <p:nvPr/>
        </p:nvSpPr>
        <p:spPr>
          <a:xfrm>
            <a:off x="8159598" y="1814830"/>
            <a:ext cx="692150" cy="331470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6" name="Shape 24"/>
          <p:cNvSpPr/>
          <p:nvPr/>
        </p:nvSpPr>
        <p:spPr>
          <a:xfrm>
            <a:off x="8902548" y="487362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7" name="Shape 25"/>
          <p:cNvSpPr/>
          <p:nvPr/>
        </p:nvSpPr>
        <p:spPr>
          <a:xfrm>
            <a:off x="8902548" y="4489450"/>
            <a:ext cx="368300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8" name="Shape 26"/>
          <p:cNvSpPr/>
          <p:nvPr/>
        </p:nvSpPr>
        <p:spPr>
          <a:xfrm>
            <a:off x="8902548" y="4105275"/>
            <a:ext cx="32226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29" name="Shape 27"/>
          <p:cNvSpPr/>
          <p:nvPr/>
        </p:nvSpPr>
        <p:spPr>
          <a:xfrm>
            <a:off x="8902548" y="3721100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0" name="Shape 28"/>
          <p:cNvSpPr/>
          <p:nvPr/>
        </p:nvSpPr>
        <p:spPr>
          <a:xfrm>
            <a:off x="8902548" y="3336925"/>
            <a:ext cx="276225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1" name="Shape 29"/>
          <p:cNvSpPr/>
          <p:nvPr/>
        </p:nvSpPr>
        <p:spPr>
          <a:xfrm>
            <a:off x="8902548" y="2952750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2" name="Shape 30"/>
          <p:cNvSpPr/>
          <p:nvPr/>
        </p:nvSpPr>
        <p:spPr>
          <a:xfrm>
            <a:off x="8902548" y="2568575"/>
            <a:ext cx="138113" cy="371475"/>
          </a:xfrm>
          <a:prstGeom prst="rect">
            <a:avLst/>
          </a:prstGeom>
          <a:solidFill>
            <a:srgbClr val="D4DCF2"/>
          </a:solidFill>
          <a:ln/>
        </p:spPr>
      </p:sp>
      <p:sp>
        <p:nvSpPr>
          <p:cNvPr id="33" name="Shape 31"/>
          <p:cNvSpPr/>
          <p:nvPr/>
        </p:nvSpPr>
        <p:spPr>
          <a:xfrm>
            <a:off x="4456278" y="51428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949673" y="472027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443068" y="42976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36463" y="487394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879188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5372583" y="502761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5865978" y="460502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808703" y="418242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302098" y="475869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5795493" y="43360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738218" y="49123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5231613" y="448976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725008" y="50660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67733" y="464343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161128" y="422084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5654523" y="47971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597248" y="437451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090643" y="49507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5584038" y="452818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26763" y="510444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020158" y="46818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513553" y="425926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8473923" y="276098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8826348" y="395192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064223" y="383667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7416648" y="372141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769073" y="360616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8121498" y="3490912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473923" y="337566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826348" y="326040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64223" y="314515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416648" y="302990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769073" y="29146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8121498" y="2799398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8473923" y="399034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8826348" y="387508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064223" y="375983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7416648" y="3644583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7769073" y="352933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8121498" y="3414077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Overlap relief — markers nudged along Y only, by a disclosed cap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4513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43624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9370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38481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34226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33337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25648" y="29083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93848" y="28194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55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25648" y="239395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793848" y="230505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3225648" y="18796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793848" y="17907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65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4384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561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47379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70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25648" y="1879600"/>
            <a:ext cx="0" cy="30861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624382" y="1874591"/>
            <a:ext cx="621066" cy="621066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624382" y="1703141"/>
            <a:ext cx="621066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8083622" y="2056497"/>
            <a:ext cx="439160" cy="439160"/>
          </a:xfrm>
          <a:prstGeom prst="ellipse">
            <a:avLst/>
          </a:prstGeom>
          <a:ln w="12700">
            <a:solidFill>
              <a:srgbClr val="52514E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083622" y="1794094"/>
            <a:ext cx="439160" cy="1524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8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8714969" y="2021109"/>
            <a:ext cx="555498" cy="555498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965837" y="4318908"/>
            <a:ext cx="519621" cy="519621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045888" y="1629240"/>
            <a:ext cx="500719" cy="500719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88640" y="4622292"/>
            <a:ext cx="481075" cy="48107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147115" y="3809573"/>
            <a:ext cx="460595" cy="460595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924903" y="2380110"/>
            <a:ext cx="439160" cy="43916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093218" y="4073572"/>
            <a:ext cx="416623" cy="416623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8872202" y="1838884"/>
            <a:ext cx="392796" cy="392796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510858" y="4368800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Alfa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741928" y="417637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Charlie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 positions approximate: markers spread by up to ±3.0 to reduce overlap</a:t>
            </a:r>
            <a:endParaRPr lang="en-US" sz="85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793848" y="1524000"/>
            <a:ext cx="6604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Shape per group — the split survives greyscale and color blindness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93848" y="4876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225648" y="4013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93848" y="3924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225648" y="30607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793848" y="29718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225648" y="2108200"/>
            <a:ext cx="6070600" cy="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93848" y="2019300"/>
            <a:ext cx="381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9208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13496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34908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56320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60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77732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991448" y="4991100"/>
            <a:ext cx="6096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5648" y="4965700"/>
            <a:ext cx="60706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25648" y="2108200"/>
            <a:ext cx="0" cy="285750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225648" y="1955800"/>
            <a:ext cx="88900" cy="889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3352648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1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010508" y="1944540"/>
            <a:ext cx="111420" cy="111420"/>
          </a:xfrm>
          <a:prstGeom prst="diamond">
            <a:avLst/>
          </a:prstGeom>
          <a:solidFill>
            <a:srgbClr val="1BAF7A"/>
          </a:solidFill>
          <a:ln/>
        </p:spPr>
      </p:sp>
      <p:sp>
        <p:nvSpPr>
          <p:cNvPr id="22" name="Text 20"/>
          <p:cNvSpPr/>
          <p:nvPr/>
        </p:nvSpPr>
        <p:spPr>
          <a:xfrm>
            <a:off x="416002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2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817887" y="1944540"/>
            <a:ext cx="111420" cy="111420"/>
          </a:xfrm>
          <a:prstGeom prst="triangle">
            <a:avLst/>
          </a:prstGeom>
          <a:solidFill>
            <a:srgbClr val="EDA100"/>
          </a:solidFill>
          <a:ln/>
        </p:spPr>
      </p:sp>
      <p:sp>
        <p:nvSpPr>
          <p:cNvPr id="24" name="Text 22"/>
          <p:cNvSpPr/>
          <p:nvPr/>
        </p:nvSpPr>
        <p:spPr>
          <a:xfrm>
            <a:off x="4967407" y="1911350"/>
            <a:ext cx="55626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 3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916020" y="445135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280256" y="3927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523080" y="4689475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98138" y="4165600"/>
            <a:ext cx="76200" cy="76200"/>
          </a:xfrm>
          <a:prstGeom prst="ellipse">
            <a:avLst/>
          </a:prstGeom>
          <a:solidFill>
            <a:srgbClr val="2A78D6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848960" y="32510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273902" y="358444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031078" y="2917699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516726" y="3441574"/>
            <a:ext cx="95503" cy="95503"/>
          </a:xfrm>
          <a:prstGeom prst="diamond">
            <a:avLst/>
          </a:prstGeom>
          <a:solidFill>
            <a:srgbClr val="1BAF7A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670140" y="2441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095082" y="2727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912964" y="206044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337906" y="2346199"/>
            <a:ext cx="95503" cy="95503"/>
          </a:xfrm>
          <a:prstGeom prst="triangle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017620" y="44069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Northwind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381856" y="3883025"/>
            <a:ext cx="2997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Acme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624680" y="4645025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Globex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199738" y="41211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Initech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960212" y="321627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Umbra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385154" y="3549650"/>
            <a:ext cx="50546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Soylent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6142330" y="2882900"/>
            <a:ext cx="57404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Vandelay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380328" y="3260725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Hooli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781392" y="240665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Stark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8206334" y="2692400"/>
            <a:ext cx="36830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Wayne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7742276" y="2171700"/>
            <a:ext cx="43688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Tyrell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449158" y="2311400"/>
            <a:ext cx="642620" cy="165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Cyberdyne</a:t>
            </a:r>
            <a:endParaRPr lang="en-US" sz="1000" dirty="0"/>
          </a:p>
        </p:txBody>
      </p:sp>
      <p:sp>
        <p:nvSpPr>
          <p:cNvPr id="49" name="Text 47"/>
          <p:cNvSpPr/>
          <p:nvPr/>
        </p:nvSpPr>
        <p:spPr>
          <a:xfrm>
            <a:off x="2819248" y="5187950"/>
            <a:ext cx="6553200" cy="1397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l" indent="0" marL="0">
              <a:buNone/>
            </a:pPr>
            <a:r>
              <a:rPr lang="en-US" sz="85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Groups: challengers, contenders, leaders.</a:t>
            </a:r>
            <a:endParaRPr lang="en-US" sz="85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920848" y="1524000"/>
            <a:ext cx="6350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Benchmark markers — consensus per quarter, on the columns' own scale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94624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33943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73262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125818" y="5143500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Q4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178446" y="3677073"/>
            <a:ext cx="928793" cy="1428327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127646" y="429598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78446" y="3064933"/>
            <a:ext cx="928793" cy="612140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27646" y="327575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946248" y="2531533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571636" y="3524038"/>
            <a:ext cx="928793" cy="1581362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20836" y="4219469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1636" y="2809875"/>
            <a:ext cx="928793" cy="714163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20836" y="3071707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339438" y="248602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964826" y="3575050"/>
            <a:ext cx="928793" cy="153035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14026" y="4244975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64826" y="2707852"/>
            <a:ext cx="928793" cy="867198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14026" y="3046201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732628" y="2523702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358016" y="3268980"/>
            <a:ext cx="928793" cy="1836420"/>
          </a:xfrm>
          <a:prstGeom prst="rect">
            <a:avLst/>
          </a:prstGeom>
          <a:solidFill>
            <a:srgbClr val="2A78D6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07216" y="4091940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58016" y="2503805"/>
            <a:ext cx="928793" cy="765175"/>
          </a:xfrm>
          <a:prstGeom prst="rect">
            <a:avLst/>
          </a:prstGeom>
          <a:solidFill>
            <a:srgbClr val="1BAF7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07216" y="2791143"/>
            <a:ext cx="1030393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125818" y="2179955"/>
            <a:ext cx="139319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51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946248" y="5105400"/>
            <a:ext cx="557276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569808" y="2800668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Services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8569808" y="4101465"/>
            <a:ext cx="701040" cy="1714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Licenses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602203" y="2922270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261843" y="2753360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995393" y="282024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55033" y="265133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44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388583" y="2514177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048223" y="2345267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50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781773" y="2565188"/>
            <a:ext cx="81280" cy="81280"/>
          </a:xfrm>
          <a:prstGeom prst="rect">
            <a:avLst/>
          </a:prstGeom>
          <a:solidFill>
            <a:srgbClr val="EDA10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441413" y="2396278"/>
            <a:ext cx="76200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b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49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8569808" y="2402628"/>
            <a:ext cx="701040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Consensus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524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Bridge with “of which” detail columns — the walk steps over them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25652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FY23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4447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3241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Cost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2036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Labour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08314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Freight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696262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&gt; Energy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842098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FX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721573" y="5143500"/>
            <a:ext cx="879475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FY24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711827" y="2353056"/>
            <a:ext cx="586317" cy="2752344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2" name="Text 10"/>
          <p:cNvSpPr/>
          <p:nvPr/>
        </p:nvSpPr>
        <p:spPr>
          <a:xfrm>
            <a:off x="2635627" y="36339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86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98143" y="2353056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4" name="Shape 12"/>
          <p:cNvSpPr/>
          <p:nvPr/>
        </p:nvSpPr>
        <p:spPr>
          <a:xfrm>
            <a:off x="3591302" y="1905000"/>
            <a:ext cx="586317" cy="4480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3515102" y="20337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+14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77618" y="1905000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17" name="Shape 15"/>
          <p:cNvSpPr/>
          <p:nvPr/>
        </p:nvSpPr>
        <p:spPr>
          <a:xfrm>
            <a:off x="4470777" y="1905000"/>
            <a:ext cx="586317" cy="38404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18" name="Text 16"/>
          <p:cNvSpPr/>
          <p:nvPr/>
        </p:nvSpPr>
        <p:spPr>
          <a:xfrm>
            <a:off x="4394577" y="200177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-12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57093" y="2289048"/>
            <a:ext cx="2931583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0" name="Shape 18"/>
          <p:cNvSpPr/>
          <p:nvPr/>
        </p:nvSpPr>
        <p:spPr>
          <a:xfrm>
            <a:off x="5350252" y="1905000"/>
            <a:ext cx="586317" cy="22402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1" name="Text 19"/>
          <p:cNvSpPr/>
          <p:nvPr/>
        </p:nvSpPr>
        <p:spPr>
          <a:xfrm>
            <a:off x="5274052" y="1921764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-7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29727" y="2129028"/>
            <a:ext cx="586317" cy="96012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3" name="Text 21"/>
          <p:cNvSpPr/>
          <p:nvPr/>
        </p:nvSpPr>
        <p:spPr>
          <a:xfrm>
            <a:off x="6153527" y="194487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-3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109202" y="2225040"/>
            <a:ext cx="586317" cy="64008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5" name="Text 23"/>
          <p:cNvSpPr/>
          <p:nvPr/>
        </p:nvSpPr>
        <p:spPr>
          <a:xfrm>
            <a:off x="7033002" y="2040890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-2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7988677" y="2289048"/>
            <a:ext cx="586317" cy="128016"/>
          </a:xfrm>
          <a:prstGeom prst="rect">
            <a:avLst/>
          </a:prstGeom>
          <a:solidFill>
            <a:srgbClr val="E34948"/>
          </a:solidFill>
          <a:ln/>
        </p:spPr>
      </p:sp>
      <p:sp>
        <p:nvSpPr>
          <p:cNvPr id="27" name="Text 25"/>
          <p:cNvSpPr/>
          <p:nvPr/>
        </p:nvSpPr>
        <p:spPr>
          <a:xfrm>
            <a:off x="7912477" y="2104898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-4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574993" y="2417064"/>
            <a:ext cx="293158" cy="0"/>
          </a:xfrm>
          <a:prstGeom prst="line">
            <a:avLst/>
          </a:prstGeom>
          <a:noFill/>
          <a:ln w="9525">
            <a:solidFill>
              <a:srgbClr val="52514E"/>
            </a:solidFill>
            <a:prstDash val="sysDot"/>
          </a:ln>
        </p:spPr>
      </p:sp>
      <p:sp>
        <p:nvSpPr>
          <p:cNvPr id="29" name="Shape 27"/>
          <p:cNvSpPr/>
          <p:nvPr/>
        </p:nvSpPr>
        <p:spPr>
          <a:xfrm>
            <a:off x="8868152" y="2417064"/>
            <a:ext cx="586317" cy="2688336"/>
          </a:xfrm>
          <a:prstGeom prst="rect">
            <a:avLst/>
          </a:prstGeom>
          <a:solidFill>
            <a:srgbClr val="898781"/>
          </a:solidFill>
          <a:ln/>
        </p:spPr>
      </p:sp>
      <p:sp>
        <p:nvSpPr>
          <p:cNvPr id="30" name="Text 28"/>
          <p:cNvSpPr/>
          <p:nvPr/>
        </p:nvSpPr>
        <p:spPr>
          <a:xfrm>
            <a:off x="8791952" y="3665982"/>
            <a:ext cx="73871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65248" y="5105400"/>
            <a:ext cx="7035800" cy="0"/>
          </a:xfrm>
          <a:prstGeom prst="line">
            <a:avLst/>
          </a:prstGeom>
          <a:noFill/>
          <a:ln w="12700">
            <a:solidFill>
              <a:srgbClr val="A5A49E"/>
            </a:solidFill>
            <a:prstDash val="solid"/>
          </a:ln>
        </p:spPr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2539848" y="1651000"/>
            <a:ext cx="71120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 grouped into owner lanes — dependencies follow their rows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>
            <a:off x="397265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4" name="Shape 2"/>
          <p:cNvSpPr/>
          <p:nvPr/>
        </p:nvSpPr>
        <p:spPr>
          <a:xfrm>
            <a:off x="503267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5" name="Shape 3"/>
          <p:cNvSpPr/>
          <p:nvPr/>
        </p:nvSpPr>
        <p:spPr>
          <a:xfrm>
            <a:off x="609270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6" name="Shape 4"/>
          <p:cNvSpPr/>
          <p:nvPr/>
        </p:nvSpPr>
        <p:spPr>
          <a:xfrm>
            <a:off x="7152730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7" name="Shape 5"/>
          <p:cNvSpPr/>
          <p:nvPr/>
        </p:nvSpPr>
        <p:spPr>
          <a:xfrm>
            <a:off x="8212756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8" name="Shape 6"/>
          <p:cNvSpPr/>
          <p:nvPr/>
        </p:nvSpPr>
        <p:spPr>
          <a:xfrm>
            <a:off x="9272783" y="2133600"/>
            <a:ext cx="302865" cy="2997200"/>
          </a:xfrm>
          <a:prstGeom prst="rect">
            <a:avLst/>
          </a:prstGeom>
          <a:solidFill>
            <a:srgbClr val="F4F3F0"/>
          </a:solidFill>
          <a:ln/>
        </p:spPr>
      </p:sp>
      <p:sp>
        <p:nvSpPr>
          <p:cNvPr id="9" name="Shape 7"/>
          <p:cNvSpPr/>
          <p:nvPr/>
        </p:nvSpPr>
        <p:spPr>
          <a:xfrm>
            <a:off x="321548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91068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 Dec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27551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97071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33554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3074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39556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09076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455594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50794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8515621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210821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Feb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9575648" y="2133600"/>
            <a:ext cx="0" cy="2997200"/>
          </a:xfrm>
          <a:prstGeom prst="line">
            <a:avLst/>
          </a:prstGeom>
          <a:noFill/>
          <a:ln w="9525">
            <a:solidFill>
              <a:srgbClr val="E1E0D9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270848" y="1930400"/>
            <a:ext cx="609600" cy="2032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251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 Feb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539848" y="2146300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24" name="Text 22"/>
          <p:cNvSpPr/>
          <p:nvPr/>
        </p:nvSpPr>
        <p:spPr>
          <a:xfrm>
            <a:off x="2539848" y="2252436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275514" y="2312126"/>
            <a:ext cx="3180080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26" name="Shape 24"/>
          <p:cNvSpPr/>
          <p:nvPr/>
        </p:nvSpPr>
        <p:spPr>
          <a:xfrm>
            <a:off x="427551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55594" y="2312126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666848" y="2680607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15488" y="2561771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1" name="Text 29"/>
          <p:cNvSpPr/>
          <p:nvPr/>
        </p:nvSpPr>
        <p:spPr>
          <a:xfrm>
            <a:off x="4275514" y="2686957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 Jan–12 Jan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2666848" y="3108779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215488" y="2989943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5" name="Text 33"/>
          <p:cNvSpPr/>
          <p:nvPr/>
        </p:nvSpPr>
        <p:spPr>
          <a:xfrm>
            <a:off x="6395568" y="3115129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 Jan–26 Jan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539848" y="3430814"/>
            <a:ext cx="7112000" cy="402771"/>
          </a:xfrm>
          <a:prstGeom prst="rect">
            <a:avLst/>
          </a:prstGeom>
          <a:solidFill>
            <a:srgbClr val="F0EFEC"/>
          </a:solidFill>
          <a:ln/>
        </p:spPr>
      </p:sp>
      <p:sp>
        <p:nvSpPr>
          <p:cNvPr id="37" name="Text 35"/>
          <p:cNvSpPr/>
          <p:nvPr/>
        </p:nvSpPr>
        <p:spPr>
          <a:xfrm>
            <a:off x="2539848" y="3536950"/>
            <a:ext cx="711200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Ben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335541" y="3596640"/>
            <a:ext cx="3634377" cy="71120"/>
          </a:xfrm>
          <a:prstGeom prst="rect">
            <a:avLst/>
          </a:prstGeom>
          <a:solidFill>
            <a:srgbClr val="0B0B0B"/>
          </a:solidFill>
          <a:ln/>
        </p:spPr>
      </p:sp>
      <p:sp>
        <p:nvSpPr>
          <p:cNvPr id="39" name="Shape 37"/>
          <p:cNvSpPr/>
          <p:nvPr/>
        </p:nvSpPr>
        <p:spPr>
          <a:xfrm>
            <a:off x="5335541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969918" y="3596640"/>
            <a:ext cx="0" cy="135128"/>
          </a:xfrm>
          <a:prstGeom prst="line">
            <a:avLst/>
          </a:prstGeom>
          <a:noFill/>
          <a:ln w="15875">
            <a:solidFill>
              <a:srgbClr val="0B0B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666848" y="3965121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Build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3215488" y="3846286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4" name="Text 42"/>
          <p:cNvSpPr/>
          <p:nvPr/>
        </p:nvSpPr>
        <p:spPr>
          <a:xfrm>
            <a:off x="5335541" y="3971471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Jan–19 Jan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2666848" y="4393293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Ship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3215488" y="4274457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48" name="Text 46"/>
          <p:cNvSpPr/>
          <p:nvPr/>
        </p:nvSpPr>
        <p:spPr>
          <a:xfrm>
            <a:off x="7455594" y="4399643"/>
            <a:ext cx="1060027" cy="177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 Jan–2 Feb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2666848" y="4821464"/>
            <a:ext cx="472440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0B0B0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Handover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3215488" y="4702629"/>
            <a:ext cx="6360160" cy="0"/>
          </a:xfrm>
          <a:prstGeom prst="line">
            <a:avLst/>
          </a:prstGeom>
          <a:noFill/>
          <a:ln w="6350">
            <a:solidFill>
              <a:srgbClr val="E1E0D9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8515621" y="4827814"/>
            <a:ext cx="454297" cy="17780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52" name="Shape 50"/>
          <p:cNvSpPr/>
          <p:nvPr/>
        </p:nvSpPr>
        <p:spPr>
          <a:xfrm>
            <a:off x="6395568" y="3204029"/>
            <a:ext cx="0" cy="856343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370168" y="3204029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rot="5400000">
            <a:off x="6293968" y="3159579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5" name="Shape 53"/>
          <p:cNvSpPr/>
          <p:nvPr/>
        </p:nvSpPr>
        <p:spPr>
          <a:xfrm>
            <a:off x="5335541" y="2775857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310141" y="4060371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rot="5400000">
            <a:off x="5233941" y="4015921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58" name="Shape 56"/>
          <p:cNvSpPr/>
          <p:nvPr/>
        </p:nvSpPr>
        <p:spPr>
          <a:xfrm>
            <a:off x="7455594" y="3204029"/>
            <a:ext cx="0" cy="1284514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7430194" y="4488543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rot="5400000">
            <a:off x="7353994" y="4444093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  <p:sp>
        <p:nvSpPr>
          <p:cNvPr id="61" name="Shape 59"/>
          <p:cNvSpPr/>
          <p:nvPr/>
        </p:nvSpPr>
        <p:spPr>
          <a:xfrm>
            <a:off x="8515621" y="4488543"/>
            <a:ext cx="0" cy="428171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490221" y="4916714"/>
            <a:ext cx="25400" cy="0"/>
          </a:xfrm>
          <a:prstGeom prst="line">
            <a:avLst/>
          </a:prstGeom>
          <a:noFill/>
          <a:ln w="12700">
            <a:solidFill>
              <a:srgbClr val="52514E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rot="5400000">
            <a:off x="8414021" y="4872264"/>
            <a:ext cx="88900" cy="88900"/>
          </a:xfrm>
          <a:prstGeom prst="triangle">
            <a:avLst/>
          </a:prstGeom>
          <a:solidFill>
            <a:srgbClr val="52514E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121</Slides>
  <Notes>121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121</vt:i4>
      </vt:variant>
    </vt:vector>
  </HeadingPairs>
  <TitlesOfParts>
    <vt:vector size="1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2026-07-20T20:49:22Z</dcterms:created>
  <dcterms:modified xsi:type="dcterms:W3CDTF">2026-07-20T20:49:22Z</dcterms:modified>
</cp:coreProperties>
</file>